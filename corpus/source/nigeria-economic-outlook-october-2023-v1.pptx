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x="10160000" cy="5715000"/>
  <p:notesSz cx="10160000" cy="5715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7184" y="1717039"/>
            <a:ext cx="3801745" cy="10013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447852" y="2897886"/>
            <a:ext cx="3856990" cy="9404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Impact</a:t>
            </a:r>
            <a:r>
              <a:rPr dirty="0" spc="35"/>
              <a:t> </a:t>
            </a:r>
            <a:r>
              <a:rPr dirty="0"/>
              <a:t>of</a:t>
            </a:r>
            <a:r>
              <a:rPr dirty="0" spc="50"/>
              <a:t> </a:t>
            </a:r>
            <a:r>
              <a:rPr dirty="0"/>
              <a:t>Global</a:t>
            </a:r>
            <a:r>
              <a:rPr dirty="0" spc="65"/>
              <a:t> </a:t>
            </a:r>
            <a:r>
              <a:rPr dirty="0"/>
              <a:t>Economic</a:t>
            </a:r>
            <a:r>
              <a:rPr dirty="0" spc="30"/>
              <a:t> </a:t>
            </a:r>
            <a:r>
              <a:rPr dirty="0"/>
              <a:t>Trends</a:t>
            </a:r>
            <a:r>
              <a:rPr dirty="0" spc="45"/>
              <a:t> </a:t>
            </a:r>
            <a:r>
              <a:rPr dirty="0"/>
              <a:t>on</a:t>
            </a:r>
            <a:r>
              <a:rPr dirty="0" spc="40"/>
              <a:t> </a:t>
            </a:r>
            <a:r>
              <a:rPr dirty="0"/>
              <a:t>Nigeria’s</a:t>
            </a:r>
            <a:r>
              <a:rPr dirty="0" spc="60"/>
              <a:t> </a:t>
            </a:r>
            <a:r>
              <a:rPr dirty="0"/>
              <a:t>Foreign</a:t>
            </a:r>
            <a:r>
              <a:rPr dirty="0" spc="45"/>
              <a:t> </a:t>
            </a:r>
            <a:r>
              <a:rPr dirty="0"/>
              <a:t>Exchange</a:t>
            </a:r>
            <a:r>
              <a:rPr dirty="0" spc="60"/>
              <a:t> </a:t>
            </a:r>
            <a:r>
              <a:rPr dirty="0" spc="-10"/>
              <a:t>Market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October</a:t>
            </a:r>
            <a:r>
              <a:rPr dirty="0" spc="80"/>
              <a:t> </a:t>
            </a:r>
            <a:r>
              <a:rPr dirty="0" spc="-20"/>
              <a:t>2023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pPr marL="86360">
              <a:lnSpc>
                <a:spcPts val="81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9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Impact</a:t>
            </a:r>
            <a:r>
              <a:rPr dirty="0" spc="35"/>
              <a:t> </a:t>
            </a:r>
            <a:r>
              <a:rPr dirty="0"/>
              <a:t>of</a:t>
            </a:r>
            <a:r>
              <a:rPr dirty="0" spc="50"/>
              <a:t> </a:t>
            </a:r>
            <a:r>
              <a:rPr dirty="0"/>
              <a:t>Global</a:t>
            </a:r>
            <a:r>
              <a:rPr dirty="0" spc="65"/>
              <a:t> </a:t>
            </a:r>
            <a:r>
              <a:rPr dirty="0"/>
              <a:t>Economic</a:t>
            </a:r>
            <a:r>
              <a:rPr dirty="0" spc="30"/>
              <a:t> </a:t>
            </a:r>
            <a:r>
              <a:rPr dirty="0"/>
              <a:t>Trends</a:t>
            </a:r>
            <a:r>
              <a:rPr dirty="0" spc="45"/>
              <a:t> </a:t>
            </a:r>
            <a:r>
              <a:rPr dirty="0"/>
              <a:t>on</a:t>
            </a:r>
            <a:r>
              <a:rPr dirty="0" spc="40"/>
              <a:t> </a:t>
            </a:r>
            <a:r>
              <a:rPr dirty="0"/>
              <a:t>Nigeria’s</a:t>
            </a:r>
            <a:r>
              <a:rPr dirty="0" spc="60"/>
              <a:t> </a:t>
            </a:r>
            <a:r>
              <a:rPr dirty="0"/>
              <a:t>Foreign</a:t>
            </a:r>
            <a:r>
              <a:rPr dirty="0" spc="45"/>
              <a:t> </a:t>
            </a:r>
            <a:r>
              <a:rPr dirty="0"/>
              <a:t>Exchange</a:t>
            </a:r>
            <a:r>
              <a:rPr dirty="0" spc="60"/>
              <a:t> </a:t>
            </a:r>
            <a:r>
              <a:rPr dirty="0" spc="-10"/>
              <a:t>Market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October</a:t>
            </a:r>
            <a:r>
              <a:rPr dirty="0" spc="80"/>
              <a:t> </a:t>
            </a:r>
            <a:r>
              <a:rPr dirty="0" spc="-20"/>
              <a:t>2023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pPr marL="86360">
              <a:lnSpc>
                <a:spcPts val="81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08317" y="1314450"/>
            <a:ext cx="4422362" cy="3771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235670" y="1314450"/>
            <a:ext cx="4422362" cy="3771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Impact</a:t>
            </a:r>
            <a:r>
              <a:rPr dirty="0" spc="35"/>
              <a:t> </a:t>
            </a:r>
            <a:r>
              <a:rPr dirty="0"/>
              <a:t>of</a:t>
            </a:r>
            <a:r>
              <a:rPr dirty="0" spc="50"/>
              <a:t> </a:t>
            </a:r>
            <a:r>
              <a:rPr dirty="0"/>
              <a:t>Global</a:t>
            </a:r>
            <a:r>
              <a:rPr dirty="0" spc="65"/>
              <a:t> </a:t>
            </a:r>
            <a:r>
              <a:rPr dirty="0"/>
              <a:t>Economic</a:t>
            </a:r>
            <a:r>
              <a:rPr dirty="0" spc="30"/>
              <a:t> </a:t>
            </a:r>
            <a:r>
              <a:rPr dirty="0"/>
              <a:t>Trends</a:t>
            </a:r>
            <a:r>
              <a:rPr dirty="0" spc="45"/>
              <a:t> </a:t>
            </a:r>
            <a:r>
              <a:rPr dirty="0"/>
              <a:t>on</a:t>
            </a:r>
            <a:r>
              <a:rPr dirty="0" spc="40"/>
              <a:t> </a:t>
            </a:r>
            <a:r>
              <a:rPr dirty="0"/>
              <a:t>Nigeria’s</a:t>
            </a:r>
            <a:r>
              <a:rPr dirty="0" spc="60"/>
              <a:t> </a:t>
            </a:r>
            <a:r>
              <a:rPr dirty="0"/>
              <a:t>Foreign</a:t>
            </a:r>
            <a:r>
              <a:rPr dirty="0" spc="45"/>
              <a:t> </a:t>
            </a:r>
            <a:r>
              <a:rPr dirty="0"/>
              <a:t>Exchange</a:t>
            </a:r>
            <a:r>
              <a:rPr dirty="0" spc="60"/>
              <a:t> </a:t>
            </a:r>
            <a:r>
              <a:rPr dirty="0" spc="-10"/>
              <a:t>Market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October</a:t>
            </a:r>
            <a:r>
              <a:rPr dirty="0" spc="80"/>
              <a:t> </a:t>
            </a:r>
            <a:r>
              <a:rPr dirty="0" spc="-20"/>
              <a:t>2023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pPr marL="86360">
              <a:lnSpc>
                <a:spcPts val="81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Impact</a:t>
            </a:r>
            <a:r>
              <a:rPr dirty="0" spc="35"/>
              <a:t> </a:t>
            </a:r>
            <a:r>
              <a:rPr dirty="0"/>
              <a:t>of</a:t>
            </a:r>
            <a:r>
              <a:rPr dirty="0" spc="50"/>
              <a:t> </a:t>
            </a:r>
            <a:r>
              <a:rPr dirty="0"/>
              <a:t>Global</a:t>
            </a:r>
            <a:r>
              <a:rPr dirty="0" spc="65"/>
              <a:t> </a:t>
            </a:r>
            <a:r>
              <a:rPr dirty="0"/>
              <a:t>Economic</a:t>
            </a:r>
            <a:r>
              <a:rPr dirty="0" spc="30"/>
              <a:t> </a:t>
            </a:r>
            <a:r>
              <a:rPr dirty="0"/>
              <a:t>Trends</a:t>
            </a:r>
            <a:r>
              <a:rPr dirty="0" spc="45"/>
              <a:t> </a:t>
            </a:r>
            <a:r>
              <a:rPr dirty="0"/>
              <a:t>on</a:t>
            </a:r>
            <a:r>
              <a:rPr dirty="0" spc="40"/>
              <a:t> </a:t>
            </a:r>
            <a:r>
              <a:rPr dirty="0"/>
              <a:t>Nigeria’s</a:t>
            </a:r>
            <a:r>
              <a:rPr dirty="0" spc="60"/>
              <a:t> </a:t>
            </a:r>
            <a:r>
              <a:rPr dirty="0"/>
              <a:t>Foreign</a:t>
            </a:r>
            <a:r>
              <a:rPr dirty="0" spc="45"/>
              <a:t> </a:t>
            </a:r>
            <a:r>
              <a:rPr dirty="0"/>
              <a:t>Exchange</a:t>
            </a:r>
            <a:r>
              <a:rPr dirty="0" spc="60"/>
              <a:t> </a:t>
            </a:r>
            <a:r>
              <a:rPr dirty="0" spc="-10"/>
              <a:t>Market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October</a:t>
            </a:r>
            <a:r>
              <a:rPr dirty="0" spc="80"/>
              <a:t> </a:t>
            </a:r>
            <a:r>
              <a:rPr dirty="0" spc="-20"/>
              <a:t>2023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pPr marL="86360">
              <a:lnSpc>
                <a:spcPts val="81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Impact</a:t>
            </a:r>
            <a:r>
              <a:rPr dirty="0" spc="35"/>
              <a:t> </a:t>
            </a:r>
            <a:r>
              <a:rPr dirty="0"/>
              <a:t>of</a:t>
            </a:r>
            <a:r>
              <a:rPr dirty="0" spc="50"/>
              <a:t> </a:t>
            </a:r>
            <a:r>
              <a:rPr dirty="0"/>
              <a:t>Global</a:t>
            </a:r>
            <a:r>
              <a:rPr dirty="0" spc="65"/>
              <a:t> </a:t>
            </a:r>
            <a:r>
              <a:rPr dirty="0"/>
              <a:t>Economic</a:t>
            </a:r>
            <a:r>
              <a:rPr dirty="0" spc="30"/>
              <a:t> </a:t>
            </a:r>
            <a:r>
              <a:rPr dirty="0"/>
              <a:t>Trends</a:t>
            </a:r>
            <a:r>
              <a:rPr dirty="0" spc="45"/>
              <a:t> </a:t>
            </a:r>
            <a:r>
              <a:rPr dirty="0"/>
              <a:t>on</a:t>
            </a:r>
            <a:r>
              <a:rPr dirty="0" spc="40"/>
              <a:t> </a:t>
            </a:r>
            <a:r>
              <a:rPr dirty="0"/>
              <a:t>Nigeria’s</a:t>
            </a:r>
            <a:r>
              <a:rPr dirty="0" spc="60"/>
              <a:t> </a:t>
            </a:r>
            <a:r>
              <a:rPr dirty="0"/>
              <a:t>Foreign</a:t>
            </a:r>
            <a:r>
              <a:rPr dirty="0" spc="45"/>
              <a:t> </a:t>
            </a:r>
            <a:r>
              <a:rPr dirty="0"/>
              <a:t>Exchange</a:t>
            </a:r>
            <a:r>
              <a:rPr dirty="0" spc="60"/>
              <a:t> </a:t>
            </a:r>
            <a:r>
              <a:rPr dirty="0" spc="-10"/>
              <a:t>Market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October</a:t>
            </a:r>
            <a:r>
              <a:rPr dirty="0" spc="80"/>
              <a:t> </a:t>
            </a:r>
            <a:r>
              <a:rPr dirty="0" spc="-20"/>
              <a:t>2023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pPr marL="86360">
              <a:lnSpc>
                <a:spcPts val="81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0160635" cy="585470"/>
          </a:xfrm>
          <a:custGeom>
            <a:avLst/>
            <a:gdLst/>
            <a:ahLst/>
            <a:cxnLst/>
            <a:rect l="l" t="t" r="r" b="b"/>
            <a:pathLst>
              <a:path w="10160635" h="585470">
                <a:moveTo>
                  <a:pt x="10160507" y="0"/>
                </a:moveTo>
                <a:lnTo>
                  <a:pt x="0" y="0"/>
                </a:lnTo>
                <a:lnTo>
                  <a:pt x="0" y="585215"/>
                </a:lnTo>
                <a:lnTo>
                  <a:pt x="10160507" y="585216"/>
                </a:lnTo>
                <a:lnTo>
                  <a:pt x="10160507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562355"/>
            <a:ext cx="8371840" cy="52069"/>
          </a:xfrm>
          <a:custGeom>
            <a:avLst/>
            <a:gdLst/>
            <a:ahLst/>
            <a:cxnLst/>
            <a:rect l="l" t="t" r="r" b="b"/>
            <a:pathLst>
              <a:path w="8371840" h="52070">
                <a:moveTo>
                  <a:pt x="8371332" y="0"/>
                </a:moveTo>
                <a:lnTo>
                  <a:pt x="0" y="0"/>
                </a:lnTo>
                <a:lnTo>
                  <a:pt x="0" y="51815"/>
                </a:lnTo>
                <a:lnTo>
                  <a:pt x="8371332" y="51815"/>
                </a:lnTo>
                <a:lnTo>
                  <a:pt x="8371332" y="0"/>
                </a:lnTo>
                <a:close/>
              </a:path>
            </a:pathLst>
          </a:custGeom>
          <a:solidFill>
            <a:srgbClr val="D22D4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9369" y="28194"/>
            <a:ext cx="9528810" cy="500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40738" y="2590292"/>
            <a:ext cx="7957820" cy="23425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85699" y="5473859"/>
            <a:ext cx="2815590" cy="1212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Impact</a:t>
            </a:r>
            <a:r>
              <a:rPr dirty="0" spc="35"/>
              <a:t> </a:t>
            </a:r>
            <a:r>
              <a:rPr dirty="0"/>
              <a:t>of</a:t>
            </a:r>
            <a:r>
              <a:rPr dirty="0" spc="50"/>
              <a:t> </a:t>
            </a:r>
            <a:r>
              <a:rPr dirty="0"/>
              <a:t>Global</a:t>
            </a:r>
            <a:r>
              <a:rPr dirty="0" spc="65"/>
              <a:t> </a:t>
            </a:r>
            <a:r>
              <a:rPr dirty="0"/>
              <a:t>Economic</a:t>
            </a:r>
            <a:r>
              <a:rPr dirty="0" spc="30"/>
              <a:t> </a:t>
            </a:r>
            <a:r>
              <a:rPr dirty="0"/>
              <a:t>Trends</a:t>
            </a:r>
            <a:r>
              <a:rPr dirty="0" spc="45"/>
              <a:t> </a:t>
            </a:r>
            <a:r>
              <a:rPr dirty="0"/>
              <a:t>on</a:t>
            </a:r>
            <a:r>
              <a:rPr dirty="0" spc="40"/>
              <a:t> </a:t>
            </a:r>
            <a:r>
              <a:rPr dirty="0"/>
              <a:t>Nigeria’s</a:t>
            </a:r>
            <a:r>
              <a:rPr dirty="0" spc="60"/>
              <a:t> </a:t>
            </a:r>
            <a:r>
              <a:rPr dirty="0"/>
              <a:t>Foreign</a:t>
            </a:r>
            <a:r>
              <a:rPr dirty="0" spc="45"/>
              <a:t> </a:t>
            </a:r>
            <a:r>
              <a:rPr dirty="0"/>
              <a:t>Exchange</a:t>
            </a:r>
            <a:r>
              <a:rPr dirty="0" spc="60"/>
              <a:t> </a:t>
            </a:r>
            <a:r>
              <a:rPr dirty="0" spc="-10"/>
              <a:t>Market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075801" y="5514397"/>
            <a:ext cx="544195" cy="1212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October</a:t>
            </a:r>
            <a:r>
              <a:rPr dirty="0" spc="80"/>
              <a:t> </a:t>
            </a:r>
            <a:r>
              <a:rPr dirty="0" spc="-20"/>
              <a:t>2023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9659746" y="5512638"/>
            <a:ext cx="186690" cy="121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pPr marL="86360">
              <a:lnSpc>
                <a:spcPts val="81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5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jpg"/><Relationship Id="rId3" Type="http://schemas.openxmlformats.org/officeDocument/2006/relationships/image" Target="../media/image42.jpg"/><Relationship Id="rId4" Type="http://schemas.openxmlformats.org/officeDocument/2006/relationships/image" Target="../media/image3.png"/><Relationship Id="rId5" Type="http://schemas.openxmlformats.org/officeDocument/2006/relationships/hyperlink" Target="mailto:olusegun.zaccheaus@pwc.com" TargetMode="External"/><Relationship Id="rId6" Type="http://schemas.openxmlformats.org/officeDocument/2006/relationships/hyperlink" Target="mailto:omomia.omosomi@pwc.com" TargetMode="External"/><Relationship Id="rId7" Type="http://schemas.openxmlformats.org/officeDocument/2006/relationships/hyperlink" Target="mailto:Adesola.borokini@pwc.com" TargetMode="External"/><Relationship Id="rId8" Type="http://schemas.openxmlformats.org/officeDocument/2006/relationships/image" Target="../media/image43.jpg"/><Relationship Id="rId9" Type="http://schemas.openxmlformats.org/officeDocument/2006/relationships/image" Target="../media/image4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69112" y="5436604"/>
            <a:ext cx="167005" cy="889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685"/>
              </a:lnSpc>
            </a:pPr>
            <a:r>
              <a:rPr dirty="0" sz="600" spc="-25">
                <a:latin typeface="Arial MT"/>
                <a:cs typeface="Arial MT"/>
              </a:rPr>
              <a:t>PwC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-1523" y="0"/>
            <a:ext cx="10162540" cy="5715000"/>
            <a:chOff x="-1523" y="0"/>
            <a:chExt cx="10162540" cy="571500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0160507" cy="5715000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-1524" y="0"/>
              <a:ext cx="10161905" cy="5715000"/>
            </a:xfrm>
            <a:custGeom>
              <a:avLst/>
              <a:gdLst/>
              <a:ahLst/>
              <a:cxnLst/>
              <a:rect l="l" t="t" r="r" b="b"/>
              <a:pathLst>
                <a:path w="10161905" h="5715000">
                  <a:moveTo>
                    <a:pt x="6164707" y="2258314"/>
                  </a:moveTo>
                  <a:lnTo>
                    <a:pt x="6120511" y="2199259"/>
                  </a:lnTo>
                  <a:lnTo>
                    <a:pt x="6076696" y="2139061"/>
                  </a:lnTo>
                  <a:lnTo>
                    <a:pt x="6033516" y="2077720"/>
                  </a:lnTo>
                  <a:lnTo>
                    <a:pt x="5991225" y="2014855"/>
                  </a:lnTo>
                  <a:lnTo>
                    <a:pt x="5970524" y="1982851"/>
                  </a:lnTo>
                  <a:lnTo>
                    <a:pt x="5950077" y="1950466"/>
                  </a:lnTo>
                  <a:lnTo>
                    <a:pt x="5929884" y="1917700"/>
                  </a:lnTo>
                  <a:lnTo>
                    <a:pt x="5910199" y="1884426"/>
                  </a:lnTo>
                  <a:lnTo>
                    <a:pt x="5890895" y="1850644"/>
                  </a:lnTo>
                  <a:lnTo>
                    <a:pt x="5872099" y="1816354"/>
                  </a:lnTo>
                  <a:lnTo>
                    <a:pt x="5853684" y="1781556"/>
                  </a:lnTo>
                  <a:lnTo>
                    <a:pt x="5835650" y="1746250"/>
                  </a:lnTo>
                  <a:lnTo>
                    <a:pt x="5818251" y="1710436"/>
                  </a:lnTo>
                  <a:lnTo>
                    <a:pt x="5801487" y="1673860"/>
                  </a:lnTo>
                  <a:lnTo>
                    <a:pt x="5785231" y="1636903"/>
                  </a:lnTo>
                  <a:lnTo>
                    <a:pt x="5769610" y="1599184"/>
                  </a:lnTo>
                  <a:lnTo>
                    <a:pt x="5754497" y="1560830"/>
                  </a:lnTo>
                  <a:lnTo>
                    <a:pt x="5740273" y="1521841"/>
                  </a:lnTo>
                  <a:lnTo>
                    <a:pt x="5726557" y="1482090"/>
                  </a:lnTo>
                  <a:lnTo>
                    <a:pt x="5713730" y="1441704"/>
                  </a:lnTo>
                  <a:lnTo>
                    <a:pt x="5701538" y="1400556"/>
                  </a:lnTo>
                  <a:lnTo>
                    <a:pt x="5690235" y="1358646"/>
                  </a:lnTo>
                  <a:lnTo>
                    <a:pt x="5679821" y="1315974"/>
                  </a:lnTo>
                  <a:lnTo>
                    <a:pt x="5670169" y="1272413"/>
                  </a:lnTo>
                  <a:lnTo>
                    <a:pt x="5661406" y="1228090"/>
                  </a:lnTo>
                  <a:lnTo>
                    <a:pt x="5653532" y="1183005"/>
                  </a:lnTo>
                  <a:lnTo>
                    <a:pt x="5646674" y="1137031"/>
                  </a:lnTo>
                  <a:lnTo>
                    <a:pt x="5640705" y="1090168"/>
                  </a:lnTo>
                  <a:lnTo>
                    <a:pt x="5635879" y="1042416"/>
                  </a:lnTo>
                  <a:lnTo>
                    <a:pt x="5631942" y="993648"/>
                  </a:lnTo>
                  <a:lnTo>
                    <a:pt x="5629148" y="943991"/>
                  </a:lnTo>
                  <a:lnTo>
                    <a:pt x="5627497" y="893445"/>
                  </a:lnTo>
                  <a:lnTo>
                    <a:pt x="5626862" y="841756"/>
                  </a:lnTo>
                  <a:lnTo>
                    <a:pt x="5627370" y="796798"/>
                  </a:lnTo>
                  <a:lnTo>
                    <a:pt x="5628894" y="752348"/>
                  </a:lnTo>
                  <a:lnTo>
                    <a:pt x="5631307" y="708279"/>
                  </a:lnTo>
                  <a:lnTo>
                    <a:pt x="5634736" y="664591"/>
                  </a:lnTo>
                  <a:lnTo>
                    <a:pt x="5639181" y="621538"/>
                  </a:lnTo>
                  <a:lnTo>
                    <a:pt x="5644515" y="578866"/>
                  </a:lnTo>
                  <a:lnTo>
                    <a:pt x="5650738" y="536702"/>
                  </a:lnTo>
                  <a:lnTo>
                    <a:pt x="5657850" y="495046"/>
                  </a:lnTo>
                  <a:lnTo>
                    <a:pt x="5665978" y="453771"/>
                  </a:lnTo>
                  <a:lnTo>
                    <a:pt x="5674995" y="413131"/>
                  </a:lnTo>
                  <a:lnTo>
                    <a:pt x="5684901" y="372872"/>
                  </a:lnTo>
                  <a:lnTo>
                    <a:pt x="5695569" y="333248"/>
                  </a:lnTo>
                  <a:lnTo>
                    <a:pt x="5707253" y="294005"/>
                  </a:lnTo>
                  <a:lnTo>
                    <a:pt x="5719699" y="255397"/>
                  </a:lnTo>
                  <a:lnTo>
                    <a:pt x="5733034" y="217297"/>
                  </a:lnTo>
                  <a:lnTo>
                    <a:pt x="5747258" y="179705"/>
                  </a:lnTo>
                  <a:lnTo>
                    <a:pt x="5762244" y="142621"/>
                  </a:lnTo>
                  <a:lnTo>
                    <a:pt x="5777992" y="106172"/>
                  </a:lnTo>
                  <a:lnTo>
                    <a:pt x="5794502" y="70231"/>
                  </a:lnTo>
                  <a:lnTo>
                    <a:pt x="5811901" y="34798"/>
                  </a:lnTo>
                  <a:lnTo>
                    <a:pt x="5830062" y="0"/>
                  </a:lnTo>
                  <a:lnTo>
                    <a:pt x="0" y="0"/>
                  </a:lnTo>
                  <a:lnTo>
                    <a:pt x="0" y="5715000"/>
                  </a:lnTo>
                  <a:lnTo>
                    <a:pt x="5697093" y="5715000"/>
                  </a:lnTo>
                  <a:lnTo>
                    <a:pt x="5663184" y="5691340"/>
                  </a:lnTo>
                  <a:lnTo>
                    <a:pt x="5629910" y="5667045"/>
                  </a:lnTo>
                  <a:lnTo>
                    <a:pt x="5597271" y="5642114"/>
                  </a:lnTo>
                  <a:lnTo>
                    <a:pt x="5565394" y="5616562"/>
                  </a:lnTo>
                  <a:lnTo>
                    <a:pt x="5534152" y="5590400"/>
                  </a:lnTo>
                  <a:lnTo>
                    <a:pt x="5503672" y="5563628"/>
                  </a:lnTo>
                  <a:lnTo>
                    <a:pt x="5473827" y="5536260"/>
                  </a:lnTo>
                  <a:lnTo>
                    <a:pt x="5444744" y="5508295"/>
                  </a:lnTo>
                  <a:lnTo>
                    <a:pt x="5416296" y="5479758"/>
                  </a:lnTo>
                  <a:lnTo>
                    <a:pt x="5388610" y="5450649"/>
                  </a:lnTo>
                  <a:lnTo>
                    <a:pt x="5361686" y="5420982"/>
                  </a:lnTo>
                  <a:lnTo>
                    <a:pt x="5335524" y="5390743"/>
                  </a:lnTo>
                  <a:lnTo>
                    <a:pt x="5309997" y="5359971"/>
                  </a:lnTo>
                  <a:lnTo>
                    <a:pt x="5285232" y="5328653"/>
                  </a:lnTo>
                  <a:lnTo>
                    <a:pt x="5261102" y="5296801"/>
                  </a:lnTo>
                  <a:lnTo>
                    <a:pt x="5237861" y="5264416"/>
                  </a:lnTo>
                  <a:lnTo>
                    <a:pt x="5215255" y="5231536"/>
                  </a:lnTo>
                  <a:lnTo>
                    <a:pt x="5193411" y="5198135"/>
                  </a:lnTo>
                  <a:lnTo>
                    <a:pt x="5172329" y="5164239"/>
                  </a:lnTo>
                  <a:lnTo>
                    <a:pt x="5152009" y="5129860"/>
                  </a:lnTo>
                  <a:lnTo>
                    <a:pt x="5132451" y="5094986"/>
                  </a:lnTo>
                  <a:lnTo>
                    <a:pt x="5113655" y="5059642"/>
                  </a:lnTo>
                  <a:lnTo>
                    <a:pt x="5095621" y="5023840"/>
                  </a:lnTo>
                  <a:lnTo>
                    <a:pt x="5078349" y="4987582"/>
                  </a:lnTo>
                  <a:lnTo>
                    <a:pt x="5061839" y="4950866"/>
                  </a:lnTo>
                  <a:lnTo>
                    <a:pt x="5046091" y="4913706"/>
                  </a:lnTo>
                  <a:lnTo>
                    <a:pt x="5031105" y="4876114"/>
                  </a:lnTo>
                  <a:lnTo>
                    <a:pt x="5016881" y="4838103"/>
                  </a:lnTo>
                  <a:lnTo>
                    <a:pt x="5003419" y="4799673"/>
                  </a:lnTo>
                  <a:lnTo>
                    <a:pt x="4990846" y="4760836"/>
                  </a:lnTo>
                  <a:lnTo>
                    <a:pt x="4979035" y="4721606"/>
                  </a:lnTo>
                  <a:lnTo>
                    <a:pt x="4967986" y="4681969"/>
                  </a:lnTo>
                  <a:lnTo>
                    <a:pt x="4957699" y="4641964"/>
                  </a:lnTo>
                  <a:lnTo>
                    <a:pt x="4948174" y="4601578"/>
                  </a:lnTo>
                  <a:lnTo>
                    <a:pt x="4939538" y="4560824"/>
                  </a:lnTo>
                  <a:lnTo>
                    <a:pt x="4931791" y="4519714"/>
                  </a:lnTo>
                  <a:lnTo>
                    <a:pt x="4924679" y="4478248"/>
                  </a:lnTo>
                  <a:lnTo>
                    <a:pt x="4918456" y="4436491"/>
                  </a:lnTo>
                  <a:lnTo>
                    <a:pt x="4913122" y="4394327"/>
                  </a:lnTo>
                  <a:lnTo>
                    <a:pt x="4908550" y="4351782"/>
                  </a:lnTo>
                  <a:lnTo>
                    <a:pt x="4904740" y="4309110"/>
                  </a:lnTo>
                  <a:lnTo>
                    <a:pt x="4901819" y="4265930"/>
                  </a:lnTo>
                  <a:lnTo>
                    <a:pt x="4899787" y="4222623"/>
                  </a:lnTo>
                  <a:lnTo>
                    <a:pt x="4898517" y="4178935"/>
                  </a:lnTo>
                  <a:lnTo>
                    <a:pt x="4898136" y="4134866"/>
                  </a:lnTo>
                  <a:lnTo>
                    <a:pt x="4898517" y="4087749"/>
                  </a:lnTo>
                  <a:lnTo>
                    <a:pt x="4900041" y="4041267"/>
                  </a:lnTo>
                  <a:lnTo>
                    <a:pt x="4902454" y="3995547"/>
                  </a:lnTo>
                  <a:lnTo>
                    <a:pt x="4905756" y="3950462"/>
                  </a:lnTo>
                  <a:lnTo>
                    <a:pt x="4909947" y="3906139"/>
                  </a:lnTo>
                  <a:lnTo>
                    <a:pt x="4915154" y="3862451"/>
                  </a:lnTo>
                  <a:lnTo>
                    <a:pt x="4921250" y="3819398"/>
                  </a:lnTo>
                  <a:lnTo>
                    <a:pt x="4928108" y="3776980"/>
                  </a:lnTo>
                  <a:lnTo>
                    <a:pt x="4935982" y="3735197"/>
                  </a:lnTo>
                  <a:lnTo>
                    <a:pt x="4944618" y="3694176"/>
                  </a:lnTo>
                  <a:lnTo>
                    <a:pt x="4954143" y="3653663"/>
                  </a:lnTo>
                  <a:lnTo>
                    <a:pt x="4964430" y="3613785"/>
                  </a:lnTo>
                  <a:lnTo>
                    <a:pt x="4975606" y="3574542"/>
                  </a:lnTo>
                  <a:lnTo>
                    <a:pt x="4987544" y="3535934"/>
                  </a:lnTo>
                  <a:lnTo>
                    <a:pt x="5000244" y="3497834"/>
                  </a:lnTo>
                  <a:lnTo>
                    <a:pt x="5013706" y="3460369"/>
                  </a:lnTo>
                  <a:lnTo>
                    <a:pt x="5028057" y="3423539"/>
                  </a:lnTo>
                  <a:lnTo>
                    <a:pt x="5043043" y="3387217"/>
                  </a:lnTo>
                  <a:lnTo>
                    <a:pt x="5058791" y="3351403"/>
                  </a:lnTo>
                  <a:lnTo>
                    <a:pt x="5075174" y="3316224"/>
                  </a:lnTo>
                  <a:lnTo>
                    <a:pt x="5092319" y="3281553"/>
                  </a:lnTo>
                  <a:lnTo>
                    <a:pt x="5110226" y="3247390"/>
                  </a:lnTo>
                  <a:lnTo>
                    <a:pt x="5128768" y="3213862"/>
                  </a:lnTo>
                  <a:lnTo>
                    <a:pt x="5147945" y="3180715"/>
                  </a:lnTo>
                  <a:lnTo>
                    <a:pt x="5167757" y="3148076"/>
                  </a:lnTo>
                  <a:lnTo>
                    <a:pt x="5209286" y="3084449"/>
                  </a:lnTo>
                  <a:lnTo>
                    <a:pt x="5253228" y="3022600"/>
                  </a:lnTo>
                  <a:lnTo>
                    <a:pt x="5299583" y="2962656"/>
                  </a:lnTo>
                  <a:lnTo>
                    <a:pt x="5348097" y="2904617"/>
                  </a:lnTo>
                  <a:lnTo>
                    <a:pt x="5398770" y="2848102"/>
                  </a:lnTo>
                  <a:lnTo>
                    <a:pt x="5451348" y="2793365"/>
                  </a:lnTo>
                  <a:lnTo>
                    <a:pt x="5478399" y="2766441"/>
                  </a:lnTo>
                  <a:lnTo>
                    <a:pt x="5533771" y="2713990"/>
                  </a:lnTo>
                  <a:lnTo>
                    <a:pt x="5562092" y="2688336"/>
                  </a:lnTo>
                  <a:lnTo>
                    <a:pt x="5590921" y="2663063"/>
                  </a:lnTo>
                  <a:lnTo>
                    <a:pt x="5620131" y="2638044"/>
                  </a:lnTo>
                  <a:lnTo>
                    <a:pt x="5649722" y="2613406"/>
                  </a:lnTo>
                  <a:lnTo>
                    <a:pt x="5679694" y="2589149"/>
                  </a:lnTo>
                  <a:lnTo>
                    <a:pt x="5709920" y="2565146"/>
                  </a:lnTo>
                  <a:lnTo>
                    <a:pt x="5740654" y="2541397"/>
                  </a:lnTo>
                  <a:lnTo>
                    <a:pt x="5802884" y="2495042"/>
                  </a:lnTo>
                  <a:lnTo>
                    <a:pt x="5834507" y="2472309"/>
                  </a:lnTo>
                  <a:lnTo>
                    <a:pt x="5866511" y="2449703"/>
                  </a:lnTo>
                  <a:lnTo>
                    <a:pt x="5898642" y="2427478"/>
                  </a:lnTo>
                  <a:lnTo>
                    <a:pt x="5931154" y="2405519"/>
                  </a:lnTo>
                  <a:lnTo>
                    <a:pt x="5963793" y="2383790"/>
                  </a:lnTo>
                  <a:lnTo>
                    <a:pt x="5996813" y="2362327"/>
                  </a:lnTo>
                  <a:lnTo>
                    <a:pt x="6029960" y="2341118"/>
                  </a:lnTo>
                  <a:lnTo>
                    <a:pt x="6063361" y="2320163"/>
                  </a:lnTo>
                  <a:lnTo>
                    <a:pt x="6130798" y="2278761"/>
                  </a:lnTo>
                  <a:lnTo>
                    <a:pt x="6164707" y="2258314"/>
                  </a:lnTo>
                  <a:close/>
                </a:path>
                <a:path w="10161905" h="5715000">
                  <a:moveTo>
                    <a:pt x="7852918" y="816102"/>
                  </a:moveTo>
                  <a:lnTo>
                    <a:pt x="7852029" y="777240"/>
                  </a:lnTo>
                  <a:lnTo>
                    <a:pt x="7848981" y="738886"/>
                  </a:lnTo>
                  <a:lnTo>
                    <a:pt x="7837170" y="664210"/>
                  </a:lnTo>
                  <a:lnTo>
                    <a:pt x="7817231" y="593217"/>
                  </a:lnTo>
                  <a:lnTo>
                    <a:pt x="7789164" y="527177"/>
                  </a:lnTo>
                  <a:lnTo>
                    <a:pt x="7752715" y="467106"/>
                  </a:lnTo>
                  <a:lnTo>
                    <a:pt x="7707757" y="414147"/>
                  </a:lnTo>
                  <a:lnTo>
                    <a:pt x="7654290" y="369570"/>
                  </a:lnTo>
                  <a:lnTo>
                    <a:pt x="7592060" y="334391"/>
                  </a:lnTo>
                  <a:lnTo>
                    <a:pt x="7520940" y="309753"/>
                  </a:lnTo>
                  <a:lnTo>
                    <a:pt x="7481951" y="301752"/>
                  </a:lnTo>
                  <a:lnTo>
                    <a:pt x="7440803" y="296926"/>
                  </a:lnTo>
                  <a:lnTo>
                    <a:pt x="7397369" y="295275"/>
                  </a:lnTo>
                  <a:lnTo>
                    <a:pt x="7357110" y="296672"/>
                  </a:lnTo>
                  <a:lnTo>
                    <a:pt x="7317994" y="300736"/>
                  </a:lnTo>
                  <a:lnTo>
                    <a:pt x="7280275" y="307340"/>
                  </a:lnTo>
                  <a:lnTo>
                    <a:pt x="7208774" y="328295"/>
                  </a:lnTo>
                  <a:lnTo>
                    <a:pt x="7142988" y="359029"/>
                  </a:lnTo>
                  <a:lnTo>
                    <a:pt x="7083679" y="399161"/>
                  </a:lnTo>
                  <a:lnTo>
                    <a:pt x="7031228" y="448183"/>
                  </a:lnTo>
                  <a:lnTo>
                    <a:pt x="6986270" y="505460"/>
                  </a:lnTo>
                  <a:lnTo>
                    <a:pt x="6949186" y="570738"/>
                  </a:lnTo>
                  <a:lnTo>
                    <a:pt x="6933692" y="606171"/>
                  </a:lnTo>
                  <a:lnTo>
                    <a:pt x="6920484" y="643509"/>
                  </a:lnTo>
                  <a:lnTo>
                    <a:pt x="6909562" y="682498"/>
                  </a:lnTo>
                  <a:lnTo>
                    <a:pt x="6900926" y="723265"/>
                  </a:lnTo>
                  <a:lnTo>
                    <a:pt x="6894703" y="765556"/>
                  </a:lnTo>
                  <a:lnTo>
                    <a:pt x="6890893" y="809498"/>
                  </a:lnTo>
                  <a:lnTo>
                    <a:pt x="6889623" y="854964"/>
                  </a:lnTo>
                  <a:lnTo>
                    <a:pt x="6890639" y="899795"/>
                  </a:lnTo>
                  <a:lnTo>
                    <a:pt x="6893560" y="943229"/>
                  </a:lnTo>
                  <a:lnTo>
                    <a:pt x="6898386" y="985520"/>
                  </a:lnTo>
                  <a:lnTo>
                    <a:pt x="6904990" y="1026668"/>
                  </a:lnTo>
                  <a:lnTo>
                    <a:pt x="6913372" y="1066673"/>
                  </a:lnTo>
                  <a:lnTo>
                    <a:pt x="6923405" y="1105789"/>
                  </a:lnTo>
                  <a:lnTo>
                    <a:pt x="6935216" y="1144016"/>
                  </a:lnTo>
                  <a:lnTo>
                    <a:pt x="6948424" y="1181354"/>
                  </a:lnTo>
                  <a:lnTo>
                    <a:pt x="6963156" y="1217930"/>
                  </a:lnTo>
                  <a:lnTo>
                    <a:pt x="6979285" y="1253998"/>
                  </a:lnTo>
                  <a:lnTo>
                    <a:pt x="6996811" y="1289431"/>
                  </a:lnTo>
                  <a:lnTo>
                    <a:pt x="7015734" y="1324483"/>
                  </a:lnTo>
                  <a:lnTo>
                    <a:pt x="7035800" y="1359027"/>
                  </a:lnTo>
                  <a:lnTo>
                    <a:pt x="7057009" y="1393444"/>
                  </a:lnTo>
                  <a:lnTo>
                    <a:pt x="7079361" y="1427607"/>
                  </a:lnTo>
                  <a:lnTo>
                    <a:pt x="7102729" y="1461643"/>
                  </a:lnTo>
                  <a:lnTo>
                    <a:pt x="7127113" y="1495679"/>
                  </a:lnTo>
                  <a:lnTo>
                    <a:pt x="7152386" y="1529715"/>
                  </a:lnTo>
                  <a:lnTo>
                    <a:pt x="7178421" y="1564005"/>
                  </a:lnTo>
                  <a:lnTo>
                    <a:pt x="7205345" y="1598422"/>
                  </a:lnTo>
                  <a:lnTo>
                    <a:pt x="7232904" y="1633220"/>
                  </a:lnTo>
                  <a:lnTo>
                    <a:pt x="7274052" y="1608836"/>
                  </a:lnTo>
                  <a:lnTo>
                    <a:pt x="7314057" y="1584452"/>
                  </a:lnTo>
                  <a:lnTo>
                    <a:pt x="7352919" y="1559941"/>
                  </a:lnTo>
                  <a:lnTo>
                    <a:pt x="7390638" y="1535557"/>
                  </a:lnTo>
                  <a:lnTo>
                    <a:pt x="7427087" y="1510919"/>
                  </a:lnTo>
                  <a:lnTo>
                    <a:pt x="7462393" y="1486154"/>
                  </a:lnTo>
                  <a:lnTo>
                    <a:pt x="7496302" y="1461008"/>
                  </a:lnTo>
                  <a:lnTo>
                    <a:pt x="7528941" y="1435608"/>
                  </a:lnTo>
                  <a:lnTo>
                    <a:pt x="7560310" y="1409954"/>
                  </a:lnTo>
                  <a:lnTo>
                    <a:pt x="7590155" y="1383792"/>
                  </a:lnTo>
                  <a:lnTo>
                    <a:pt x="7618730" y="1357122"/>
                  </a:lnTo>
                  <a:lnTo>
                    <a:pt x="7645781" y="1329817"/>
                  </a:lnTo>
                  <a:lnTo>
                    <a:pt x="7695311" y="1273556"/>
                  </a:lnTo>
                  <a:lnTo>
                    <a:pt x="7738618" y="1214374"/>
                  </a:lnTo>
                  <a:lnTo>
                    <a:pt x="7775448" y="1151890"/>
                  </a:lnTo>
                  <a:lnTo>
                    <a:pt x="7805547" y="1085469"/>
                  </a:lnTo>
                  <a:lnTo>
                    <a:pt x="7828407" y="1014730"/>
                  </a:lnTo>
                  <a:lnTo>
                    <a:pt x="7837170" y="977646"/>
                  </a:lnTo>
                  <a:lnTo>
                    <a:pt x="7844028" y="939292"/>
                  </a:lnTo>
                  <a:lnTo>
                    <a:pt x="7848981" y="899668"/>
                  </a:lnTo>
                  <a:lnTo>
                    <a:pt x="7851902" y="858520"/>
                  </a:lnTo>
                  <a:lnTo>
                    <a:pt x="7852918" y="816102"/>
                  </a:lnTo>
                  <a:close/>
                </a:path>
                <a:path w="10161905" h="5715000">
                  <a:moveTo>
                    <a:pt x="7885938" y="4519930"/>
                  </a:moveTo>
                  <a:lnTo>
                    <a:pt x="6850634" y="3171571"/>
                  </a:lnTo>
                  <a:lnTo>
                    <a:pt x="6812280" y="3197098"/>
                  </a:lnTo>
                  <a:lnTo>
                    <a:pt x="6774942" y="3222498"/>
                  </a:lnTo>
                  <a:lnTo>
                    <a:pt x="6739001" y="3247771"/>
                  </a:lnTo>
                  <a:lnTo>
                    <a:pt x="6704203" y="3273171"/>
                  </a:lnTo>
                  <a:lnTo>
                    <a:pt x="6670675" y="3298571"/>
                  </a:lnTo>
                  <a:lnTo>
                    <a:pt x="6638417" y="3324098"/>
                  </a:lnTo>
                  <a:lnTo>
                    <a:pt x="6607429" y="3349879"/>
                  </a:lnTo>
                  <a:lnTo>
                    <a:pt x="6577698" y="3375787"/>
                  </a:lnTo>
                  <a:lnTo>
                    <a:pt x="6549263" y="3402203"/>
                  </a:lnTo>
                  <a:lnTo>
                    <a:pt x="6496177" y="3456051"/>
                  </a:lnTo>
                  <a:lnTo>
                    <a:pt x="6448425" y="3512058"/>
                  </a:lnTo>
                  <a:lnTo>
                    <a:pt x="6406007" y="3570605"/>
                  </a:lnTo>
                  <a:lnTo>
                    <a:pt x="6369050" y="3632327"/>
                  </a:lnTo>
                  <a:lnTo>
                    <a:pt x="6337427" y="3697605"/>
                  </a:lnTo>
                  <a:lnTo>
                    <a:pt x="6311519" y="3766947"/>
                  </a:lnTo>
                  <a:lnTo>
                    <a:pt x="6291199" y="3840988"/>
                  </a:lnTo>
                  <a:lnTo>
                    <a:pt x="6283198" y="3879850"/>
                  </a:lnTo>
                  <a:lnTo>
                    <a:pt x="6276594" y="3920236"/>
                  </a:lnTo>
                  <a:lnTo>
                    <a:pt x="6271387" y="3961892"/>
                  </a:lnTo>
                  <a:lnTo>
                    <a:pt x="6267704" y="4005072"/>
                  </a:lnTo>
                  <a:lnTo>
                    <a:pt x="6265545" y="4049776"/>
                  </a:lnTo>
                  <a:lnTo>
                    <a:pt x="6264783" y="4096004"/>
                  </a:lnTo>
                  <a:lnTo>
                    <a:pt x="6265799" y="4140581"/>
                  </a:lnTo>
                  <a:lnTo>
                    <a:pt x="6268974" y="4184015"/>
                  </a:lnTo>
                  <a:lnTo>
                    <a:pt x="6274054" y="4226306"/>
                  </a:lnTo>
                  <a:lnTo>
                    <a:pt x="6281293" y="4267327"/>
                  </a:lnTo>
                  <a:lnTo>
                    <a:pt x="6290310" y="4307078"/>
                  </a:lnTo>
                  <a:lnTo>
                    <a:pt x="6301105" y="4345686"/>
                  </a:lnTo>
                  <a:lnTo>
                    <a:pt x="6313805" y="4383024"/>
                  </a:lnTo>
                  <a:lnTo>
                    <a:pt x="6328156" y="4419092"/>
                  </a:lnTo>
                  <a:lnTo>
                    <a:pt x="6344285" y="4453915"/>
                  </a:lnTo>
                  <a:lnTo>
                    <a:pt x="6381242" y="4519625"/>
                  </a:lnTo>
                  <a:lnTo>
                    <a:pt x="6424295" y="4580026"/>
                  </a:lnTo>
                  <a:lnTo>
                    <a:pt x="6472809" y="4634992"/>
                  </a:lnTo>
                  <a:lnTo>
                    <a:pt x="6526530" y="4684382"/>
                  </a:lnTo>
                  <a:lnTo>
                    <a:pt x="6584823" y="4728057"/>
                  </a:lnTo>
                  <a:lnTo>
                    <a:pt x="6647421" y="4765903"/>
                  </a:lnTo>
                  <a:lnTo>
                    <a:pt x="6713601" y="4797768"/>
                  </a:lnTo>
                  <a:lnTo>
                    <a:pt x="6783197" y="4823523"/>
                  </a:lnTo>
                  <a:lnTo>
                    <a:pt x="6855587" y="4843030"/>
                  </a:lnTo>
                  <a:lnTo>
                    <a:pt x="6930390" y="4856175"/>
                  </a:lnTo>
                  <a:lnTo>
                    <a:pt x="6968490" y="4860315"/>
                  </a:lnTo>
                  <a:lnTo>
                    <a:pt x="7007098" y="4862804"/>
                  </a:lnTo>
                  <a:lnTo>
                    <a:pt x="7045960" y="4863643"/>
                  </a:lnTo>
                  <a:lnTo>
                    <a:pt x="7093458" y="4862538"/>
                  </a:lnTo>
                  <a:lnTo>
                    <a:pt x="7140194" y="4859274"/>
                  </a:lnTo>
                  <a:lnTo>
                    <a:pt x="7186041" y="4853991"/>
                  </a:lnTo>
                  <a:lnTo>
                    <a:pt x="7231126" y="4846790"/>
                  </a:lnTo>
                  <a:lnTo>
                    <a:pt x="7275322" y="4837798"/>
                  </a:lnTo>
                  <a:lnTo>
                    <a:pt x="7318629" y="4827105"/>
                  </a:lnTo>
                  <a:lnTo>
                    <a:pt x="7361047" y="4814849"/>
                  </a:lnTo>
                  <a:lnTo>
                    <a:pt x="7402576" y="4801120"/>
                  </a:lnTo>
                  <a:lnTo>
                    <a:pt x="7443343" y="4786058"/>
                  </a:lnTo>
                  <a:lnTo>
                    <a:pt x="7483094" y="4769764"/>
                  </a:lnTo>
                  <a:lnTo>
                    <a:pt x="7521956" y="4752365"/>
                  </a:lnTo>
                  <a:lnTo>
                    <a:pt x="7559929" y="4733950"/>
                  </a:lnTo>
                  <a:lnTo>
                    <a:pt x="7596886" y="4714659"/>
                  </a:lnTo>
                  <a:lnTo>
                    <a:pt x="7632954" y="4694580"/>
                  </a:lnTo>
                  <a:lnTo>
                    <a:pt x="7668133" y="4673854"/>
                  </a:lnTo>
                  <a:lnTo>
                    <a:pt x="7702169" y="4652581"/>
                  </a:lnTo>
                  <a:lnTo>
                    <a:pt x="7735316" y="4630890"/>
                  </a:lnTo>
                  <a:lnTo>
                    <a:pt x="7767574" y="4608868"/>
                  </a:lnTo>
                  <a:lnTo>
                    <a:pt x="7798689" y="4586643"/>
                  </a:lnTo>
                  <a:lnTo>
                    <a:pt x="7857871" y="4542066"/>
                  </a:lnTo>
                  <a:lnTo>
                    <a:pt x="7885938" y="4519930"/>
                  </a:lnTo>
                  <a:close/>
                </a:path>
                <a:path w="10161905" h="5715000">
                  <a:moveTo>
                    <a:pt x="8786622" y="5715000"/>
                  </a:moveTo>
                  <a:lnTo>
                    <a:pt x="8608060" y="5488762"/>
                  </a:lnTo>
                  <a:lnTo>
                    <a:pt x="8577707" y="5514086"/>
                  </a:lnTo>
                  <a:lnTo>
                    <a:pt x="8546846" y="5539473"/>
                  </a:lnTo>
                  <a:lnTo>
                    <a:pt x="8515096" y="5564873"/>
                  </a:lnTo>
                  <a:lnTo>
                    <a:pt x="8482711" y="5590260"/>
                  </a:lnTo>
                  <a:lnTo>
                    <a:pt x="8449564" y="5615559"/>
                  </a:lnTo>
                  <a:lnTo>
                    <a:pt x="8415655" y="5640743"/>
                  </a:lnTo>
                  <a:lnTo>
                    <a:pt x="8380857" y="5665736"/>
                  </a:lnTo>
                  <a:lnTo>
                    <a:pt x="8345170" y="5690501"/>
                  </a:lnTo>
                  <a:lnTo>
                    <a:pt x="8308721" y="5715000"/>
                  </a:lnTo>
                  <a:lnTo>
                    <a:pt x="8786622" y="5715000"/>
                  </a:lnTo>
                  <a:close/>
                </a:path>
                <a:path w="10161905" h="5715000">
                  <a:moveTo>
                    <a:pt x="10161651" y="4210304"/>
                  </a:moveTo>
                  <a:lnTo>
                    <a:pt x="9597644" y="4674717"/>
                  </a:lnTo>
                  <a:lnTo>
                    <a:pt x="10161651" y="5402237"/>
                  </a:lnTo>
                  <a:lnTo>
                    <a:pt x="10161651" y="4210304"/>
                  </a:lnTo>
                  <a:close/>
                </a:path>
                <a:path w="10161905" h="5715000">
                  <a:moveTo>
                    <a:pt x="10161651" y="0"/>
                  </a:moveTo>
                  <a:lnTo>
                    <a:pt x="8909304" y="0"/>
                  </a:lnTo>
                  <a:lnTo>
                    <a:pt x="8926068" y="35941"/>
                  </a:lnTo>
                  <a:lnTo>
                    <a:pt x="8941943" y="72517"/>
                  </a:lnTo>
                  <a:lnTo>
                    <a:pt x="8957056" y="109601"/>
                  </a:lnTo>
                  <a:lnTo>
                    <a:pt x="8971280" y="147193"/>
                  </a:lnTo>
                  <a:lnTo>
                    <a:pt x="8984615" y="185166"/>
                  </a:lnTo>
                  <a:lnTo>
                    <a:pt x="8997061" y="223774"/>
                  </a:lnTo>
                  <a:lnTo>
                    <a:pt x="9008745" y="262763"/>
                  </a:lnTo>
                  <a:lnTo>
                    <a:pt x="9019413" y="302260"/>
                  </a:lnTo>
                  <a:lnTo>
                    <a:pt x="9029319" y="342265"/>
                  </a:lnTo>
                  <a:lnTo>
                    <a:pt x="9038209" y="382524"/>
                  </a:lnTo>
                  <a:lnTo>
                    <a:pt x="9046210" y="423418"/>
                  </a:lnTo>
                  <a:lnTo>
                    <a:pt x="9053322" y="464566"/>
                  </a:lnTo>
                  <a:lnTo>
                    <a:pt x="9059545" y="506222"/>
                  </a:lnTo>
                  <a:lnTo>
                    <a:pt x="9064752" y="548259"/>
                  </a:lnTo>
                  <a:lnTo>
                    <a:pt x="9069070" y="590550"/>
                  </a:lnTo>
                  <a:lnTo>
                    <a:pt x="9072499" y="633349"/>
                  </a:lnTo>
                  <a:lnTo>
                    <a:pt x="9074912" y="676402"/>
                  </a:lnTo>
                  <a:lnTo>
                    <a:pt x="9076436" y="719836"/>
                  </a:lnTo>
                  <a:lnTo>
                    <a:pt x="9076817" y="763524"/>
                  </a:lnTo>
                  <a:lnTo>
                    <a:pt x="9076309" y="812165"/>
                  </a:lnTo>
                  <a:lnTo>
                    <a:pt x="9074658" y="859790"/>
                  </a:lnTo>
                  <a:lnTo>
                    <a:pt x="9071991" y="906526"/>
                  </a:lnTo>
                  <a:lnTo>
                    <a:pt x="9068181" y="952373"/>
                  </a:lnTo>
                  <a:lnTo>
                    <a:pt x="9063355" y="997458"/>
                  </a:lnTo>
                  <a:lnTo>
                    <a:pt x="9057513" y="1041654"/>
                  </a:lnTo>
                  <a:lnTo>
                    <a:pt x="9050782" y="1085088"/>
                  </a:lnTo>
                  <a:lnTo>
                    <a:pt x="9042908" y="1127760"/>
                  </a:lnTo>
                  <a:lnTo>
                    <a:pt x="9034145" y="1169543"/>
                  </a:lnTo>
                  <a:lnTo>
                    <a:pt x="9024493" y="1210564"/>
                  </a:lnTo>
                  <a:lnTo>
                    <a:pt x="9013825" y="1250950"/>
                  </a:lnTo>
                  <a:lnTo>
                    <a:pt x="9002268" y="1290447"/>
                  </a:lnTo>
                  <a:lnTo>
                    <a:pt x="8989822" y="1329309"/>
                  </a:lnTo>
                  <a:lnTo>
                    <a:pt x="8976487" y="1367409"/>
                  </a:lnTo>
                  <a:lnTo>
                    <a:pt x="8962390" y="1404747"/>
                  </a:lnTo>
                  <a:lnTo>
                    <a:pt x="8947404" y="1441450"/>
                  </a:lnTo>
                  <a:lnTo>
                    <a:pt x="8931529" y="1477518"/>
                  </a:lnTo>
                  <a:lnTo>
                    <a:pt x="8914892" y="1512951"/>
                  </a:lnTo>
                  <a:lnTo>
                    <a:pt x="8897493" y="1547749"/>
                  </a:lnTo>
                  <a:lnTo>
                    <a:pt x="8879332" y="1581785"/>
                  </a:lnTo>
                  <a:lnTo>
                    <a:pt x="8860536" y="1615313"/>
                  </a:lnTo>
                  <a:lnTo>
                    <a:pt x="8840851" y="1648333"/>
                  </a:lnTo>
                  <a:lnTo>
                    <a:pt x="8820531" y="1680591"/>
                  </a:lnTo>
                  <a:lnTo>
                    <a:pt x="8799449" y="1712341"/>
                  </a:lnTo>
                  <a:lnTo>
                    <a:pt x="8755507" y="1774317"/>
                  </a:lnTo>
                  <a:lnTo>
                    <a:pt x="8708898" y="1834007"/>
                  </a:lnTo>
                  <a:lnTo>
                    <a:pt x="8660003" y="1891919"/>
                  </a:lnTo>
                  <a:lnTo>
                    <a:pt x="8608822" y="1947799"/>
                  </a:lnTo>
                  <a:lnTo>
                    <a:pt x="8555482" y="2002028"/>
                  </a:lnTo>
                  <a:lnTo>
                    <a:pt x="8500237" y="2054479"/>
                  </a:lnTo>
                  <a:lnTo>
                    <a:pt x="8471916" y="2080260"/>
                  </a:lnTo>
                  <a:lnTo>
                    <a:pt x="8443214" y="2105533"/>
                  </a:lnTo>
                  <a:lnTo>
                    <a:pt x="8414004" y="2130552"/>
                  </a:lnTo>
                  <a:lnTo>
                    <a:pt x="8384540" y="2155190"/>
                  </a:lnTo>
                  <a:lnTo>
                    <a:pt x="8354568" y="2179574"/>
                  </a:lnTo>
                  <a:lnTo>
                    <a:pt x="8324215" y="2203577"/>
                  </a:lnTo>
                  <a:lnTo>
                    <a:pt x="8293608" y="2227326"/>
                  </a:lnTo>
                  <a:lnTo>
                    <a:pt x="8262747" y="2250694"/>
                  </a:lnTo>
                  <a:lnTo>
                    <a:pt x="8231505" y="2273935"/>
                  </a:lnTo>
                  <a:lnTo>
                    <a:pt x="8168132" y="2319528"/>
                  </a:lnTo>
                  <a:lnTo>
                    <a:pt x="8103743" y="2364359"/>
                  </a:lnTo>
                  <a:lnTo>
                    <a:pt x="8071231" y="2386330"/>
                  </a:lnTo>
                  <a:lnTo>
                    <a:pt x="8005699" y="2430018"/>
                  </a:lnTo>
                  <a:lnTo>
                    <a:pt x="7906258" y="2494534"/>
                  </a:lnTo>
                  <a:lnTo>
                    <a:pt x="8860155" y="3724148"/>
                  </a:lnTo>
                  <a:lnTo>
                    <a:pt x="10161651" y="2660015"/>
                  </a:lnTo>
                  <a:lnTo>
                    <a:pt x="10161651" y="0"/>
                  </a:lnTo>
                  <a:close/>
                </a:path>
              </a:pathLst>
            </a:custGeom>
            <a:solidFill>
              <a:srgbClr val="000000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>
            <a:spLocks noGrp="1"/>
          </p:cNvSpPr>
          <p:nvPr>
            <p:ph type="subTitle" idx="4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FFFFFF"/>
                </a:solidFill>
              </a:rPr>
              <a:t>Impact</a:t>
            </a:r>
            <a:r>
              <a:rPr dirty="0" sz="2000" spc="-75">
                <a:solidFill>
                  <a:srgbClr val="FFFFFF"/>
                </a:solidFill>
              </a:rPr>
              <a:t> </a:t>
            </a:r>
            <a:r>
              <a:rPr dirty="0" sz="2000">
                <a:solidFill>
                  <a:srgbClr val="FFFFFF"/>
                </a:solidFill>
              </a:rPr>
              <a:t>of</a:t>
            </a:r>
            <a:r>
              <a:rPr dirty="0" sz="2000" spc="-30">
                <a:solidFill>
                  <a:srgbClr val="FFFFFF"/>
                </a:solidFill>
              </a:rPr>
              <a:t> </a:t>
            </a:r>
            <a:r>
              <a:rPr dirty="0" sz="2000">
                <a:solidFill>
                  <a:srgbClr val="FFFFFF"/>
                </a:solidFill>
              </a:rPr>
              <a:t>global</a:t>
            </a:r>
            <a:r>
              <a:rPr dirty="0" sz="2000" spc="-55">
                <a:solidFill>
                  <a:srgbClr val="FFFFFF"/>
                </a:solidFill>
              </a:rPr>
              <a:t> </a:t>
            </a:r>
            <a:r>
              <a:rPr dirty="0" sz="2000">
                <a:solidFill>
                  <a:srgbClr val="FFFFFF"/>
                </a:solidFill>
              </a:rPr>
              <a:t>economic</a:t>
            </a:r>
            <a:r>
              <a:rPr dirty="0" sz="2000" spc="-60">
                <a:solidFill>
                  <a:srgbClr val="FFFFFF"/>
                </a:solidFill>
              </a:rPr>
              <a:t> </a:t>
            </a:r>
            <a:r>
              <a:rPr dirty="0" sz="2000" spc="-10">
                <a:solidFill>
                  <a:srgbClr val="FFFFFF"/>
                </a:solidFill>
              </a:rPr>
              <a:t>trends </a:t>
            </a:r>
            <a:r>
              <a:rPr dirty="0" sz="2000">
                <a:solidFill>
                  <a:srgbClr val="FFFFFF"/>
                </a:solidFill>
              </a:rPr>
              <a:t>on</a:t>
            </a:r>
            <a:r>
              <a:rPr dirty="0" sz="2000" spc="-50">
                <a:solidFill>
                  <a:srgbClr val="FFFFFF"/>
                </a:solidFill>
              </a:rPr>
              <a:t> </a:t>
            </a:r>
            <a:r>
              <a:rPr dirty="0" sz="2000">
                <a:solidFill>
                  <a:srgbClr val="FFFFFF"/>
                </a:solidFill>
              </a:rPr>
              <a:t>Nigeria's</a:t>
            </a:r>
            <a:r>
              <a:rPr dirty="0" sz="2000" spc="-65">
                <a:solidFill>
                  <a:srgbClr val="FFFFFF"/>
                </a:solidFill>
              </a:rPr>
              <a:t> </a:t>
            </a:r>
            <a:r>
              <a:rPr dirty="0" sz="2000">
                <a:solidFill>
                  <a:srgbClr val="FFFFFF"/>
                </a:solidFill>
              </a:rPr>
              <a:t>foreign</a:t>
            </a:r>
            <a:r>
              <a:rPr dirty="0" sz="2000" spc="-75">
                <a:solidFill>
                  <a:srgbClr val="FFFFFF"/>
                </a:solidFill>
              </a:rPr>
              <a:t> </a:t>
            </a:r>
            <a:r>
              <a:rPr dirty="0" sz="2000">
                <a:solidFill>
                  <a:srgbClr val="FFFFFF"/>
                </a:solidFill>
              </a:rPr>
              <a:t>exchange</a:t>
            </a:r>
            <a:r>
              <a:rPr dirty="0" sz="2000" spc="-75">
                <a:solidFill>
                  <a:srgbClr val="FFFFFF"/>
                </a:solidFill>
              </a:rPr>
              <a:t> </a:t>
            </a:r>
            <a:r>
              <a:rPr dirty="0" sz="2000" spc="-25">
                <a:solidFill>
                  <a:srgbClr val="FFFFFF"/>
                </a:solidFill>
              </a:rPr>
              <a:t>and </a:t>
            </a:r>
            <a:r>
              <a:rPr dirty="0" sz="2000">
                <a:solidFill>
                  <a:srgbClr val="FFFFFF"/>
                </a:solidFill>
              </a:rPr>
              <a:t>the</a:t>
            </a:r>
            <a:r>
              <a:rPr dirty="0" sz="2000" spc="-45">
                <a:solidFill>
                  <a:srgbClr val="FFFFFF"/>
                </a:solidFill>
              </a:rPr>
              <a:t> </a:t>
            </a:r>
            <a:r>
              <a:rPr dirty="0" sz="2000">
                <a:solidFill>
                  <a:srgbClr val="FFFFFF"/>
                </a:solidFill>
              </a:rPr>
              <a:t>way</a:t>
            </a:r>
            <a:r>
              <a:rPr dirty="0" sz="2000" spc="-50">
                <a:solidFill>
                  <a:srgbClr val="FFFFFF"/>
                </a:solidFill>
              </a:rPr>
              <a:t> </a:t>
            </a:r>
            <a:r>
              <a:rPr dirty="0" sz="2000" spc="-10">
                <a:solidFill>
                  <a:srgbClr val="FFFFFF"/>
                </a:solidFill>
              </a:rPr>
              <a:t>forward</a:t>
            </a:r>
            <a:endParaRPr sz="2000"/>
          </a:p>
        </p:txBody>
      </p:sp>
      <p:grpSp>
        <p:nvGrpSpPr>
          <p:cNvPr id="7" name="object 7" descr=""/>
          <p:cNvGrpSpPr/>
          <p:nvPr/>
        </p:nvGrpSpPr>
        <p:grpSpPr>
          <a:xfrm>
            <a:off x="236220" y="368808"/>
            <a:ext cx="4197350" cy="5271770"/>
            <a:chOff x="236220" y="368808"/>
            <a:chExt cx="4197350" cy="5271770"/>
          </a:xfrm>
        </p:grpSpPr>
        <p:sp>
          <p:nvSpPr>
            <p:cNvPr id="8" name="object 8" descr=""/>
            <p:cNvSpPr/>
            <p:nvPr/>
          </p:nvSpPr>
          <p:spPr>
            <a:xfrm>
              <a:off x="449579" y="1621536"/>
              <a:ext cx="3983990" cy="0"/>
            </a:xfrm>
            <a:custGeom>
              <a:avLst/>
              <a:gdLst/>
              <a:ahLst/>
              <a:cxnLst/>
              <a:rect l="l" t="t" r="r" b="b"/>
              <a:pathLst>
                <a:path w="3983990" h="0">
                  <a:moveTo>
                    <a:pt x="0" y="0"/>
                  </a:moveTo>
                  <a:lnTo>
                    <a:pt x="3983736" y="0"/>
                  </a:lnTo>
                </a:path>
              </a:pathLst>
            </a:custGeom>
            <a:ln w="571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220" y="4652772"/>
              <a:ext cx="1239012" cy="987550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9579" y="368808"/>
              <a:ext cx="2077212" cy="641603"/>
            </a:xfrm>
            <a:prstGeom prst="rect">
              <a:avLst/>
            </a:prstGeom>
          </p:spPr>
        </p:pic>
      </p:grpSp>
      <p:sp>
        <p:nvSpPr>
          <p:cNvPr id="11" name="object 11" descr=""/>
          <p:cNvSpPr txBox="1"/>
          <p:nvPr/>
        </p:nvSpPr>
        <p:spPr>
          <a:xfrm>
            <a:off x="3379978" y="5181396"/>
            <a:ext cx="101600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10">
                <a:solidFill>
                  <a:srgbClr val="FFFFFF"/>
                </a:solidFill>
                <a:latin typeface="Arial MT"/>
                <a:cs typeface="Arial MT"/>
              </a:rPr>
              <a:t>October</a:t>
            </a:r>
            <a:r>
              <a:rPr dirty="0" sz="130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300" spc="-20">
                <a:solidFill>
                  <a:srgbClr val="FFFFFF"/>
                </a:solidFill>
                <a:latin typeface="Arial MT"/>
                <a:cs typeface="Arial MT"/>
              </a:rPr>
              <a:t>2023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FFFFFF"/>
                </a:solidFill>
              </a:rPr>
              <a:t>Nigeria </a:t>
            </a:r>
            <a:r>
              <a:rPr dirty="0" sz="3200" spc="-10">
                <a:solidFill>
                  <a:srgbClr val="FFFFFF"/>
                </a:solidFill>
              </a:rPr>
              <a:t>(Bi-monthly) </a:t>
            </a:r>
            <a:r>
              <a:rPr dirty="0" sz="3200">
                <a:solidFill>
                  <a:srgbClr val="FFFFFF"/>
                </a:solidFill>
              </a:rPr>
              <a:t>Economic</a:t>
            </a:r>
            <a:r>
              <a:rPr dirty="0" sz="3200" spc="-50">
                <a:solidFill>
                  <a:srgbClr val="FFFFFF"/>
                </a:solidFill>
              </a:rPr>
              <a:t> </a:t>
            </a:r>
            <a:r>
              <a:rPr dirty="0" sz="3200" spc="-10">
                <a:solidFill>
                  <a:srgbClr val="FFFFFF"/>
                </a:solidFill>
              </a:rPr>
              <a:t>Outlook</a:t>
            </a:r>
            <a:endParaRPr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79491" y="0"/>
            <a:ext cx="5081016" cy="57149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744" y="1228344"/>
            <a:ext cx="1752600" cy="539750"/>
          </a:xfrm>
          <a:prstGeom prst="rect"/>
          <a:solidFill>
            <a:srgbClr val="D93953"/>
          </a:solidFill>
        </p:spPr>
        <p:txBody>
          <a:bodyPr wrap="square" lIns="0" tIns="28575" rIns="0" bIns="0" rtlCol="0" vert="horz">
            <a:spAutoFit/>
          </a:bodyPr>
          <a:lstStyle/>
          <a:p>
            <a:pPr marL="161925">
              <a:lnSpc>
                <a:spcPct val="100000"/>
              </a:lnSpc>
              <a:spcBef>
                <a:spcPts val="225"/>
              </a:spcBef>
            </a:pPr>
            <a:r>
              <a:rPr dirty="0" sz="3000" spc="-10">
                <a:solidFill>
                  <a:srgbClr val="FFFFFF"/>
                </a:solidFill>
              </a:rPr>
              <a:t>Content</a:t>
            </a:r>
            <a:endParaRPr sz="3000"/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9862" y="159849"/>
            <a:ext cx="1679447" cy="519334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938275" y="2042541"/>
            <a:ext cx="1630680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>
                <a:latin typeface="Arial MT"/>
                <a:cs typeface="Arial MT"/>
              </a:rPr>
              <a:t>Macroeconomic</a:t>
            </a:r>
            <a:r>
              <a:rPr dirty="0" sz="1150" spc="12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Context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938275" y="2707589"/>
            <a:ext cx="1231265" cy="2032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50">
                <a:latin typeface="Arial MT"/>
                <a:cs typeface="Arial MT"/>
              </a:rPr>
              <a:t>Economic</a:t>
            </a:r>
            <a:r>
              <a:rPr dirty="0" sz="1150" spc="75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Outlook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38275" y="3291687"/>
            <a:ext cx="3258820" cy="4584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3500"/>
              </a:lnSpc>
              <a:spcBef>
                <a:spcPts val="95"/>
              </a:spcBef>
            </a:pPr>
            <a:r>
              <a:rPr dirty="0" sz="1150">
                <a:latin typeface="Arial MT"/>
                <a:cs typeface="Arial MT"/>
              </a:rPr>
              <a:t>Impact</a:t>
            </a:r>
            <a:r>
              <a:rPr dirty="0" sz="1150" spc="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of</a:t>
            </a:r>
            <a:r>
              <a:rPr dirty="0" sz="1150" spc="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Global</a:t>
            </a:r>
            <a:r>
              <a:rPr dirty="0" sz="1150" spc="6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Economic</a:t>
            </a:r>
            <a:r>
              <a:rPr dirty="0" sz="1150" spc="5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Trends</a:t>
            </a:r>
            <a:r>
              <a:rPr dirty="0" sz="1150" spc="6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on</a:t>
            </a:r>
            <a:r>
              <a:rPr dirty="0" sz="1150" spc="4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Nigeria</a:t>
            </a:r>
            <a:r>
              <a:rPr dirty="0" sz="1150" spc="55">
                <a:latin typeface="Arial MT"/>
                <a:cs typeface="Arial MT"/>
              </a:rPr>
              <a:t> </a:t>
            </a:r>
            <a:r>
              <a:rPr dirty="0" sz="1150" spc="-25">
                <a:latin typeface="Arial MT"/>
                <a:cs typeface="Arial MT"/>
              </a:rPr>
              <a:t>FX </a:t>
            </a:r>
            <a:r>
              <a:rPr dirty="0" sz="1150">
                <a:latin typeface="Arial MT"/>
                <a:cs typeface="Arial MT"/>
              </a:rPr>
              <a:t>Market</a:t>
            </a:r>
            <a:r>
              <a:rPr dirty="0" sz="1150" spc="5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and</a:t>
            </a:r>
            <a:r>
              <a:rPr dirty="0" sz="1150" spc="35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Way</a:t>
            </a:r>
            <a:r>
              <a:rPr dirty="0" sz="1150" spc="1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Forward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938275" y="3985640"/>
            <a:ext cx="1717675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>
                <a:latin typeface="Arial MT"/>
                <a:cs typeface="Arial MT"/>
              </a:rPr>
              <a:t>PwC</a:t>
            </a:r>
            <a:r>
              <a:rPr dirty="0" sz="1150" spc="50">
                <a:latin typeface="Arial MT"/>
                <a:cs typeface="Arial MT"/>
              </a:rPr>
              <a:t> </a:t>
            </a:r>
            <a:r>
              <a:rPr dirty="0" sz="1150">
                <a:latin typeface="Arial MT"/>
                <a:cs typeface="Arial MT"/>
              </a:rPr>
              <a:t>Economics</a:t>
            </a:r>
            <a:r>
              <a:rPr dirty="0" sz="1150" spc="50">
                <a:latin typeface="Arial MT"/>
                <a:cs typeface="Arial MT"/>
              </a:rPr>
              <a:t> </a:t>
            </a:r>
            <a:r>
              <a:rPr dirty="0" sz="1150" spc="-10">
                <a:latin typeface="Arial MT"/>
                <a:cs typeface="Arial MT"/>
              </a:rPr>
              <a:t>Services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369570" y="927353"/>
            <a:ext cx="9421495" cy="4217035"/>
          </a:xfrm>
          <a:custGeom>
            <a:avLst/>
            <a:gdLst/>
            <a:ahLst/>
            <a:cxnLst/>
            <a:rect l="l" t="t" r="r" b="b"/>
            <a:pathLst>
              <a:path w="9421495" h="4217035">
                <a:moveTo>
                  <a:pt x="0" y="4216908"/>
                </a:moveTo>
                <a:lnTo>
                  <a:pt x="9421368" y="4216908"/>
                </a:lnTo>
                <a:lnTo>
                  <a:pt x="9421368" y="0"/>
                </a:lnTo>
                <a:lnTo>
                  <a:pt x="0" y="0"/>
                </a:lnTo>
                <a:lnTo>
                  <a:pt x="0" y="4216908"/>
                </a:lnTo>
                <a:close/>
              </a:path>
            </a:pathLst>
          </a:custGeom>
          <a:ln w="38100">
            <a:solidFill>
              <a:srgbClr val="DEDED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356412" y="5282895"/>
            <a:ext cx="285750" cy="254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95"/>
              </a:spcBef>
            </a:pPr>
            <a:r>
              <a:rPr dirty="0" sz="600" spc="-10">
                <a:latin typeface="Arial MT"/>
                <a:cs typeface="Arial MT"/>
              </a:rPr>
              <a:t>Internal</a:t>
            </a:r>
            <a:r>
              <a:rPr dirty="0" sz="600" spc="500">
                <a:latin typeface="Arial MT"/>
                <a:cs typeface="Arial MT"/>
              </a:rPr>
              <a:t> </a:t>
            </a:r>
            <a:r>
              <a:rPr dirty="0" sz="600" spc="-25">
                <a:latin typeface="Arial MT"/>
                <a:cs typeface="Arial MT"/>
              </a:rPr>
              <a:t>PwC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62940" y="4029455"/>
            <a:ext cx="175260" cy="157480"/>
          </a:xfrm>
          <a:prstGeom prst="rect">
            <a:avLst/>
          </a:prstGeom>
          <a:solidFill>
            <a:srgbClr val="000000"/>
          </a:solidFill>
        </p:spPr>
        <p:txBody>
          <a:bodyPr wrap="square" lIns="0" tIns="8890" rIns="0" bIns="0" rtlCol="0" vert="horz">
            <a:spAutoFit/>
          </a:bodyPr>
          <a:lstStyle/>
          <a:p>
            <a:pPr marL="60960">
              <a:lnSpc>
                <a:spcPct val="100000"/>
              </a:lnSpc>
              <a:spcBef>
                <a:spcPts val="70"/>
              </a:spcBef>
            </a:pPr>
            <a:r>
              <a:rPr dirty="0" sz="800" spc="-50">
                <a:solidFill>
                  <a:srgbClr val="FFFFFF"/>
                </a:solidFill>
                <a:latin typeface="Arial MT"/>
                <a:cs typeface="Arial MT"/>
              </a:rPr>
              <a:t>4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62940" y="3381755"/>
            <a:ext cx="175260" cy="157480"/>
          </a:xfrm>
          <a:prstGeom prst="rect">
            <a:avLst/>
          </a:prstGeom>
          <a:solidFill>
            <a:srgbClr val="000000"/>
          </a:solidFill>
        </p:spPr>
        <p:txBody>
          <a:bodyPr wrap="square" lIns="0" tIns="10795" rIns="0" bIns="0" rtlCol="0" vert="horz">
            <a:spAutoFit/>
          </a:bodyPr>
          <a:lstStyle/>
          <a:p>
            <a:pPr marL="69215">
              <a:lnSpc>
                <a:spcPct val="100000"/>
              </a:lnSpc>
              <a:spcBef>
                <a:spcPts val="85"/>
              </a:spcBef>
            </a:pPr>
            <a:r>
              <a:rPr dirty="0" sz="800" spc="-50">
                <a:solidFill>
                  <a:srgbClr val="FFFFFF"/>
                </a:solidFill>
                <a:latin typeface="Arial MT"/>
                <a:cs typeface="Arial MT"/>
              </a:rPr>
              <a:t>3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662940" y="2734817"/>
            <a:ext cx="175260" cy="156210"/>
          </a:xfrm>
          <a:prstGeom prst="rect">
            <a:avLst/>
          </a:prstGeom>
          <a:solidFill>
            <a:srgbClr val="000000"/>
          </a:solidFill>
        </p:spPr>
        <p:txBody>
          <a:bodyPr wrap="square" lIns="0" tIns="6350" rIns="0" bIns="0" rtlCol="0" vert="horz">
            <a:spAutoFit/>
          </a:bodyPr>
          <a:lstStyle/>
          <a:p>
            <a:pPr marL="69215">
              <a:lnSpc>
                <a:spcPct val="100000"/>
              </a:lnSpc>
              <a:spcBef>
                <a:spcPts val="50"/>
              </a:spcBef>
            </a:pPr>
            <a:r>
              <a:rPr dirty="0" sz="800" spc="-50">
                <a:solidFill>
                  <a:srgbClr val="FFFFFF"/>
                </a:solidFill>
                <a:latin typeface="Arial MT"/>
                <a:cs typeface="Arial MT"/>
              </a:rPr>
              <a:t>2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662940" y="2081783"/>
            <a:ext cx="175260" cy="157480"/>
          </a:xfrm>
          <a:prstGeom prst="rect">
            <a:avLst/>
          </a:prstGeom>
          <a:solidFill>
            <a:srgbClr val="000000"/>
          </a:solidFill>
        </p:spPr>
        <p:txBody>
          <a:bodyPr wrap="square" lIns="0" tIns="8255" rIns="0" bIns="0" rtlCol="0" vert="horz">
            <a:spAutoFit/>
          </a:bodyPr>
          <a:lstStyle/>
          <a:p>
            <a:pPr marL="69215">
              <a:lnSpc>
                <a:spcPct val="100000"/>
              </a:lnSpc>
              <a:spcBef>
                <a:spcPts val="65"/>
              </a:spcBef>
            </a:pPr>
            <a:r>
              <a:rPr dirty="0" sz="800" spc="-5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39369" y="171068"/>
            <a:ext cx="245999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Georgia"/>
                <a:cs typeface="Georgia"/>
              </a:rPr>
              <a:t>Macroeconomic</a:t>
            </a:r>
            <a:r>
              <a:rPr dirty="0" sz="1600" spc="25">
                <a:latin typeface="Georgia"/>
                <a:cs typeface="Georgia"/>
              </a:rPr>
              <a:t> </a:t>
            </a:r>
            <a:r>
              <a:rPr dirty="0" sz="1600" spc="-10">
                <a:latin typeface="Georgia"/>
                <a:cs typeface="Georgia"/>
              </a:rPr>
              <a:t>dashboard</a:t>
            </a:r>
            <a:endParaRPr sz="1600">
              <a:latin typeface="Georgia"/>
              <a:cs typeface="Georgi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251459" y="1368552"/>
            <a:ext cx="2234565" cy="1254760"/>
            <a:chOff x="251459" y="1368552"/>
            <a:chExt cx="2234565" cy="1254760"/>
          </a:xfrm>
        </p:grpSpPr>
        <p:sp>
          <p:nvSpPr>
            <p:cNvPr id="4" name="object 4" descr=""/>
            <p:cNvSpPr/>
            <p:nvPr/>
          </p:nvSpPr>
          <p:spPr>
            <a:xfrm>
              <a:off x="251459" y="1368552"/>
              <a:ext cx="2234565" cy="1254760"/>
            </a:xfrm>
            <a:custGeom>
              <a:avLst/>
              <a:gdLst/>
              <a:ahLst/>
              <a:cxnLst/>
              <a:rect l="l" t="t" r="r" b="b"/>
              <a:pathLst>
                <a:path w="2234565" h="1254760">
                  <a:moveTo>
                    <a:pt x="2234184" y="0"/>
                  </a:moveTo>
                  <a:lnTo>
                    <a:pt x="0" y="0"/>
                  </a:lnTo>
                  <a:lnTo>
                    <a:pt x="0" y="1254252"/>
                  </a:lnTo>
                  <a:lnTo>
                    <a:pt x="2234184" y="1254252"/>
                  </a:lnTo>
                  <a:lnTo>
                    <a:pt x="223418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583435" y="2022348"/>
              <a:ext cx="74295" cy="74295"/>
            </a:xfrm>
            <a:custGeom>
              <a:avLst/>
              <a:gdLst/>
              <a:ahLst/>
              <a:cxnLst/>
              <a:rect l="l" t="t" r="r" b="b"/>
              <a:pathLst>
                <a:path w="74294" h="74294">
                  <a:moveTo>
                    <a:pt x="37083" y="0"/>
                  </a:moveTo>
                  <a:lnTo>
                    <a:pt x="0" y="74294"/>
                  </a:lnTo>
                  <a:lnTo>
                    <a:pt x="74294" y="74294"/>
                  </a:lnTo>
                  <a:lnTo>
                    <a:pt x="3708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/>
          <p:nvPr/>
        </p:nvSpPr>
        <p:spPr>
          <a:xfrm>
            <a:off x="252984" y="949452"/>
            <a:ext cx="2234565" cy="367665"/>
          </a:xfrm>
          <a:custGeom>
            <a:avLst/>
            <a:gdLst/>
            <a:ahLst/>
            <a:cxnLst/>
            <a:rect l="l" t="t" r="r" b="b"/>
            <a:pathLst>
              <a:path w="2234565" h="367665">
                <a:moveTo>
                  <a:pt x="2172970" y="0"/>
                </a:moveTo>
                <a:lnTo>
                  <a:pt x="61213" y="0"/>
                </a:lnTo>
                <a:lnTo>
                  <a:pt x="37386" y="4814"/>
                </a:lnTo>
                <a:lnTo>
                  <a:pt x="17929" y="17938"/>
                </a:lnTo>
                <a:lnTo>
                  <a:pt x="4810" y="37397"/>
                </a:lnTo>
                <a:lnTo>
                  <a:pt x="0" y="61213"/>
                </a:lnTo>
                <a:lnTo>
                  <a:pt x="0" y="367284"/>
                </a:lnTo>
                <a:lnTo>
                  <a:pt x="2234184" y="367284"/>
                </a:lnTo>
                <a:lnTo>
                  <a:pt x="2234184" y="61213"/>
                </a:lnTo>
                <a:lnTo>
                  <a:pt x="2172970" y="0"/>
                </a:lnTo>
                <a:close/>
              </a:path>
            </a:pathLst>
          </a:custGeom>
          <a:solidFill>
            <a:srgbClr val="D22D4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366775" y="1020826"/>
            <a:ext cx="1423035" cy="2286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300" b="1">
                <a:solidFill>
                  <a:srgbClr val="FFFFFF"/>
                </a:solidFill>
                <a:latin typeface="Arial"/>
                <a:cs typeface="Arial"/>
              </a:rPr>
              <a:t>GDP</a:t>
            </a:r>
            <a:r>
              <a:rPr dirty="0" sz="1300" spc="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FFFFFF"/>
                </a:solidFill>
                <a:latin typeface="Arial"/>
                <a:cs typeface="Arial"/>
              </a:rPr>
              <a:t>Growth</a:t>
            </a:r>
            <a:r>
              <a:rPr dirty="0" sz="1300" spc="-20" b="1">
                <a:solidFill>
                  <a:srgbClr val="FFFFFF"/>
                </a:solidFill>
                <a:latin typeface="Arial"/>
                <a:cs typeface="Arial"/>
              </a:rPr>
              <a:t> Rate</a:t>
            </a:r>
            <a:endParaRPr sz="1300">
              <a:latin typeface="Arial"/>
              <a:cs typeface="Arial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89404" y="1018032"/>
            <a:ext cx="243839" cy="207263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1846833" y="1952974"/>
            <a:ext cx="492125" cy="37846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80"/>
              </a:spcBef>
            </a:pPr>
            <a:r>
              <a:rPr dirty="0" sz="1000" spc="-10">
                <a:latin typeface="Arial MT"/>
                <a:cs typeface="Arial MT"/>
              </a:rPr>
              <a:t>Previous</a:t>
            </a:r>
            <a:endParaRPr sz="1000">
              <a:latin typeface="Arial MT"/>
              <a:cs typeface="Arial MT"/>
            </a:endParaRPr>
          </a:p>
          <a:p>
            <a:pPr marL="54610">
              <a:lnSpc>
                <a:spcPct val="100000"/>
              </a:lnSpc>
              <a:spcBef>
                <a:spcPts val="114"/>
              </a:spcBef>
            </a:pPr>
            <a:r>
              <a:rPr dirty="0" sz="1150" spc="-20">
                <a:latin typeface="Arial MT"/>
                <a:cs typeface="Arial MT"/>
              </a:rPr>
              <a:t>2.3%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71856" y="1367409"/>
            <a:ext cx="1162685" cy="970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dirty="0" sz="2400" spc="-20" b="1">
                <a:latin typeface="Arial"/>
                <a:cs typeface="Arial"/>
              </a:rPr>
              <a:t>2.5%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65"/>
              </a:spcBef>
              <a:tabLst>
                <a:tab pos="691515" algn="l"/>
              </a:tabLst>
            </a:pPr>
            <a:r>
              <a:rPr dirty="0" sz="1000" spc="-10">
                <a:latin typeface="Arial MT"/>
                <a:cs typeface="Arial MT"/>
              </a:rPr>
              <a:t>Period</a:t>
            </a:r>
            <a:r>
              <a:rPr dirty="0" sz="1000">
                <a:latin typeface="Arial MT"/>
                <a:cs typeface="Arial MT"/>
              </a:rPr>
              <a:t>	</a:t>
            </a:r>
            <a:r>
              <a:rPr dirty="0" sz="1000" spc="-25">
                <a:latin typeface="Arial MT"/>
                <a:cs typeface="Arial MT"/>
              </a:rPr>
              <a:t>Q-o-Q%</a:t>
            </a:r>
            <a:endParaRPr sz="1000">
              <a:latin typeface="Arial MT"/>
              <a:cs typeface="Arial MT"/>
            </a:endParaRPr>
          </a:p>
          <a:p>
            <a:pPr marL="20955">
              <a:lnSpc>
                <a:spcPct val="100000"/>
              </a:lnSpc>
              <a:spcBef>
                <a:spcPts val="209"/>
              </a:spcBef>
              <a:tabLst>
                <a:tab pos="786130" algn="l"/>
              </a:tabLst>
            </a:pPr>
            <a:r>
              <a:rPr dirty="0" sz="1150" spc="-25" b="1">
                <a:latin typeface="Arial"/>
                <a:cs typeface="Arial"/>
              </a:rPr>
              <a:t>Q2</a:t>
            </a:r>
            <a:r>
              <a:rPr dirty="0" sz="1150" b="1">
                <a:latin typeface="Arial"/>
                <a:cs typeface="Arial"/>
              </a:rPr>
              <a:t>	</a:t>
            </a:r>
            <a:r>
              <a:rPr dirty="0" sz="1150" spc="-20" b="1">
                <a:latin typeface="Arial"/>
                <a:cs typeface="Arial"/>
              </a:rPr>
              <a:t>8.7%</a:t>
            </a:r>
            <a:endParaRPr sz="1150">
              <a:latin typeface="Arial"/>
              <a:cs typeface="Arial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2709672" y="949452"/>
            <a:ext cx="2237740" cy="1682750"/>
            <a:chOff x="2709672" y="949452"/>
            <a:chExt cx="2237740" cy="1682750"/>
          </a:xfrm>
        </p:grpSpPr>
        <p:sp>
          <p:nvSpPr>
            <p:cNvPr id="12" name="object 12" descr=""/>
            <p:cNvSpPr/>
            <p:nvPr/>
          </p:nvSpPr>
          <p:spPr>
            <a:xfrm>
              <a:off x="2709672" y="1342644"/>
              <a:ext cx="2234565" cy="1289685"/>
            </a:xfrm>
            <a:custGeom>
              <a:avLst/>
              <a:gdLst/>
              <a:ahLst/>
              <a:cxnLst/>
              <a:rect l="l" t="t" r="r" b="b"/>
              <a:pathLst>
                <a:path w="2234565" h="1289685">
                  <a:moveTo>
                    <a:pt x="2234183" y="0"/>
                  </a:moveTo>
                  <a:lnTo>
                    <a:pt x="0" y="0"/>
                  </a:lnTo>
                  <a:lnTo>
                    <a:pt x="0" y="1289303"/>
                  </a:lnTo>
                  <a:lnTo>
                    <a:pt x="2234183" y="1289303"/>
                  </a:lnTo>
                  <a:lnTo>
                    <a:pt x="2234183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2712720" y="949452"/>
              <a:ext cx="2234565" cy="367665"/>
            </a:xfrm>
            <a:custGeom>
              <a:avLst/>
              <a:gdLst/>
              <a:ahLst/>
              <a:cxnLst/>
              <a:rect l="l" t="t" r="r" b="b"/>
              <a:pathLst>
                <a:path w="2234565" h="367665">
                  <a:moveTo>
                    <a:pt x="2172970" y="0"/>
                  </a:moveTo>
                  <a:lnTo>
                    <a:pt x="61213" y="0"/>
                  </a:lnTo>
                  <a:lnTo>
                    <a:pt x="37397" y="4814"/>
                  </a:lnTo>
                  <a:lnTo>
                    <a:pt x="17938" y="17938"/>
                  </a:lnTo>
                  <a:lnTo>
                    <a:pt x="4814" y="37397"/>
                  </a:lnTo>
                  <a:lnTo>
                    <a:pt x="0" y="61213"/>
                  </a:lnTo>
                  <a:lnTo>
                    <a:pt x="0" y="367284"/>
                  </a:lnTo>
                  <a:lnTo>
                    <a:pt x="2234184" y="367284"/>
                  </a:lnTo>
                  <a:lnTo>
                    <a:pt x="2234184" y="61213"/>
                  </a:lnTo>
                  <a:lnTo>
                    <a:pt x="2172970" y="0"/>
                  </a:lnTo>
                  <a:close/>
                </a:path>
              </a:pathLst>
            </a:custGeom>
            <a:solidFill>
              <a:srgbClr val="FFB6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041647" y="2022348"/>
              <a:ext cx="76200" cy="74295"/>
            </a:xfrm>
            <a:custGeom>
              <a:avLst/>
              <a:gdLst/>
              <a:ahLst/>
              <a:cxnLst/>
              <a:rect l="l" t="t" r="r" b="b"/>
              <a:pathLst>
                <a:path w="76200" h="74294">
                  <a:moveTo>
                    <a:pt x="37973" y="0"/>
                  </a:moveTo>
                  <a:lnTo>
                    <a:pt x="0" y="74294"/>
                  </a:lnTo>
                  <a:lnTo>
                    <a:pt x="75946" y="74294"/>
                  </a:lnTo>
                  <a:lnTo>
                    <a:pt x="37973" y="0"/>
                  </a:lnTo>
                  <a:close/>
                </a:path>
              </a:pathLst>
            </a:custGeom>
            <a:solidFill>
              <a:srgbClr val="0D0D0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4763770" y="1048639"/>
            <a:ext cx="84455" cy="1517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50">
                <a:latin typeface="Arial MT"/>
                <a:cs typeface="Arial MT"/>
              </a:rPr>
              <a:t>$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4555235" y="998219"/>
            <a:ext cx="317500" cy="271780"/>
            <a:chOff x="4555235" y="998219"/>
            <a:chExt cx="317500" cy="271780"/>
          </a:xfrm>
        </p:grpSpPr>
        <p:pic>
          <p:nvPicPr>
            <p:cNvPr id="17" name="object 1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55235" y="1161287"/>
              <a:ext cx="316991" cy="108203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55235" y="998219"/>
              <a:ext cx="316991" cy="117348"/>
            </a:xfrm>
            <a:prstGeom prst="rect">
              <a:avLst/>
            </a:prstGeom>
          </p:spPr>
        </p:pic>
      </p:grpSp>
      <p:sp>
        <p:nvSpPr>
          <p:cNvPr id="19" name="object 19" descr=""/>
          <p:cNvSpPr txBox="1"/>
          <p:nvPr/>
        </p:nvSpPr>
        <p:spPr>
          <a:xfrm>
            <a:off x="2802635" y="1046225"/>
            <a:ext cx="1864360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sz="1150" b="1">
                <a:latin typeface="Arial"/>
                <a:cs typeface="Arial"/>
              </a:rPr>
              <a:t>Exchange</a:t>
            </a:r>
            <a:r>
              <a:rPr dirty="0" sz="1150" spc="-1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Rate- Official</a:t>
            </a:r>
            <a:r>
              <a:rPr dirty="0" sz="1150" spc="240" b="1">
                <a:latin typeface="Arial"/>
                <a:cs typeface="Arial"/>
              </a:rPr>
              <a:t> </a:t>
            </a:r>
            <a:r>
              <a:rPr dirty="0" baseline="17361" sz="1200" spc="-75">
                <a:latin typeface="Arial MT"/>
                <a:cs typeface="Arial MT"/>
              </a:rPr>
              <a:t>₦</a:t>
            </a:r>
            <a:endParaRPr baseline="17361" sz="1200">
              <a:latin typeface="Arial MT"/>
              <a:cs typeface="Arial MT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2709672" y="1342644"/>
            <a:ext cx="2234565" cy="1289685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116839">
              <a:lnSpc>
                <a:spcPct val="100000"/>
              </a:lnSpc>
              <a:spcBef>
                <a:spcPts val="195"/>
              </a:spcBef>
            </a:pPr>
            <a:r>
              <a:rPr dirty="0" sz="2400" spc="-10" b="1">
                <a:latin typeface="Roboto"/>
                <a:cs typeface="Roboto"/>
              </a:rPr>
              <a:t>₦769.3/$</a:t>
            </a:r>
            <a:endParaRPr sz="2400">
              <a:latin typeface="Roboto"/>
              <a:cs typeface="Roboto"/>
            </a:endParaRPr>
          </a:p>
          <a:p>
            <a:pPr marL="137795">
              <a:lnSpc>
                <a:spcPct val="100000"/>
              </a:lnSpc>
              <a:spcBef>
                <a:spcPts val="1910"/>
              </a:spcBef>
              <a:tabLst>
                <a:tab pos="833755" algn="l"/>
                <a:tab pos="1539875" algn="l"/>
              </a:tabLst>
            </a:pPr>
            <a:r>
              <a:rPr dirty="0" baseline="2777" sz="1500" spc="-15">
                <a:latin typeface="Arial MT"/>
                <a:cs typeface="Arial MT"/>
              </a:rPr>
              <a:t>Period</a:t>
            </a:r>
            <a:r>
              <a:rPr dirty="0" baseline="2777" sz="1500">
                <a:latin typeface="Arial MT"/>
                <a:cs typeface="Arial MT"/>
              </a:rPr>
              <a:t>	</a:t>
            </a:r>
            <a:r>
              <a:rPr dirty="0" baseline="2777" sz="1500" spc="-30">
                <a:latin typeface="Arial MT"/>
                <a:cs typeface="Arial MT"/>
              </a:rPr>
              <a:t>M-</a:t>
            </a:r>
            <a:r>
              <a:rPr dirty="0" baseline="2777" sz="1500" spc="-15">
                <a:latin typeface="Arial MT"/>
                <a:cs typeface="Arial MT"/>
              </a:rPr>
              <a:t>o-</a:t>
            </a:r>
            <a:r>
              <a:rPr dirty="0" baseline="2777" sz="1500" spc="-37">
                <a:latin typeface="Arial MT"/>
                <a:cs typeface="Arial MT"/>
              </a:rPr>
              <a:t>M%</a:t>
            </a:r>
            <a:r>
              <a:rPr dirty="0" baseline="2777" sz="1500">
                <a:latin typeface="Arial MT"/>
                <a:cs typeface="Arial MT"/>
              </a:rPr>
              <a:t>	</a:t>
            </a:r>
            <a:r>
              <a:rPr dirty="0" sz="1000" spc="-10">
                <a:latin typeface="Arial MT"/>
                <a:cs typeface="Arial MT"/>
              </a:rPr>
              <a:t>Previous*</a:t>
            </a:r>
            <a:endParaRPr sz="1000">
              <a:latin typeface="Arial MT"/>
              <a:cs typeface="Arial MT"/>
            </a:endParaRPr>
          </a:p>
          <a:p>
            <a:pPr marL="116839">
              <a:lnSpc>
                <a:spcPct val="100000"/>
              </a:lnSpc>
              <a:spcBef>
                <a:spcPts val="195"/>
              </a:spcBef>
              <a:tabLst>
                <a:tab pos="822960" algn="l"/>
                <a:tab pos="1614805" algn="l"/>
              </a:tabLst>
            </a:pPr>
            <a:r>
              <a:rPr dirty="0" baseline="2415" sz="1725" b="1">
                <a:latin typeface="Arial"/>
                <a:cs typeface="Arial"/>
              </a:rPr>
              <a:t>Sept</a:t>
            </a:r>
            <a:r>
              <a:rPr dirty="0" baseline="2415" sz="1725" spc="-112" b="1">
                <a:latin typeface="Arial"/>
                <a:cs typeface="Arial"/>
              </a:rPr>
              <a:t> </a:t>
            </a:r>
            <a:r>
              <a:rPr dirty="0" baseline="2415" sz="1725" spc="-37" b="1">
                <a:latin typeface="Arial"/>
                <a:cs typeface="Arial"/>
              </a:rPr>
              <a:t>29</a:t>
            </a:r>
            <a:r>
              <a:rPr dirty="0" baseline="2415" sz="1725" b="1">
                <a:latin typeface="Arial"/>
                <a:cs typeface="Arial"/>
              </a:rPr>
              <a:t>	</a:t>
            </a:r>
            <a:r>
              <a:rPr dirty="0" sz="1150" spc="-20" b="1">
                <a:latin typeface="Arial"/>
                <a:cs typeface="Arial"/>
              </a:rPr>
              <a:t>-0.35%</a:t>
            </a:r>
            <a:r>
              <a:rPr dirty="0" sz="1150" b="1">
                <a:latin typeface="Arial"/>
                <a:cs typeface="Arial"/>
              </a:rPr>
              <a:t>	</a:t>
            </a:r>
            <a:r>
              <a:rPr dirty="0" baseline="4830" sz="1725" spc="-15">
                <a:solidFill>
                  <a:srgbClr val="1F2023"/>
                </a:solidFill>
                <a:latin typeface="Microsoft Sans Serif"/>
                <a:cs typeface="Microsoft Sans Serif"/>
              </a:rPr>
              <a:t>₦</a:t>
            </a:r>
            <a:r>
              <a:rPr dirty="0" baseline="4830" sz="1725" spc="-15">
                <a:latin typeface="Arial MT"/>
                <a:cs typeface="Arial MT"/>
              </a:rPr>
              <a:t>772/$</a:t>
            </a:r>
            <a:endParaRPr baseline="4830" sz="1725">
              <a:latin typeface="Arial MT"/>
              <a:cs typeface="Arial MT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5190744" y="949452"/>
            <a:ext cx="2235835" cy="1673860"/>
            <a:chOff x="5190744" y="949452"/>
            <a:chExt cx="2235835" cy="1673860"/>
          </a:xfrm>
        </p:grpSpPr>
        <p:sp>
          <p:nvSpPr>
            <p:cNvPr id="22" name="object 22" descr=""/>
            <p:cNvSpPr/>
            <p:nvPr/>
          </p:nvSpPr>
          <p:spPr>
            <a:xfrm>
              <a:off x="5190744" y="1339596"/>
              <a:ext cx="2234565" cy="1283335"/>
            </a:xfrm>
            <a:custGeom>
              <a:avLst/>
              <a:gdLst/>
              <a:ahLst/>
              <a:cxnLst/>
              <a:rect l="l" t="t" r="r" b="b"/>
              <a:pathLst>
                <a:path w="2234565" h="1283335">
                  <a:moveTo>
                    <a:pt x="2234183" y="0"/>
                  </a:moveTo>
                  <a:lnTo>
                    <a:pt x="0" y="0"/>
                  </a:lnTo>
                  <a:lnTo>
                    <a:pt x="0" y="1283208"/>
                  </a:lnTo>
                  <a:lnTo>
                    <a:pt x="2234183" y="1283208"/>
                  </a:lnTo>
                  <a:lnTo>
                    <a:pt x="2234183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5192268" y="949452"/>
              <a:ext cx="2234565" cy="367665"/>
            </a:xfrm>
            <a:custGeom>
              <a:avLst/>
              <a:gdLst/>
              <a:ahLst/>
              <a:cxnLst/>
              <a:rect l="l" t="t" r="r" b="b"/>
              <a:pathLst>
                <a:path w="2234565" h="367665">
                  <a:moveTo>
                    <a:pt x="2172970" y="0"/>
                  </a:moveTo>
                  <a:lnTo>
                    <a:pt x="61214" y="0"/>
                  </a:lnTo>
                  <a:lnTo>
                    <a:pt x="37397" y="4814"/>
                  </a:lnTo>
                  <a:lnTo>
                    <a:pt x="17938" y="17938"/>
                  </a:lnTo>
                  <a:lnTo>
                    <a:pt x="4814" y="37397"/>
                  </a:lnTo>
                  <a:lnTo>
                    <a:pt x="0" y="61213"/>
                  </a:lnTo>
                  <a:lnTo>
                    <a:pt x="0" y="367284"/>
                  </a:lnTo>
                  <a:lnTo>
                    <a:pt x="2234184" y="367284"/>
                  </a:lnTo>
                  <a:lnTo>
                    <a:pt x="2234184" y="61213"/>
                  </a:lnTo>
                  <a:lnTo>
                    <a:pt x="2172970" y="0"/>
                  </a:lnTo>
                  <a:close/>
                </a:path>
              </a:pathLst>
            </a:custGeom>
            <a:solidFill>
              <a:srgbClr val="DF2F1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5308219" y="1046225"/>
            <a:ext cx="1642110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b="1">
                <a:solidFill>
                  <a:srgbClr val="FFFFFF"/>
                </a:solidFill>
                <a:latin typeface="Arial"/>
                <a:cs typeface="Arial"/>
              </a:rPr>
              <a:t>Exchange</a:t>
            </a:r>
            <a:r>
              <a:rPr dirty="0" sz="115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FFFFFF"/>
                </a:solidFill>
                <a:latin typeface="Arial"/>
                <a:cs typeface="Arial"/>
              </a:rPr>
              <a:t>rate-</a:t>
            </a:r>
            <a:r>
              <a:rPr dirty="0" sz="115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FFFFFF"/>
                </a:solidFill>
                <a:latin typeface="Arial"/>
                <a:cs typeface="Arial"/>
              </a:rPr>
              <a:t>Parallel</a:t>
            </a:r>
            <a:endParaRPr sz="1150">
              <a:latin typeface="Arial"/>
              <a:cs typeface="Arial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5327015" y="1352169"/>
            <a:ext cx="13157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400" spc="-85" b="1">
                <a:latin typeface="Roboto"/>
                <a:cs typeface="Roboto"/>
              </a:rPr>
              <a:t>₦1,008/$</a:t>
            </a:r>
            <a:endParaRPr sz="2400">
              <a:latin typeface="Roboto"/>
              <a:cs typeface="Roboto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5298059" y="1936445"/>
            <a:ext cx="526415" cy="40132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3335">
              <a:lnSpc>
                <a:spcPct val="100000"/>
              </a:lnSpc>
              <a:spcBef>
                <a:spcPts val="265"/>
              </a:spcBef>
            </a:pPr>
            <a:r>
              <a:rPr dirty="0" sz="1000" spc="-10">
                <a:latin typeface="Arial MT"/>
                <a:cs typeface="Arial MT"/>
              </a:rPr>
              <a:t>Period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9"/>
              </a:spcBef>
            </a:pPr>
            <a:r>
              <a:rPr dirty="0" sz="1150" b="1">
                <a:latin typeface="Arial"/>
                <a:cs typeface="Arial"/>
              </a:rPr>
              <a:t>Sept</a:t>
            </a:r>
            <a:r>
              <a:rPr dirty="0" sz="1150" spc="-75" b="1">
                <a:latin typeface="Arial"/>
                <a:cs typeface="Arial"/>
              </a:rPr>
              <a:t> </a:t>
            </a:r>
            <a:r>
              <a:rPr dirty="0" sz="1150" spc="-25" b="1">
                <a:latin typeface="Arial"/>
                <a:cs typeface="Arial"/>
              </a:rPr>
              <a:t>29</a:t>
            </a:r>
            <a:endParaRPr sz="1150">
              <a:latin typeface="Arial"/>
              <a:cs typeface="Arial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6601968" y="998219"/>
            <a:ext cx="748665" cy="1089660"/>
            <a:chOff x="6601968" y="998219"/>
            <a:chExt cx="748665" cy="1089660"/>
          </a:xfrm>
        </p:grpSpPr>
        <p:sp>
          <p:nvSpPr>
            <p:cNvPr id="28" name="object 28" descr=""/>
            <p:cNvSpPr/>
            <p:nvPr/>
          </p:nvSpPr>
          <p:spPr>
            <a:xfrm>
              <a:off x="6601968" y="2013203"/>
              <a:ext cx="74295" cy="74295"/>
            </a:xfrm>
            <a:custGeom>
              <a:avLst/>
              <a:gdLst/>
              <a:ahLst/>
              <a:cxnLst/>
              <a:rect l="l" t="t" r="r" b="b"/>
              <a:pathLst>
                <a:path w="74295" h="74294">
                  <a:moveTo>
                    <a:pt x="37083" y="0"/>
                  </a:moveTo>
                  <a:lnTo>
                    <a:pt x="0" y="74295"/>
                  </a:lnTo>
                  <a:lnTo>
                    <a:pt x="74295" y="74295"/>
                  </a:lnTo>
                  <a:lnTo>
                    <a:pt x="3708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36308" y="1161287"/>
              <a:ext cx="313944" cy="108203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36308" y="998219"/>
              <a:ext cx="313944" cy="117348"/>
            </a:xfrm>
            <a:prstGeom prst="rect">
              <a:avLst/>
            </a:prstGeom>
          </p:spPr>
        </p:pic>
      </p:grpSp>
      <p:sp>
        <p:nvSpPr>
          <p:cNvPr id="31" name="object 31" descr=""/>
          <p:cNvSpPr txBox="1"/>
          <p:nvPr/>
        </p:nvSpPr>
        <p:spPr>
          <a:xfrm>
            <a:off x="6076060" y="1960625"/>
            <a:ext cx="1277620" cy="3619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  <a:tabLst>
                <a:tab pos="710565" algn="l"/>
              </a:tabLst>
            </a:pPr>
            <a:r>
              <a:rPr dirty="0" sz="1000" spc="-20">
                <a:latin typeface="Arial MT"/>
                <a:cs typeface="Arial MT"/>
              </a:rPr>
              <a:t>M-</a:t>
            </a:r>
            <a:r>
              <a:rPr dirty="0" sz="1000" spc="-10">
                <a:latin typeface="Arial MT"/>
                <a:cs typeface="Arial MT"/>
              </a:rPr>
              <a:t>o-</a:t>
            </a:r>
            <a:r>
              <a:rPr dirty="0" sz="1000" spc="-25">
                <a:latin typeface="Arial MT"/>
                <a:cs typeface="Arial MT"/>
              </a:rPr>
              <a:t>M%</a:t>
            </a:r>
            <a:r>
              <a:rPr dirty="0" sz="1000">
                <a:latin typeface="Arial MT"/>
                <a:cs typeface="Arial MT"/>
              </a:rPr>
              <a:t>	</a:t>
            </a:r>
            <a:r>
              <a:rPr dirty="0" baseline="2777" sz="1500" spc="-15">
                <a:latin typeface="Arial MT"/>
                <a:cs typeface="Arial MT"/>
              </a:rPr>
              <a:t>Previous*</a:t>
            </a:r>
            <a:endParaRPr baseline="2777" sz="1500">
              <a:latin typeface="Arial MT"/>
              <a:cs typeface="Arial MT"/>
            </a:endParaRPr>
          </a:p>
          <a:p>
            <a:pPr marL="75565">
              <a:lnSpc>
                <a:spcPct val="100000"/>
              </a:lnSpc>
              <a:spcBef>
                <a:spcPts val="65"/>
              </a:spcBef>
              <a:tabLst>
                <a:tab pos="713740" algn="l"/>
              </a:tabLst>
            </a:pPr>
            <a:r>
              <a:rPr dirty="0" baseline="-7246" sz="1725" spc="-30" b="1">
                <a:latin typeface="Arial"/>
                <a:cs typeface="Arial"/>
              </a:rPr>
              <a:t>9.5%</a:t>
            </a:r>
            <a:r>
              <a:rPr dirty="0" baseline="-7246" sz="1725" b="1">
                <a:latin typeface="Arial"/>
                <a:cs typeface="Arial"/>
              </a:rPr>
              <a:t>	</a:t>
            </a:r>
            <a:r>
              <a:rPr dirty="0" sz="1150" spc="-10">
                <a:latin typeface="Arial MT"/>
                <a:cs typeface="Arial MT"/>
              </a:rPr>
              <a:t>₦920/$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7032497" y="1049858"/>
            <a:ext cx="294640" cy="1524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22885" algn="l"/>
              </a:tabLst>
            </a:pPr>
            <a:r>
              <a:rPr dirty="0" sz="800" spc="-50">
                <a:solidFill>
                  <a:srgbClr val="FFFFFF"/>
                </a:solidFill>
                <a:latin typeface="Arial MT"/>
                <a:cs typeface="Arial MT"/>
              </a:rPr>
              <a:t>₦</a:t>
            </a:r>
            <a:r>
              <a:rPr dirty="0" sz="80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dirty="0" sz="800" spc="-50">
                <a:solidFill>
                  <a:srgbClr val="FFFFFF"/>
                </a:solidFill>
                <a:latin typeface="Arial MT"/>
                <a:cs typeface="Arial MT"/>
              </a:rPr>
              <a:t>$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33" name="object 33" descr=""/>
          <p:cNvGrpSpPr/>
          <p:nvPr/>
        </p:nvGrpSpPr>
        <p:grpSpPr>
          <a:xfrm>
            <a:off x="7671816" y="949452"/>
            <a:ext cx="2237740" cy="1673860"/>
            <a:chOff x="7671816" y="949452"/>
            <a:chExt cx="2237740" cy="1673860"/>
          </a:xfrm>
        </p:grpSpPr>
        <p:sp>
          <p:nvSpPr>
            <p:cNvPr id="34" name="object 34" descr=""/>
            <p:cNvSpPr/>
            <p:nvPr/>
          </p:nvSpPr>
          <p:spPr>
            <a:xfrm>
              <a:off x="7671816" y="1342644"/>
              <a:ext cx="2235835" cy="1280160"/>
            </a:xfrm>
            <a:custGeom>
              <a:avLst/>
              <a:gdLst/>
              <a:ahLst/>
              <a:cxnLst/>
              <a:rect l="l" t="t" r="r" b="b"/>
              <a:pathLst>
                <a:path w="2235834" h="1280160">
                  <a:moveTo>
                    <a:pt x="2235707" y="0"/>
                  </a:moveTo>
                  <a:lnTo>
                    <a:pt x="0" y="0"/>
                  </a:lnTo>
                  <a:lnTo>
                    <a:pt x="0" y="1280159"/>
                  </a:lnTo>
                  <a:lnTo>
                    <a:pt x="2235707" y="1280159"/>
                  </a:lnTo>
                  <a:lnTo>
                    <a:pt x="2235707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7673340" y="949452"/>
              <a:ext cx="2235835" cy="367665"/>
            </a:xfrm>
            <a:custGeom>
              <a:avLst/>
              <a:gdLst/>
              <a:ahLst/>
              <a:cxnLst/>
              <a:rect l="l" t="t" r="r" b="b"/>
              <a:pathLst>
                <a:path w="2235834" h="367665">
                  <a:moveTo>
                    <a:pt x="2174493" y="0"/>
                  </a:moveTo>
                  <a:lnTo>
                    <a:pt x="61213" y="0"/>
                  </a:lnTo>
                  <a:lnTo>
                    <a:pt x="37397" y="4814"/>
                  </a:lnTo>
                  <a:lnTo>
                    <a:pt x="17938" y="17938"/>
                  </a:lnTo>
                  <a:lnTo>
                    <a:pt x="4814" y="37397"/>
                  </a:lnTo>
                  <a:lnTo>
                    <a:pt x="0" y="61213"/>
                  </a:lnTo>
                  <a:lnTo>
                    <a:pt x="0" y="367284"/>
                  </a:lnTo>
                  <a:lnTo>
                    <a:pt x="2235707" y="367284"/>
                  </a:lnTo>
                  <a:lnTo>
                    <a:pt x="2235707" y="61213"/>
                  </a:lnTo>
                  <a:lnTo>
                    <a:pt x="2174493" y="0"/>
                  </a:lnTo>
                  <a:close/>
                </a:path>
              </a:pathLst>
            </a:custGeom>
            <a:solidFill>
              <a:srgbClr val="5F221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 descr=""/>
          <p:cNvSpPr txBox="1"/>
          <p:nvPr/>
        </p:nvSpPr>
        <p:spPr>
          <a:xfrm>
            <a:off x="7790180" y="1046225"/>
            <a:ext cx="1510665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b="1">
                <a:solidFill>
                  <a:srgbClr val="FFFFFF"/>
                </a:solidFill>
                <a:latin typeface="Arial"/>
                <a:cs typeface="Arial"/>
              </a:rPr>
              <a:t>Monetary Policy</a:t>
            </a:r>
            <a:r>
              <a:rPr dirty="0" sz="115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50" spc="-20" b="1">
                <a:solidFill>
                  <a:srgbClr val="FFFFFF"/>
                </a:solidFill>
                <a:latin typeface="Arial"/>
                <a:cs typeface="Arial"/>
              </a:rPr>
              <a:t>Rate</a:t>
            </a:r>
            <a:endParaRPr sz="1150">
              <a:latin typeface="Arial"/>
              <a:cs typeface="Arial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7757159" y="1352169"/>
            <a:ext cx="10185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latin typeface="Roboto"/>
                <a:cs typeface="Roboto"/>
              </a:rPr>
              <a:t>18.75%</a:t>
            </a:r>
            <a:endParaRPr sz="2400">
              <a:latin typeface="Roboto"/>
              <a:cs typeface="Roboto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9270238" y="1952974"/>
            <a:ext cx="541020" cy="37846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80"/>
              </a:spcBef>
            </a:pPr>
            <a:r>
              <a:rPr dirty="0" sz="1000" spc="-10">
                <a:latin typeface="Arial MT"/>
                <a:cs typeface="Arial MT"/>
              </a:rPr>
              <a:t>Previous*</a:t>
            </a:r>
            <a:endParaRPr sz="1000">
              <a:latin typeface="Arial MT"/>
              <a:cs typeface="Arial MT"/>
            </a:endParaRPr>
          </a:p>
          <a:p>
            <a:pPr marL="5715">
              <a:lnSpc>
                <a:spcPct val="100000"/>
              </a:lnSpc>
              <a:spcBef>
                <a:spcPts val="114"/>
              </a:spcBef>
            </a:pPr>
            <a:r>
              <a:rPr dirty="0" sz="1150" spc="-10">
                <a:latin typeface="Arial MT"/>
                <a:cs typeface="Arial MT"/>
              </a:rPr>
              <a:t>18.5%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39" name="object 39" descr=""/>
          <p:cNvGrpSpPr/>
          <p:nvPr/>
        </p:nvGrpSpPr>
        <p:grpSpPr>
          <a:xfrm>
            <a:off x="9003792" y="1022603"/>
            <a:ext cx="789940" cy="1074420"/>
            <a:chOff x="9003792" y="1022603"/>
            <a:chExt cx="789940" cy="1074420"/>
          </a:xfrm>
        </p:grpSpPr>
        <p:sp>
          <p:nvSpPr>
            <p:cNvPr id="40" name="object 40" descr=""/>
            <p:cNvSpPr/>
            <p:nvPr/>
          </p:nvSpPr>
          <p:spPr>
            <a:xfrm>
              <a:off x="9003792" y="2022347"/>
              <a:ext cx="74295" cy="74295"/>
            </a:xfrm>
            <a:custGeom>
              <a:avLst/>
              <a:gdLst/>
              <a:ahLst/>
              <a:cxnLst/>
              <a:rect l="l" t="t" r="r" b="b"/>
              <a:pathLst>
                <a:path w="74295" h="74294">
                  <a:moveTo>
                    <a:pt x="37083" y="0"/>
                  </a:moveTo>
                  <a:lnTo>
                    <a:pt x="0" y="74294"/>
                  </a:lnTo>
                  <a:lnTo>
                    <a:pt x="74294" y="74294"/>
                  </a:lnTo>
                  <a:lnTo>
                    <a:pt x="3708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26524" y="1022603"/>
              <a:ext cx="266700" cy="237744"/>
            </a:xfrm>
            <a:prstGeom prst="rect">
              <a:avLst/>
            </a:prstGeom>
          </p:spPr>
        </p:pic>
      </p:grpSp>
      <p:sp>
        <p:nvSpPr>
          <p:cNvPr id="42" name="object 42" descr=""/>
          <p:cNvSpPr txBox="1"/>
          <p:nvPr/>
        </p:nvSpPr>
        <p:spPr>
          <a:xfrm>
            <a:off x="7731506" y="1939239"/>
            <a:ext cx="383540" cy="40132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3335">
              <a:lnSpc>
                <a:spcPct val="100000"/>
              </a:lnSpc>
              <a:spcBef>
                <a:spcPts val="265"/>
              </a:spcBef>
            </a:pPr>
            <a:r>
              <a:rPr dirty="0" sz="1000" spc="-10">
                <a:latin typeface="Arial MT"/>
                <a:cs typeface="Arial MT"/>
              </a:rPr>
              <a:t>Period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9"/>
              </a:spcBef>
            </a:pPr>
            <a:r>
              <a:rPr dirty="0" sz="1150" spc="-20" b="1">
                <a:latin typeface="Arial"/>
                <a:cs typeface="Arial"/>
              </a:rPr>
              <a:t>July</a:t>
            </a:r>
            <a:endParaRPr sz="1150">
              <a:latin typeface="Arial"/>
              <a:cs typeface="Arial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8478266" y="1939239"/>
            <a:ext cx="490855" cy="40132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algn="ctr" marR="5080">
              <a:lnSpc>
                <a:spcPct val="100000"/>
              </a:lnSpc>
              <a:spcBef>
                <a:spcPts val="265"/>
              </a:spcBef>
            </a:pPr>
            <a:r>
              <a:rPr dirty="0" sz="1000" spc="-20">
                <a:latin typeface="Arial MT"/>
                <a:cs typeface="Arial MT"/>
              </a:rPr>
              <a:t>M-</a:t>
            </a:r>
            <a:r>
              <a:rPr dirty="0" sz="1000" spc="-10">
                <a:latin typeface="Arial MT"/>
                <a:cs typeface="Arial MT"/>
              </a:rPr>
              <a:t>o-</a:t>
            </a:r>
            <a:r>
              <a:rPr dirty="0" sz="1000" spc="-25">
                <a:latin typeface="Arial MT"/>
                <a:cs typeface="Arial MT"/>
              </a:rPr>
              <a:t>M%</a:t>
            </a:r>
            <a:endParaRPr sz="1000">
              <a:latin typeface="Arial MT"/>
              <a:cs typeface="Arial MT"/>
            </a:endParaRPr>
          </a:p>
          <a:p>
            <a:pPr algn="ctr" marL="17145">
              <a:lnSpc>
                <a:spcPct val="100000"/>
              </a:lnSpc>
              <a:spcBef>
                <a:spcPts val="209"/>
              </a:spcBef>
            </a:pPr>
            <a:r>
              <a:rPr dirty="0" sz="1150" spc="-20" b="1">
                <a:latin typeface="Arial"/>
                <a:cs typeface="Arial"/>
              </a:rPr>
              <a:t>1.4%</a:t>
            </a:r>
            <a:endParaRPr sz="1150">
              <a:latin typeface="Arial"/>
              <a:cs typeface="Arial"/>
            </a:endParaRPr>
          </a:p>
        </p:txBody>
      </p:sp>
      <p:grpSp>
        <p:nvGrpSpPr>
          <p:cNvPr id="44" name="object 44" descr=""/>
          <p:cNvGrpSpPr/>
          <p:nvPr/>
        </p:nvGrpSpPr>
        <p:grpSpPr>
          <a:xfrm>
            <a:off x="251459" y="2945892"/>
            <a:ext cx="2235835" cy="1671955"/>
            <a:chOff x="251459" y="2945892"/>
            <a:chExt cx="2235835" cy="1671955"/>
          </a:xfrm>
        </p:grpSpPr>
        <p:sp>
          <p:nvSpPr>
            <p:cNvPr id="45" name="object 45" descr=""/>
            <p:cNvSpPr/>
            <p:nvPr/>
          </p:nvSpPr>
          <p:spPr>
            <a:xfrm>
              <a:off x="251459" y="3343656"/>
              <a:ext cx="2234565" cy="1274445"/>
            </a:xfrm>
            <a:custGeom>
              <a:avLst/>
              <a:gdLst/>
              <a:ahLst/>
              <a:cxnLst/>
              <a:rect l="l" t="t" r="r" b="b"/>
              <a:pathLst>
                <a:path w="2234565" h="1274445">
                  <a:moveTo>
                    <a:pt x="2234184" y="0"/>
                  </a:moveTo>
                  <a:lnTo>
                    <a:pt x="0" y="0"/>
                  </a:lnTo>
                  <a:lnTo>
                    <a:pt x="0" y="1274064"/>
                  </a:lnTo>
                  <a:lnTo>
                    <a:pt x="2234184" y="1274064"/>
                  </a:lnTo>
                  <a:lnTo>
                    <a:pt x="223418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252983" y="2945892"/>
              <a:ext cx="2234565" cy="367665"/>
            </a:xfrm>
            <a:custGeom>
              <a:avLst/>
              <a:gdLst/>
              <a:ahLst/>
              <a:cxnLst/>
              <a:rect l="l" t="t" r="r" b="b"/>
              <a:pathLst>
                <a:path w="2234565" h="367664">
                  <a:moveTo>
                    <a:pt x="2172970" y="0"/>
                  </a:moveTo>
                  <a:lnTo>
                    <a:pt x="61213" y="0"/>
                  </a:lnTo>
                  <a:lnTo>
                    <a:pt x="37386" y="4814"/>
                  </a:lnTo>
                  <a:lnTo>
                    <a:pt x="17929" y="17938"/>
                  </a:lnTo>
                  <a:lnTo>
                    <a:pt x="4810" y="37397"/>
                  </a:lnTo>
                  <a:lnTo>
                    <a:pt x="0" y="61213"/>
                  </a:lnTo>
                  <a:lnTo>
                    <a:pt x="0" y="367283"/>
                  </a:lnTo>
                  <a:lnTo>
                    <a:pt x="2234184" y="367283"/>
                  </a:lnTo>
                  <a:lnTo>
                    <a:pt x="2234184" y="61213"/>
                  </a:lnTo>
                  <a:lnTo>
                    <a:pt x="2172970" y="0"/>
                  </a:lnTo>
                  <a:close/>
                </a:path>
              </a:pathLst>
            </a:custGeom>
            <a:solidFill>
              <a:srgbClr val="DF2F1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 descr=""/>
          <p:cNvSpPr txBox="1"/>
          <p:nvPr/>
        </p:nvSpPr>
        <p:spPr>
          <a:xfrm>
            <a:off x="366775" y="3017265"/>
            <a:ext cx="1195705" cy="2286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300" b="1">
                <a:solidFill>
                  <a:srgbClr val="FFFFFF"/>
                </a:solidFill>
                <a:latin typeface="Arial"/>
                <a:cs typeface="Arial"/>
              </a:rPr>
              <a:t>Oil</a:t>
            </a:r>
            <a:r>
              <a:rPr dirty="0" sz="1300" spc="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FFFFFF"/>
                </a:solidFill>
                <a:latin typeface="Arial"/>
                <a:cs typeface="Arial"/>
              </a:rPr>
              <a:t>Production</a:t>
            </a:r>
            <a:endParaRPr sz="1300">
              <a:latin typeface="Arial"/>
              <a:cs typeface="Arial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342595" y="3363848"/>
            <a:ext cx="12477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400" spc="-20" b="1">
                <a:latin typeface="Arial"/>
                <a:cs typeface="Arial"/>
              </a:rPr>
              <a:t>1.4mbpd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49" name="object 49" descr=""/>
          <p:cNvGrpSpPr/>
          <p:nvPr/>
        </p:nvGrpSpPr>
        <p:grpSpPr>
          <a:xfrm>
            <a:off x="1583436" y="3000736"/>
            <a:ext cx="777240" cy="1091565"/>
            <a:chOff x="1583436" y="3000736"/>
            <a:chExt cx="777240" cy="1091565"/>
          </a:xfrm>
        </p:grpSpPr>
        <p:sp>
          <p:nvSpPr>
            <p:cNvPr id="50" name="object 50" descr=""/>
            <p:cNvSpPr/>
            <p:nvPr/>
          </p:nvSpPr>
          <p:spPr>
            <a:xfrm>
              <a:off x="2122931" y="3034284"/>
              <a:ext cx="238125" cy="233679"/>
            </a:xfrm>
            <a:custGeom>
              <a:avLst/>
              <a:gdLst/>
              <a:ahLst/>
              <a:cxnLst/>
              <a:rect l="l" t="t" r="r" b="b"/>
              <a:pathLst>
                <a:path w="238125" h="233679">
                  <a:moveTo>
                    <a:pt x="219456" y="0"/>
                  </a:moveTo>
                  <a:lnTo>
                    <a:pt x="60198" y="0"/>
                  </a:lnTo>
                  <a:lnTo>
                    <a:pt x="60198" y="9525"/>
                  </a:lnTo>
                  <a:lnTo>
                    <a:pt x="21462" y="9525"/>
                  </a:lnTo>
                  <a:lnTo>
                    <a:pt x="21462" y="85598"/>
                  </a:lnTo>
                  <a:lnTo>
                    <a:pt x="0" y="85598"/>
                  </a:lnTo>
                  <a:lnTo>
                    <a:pt x="0" y="119126"/>
                  </a:lnTo>
                  <a:lnTo>
                    <a:pt x="60198" y="119126"/>
                  </a:lnTo>
                  <a:lnTo>
                    <a:pt x="60198" y="128524"/>
                  </a:lnTo>
                  <a:lnTo>
                    <a:pt x="21462" y="128524"/>
                  </a:lnTo>
                  <a:lnTo>
                    <a:pt x="21462" y="199771"/>
                  </a:lnTo>
                  <a:lnTo>
                    <a:pt x="0" y="199771"/>
                  </a:lnTo>
                  <a:lnTo>
                    <a:pt x="0" y="233172"/>
                  </a:lnTo>
                  <a:lnTo>
                    <a:pt x="237744" y="233172"/>
                  </a:lnTo>
                  <a:lnTo>
                    <a:pt x="237744" y="199771"/>
                  </a:lnTo>
                  <a:lnTo>
                    <a:pt x="219456" y="199771"/>
                  </a:lnTo>
                  <a:lnTo>
                    <a:pt x="219456" y="160147"/>
                  </a:lnTo>
                  <a:lnTo>
                    <a:pt x="119634" y="160147"/>
                  </a:lnTo>
                  <a:lnTo>
                    <a:pt x="110236" y="159131"/>
                  </a:lnTo>
                  <a:lnTo>
                    <a:pt x="78105" y="133985"/>
                  </a:lnTo>
                  <a:lnTo>
                    <a:pt x="77216" y="130937"/>
                  </a:lnTo>
                  <a:lnTo>
                    <a:pt x="94742" y="69977"/>
                  </a:lnTo>
                  <a:lnTo>
                    <a:pt x="119634" y="24765"/>
                  </a:lnTo>
                  <a:lnTo>
                    <a:pt x="219456" y="24765"/>
                  </a:lnTo>
                  <a:lnTo>
                    <a:pt x="2194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1583436" y="4018788"/>
              <a:ext cx="73660" cy="73660"/>
            </a:xfrm>
            <a:custGeom>
              <a:avLst/>
              <a:gdLst/>
              <a:ahLst/>
              <a:cxnLst/>
              <a:rect l="l" t="t" r="r" b="b"/>
              <a:pathLst>
                <a:path w="73660" h="73660">
                  <a:moveTo>
                    <a:pt x="36575" y="0"/>
                  </a:moveTo>
                  <a:lnTo>
                    <a:pt x="0" y="73152"/>
                  </a:lnTo>
                  <a:lnTo>
                    <a:pt x="73151" y="73152"/>
                  </a:lnTo>
                  <a:lnTo>
                    <a:pt x="365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2" name="object 5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43327" y="3058668"/>
              <a:ext cx="117348" cy="135636"/>
            </a:xfrm>
            <a:prstGeom prst="rect">
              <a:avLst/>
            </a:prstGeom>
          </p:spPr>
        </p:pic>
        <p:sp>
          <p:nvSpPr>
            <p:cNvPr id="53" name="object 53" descr=""/>
            <p:cNvSpPr/>
            <p:nvPr/>
          </p:nvSpPr>
          <p:spPr>
            <a:xfrm>
              <a:off x="2122931" y="3000736"/>
              <a:ext cx="238125" cy="33655"/>
            </a:xfrm>
            <a:custGeom>
              <a:avLst/>
              <a:gdLst/>
              <a:ahLst/>
              <a:cxnLst/>
              <a:rect l="l" t="t" r="r" b="b"/>
              <a:pathLst>
                <a:path w="238125" h="33655">
                  <a:moveTo>
                    <a:pt x="237528" y="0"/>
                  </a:moveTo>
                  <a:lnTo>
                    <a:pt x="0" y="0"/>
                  </a:lnTo>
                  <a:lnTo>
                    <a:pt x="0" y="33420"/>
                  </a:lnTo>
                  <a:lnTo>
                    <a:pt x="237528" y="33420"/>
                  </a:lnTo>
                  <a:lnTo>
                    <a:pt x="2375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4" name="object 54" descr=""/>
          <p:cNvGrpSpPr/>
          <p:nvPr/>
        </p:nvGrpSpPr>
        <p:grpSpPr>
          <a:xfrm>
            <a:off x="2697479" y="2945892"/>
            <a:ext cx="2249805" cy="1635760"/>
            <a:chOff x="2697479" y="2945892"/>
            <a:chExt cx="2249805" cy="1635760"/>
          </a:xfrm>
        </p:grpSpPr>
        <p:sp>
          <p:nvSpPr>
            <p:cNvPr id="55" name="object 55" descr=""/>
            <p:cNvSpPr/>
            <p:nvPr/>
          </p:nvSpPr>
          <p:spPr>
            <a:xfrm>
              <a:off x="2697479" y="3326892"/>
              <a:ext cx="2246630" cy="1254760"/>
            </a:xfrm>
            <a:custGeom>
              <a:avLst/>
              <a:gdLst/>
              <a:ahLst/>
              <a:cxnLst/>
              <a:rect l="l" t="t" r="r" b="b"/>
              <a:pathLst>
                <a:path w="2246629" h="1254760">
                  <a:moveTo>
                    <a:pt x="2246375" y="0"/>
                  </a:moveTo>
                  <a:lnTo>
                    <a:pt x="0" y="0"/>
                  </a:lnTo>
                  <a:lnTo>
                    <a:pt x="0" y="1254252"/>
                  </a:lnTo>
                  <a:lnTo>
                    <a:pt x="2246375" y="1254252"/>
                  </a:lnTo>
                  <a:lnTo>
                    <a:pt x="224637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2712719" y="2945892"/>
              <a:ext cx="2234565" cy="367665"/>
            </a:xfrm>
            <a:custGeom>
              <a:avLst/>
              <a:gdLst/>
              <a:ahLst/>
              <a:cxnLst/>
              <a:rect l="l" t="t" r="r" b="b"/>
              <a:pathLst>
                <a:path w="2234565" h="367664">
                  <a:moveTo>
                    <a:pt x="2172970" y="0"/>
                  </a:moveTo>
                  <a:lnTo>
                    <a:pt x="61213" y="0"/>
                  </a:lnTo>
                  <a:lnTo>
                    <a:pt x="37397" y="4814"/>
                  </a:lnTo>
                  <a:lnTo>
                    <a:pt x="17938" y="17938"/>
                  </a:lnTo>
                  <a:lnTo>
                    <a:pt x="4814" y="37397"/>
                  </a:lnTo>
                  <a:lnTo>
                    <a:pt x="0" y="61213"/>
                  </a:lnTo>
                  <a:lnTo>
                    <a:pt x="0" y="367283"/>
                  </a:lnTo>
                  <a:lnTo>
                    <a:pt x="2234184" y="367283"/>
                  </a:lnTo>
                  <a:lnTo>
                    <a:pt x="2234184" y="61213"/>
                  </a:lnTo>
                  <a:lnTo>
                    <a:pt x="2172970" y="0"/>
                  </a:lnTo>
                  <a:close/>
                </a:path>
              </a:pathLst>
            </a:custGeom>
            <a:solidFill>
              <a:srgbClr val="DC69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7" name="object 57" descr=""/>
          <p:cNvSpPr txBox="1"/>
          <p:nvPr/>
        </p:nvSpPr>
        <p:spPr>
          <a:xfrm>
            <a:off x="2827147" y="3042285"/>
            <a:ext cx="908050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b="1">
                <a:solidFill>
                  <a:srgbClr val="FFFFFF"/>
                </a:solidFill>
                <a:latin typeface="Arial"/>
                <a:cs typeface="Arial"/>
              </a:rPr>
              <a:t>FX</a:t>
            </a:r>
            <a:r>
              <a:rPr dirty="0" sz="115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FFFFFF"/>
                </a:solidFill>
                <a:latin typeface="Arial"/>
                <a:cs typeface="Arial"/>
              </a:rPr>
              <a:t>Reserves</a:t>
            </a:r>
            <a:endParaRPr sz="1150">
              <a:latin typeface="Arial"/>
              <a:cs typeface="Arial"/>
            </a:endParaRPr>
          </a:p>
        </p:txBody>
      </p:sp>
      <p:grpSp>
        <p:nvGrpSpPr>
          <p:cNvPr id="58" name="object 58" descr=""/>
          <p:cNvGrpSpPr/>
          <p:nvPr/>
        </p:nvGrpSpPr>
        <p:grpSpPr>
          <a:xfrm>
            <a:off x="4041647" y="2997707"/>
            <a:ext cx="762000" cy="1094105"/>
            <a:chOff x="4041647" y="2997707"/>
            <a:chExt cx="762000" cy="1094105"/>
          </a:xfrm>
        </p:grpSpPr>
        <p:sp>
          <p:nvSpPr>
            <p:cNvPr id="59" name="object 59" descr=""/>
            <p:cNvSpPr/>
            <p:nvPr/>
          </p:nvSpPr>
          <p:spPr>
            <a:xfrm>
              <a:off x="4041647" y="4018787"/>
              <a:ext cx="76200" cy="73025"/>
            </a:xfrm>
            <a:custGeom>
              <a:avLst/>
              <a:gdLst/>
              <a:ahLst/>
              <a:cxnLst/>
              <a:rect l="l" t="t" r="r" b="b"/>
              <a:pathLst>
                <a:path w="76200" h="73025">
                  <a:moveTo>
                    <a:pt x="37973" y="0"/>
                  </a:moveTo>
                  <a:lnTo>
                    <a:pt x="0" y="72771"/>
                  </a:lnTo>
                  <a:lnTo>
                    <a:pt x="75946" y="72771"/>
                  </a:lnTo>
                  <a:lnTo>
                    <a:pt x="379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0" name="object 6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67427" y="2997707"/>
              <a:ext cx="236220" cy="254507"/>
            </a:xfrm>
            <a:prstGeom prst="rect">
              <a:avLst/>
            </a:prstGeom>
          </p:spPr>
        </p:pic>
      </p:grpSp>
      <p:sp>
        <p:nvSpPr>
          <p:cNvPr id="61" name="object 61" descr=""/>
          <p:cNvSpPr/>
          <p:nvPr/>
        </p:nvSpPr>
        <p:spPr>
          <a:xfrm>
            <a:off x="7671816" y="3363467"/>
            <a:ext cx="2235835" cy="1254760"/>
          </a:xfrm>
          <a:custGeom>
            <a:avLst/>
            <a:gdLst/>
            <a:ahLst/>
            <a:cxnLst/>
            <a:rect l="l" t="t" r="r" b="b"/>
            <a:pathLst>
              <a:path w="2235834" h="1254760">
                <a:moveTo>
                  <a:pt x="2235707" y="0"/>
                </a:moveTo>
                <a:lnTo>
                  <a:pt x="0" y="0"/>
                </a:lnTo>
                <a:lnTo>
                  <a:pt x="0" y="1254252"/>
                </a:lnTo>
                <a:lnTo>
                  <a:pt x="2235707" y="1254252"/>
                </a:lnTo>
                <a:lnTo>
                  <a:pt x="2235707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 descr=""/>
          <p:cNvSpPr/>
          <p:nvPr/>
        </p:nvSpPr>
        <p:spPr>
          <a:xfrm>
            <a:off x="7673340" y="2945892"/>
            <a:ext cx="2235835" cy="367665"/>
          </a:xfrm>
          <a:custGeom>
            <a:avLst/>
            <a:gdLst/>
            <a:ahLst/>
            <a:cxnLst/>
            <a:rect l="l" t="t" r="r" b="b"/>
            <a:pathLst>
              <a:path w="2235834" h="367664">
                <a:moveTo>
                  <a:pt x="2174493" y="0"/>
                </a:moveTo>
                <a:lnTo>
                  <a:pt x="61213" y="0"/>
                </a:lnTo>
                <a:lnTo>
                  <a:pt x="37397" y="4814"/>
                </a:lnTo>
                <a:lnTo>
                  <a:pt x="17938" y="17938"/>
                </a:lnTo>
                <a:lnTo>
                  <a:pt x="4814" y="37397"/>
                </a:lnTo>
                <a:lnTo>
                  <a:pt x="0" y="61213"/>
                </a:lnTo>
                <a:lnTo>
                  <a:pt x="0" y="367283"/>
                </a:lnTo>
                <a:lnTo>
                  <a:pt x="2235707" y="367283"/>
                </a:lnTo>
                <a:lnTo>
                  <a:pt x="2235707" y="61213"/>
                </a:lnTo>
                <a:lnTo>
                  <a:pt x="2174493" y="0"/>
                </a:lnTo>
                <a:close/>
              </a:path>
            </a:pathLst>
          </a:custGeom>
          <a:solidFill>
            <a:srgbClr val="2C2C2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 descr=""/>
          <p:cNvSpPr txBox="1"/>
          <p:nvPr/>
        </p:nvSpPr>
        <p:spPr>
          <a:xfrm>
            <a:off x="7790180" y="3042285"/>
            <a:ext cx="599440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spc="-10" b="1">
                <a:solidFill>
                  <a:srgbClr val="FFFFFF"/>
                </a:solidFill>
                <a:latin typeface="Arial"/>
                <a:cs typeface="Arial"/>
              </a:rPr>
              <a:t>Inflation</a:t>
            </a:r>
            <a:endParaRPr sz="1150">
              <a:latin typeface="Arial"/>
              <a:cs typeface="Arial"/>
            </a:endParaRPr>
          </a:p>
        </p:txBody>
      </p:sp>
      <p:sp>
        <p:nvSpPr>
          <p:cNvPr id="64" name="object 64" descr=""/>
          <p:cNvSpPr txBox="1"/>
          <p:nvPr/>
        </p:nvSpPr>
        <p:spPr>
          <a:xfrm>
            <a:off x="7772400" y="3348608"/>
            <a:ext cx="8464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latin typeface="Roboto"/>
                <a:cs typeface="Roboto"/>
              </a:rPr>
              <a:t>25.8%</a:t>
            </a:r>
            <a:endParaRPr sz="2400">
              <a:latin typeface="Roboto"/>
              <a:cs typeface="Roboto"/>
            </a:endParaRPr>
          </a:p>
        </p:txBody>
      </p:sp>
      <p:sp>
        <p:nvSpPr>
          <p:cNvPr id="65" name="object 65" descr=""/>
          <p:cNvSpPr txBox="1"/>
          <p:nvPr/>
        </p:nvSpPr>
        <p:spPr>
          <a:xfrm>
            <a:off x="9270238" y="3949668"/>
            <a:ext cx="490855" cy="37846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80"/>
              </a:spcBef>
            </a:pPr>
            <a:r>
              <a:rPr dirty="0" sz="1000" spc="-10">
                <a:latin typeface="Arial MT"/>
                <a:cs typeface="Arial MT"/>
              </a:rPr>
              <a:t>Previous</a:t>
            </a:r>
            <a:endParaRPr sz="1000">
              <a:latin typeface="Arial MT"/>
              <a:cs typeface="Arial MT"/>
            </a:endParaRPr>
          </a:p>
          <a:p>
            <a:pPr marL="2540">
              <a:lnSpc>
                <a:spcPct val="100000"/>
              </a:lnSpc>
              <a:spcBef>
                <a:spcPts val="114"/>
              </a:spcBef>
            </a:pPr>
            <a:r>
              <a:rPr dirty="0" sz="1150" spc="-10">
                <a:latin typeface="Arial MT"/>
                <a:cs typeface="Arial MT"/>
              </a:rPr>
              <a:t>24.1%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66" name="object 66" descr=""/>
          <p:cNvSpPr/>
          <p:nvPr/>
        </p:nvSpPr>
        <p:spPr>
          <a:xfrm>
            <a:off x="9003792" y="4018788"/>
            <a:ext cx="74930" cy="73660"/>
          </a:xfrm>
          <a:custGeom>
            <a:avLst/>
            <a:gdLst/>
            <a:ahLst/>
            <a:cxnLst/>
            <a:rect l="l" t="t" r="r" b="b"/>
            <a:pathLst>
              <a:path w="74929" h="73660">
                <a:moveTo>
                  <a:pt x="37337" y="0"/>
                </a:moveTo>
                <a:lnTo>
                  <a:pt x="0" y="73152"/>
                </a:lnTo>
                <a:lnTo>
                  <a:pt x="74675" y="73152"/>
                </a:lnTo>
                <a:lnTo>
                  <a:pt x="373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7" name="object 67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555480" y="2991611"/>
            <a:ext cx="192024" cy="266700"/>
          </a:xfrm>
          <a:prstGeom prst="rect">
            <a:avLst/>
          </a:prstGeom>
        </p:spPr>
      </p:pic>
      <p:sp>
        <p:nvSpPr>
          <p:cNvPr id="68" name="object 68" descr=""/>
          <p:cNvSpPr txBox="1"/>
          <p:nvPr/>
        </p:nvSpPr>
        <p:spPr>
          <a:xfrm>
            <a:off x="7731506" y="3935679"/>
            <a:ext cx="383540" cy="40132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3335">
              <a:lnSpc>
                <a:spcPct val="100000"/>
              </a:lnSpc>
              <a:spcBef>
                <a:spcPts val="265"/>
              </a:spcBef>
            </a:pPr>
            <a:r>
              <a:rPr dirty="0" sz="1000" spc="-10">
                <a:latin typeface="Arial MT"/>
                <a:cs typeface="Arial MT"/>
              </a:rPr>
              <a:t>Period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9"/>
              </a:spcBef>
            </a:pPr>
            <a:r>
              <a:rPr dirty="0" sz="1150" spc="-25" b="1">
                <a:latin typeface="Arial"/>
                <a:cs typeface="Arial"/>
              </a:rPr>
              <a:t>Aug</a:t>
            </a:r>
            <a:endParaRPr sz="1150">
              <a:latin typeface="Arial"/>
              <a:cs typeface="Arial"/>
            </a:endParaRPr>
          </a:p>
        </p:txBody>
      </p:sp>
      <p:sp>
        <p:nvSpPr>
          <p:cNvPr id="69" name="object 69" descr=""/>
          <p:cNvSpPr txBox="1"/>
          <p:nvPr/>
        </p:nvSpPr>
        <p:spPr>
          <a:xfrm>
            <a:off x="8478266" y="3935679"/>
            <a:ext cx="513080" cy="40132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65"/>
              </a:spcBef>
            </a:pPr>
            <a:r>
              <a:rPr dirty="0" sz="1000" spc="-20">
                <a:latin typeface="Arial MT"/>
                <a:cs typeface="Arial MT"/>
              </a:rPr>
              <a:t>M-</a:t>
            </a:r>
            <a:r>
              <a:rPr dirty="0" sz="1000" spc="-10">
                <a:latin typeface="Arial MT"/>
                <a:cs typeface="Arial MT"/>
              </a:rPr>
              <a:t>o-</a:t>
            </a:r>
            <a:r>
              <a:rPr dirty="0" sz="1000" spc="-25">
                <a:latin typeface="Arial MT"/>
                <a:cs typeface="Arial MT"/>
              </a:rPr>
              <a:t>M%</a:t>
            </a:r>
            <a:endParaRPr sz="1000">
              <a:latin typeface="Arial MT"/>
              <a:cs typeface="Arial MT"/>
            </a:endParaRPr>
          </a:p>
          <a:p>
            <a:pPr marL="167005">
              <a:lnSpc>
                <a:spcPct val="100000"/>
              </a:lnSpc>
              <a:spcBef>
                <a:spcPts val="209"/>
              </a:spcBef>
            </a:pPr>
            <a:r>
              <a:rPr dirty="0" sz="1150" spc="-20" b="1">
                <a:latin typeface="Arial"/>
                <a:cs typeface="Arial"/>
              </a:rPr>
              <a:t>7.1%</a:t>
            </a:r>
            <a:endParaRPr sz="1150">
              <a:latin typeface="Arial"/>
              <a:cs typeface="Arial"/>
            </a:endParaRPr>
          </a:p>
        </p:txBody>
      </p:sp>
      <p:sp>
        <p:nvSpPr>
          <p:cNvPr id="70" name="object 70" descr=""/>
          <p:cNvSpPr txBox="1"/>
          <p:nvPr/>
        </p:nvSpPr>
        <p:spPr>
          <a:xfrm>
            <a:off x="4040885" y="4906772"/>
            <a:ext cx="1664335" cy="1155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50" b="1">
                <a:latin typeface="Arial"/>
                <a:cs typeface="Arial"/>
              </a:rPr>
              <a:t>NB:</a:t>
            </a:r>
            <a:r>
              <a:rPr dirty="0" sz="550" spc="-5" b="1">
                <a:latin typeface="Arial"/>
                <a:cs typeface="Arial"/>
              </a:rPr>
              <a:t> </a:t>
            </a:r>
            <a:r>
              <a:rPr dirty="0" sz="550" b="1">
                <a:latin typeface="Arial"/>
                <a:cs typeface="Arial"/>
              </a:rPr>
              <a:t>The</a:t>
            </a:r>
            <a:r>
              <a:rPr dirty="0" sz="550" spc="15" b="1">
                <a:latin typeface="Arial"/>
                <a:cs typeface="Arial"/>
              </a:rPr>
              <a:t> </a:t>
            </a:r>
            <a:r>
              <a:rPr dirty="0" sz="550" b="1">
                <a:latin typeface="Arial"/>
                <a:cs typeface="Arial"/>
              </a:rPr>
              <a:t>cut</a:t>
            </a:r>
            <a:r>
              <a:rPr dirty="0" sz="550" spc="10" b="1">
                <a:latin typeface="Arial"/>
                <a:cs typeface="Arial"/>
              </a:rPr>
              <a:t> </a:t>
            </a:r>
            <a:r>
              <a:rPr dirty="0" sz="550" b="1">
                <a:latin typeface="Arial"/>
                <a:cs typeface="Arial"/>
              </a:rPr>
              <a:t>off</a:t>
            </a:r>
            <a:r>
              <a:rPr dirty="0" sz="550" spc="40" b="1">
                <a:latin typeface="Arial"/>
                <a:cs typeface="Arial"/>
              </a:rPr>
              <a:t> </a:t>
            </a:r>
            <a:r>
              <a:rPr dirty="0" sz="550" b="1">
                <a:latin typeface="Arial"/>
                <a:cs typeface="Arial"/>
              </a:rPr>
              <a:t>date</a:t>
            </a:r>
            <a:r>
              <a:rPr dirty="0" sz="550" spc="30" b="1">
                <a:latin typeface="Arial"/>
                <a:cs typeface="Arial"/>
              </a:rPr>
              <a:t> </a:t>
            </a:r>
            <a:r>
              <a:rPr dirty="0" sz="550" b="1">
                <a:latin typeface="Arial"/>
                <a:cs typeface="Arial"/>
              </a:rPr>
              <a:t>is</a:t>
            </a:r>
            <a:r>
              <a:rPr dirty="0" sz="550" spc="10" b="1">
                <a:latin typeface="Arial"/>
                <a:cs typeface="Arial"/>
              </a:rPr>
              <a:t> </a:t>
            </a:r>
            <a:r>
              <a:rPr dirty="0" sz="550" b="1">
                <a:latin typeface="Arial"/>
                <a:cs typeface="Arial"/>
              </a:rPr>
              <a:t>as</a:t>
            </a:r>
            <a:r>
              <a:rPr dirty="0" sz="550" spc="30" b="1">
                <a:latin typeface="Arial"/>
                <a:cs typeface="Arial"/>
              </a:rPr>
              <a:t> </a:t>
            </a:r>
            <a:r>
              <a:rPr dirty="0" sz="550" b="1">
                <a:latin typeface="Arial"/>
                <a:cs typeface="Arial"/>
              </a:rPr>
              <a:t>of</a:t>
            </a:r>
            <a:r>
              <a:rPr dirty="0" sz="550" spc="15" b="1">
                <a:latin typeface="Arial"/>
                <a:cs typeface="Arial"/>
              </a:rPr>
              <a:t> </a:t>
            </a:r>
            <a:r>
              <a:rPr dirty="0" sz="550" b="1">
                <a:latin typeface="Arial"/>
                <a:cs typeface="Arial"/>
              </a:rPr>
              <a:t>September</a:t>
            </a:r>
            <a:r>
              <a:rPr dirty="0" sz="550" spc="30" b="1">
                <a:latin typeface="Arial"/>
                <a:cs typeface="Arial"/>
              </a:rPr>
              <a:t> </a:t>
            </a:r>
            <a:r>
              <a:rPr dirty="0" sz="550" b="1">
                <a:latin typeface="Arial"/>
                <a:cs typeface="Arial"/>
              </a:rPr>
              <a:t>29,</a:t>
            </a:r>
            <a:r>
              <a:rPr dirty="0" sz="550" spc="75" b="1">
                <a:latin typeface="Arial"/>
                <a:cs typeface="Arial"/>
              </a:rPr>
              <a:t> </a:t>
            </a:r>
            <a:r>
              <a:rPr dirty="0" sz="550" spc="-20" b="1">
                <a:latin typeface="Arial"/>
                <a:cs typeface="Arial"/>
              </a:rPr>
              <a:t>2023</a:t>
            </a:r>
            <a:endParaRPr sz="550">
              <a:latin typeface="Arial"/>
              <a:cs typeface="Arial"/>
            </a:endParaRPr>
          </a:p>
        </p:txBody>
      </p:sp>
      <p:grpSp>
        <p:nvGrpSpPr>
          <p:cNvPr id="71" name="object 71" descr=""/>
          <p:cNvGrpSpPr/>
          <p:nvPr/>
        </p:nvGrpSpPr>
        <p:grpSpPr>
          <a:xfrm>
            <a:off x="5190744" y="2945892"/>
            <a:ext cx="2249805" cy="1659889"/>
            <a:chOff x="5190744" y="2945892"/>
            <a:chExt cx="2249805" cy="1659889"/>
          </a:xfrm>
        </p:grpSpPr>
        <p:sp>
          <p:nvSpPr>
            <p:cNvPr id="72" name="object 72" descr=""/>
            <p:cNvSpPr/>
            <p:nvPr/>
          </p:nvSpPr>
          <p:spPr>
            <a:xfrm>
              <a:off x="5190744" y="3337560"/>
              <a:ext cx="2249805" cy="1268095"/>
            </a:xfrm>
            <a:custGeom>
              <a:avLst/>
              <a:gdLst/>
              <a:ahLst/>
              <a:cxnLst/>
              <a:rect l="l" t="t" r="r" b="b"/>
              <a:pathLst>
                <a:path w="2249804" h="1268095">
                  <a:moveTo>
                    <a:pt x="2249424" y="0"/>
                  </a:moveTo>
                  <a:lnTo>
                    <a:pt x="0" y="0"/>
                  </a:lnTo>
                  <a:lnTo>
                    <a:pt x="0" y="1267967"/>
                  </a:lnTo>
                  <a:lnTo>
                    <a:pt x="2249424" y="1267967"/>
                  </a:lnTo>
                  <a:lnTo>
                    <a:pt x="224942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5192268" y="2945892"/>
              <a:ext cx="2234565" cy="367665"/>
            </a:xfrm>
            <a:custGeom>
              <a:avLst/>
              <a:gdLst/>
              <a:ahLst/>
              <a:cxnLst/>
              <a:rect l="l" t="t" r="r" b="b"/>
              <a:pathLst>
                <a:path w="2234565" h="367664">
                  <a:moveTo>
                    <a:pt x="2172970" y="0"/>
                  </a:moveTo>
                  <a:lnTo>
                    <a:pt x="61214" y="0"/>
                  </a:lnTo>
                  <a:lnTo>
                    <a:pt x="37397" y="4814"/>
                  </a:lnTo>
                  <a:lnTo>
                    <a:pt x="17938" y="17938"/>
                  </a:lnTo>
                  <a:lnTo>
                    <a:pt x="4814" y="37397"/>
                  </a:lnTo>
                  <a:lnTo>
                    <a:pt x="0" y="61213"/>
                  </a:lnTo>
                  <a:lnTo>
                    <a:pt x="0" y="367283"/>
                  </a:lnTo>
                  <a:lnTo>
                    <a:pt x="2234184" y="367283"/>
                  </a:lnTo>
                  <a:lnTo>
                    <a:pt x="2234184" y="61213"/>
                  </a:lnTo>
                  <a:lnTo>
                    <a:pt x="2172970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4" name="object 74" descr=""/>
          <p:cNvSpPr txBox="1"/>
          <p:nvPr/>
        </p:nvSpPr>
        <p:spPr>
          <a:xfrm>
            <a:off x="5308219" y="3042285"/>
            <a:ext cx="1504950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b="1">
                <a:solidFill>
                  <a:srgbClr val="FFFFFF"/>
                </a:solidFill>
                <a:latin typeface="Arial"/>
                <a:cs typeface="Arial"/>
              </a:rPr>
              <a:t>Market</a:t>
            </a:r>
            <a:r>
              <a:rPr dirty="0" sz="115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FFFFFF"/>
                </a:solidFill>
                <a:latin typeface="Arial"/>
                <a:cs typeface="Arial"/>
              </a:rPr>
              <a:t>Capitalisation</a:t>
            </a:r>
            <a:endParaRPr sz="1150">
              <a:latin typeface="Arial"/>
              <a:cs typeface="Arial"/>
            </a:endParaRPr>
          </a:p>
        </p:txBody>
      </p:sp>
      <p:grpSp>
        <p:nvGrpSpPr>
          <p:cNvPr id="75" name="object 75" descr=""/>
          <p:cNvGrpSpPr/>
          <p:nvPr/>
        </p:nvGrpSpPr>
        <p:grpSpPr>
          <a:xfrm>
            <a:off x="6589776" y="3035807"/>
            <a:ext cx="637540" cy="1056640"/>
            <a:chOff x="6589776" y="3035807"/>
            <a:chExt cx="637540" cy="1056640"/>
          </a:xfrm>
        </p:grpSpPr>
        <p:sp>
          <p:nvSpPr>
            <p:cNvPr id="76" name="object 76" descr=""/>
            <p:cNvSpPr/>
            <p:nvPr/>
          </p:nvSpPr>
          <p:spPr>
            <a:xfrm>
              <a:off x="6993636" y="3035807"/>
              <a:ext cx="233679" cy="248920"/>
            </a:xfrm>
            <a:custGeom>
              <a:avLst/>
              <a:gdLst/>
              <a:ahLst/>
              <a:cxnLst/>
              <a:rect l="l" t="t" r="r" b="b"/>
              <a:pathLst>
                <a:path w="233679" h="248920">
                  <a:moveTo>
                    <a:pt x="33515" y="141732"/>
                  </a:moveTo>
                  <a:lnTo>
                    <a:pt x="0" y="141732"/>
                  </a:lnTo>
                  <a:lnTo>
                    <a:pt x="0" y="248412"/>
                  </a:lnTo>
                  <a:lnTo>
                    <a:pt x="33515" y="248412"/>
                  </a:lnTo>
                  <a:lnTo>
                    <a:pt x="33515" y="141732"/>
                  </a:lnTo>
                  <a:close/>
                </a:path>
                <a:path w="233679" h="248920">
                  <a:moveTo>
                    <a:pt x="100584" y="59436"/>
                  </a:moveTo>
                  <a:lnTo>
                    <a:pt x="67056" y="59436"/>
                  </a:lnTo>
                  <a:lnTo>
                    <a:pt x="67056" y="248412"/>
                  </a:lnTo>
                  <a:lnTo>
                    <a:pt x="100584" y="248412"/>
                  </a:lnTo>
                  <a:lnTo>
                    <a:pt x="100584" y="59436"/>
                  </a:lnTo>
                  <a:close/>
                </a:path>
                <a:path w="233679" h="248920">
                  <a:moveTo>
                    <a:pt x="167640" y="0"/>
                  </a:moveTo>
                  <a:lnTo>
                    <a:pt x="132588" y="0"/>
                  </a:lnTo>
                  <a:lnTo>
                    <a:pt x="132588" y="248412"/>
                  </a:lnTo>
                  <a:lnTo>
                    <a:pt x="167640" y="248412"/>
                  </a:lnTo>
                  <a:lnTo>
                    <a:pt x="167640" y="0"/>
                  </a:lnTo>
                  <a:close/>
                </a:path>
                <a:path w="233679" h="248920">
                  <a:moveTo>
                    <a:pt x="233172" y="97536"/>
                  </a:moveTo>
                  <a:lnTo>
                    <a:pt x="199644" y="97536"/>
                  </a:lnTo>
                  <a:lnTo>
                    <a:pt x="199644" y="248412"/>
                  </a:lnTo>
                  <a:lnTo>
                    <a:pt x="233172" y="248412"/>
                  </a:lnTo>
                  <a:lnTo>
                    <a:pt x="233172" y="975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6589776" y="4018787"/>
              <a:ext cx="74930" cy="73660"/>
            </a:xfrm>
            <a:custGeom>
              <a:avLst/>
              <a:gdLst/>
              <a:ahLst/>
              <a:cxnLst/>
              <a:rect l="l" t="t" r="r" b="b"/>
              <a:pathLst>
                <a:path w="74929" h="73660">
                  <a:moveTo>
                    <a:pt x="37338" y="0"/>
                  </a:moveTo>
                  <a:lnTo>
                    <a:pt x="0" y="73152"/>
                  </a:lnTo>
                  <a:lnTo>
                    <a:pt x="74675" y="73152"/>
                  </a:lnTo>
                  <a:lnTo>
                    <a:pt x="373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8" name="object 78" descr=""/>
          <p:cNvSpPr txBox="1"/>
          <p:nvPr/>
        </p:nvSpPr>
        <p:spPr>
          <a:xfrm>
            <a:off x="6916293" y="2991992"/>
            <a:ext cx="132715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spc="-365">
                <a:solidFill>
                  <a:srgbClr val="FFFFFF"/>
                </a:solidFill>
                <a:latin typeface="Arial MT"/>
                <a:cs typeface="Arial MT"/>
              </a:rPr>
              <a:t>₦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88" name="object 8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Impact</a:t>
            </a:r>
            <a:r>
              <a:rPr dirty="0" spc="35"/>
              <a:t> </a:t>
            </a:r>
            <a:r>
              <a:rPr dirty="0"/>
              <a:t>of</a:t>
            </a:r>
            <a:r>
              <a:rPr dirty="0" spc="50"/>
              <a:t> </a:t>
            </a:r>
            <a:r>
              <a:rPr dirty="0"/>
              <a:t>Global</a:t>
            </a:r>
            <a:r>
              <a:rPr dirty="0" spc="65"/>
              <a:t> </a:t>
            </a:r>
            <a:r>
              <a:rPr dirty="0"/>
              <a:t>Economic</a:t>
            </a:r>
            <a:r>
              <a:rPr dirty="0" spc="30"/>
              <a:t> </a:t>
            </a:r>
            <a:r>
              <a:rPr dirty="0"/>
              <a:t>Trends</a:t>
            </a:r>
            <a:r>
              <a:rPr dirty="0" spc="45"/>
              <a:t> </a:t>
            </a:r>
            <a:r>
              <a:rPr dirty="0"/>
              <a:t>on</a:t>
            </a:r>
            <a:r>
              <a:rPr dirty="0" spc="40"/>
              <a:t> </a:t>
            </a:r>
            <a:r>
              <a:rPr dirty="0"/>
              <a:t>Nigeria’s</a:t>
            </a:r>
            <a:r>
              <a:rPr dirty="0" spc="60"/>
              <a:t> </a:t>
            </a:r>
            <a:r>
              <a:rPr dirty="0"/>
              <a:t>Foreign</a:t>
            </a:r>
            <a:r>
              <a:rPr dirty="0" spc="45"/>
              <a:t> </a:t>
            </a:r>
            <a:r>
              <a:rPr dirty="0"/>
              <a:t>Exchange</a:t>
            </a:r>
            <a:r>
              <a:rPr dirty="0" spc="60"/>
              <a:t> </a:t>
            </a:r>
            <a:r>
              <a:rPr dirty="0" spc="-10"/>
              <a:t>Market</a:t>
            </a:r>
          </a:p>
        </p:txBody>
      </p:sp>
      <p:sp>
        <p:nvSpPr>
          <p:cNvPr id="89" name="object 89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October</a:t>
            </a:r>
            <a:r>
              <a:rPr dirty="0" spc="80"/>
              <a:t> </a:t>
            </a:r>
            <a:r>
              <a:rPr dirty="0" spc="-20"/>
              <a:t>2023</a:t>
            </a:r>
          </a:p>
        </p:txBody>
      </p:sp>
      <p:sp>
        <p:nvSpPr>
          <p:cNvPr id="90" name="object 9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6360">
              <a:lnSpc>
                <a:spcPts val="815"/>
              </a:lnSpc>
            </a:pPr>
            <a:fld id="{81D60167-4931-47E6-BA6A-407CBD079E47}" type="slidenum">
              <a:rPr dirty="0" spc="-50"/>
              <a:t>4</a:t>
            </a:fld>
          </a:p>
        </p:txBody>
      </p:sp>
      <p:sp>
        <p:nvSpPr>
          <p:cNvPr id="79" name="object 79" descr=""/>
          <p:cNvSpPr txBox="1"/>
          <p:nvPr/>
        </p:nvSpPr>
        <p:spPr>
          <a:xfrm>
            <a:off x="7174483" y="2941066"/>
            <a:ext cx="107950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spc="-50">
                <a:solidFill>
                  <a:srgbClr val="FFFFFF"/>
                </a:solidFill>
                <a:latin typeface="Arial MT"/>
                <a:cs typeface="Arial MT"/>
              </a:rPr>
              <a:t>$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80" name="object 80" descr=""/>
          <p:cNvSpPr txBox="1"/>
          <p:nvPr/>
        </p:nvSpPr>
        <p:spPr>
          <a:xfrm>
            <a:off x="282956" y="4910734"/>
            <a:ext cx="1797685" cy="1155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50" spc="-10" i="1">
                <a:latin typeface="Arial"/>
                <a:cs typeface="Arial"/>
              </a:rPr>
              <a:t>Source:</a:t>
            </a:r>
            <a:r>
              <a:rPr dirty="0" sz="550" spc="-40" i="1">
                <a:latin typeface="Arial"/>
                <a:cs typeface="Arial"/>
              </a:rPr>
              <a:t> </a:t>
            </a:r>
            <a:r>
              <a:rPr dirty="0" sz="550" i="1">
                <a:latin typeface="Arial"/>
                <a:cs typeface="Arial"/>
              </a:rPr>
              <a:t>NBS,</a:t>
            </a:r>
            <a:r>
              <a:rPr dirty="0" sz="550" spc="-25" i="1">
                <a:latin typeface="Arial"/>
                <a:cs typeface="Arial"/>
              </a:rPr>
              <a:t> </a:t>
            </a:r>
            <a:r>
              <a:rPr dirty="0" sz="550" i="1">
                <a:latin typeface="Arial"/>
                <a:cs typeface="Arial"/>
              </a:rPr>
              <a:t>CBN,</a:t>
            </a:r>
            <a:r>
              <a:rPr dirty="0" sz="550" spc="-5" i="1">
                <a:latin typeface="Arial"/>
                <a:cs typeface="Arial"/>
              </a:rPr>
              <a:t> </a:t>
            </a:r>
            <a:r>
              <a:rPr dirty="0" sz="550" i="1">
                <a:latin typeface="Arial"/>
                <a:cs typeface="Arial"/>
              </a:rPr>
              <a:t>FMDQ,</a:t>
            </a:r>
            <a:r>
              <a:rPr dirty="0" sz="550" spc="5" i="1">
                <a:latin typeface="Arial"/>
                <a:cs typeface="Arial"/>
              </a:rPr>
              <a:t> </a:t>
            </a:r>
            <a:r>
              <a:rPr dirty="0" sz="550" i="1">
                <a:latin typeface="Arial"/>
                <a:cs typeface="Arial"/>
              </a:rPr>
              <a:t>NGX,</a:t>
            </a:r>
            <a:r>
              <a:rPr dirty="0" sz="550" spc="-20" i="1">
                <a:latin typeface="Arial"/>
                <a:cs typeface="Arial"/>
              </a:rPr>
              <a:t> </a:t>
            </a:r>
            <a:r>
              <a:rPr dirty="0" sz="550" spc="-10" i="1">
                <a:latin typeface="Arial"/>
                <a:cs typeface="Arial"/>
              </a:rPr>
              <a:t>Aboki</a:t>
            </a:r>
            <a:r>
              <a:rPr dirty="0" sz="550" spc="-25" i="1">
                <a:latin typeface="Arial"/>
                <a:cs typeface="Arial"/>
              </a:rPr>
              <a:t> </a:t>
            </a:r>
            <a:r>
              <a:rPr dirty="0" sz="550" i="1">
                <a:latin typeface="Arial"/>
                <a:cs typeface="Arial"/>
              </a:rPr>
              <a:t>FX,</a:t>
            </a:r>
            <a:r>
              <a:rPr dirty="0" sz="550" spc="-25" i="1">
                <a:latin typeface="Arial"/>
                <a:cs typeface="Arial"/>
              </a:rPr>
              <a:t> </a:t>
            </a:r>
            <a:r>
              <a:rPr dirty="0" sz="550" spc="-10" i="1">
                <a:latin typeface="Arial"/>
                <a:cs typeface="Arial"/>
              </a:rPr>
              <a:t>PwCAnalysis</a:t>
            </a:r>
            <a:endParaRPr sz="550">
              <a:latin typeface="Arial"/>
              <a:cs typeface="Arial"/>
            </a:endParaRPr>
          </a:p>
        </p:txBody>
      </p:sp>
      <p:sp>
        <p:nvSpPr>
          <p:cNvPr id="81" name="object 81" descr=""/>
          <p:cNvSpPr txBox="1"/>
          <p:nvPr/>
        </p:nvSpPr>
        <p:spPr>
          <a:xfrm>
            <a:off x="1745869" y="3903446"/>
            <a:ext cx="593725" cy="48323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5080" indent="14604">
              <a:lnSpc>
                <a:spcPct val="130600"/>
              </a:lnSpc>
              <a:spcBef>
                <a:spcPts val="95"/>
              </a:spcBef>
            </a:pPr>
            <a:r>
              <a:rPr dirty="0" sz="1150" spc="-10">
                <a:latin typeface="Arial MT"/>
                <a:cs typeface="Arial MT"/>
              </a:rPr>
              <a:t>Previous 1.3mbpd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82" name="object 82" descr=""/>
          <p:cNvSpPr txBox="1"/>
          <p:nvPr/>
        </p:nvSpPr>
        <p:spPr>
          <a:xfrm>
            <a:off x="306324" y="3914003"/>
            <a:ext cx="369570" cy="429259"/>
          </a:xfrm>
          <a:prstGeom prst="rect">
            <a:avLst/>
          </a:prstGeom>
        </p:spPr>
        <p:txBody>
          <a:bodyPr wrap="square" lIns="0" tIns="4635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65"/>
              </a:spcBef>
            </a:pPr>
            <a:r>
              <a:rPr dirty="0" sz="1000" spc="-10">
                <a:latin typeface="Arial MT"/>
                <a:cs typeface="Arial MT"/>
              </a:rPr>
              <a:t>Period</a:t>
            </a:r>
            <a:endParaRPr sz="1000">
              <a:latin typeface="Arial MT"/>
              <a:cs typeface="Arial MT"/>
            </a:endParaRPr>
          </a:p>
          <a:p>
            <a:pPr marL="37465">
              <a:lnSpc>
                <a:spcPct val="100000"/>
              </a:lnSpc>
              <a:spcBef>
                <a:spcPts val="330"/>
              </a:spcBef>
            </a:pPr>
            <a:r>
              <a:rPr dirty="0" sz="1150" spc="-25" b="1">
                <a:latin typeface="Arial"/>
                <a:cs typeface="Arial"/>
              </a:rPr>
              <a:t>Aug</a:t>
            </a:r>
            <a:endParaRPr sz="1150">
              <a:latin typeface="Arial"/>
              <a:cs typeface="Arial"/>
            </a:endParaRPr>
          </a:p>
        </p:txBody>
      </p:sp>
      <p:sp>
        <p:nvSpPr>
          <p:cNvPr id="83" name="object 83" descr=""/>
          <p:cNvSpPr txBox="1"/>
          <p:nvPr/>
        </p:nvSpPr>
        <p:spPr>
          <a:xfrm>
            <a:off x="1043939" y="3890487"/>
            <a:ext cx="490855" cy="494665"/>
          </a:xfrm>
          <a:prstGeom prst="rect">
            <a:avLst/>
          </a:prstGeom>
        </p:spPr>
        <p:txBody>
          <a:bodyPr wrap="square" lIns="0" tIns="762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dirty="0" sz="1000" spc="-20">
                <a:latin typeface="Arial MT"/>
                <a:cs typeface="Arial MT"/>
              </a:rPr>
              <a:t>M-</a:t>
            </a:r>
            <a:r>
              <a:rPr dirty="0" sz="1000" spc="-10">
                <a:latin typeface="Arial MT"/>
                <a:cs typeface="Arial MT"/>
              </a:rPr>
              <a:t>o-</a:t>
            </a:r>
            <a:r>
              <a:rPr dirty="0" sz="1000" spc="-25">
                <a:latin typeface="Arial MT"/>
                <a:cs typeface="Arial MT"/>
              </a:rPr>
              <a:t>M%</a:t>
            </a:r>
            <a:endParaRPr sz="1000">
              <a:latin typeface="Arial MT"/>
              <a:cs typeface="Arial MT"/>
            </a:endParaRPr>
          </a:p>
          <a:p>
            <a:pPr marL="63500">
              <a:lnSpc>
                <a:spcPct val="100000"/>
              </a:lnSpc>
              <a:spcBef>
                <a:spcPts val="610"/>
              </a:spcBef>
            </a:pPr>
            <a:r>
              <a:rPr dirty="0" sz="1150" spc="-20" b="1">
                <a:latin typeface="Arial"/>
                <a:cs typeface="Arial"/>
              </a:rPr>
              <a:t>7.7%</a:t>
            </a:r>
            <a:endParaRPr sz="1150">
              <a:latin typeface="Arial"/>
              <a:cs typeface="Arial"/>
            </a:endParaRPr>
          </a:p>
        </p:txBody>
      </p:sp>
      <p:sp>
        <p:nvSpPr>
          <p:cNvPr id="84" name="object 84" descr=""/>
          <p:cNvSpPr txBox="1"/>
          <p:nvPr/>
        </p:nvSpPr>
        <p:spPr>
          <a:xfrm>
            <a:off x="4275709" y="3890487"/>
            <a:ext cx="609600" cy="494665"/>
          </a:xfrm>
          <a:prstGeom prst="rect">
            <a:avLst/>
          </a:prstGeom>
        </p:spPr>
        <p:txBody>
          <a:bodyPr wrap="square" lIns="0" tIns="76200" rIns="0" bIns="0" rtlCol="0" vert="horz">
            <a:spAutoFit/>
          </a:bodyPr>
          <a:lstStyle/>
          <a:p>
            <a:pPr marL="67945">
              <a:lnSpc>
                <a:spcPct val="100000"/>
              </a:lnSpc>
              <a:spcBef>
                <a:spcPts val="600"/>
              </a:spcBef>
            </a:pPr>
            <a:r>
              <a:rPr dirty="0" sz="1000" spc="-10">
                <a:latin typeface="Arial MT"/>
                <a:cs typeface="Arial MT"/>
              </a:rPr>
              <a:t>Previous*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10"/>
              </a:spcBef>
            </a:pPr>
            <a:r>
              <a:rPr dirty="0" sz="1150" spc="-10">
                <a:latin typeface="Arial MT"/>
                <a:cs typeface="Arial MT"/>
              </a:rPr>
              <a:t>$33.7bn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85" name="object 85" descr=""/>
          <p:cNvSpPr txBox="1"/>
          <p:nvPr/>
        </p:nvSpPr>
        <p:spPr>
          <a:xfrm>
            <a:off x="2776982" y="3366007"/>
            <a:ext cx="1236345" cy="10191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0005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latin typeface="Roboto"/>
                <a:cs typeface="Roboto"/>
              </a:rPr>
              <a:t>$33.2bn</a:t>
            </a:r>
            <a:endParaRPr sz="2400">
              <a:latin typeface="Roboto"/>
              <a:cs typeface="Roboto"/>
            </a:endParaRPr>
          </a:p>
          <a:p>
            <a:pPr marL="63500">
              <a:lnSpc>
                <a:spcPct val="100000"/>
              </a:lnSpc>
              <a:spcBef>
                <a:spcPts val="1750"/>
              </a:spcBef>
              <a:tabLst>
                <a:tab pos="744855" algn="l"/>
              </a:tabLst>
            </a:pPr>
            <a:r>
              <a:rPr dirty="0" baseline="2777" sz="1500" spc="-15">
                <a:latin typeface="Arial MT"/>
                <a:cs typeface="Arial MT"/>
              </a:rPr>
              <a:t>Period</a:t>
            </a:r>
            <a:r>
              <a:rPr dirty="0" baseline="2777" sz="1500">
                <a:latin typeface="Arial MT"/>
                <a:cs typeface="Arial MT"/>
              </a:rPr>
              <a:t>	</a:t>
            </a:r>
            <a:r>
              <a:rPr dirty="0" sz="1000" spc="-20">
                <a:latin typeface="Arial MT"/>
                <a:cs typeface="Arial MT"/>
              </a:rPr>
              <a:t>M-</a:t>
            </a:r>
            <a:r>
              <a:rPr dirty="0" sz="1000" spc="-10">
                <a:latin typeface="Arial MT"/>
                <a:cs typeface="Arial MT"/>
              </a:rPr>
              <a:t>o-</a:t>
            </a:r>
            <a:r>
              <a:rPr dirty="0" sz="1000" spc="-25">
                <a:latin typeface="Arial MT"/>
                <a:cs typeface="Arial MT"/>
              </a:rPr>
              <a:t>M%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10"/>
              </a:spcBef>
              <a:tabLst>
                <a:tab pos="796290" algn="l"/>
              </a:tabLst>
            </a:pPr>
            <a:r>
              <a:rPr dirty="0" baseline="2415" sz="1725" spc="-15" b="1">
                <a:latin typeface="Arial"/>
                <a:cs typeface="Arial"/>
              </a:rPr>
              <a:t>Sept</a:t>
            </a:r>
            <a:r>
              <a:rPr dirty="0" baseline="2415" sz="1725" spc="-67" b="1">
                <a:latin typeface="Arial"/>
                <a:cs typeface="Arial"/>
              </a:rPr>
              <a:t> </a:t>
            </a:r>
            <a:r>
              <a:rPr dirty="0" baseline="2415" sz="1725" spc="-37" b="1">
                <a:latin typeface="Arial"/>
                <a:cs typeface="Arial"/>
              </a:rPr>
              <a:t>29</a:t>
            </a:r>
            <a:r>
              <a:rPr dirty="0" baseline="2415" sz="1725" b="1">
                <a:latin typeface="Arial"/>
                <a:cs typeface="Arial"/>
              </a:rPr>
              <a:t>	</a:t>
            </a:r>
            <a:r>
              <a:rPr dirty="0" sz="1150" spc="-30" b="1">
                <a:latin typeface="Arial"/>
                <a:cs typeface="Arial"/>
              </a:rPr>
              <a:t>-</a:t>
            </a:r>
            <a:r>
              <a:rPr dirty="0" sz="1150" spc="-20" b="1">
                <a:latin typeface="Arial"/>
                <a:cs typeface="Arial"/>
              </a:rPr>
              <a:t>1.5%</a:t>
            </a:r>
            <a:endParaRPr sz="1150">
              <a:latin typeface="Arial"/>
              <a:cs typeface="Arial"/>
            </a:endParaRPr>
          </a:p>
        </p:txBody>
      </p:sp>
      <p:sp>
        <p:nvSpPr>
          <p:cNvPr id="86" name="object 86" descr=""/>
          <p:cNvSpPr txBox="1"/>
          <p:nvPr/>
        </p:nvSpPr>
        <p:spPr>
          <a:xfrm>
            <a:off x="6803390" y="3921908"/>
            <a:ext cx="543560" cy="417830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32384">
              <a:lnSpc>
                <a:spcPct val="100000"/>
              </a:lnSpc>
              <a:spcBef>
                <a:spcPts val="325"/>
              </a:spcBef>
            </a:pPr>
            <a:r>
              <a:rPr dirty="0" sz="1000" spc="-10">
                <a:latin typeface="Arial MT"/>
                <a:cs typeface="Arial MT"/>
              </a:rPr>
              <a:t>Previous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r>
              <a:rPr dirty="0" sz="1150" spc="-25" b="1">
                <a:solidFill>
                  <a:srgbClr val="1F2023"/>
                </a:solidFill>
                <a:latin typeface="Roboto"/>
                <a:cs typeface="Roboto"/>
              </a:rPr>
              <a:t>₦</a:t>
            </a:r>
            <a:r>
              <a:rPr dirty="0" sz="1150" spc="-25">
                <a:latin typeface="Arial MT"/>
                <a:cs typeface="Arial MT"/>
              </a:rPr>
              <a:t>36.4tn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87" name="object 87" descr=""/>
          <p:cNvSpPr txBox="1"/>
          <p:nvPr/>
        </p:nvSpPr>
        <p:spPr>
          <a:xfrm>
            <a:off x="5258053" y="3356813"/>
            <a:ext cx="1296670" cy="975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048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latin typeface="Roboto"/>
                <a:cs typeface="Roboto"/>
              </a:rPr>
              <a:t>₦36.3tn</a:t>
            </a:r>
            <a:endParaRPr sz="2400">
              <a:latin typeface="Roboto"/>
              <a:cs typeface="Roboto"/>
            </a:endParaRPr>
          </a:p>
          <a:p>
            <a:pPr marL="88900">
              <a:lnSpc>
                <a:spcPct val="100000"/>
              </a:lnSpc>
              <a:spcBef>
                <a:spcPts val="1795"/>
              </a:spcBef>
              <a:tabLst>
                <a:tab pos="779780" algn="l"/>
              </a:tabLst>
            </a:pPr>
            <a:r>
              <a:rPr dirty="0" baseline="2777" sz="1500" spc="-15">
                <a:latin typeface="Arial MT"/>
                <a:cs typeface="Arial MT"/>
              </a:rPr>
              <a:t>Period</a:t>
            </a:r>
            <a:r>
              <a:rPr dirty="0" baseline="2777" sz="1500">
                <a:latin typeface="Arial MT"/>
                <a:cs typeface="Arial MT"/>
              </a:rPr>
              <a:t>	</a:t>
            </a:r>
            <a:r>
              <a:rPr dirty="0" sz="1000" spc="-20">
                <a:latin typeface="Arial MT"/>
                <a:cs typeface="Arial MT"/>
              </a:rPr>
              <a:t>M-</a:t>
            </a:r>
            <a:r>
              <a:rPr dirty="0" sz="1000" spc="-10">
                <a:latin typeface="Arial MT"/>
                <a:cs typeface="Arial MT"/>
              </a:rPr>
              <a:t>o-</a:t>
            </a:r>
            <a:r>
              <a:rPr dirty="0" sz="1000" spc="-25">
                <a:latin typeface="Arial MT"/>
                <a:cs typeface="Arial MT"/>
              </a:rPr>
              <a:t>M%</a:t>
            </a:r>
            <a:endParaRPr sz="1000">
              <a:latin typeface="Arial MT"/>
              <a:cs typeface="Arial MT"/>
            </a:endParaRPr>
          </a:p>
          <a:p>
            <a:pPr marL="25400">
              <a:lnSpc>
                <a:spcPct val="100000"/>
              </a:lnSpc>
              <a:spcBef>
                <a:spcPts val="220"/>
              </a:spcBef>
              <a:tabLst>
                <a:tab pos="862330" algn="l"/>
              </a:tabLst>
            </a:pPr>
            <a:r>
              <a:rPr dirty="0" sz="1150" b="1">
                <a:latin typeface="Arial"/>
                <a:cs typeface="Arial"/>
              </a:rPr>
              <a:t>Sept</a:t>
            </a:r>
            <a:r>
              <a:rPr dirty="0" sz="1150" spc="-75" b="1">
                <a:latin typeface="Arial"/>
                <a:cs typeface="Arial"/>
              </a:rPr>
              <a:t> </a:t>
            </a:r>
            <a:r>
              <a:rPr dirty="0" sz="1150" spc="-25" b="1">
                <a:latin typeface="Arial"/>
                <a:cs typeface="Arial"/>
              </a:rPr>
              <a:t>29</a:t>
            </a:r>
            <a:r>
              <a:rPr dirty="0" sz="1150" b="1">
                <a:latin typeface="Arial"/>
                <a:cs typeface="Arial"/>
              </a:rPr>
              <a:t>	</a:t>
            </a:r>
            <a:r>
              <a:rPr dirty="0" baseline="-7246" sz="1725" spc="-30" b="1">
                <a:latin typeface="Arial"/>
                <a:cs typeface="Arial"/>
              </a:rPr>
              <a:t>2.2%</a:t>
            </a:r>
            <a:endParaRPr baseline="-7246" sz="1725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73736" y="3156204"/>
            <a:ext cx="1578610" cy="939165"/>
          </a:xfrm>
          <a:custGeom>
            <a:avLst/>
            <a:gdLst/>
            <a:ahLst/>
            <a:cxnLst/>
            <a:rect l="l" t="t" r="r" b="b"/>
            <a:pathLst>
              <a:path w="1578610" h="939164">
                <a:moveTo>
                  <a:pt x="1578483" y="0"/>
                </a:moveTo>
                <a:lnTo>
                  <a:pt x="0" y="0"/>
                </a:lnTo>
                <a:lnTo>
                  <a:pt x="0" y="938784"/>
                </a:lnTo>
                <a:lnTo>
                  <a:pt x="1578483" y="938784"/>
                </a:lnTo>
                <a:lnTo>
                  <a:pt x="1578483" y="0"/>
                </a:lnTo>
                <a:close/>
              </a:path>
            </a:pathLst>
          </a:custGeom>
          <a:solidFill>
            <a:srgbClr val="4646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832610" y="3212973"/>
            <a:ext cx="8131809" cy="787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02235" marR="5080" indent="-9017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103505" algn="l"/>
              </a:tabLst>
            </a:pPr>
            <a:r>
              <a:rPr dirty="0" sz="950" b="1">
                <a:latin typeface="Arial"/>
                <a:cs typeface="Arial"/>
              </a:rPr>
              <a:t>Real</a:t>
            </a:r>
            <a:r>
              <a:rPr dirty="0" sz="950" spc="-1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income</a:t>
            </a:r>
            <a:r>
              <a:rPr dirty="0" sz="950" spc="-2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still</a:t>
            </a:r>
            <a:r>
              <a:rPr dirty="0" sz="950" spc="-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under</a:t>
            </a:r>
            <a:r>
              <a:rPr dirty="0" sz="950" spc="-1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pressure</a:t>
            </a:r>
            <a:r>
              <a:rPr dirty="0" sz="950" spc="5" b="1">
                <a:latin typeface="Arial"/>
                <a:cs typeface="Arial"/>
              </a:rPr>
              <a:t> </a:t>
            </a:r>
            <a:r>
              <a:rPr dirty="0" sz="950">
                <a:latin typeface="Arial MT"/>
                <a:cs typeface="Arial MT"/>
              </a:rPr>
              <a:t>as</a:t>
            </a:r>
            <a:r>
              <a:rPr dirty="0" sz="950" spc="-1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inflation</a:t>
            </a:r>
            <a:r>
              <a:rPr dirty="0" sz="950" spc="-4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(25.8%</a:t>
            </a:r>
            <a:r>
              <a:rPr dirty="0" sz="950" spc="-1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as of</a:t>
            </a:r>
            <a:r>
              <a:rPr dirty="0" sz="950" spc="-1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August</a:t>
            </a:r>
            <a:r>
              <a:rPr dirty="0" sz="950" spc="-2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2023)</a:t>
            </a:r>
            <a:r>
              <a:rPr dirty="0" sz="950" spc="-2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continues</a:t>
            </a:r>
            <a:r>
              <a:rPr dirty="0" sz="950" spc="-3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to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rise</a:t>
            </a:r>
            <a:r>
              <a:rPr dirty="0" sz="950" spc="-1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and</a:t>
            </a:r>
            <a:r>
              <a:rPr dirty="0" sz="950" spc="-1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national</a:t>
            </a:r>
            <a:r>
              <a:rPr dirty="0" sz="950" spc="-2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minimum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 b="1">
                <a:latin typeface="Arial"/>
                <a:cs typeface="Arial"/>
              </a:rPr>
              <a:t>wage</a:t>
            </a:r>
            <a:r>
              <a:rPr dirty="0" sz="950" spc="-4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remains</a:t>
            </a:r>
            <a:r>
              <a:rPr dirty="0" sz="950" spc="-1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unchanged</a:t>
            </a:r>
            <a:r>
              <a:rPr dirty="0" sz="950" spc="-2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in</a:t>
            </a:r>
            <a:r>
              <a:rPr dirty="0" sz="950" spc="-15" b="1">
                <a:latin typeface="Arial"/>
                <a:cs typeface="Arial"/>
              </a:rPr>
              <a:t> </a:t>
            </a:r>
            <a:r>
              <a:rPr dirty="0" sz="950" spc="-25" b="1">
                <a:latin typeface="Arial"/>
                <a:cs typeface="Arial"/>
              </a:rPr>
              <a:t>the </a:t>
            </a:r>
            <a:r>
              <a:rPr dirty="0" sz="950" spc="-25" b="1">
                <a:latin typeface="Arial"/>
                <a:cs typeface="Arial"/>
              </a:rPr>
              <a:t>	</a:t>
            </a:r>
            <a:r>
              <a:rPr dirty="0" sz="950" spc="-10" b="1">
                <a:latin typeface="Arial"/>
                <a:cs typeface="Arial"/>
              </a:rPr>
              <a:t>short-</a:t>
            </a:r>
            <a:r>
              <a:rPr dirty="0" sz="950" b="1">
                <a:latin typeface="Arial"/>
                <a:cs typeface="Arial"/>
              </a:rPr>
              <a:t>term</a:t>
            </a:r>
            <a:r>
              <a:rPr dirty="0" sz="950">
                <a:latin typeface="Arial MT"/>
                <a:cs typeface="Arial MT"/>
              </a:rPr>
              <a:t>. In</a:t>
            </a:r>
            <a:r>
              <a:rPr dirty="0" sz="950" spc="-2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addition,</a:t>
            </a:r>
            <a:r>
              <a:rPr dirty="0" sz="950" spc="-25">
                <a:latin typeface="Arial MT"/>
                <a:cs typeface="Arial MT"/>
              </a:rPr>
              <a:t> </a:t>
            </a:r>
            <a:r>
              <a:rPr dirty="0" sz="950" b="1">
                <a:latin typeface="Arial"/>
                <a:cs typeface="Arial"/>
              </a:rPr>
              <a:t>input</a:t>
            </a:r>
            <a:r>
              <a:rPr dirty="0" sz="950" spc="-2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costs</a:t>
            </a:r>
            <a:r>
              <a:rPr dirty="0" sz="950" spc="-2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(including</a:t>
            </a:r>
            <a:r>
              <a:rPr dirty="0" sz="950" spc="-3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the</a:t>
            </a:r>
            <a:r>
              <a:rPr dirty="0" sz="950" spc="-10" b="1">
                <a:latin typeface="Arial"/>
                <a:cs typeface="Arial"/>
              </a:rPr>
              <a:t> Y-o-</a:t>
            </a:r>
            <a:r>
              <a:rPr dirty="0" sz="950" b="1">
                <a:latin typeface="Arial"/>
                <a:cs typeface="Arial"/>
              </a:rPr>
              <a:t>Y</a:t>
            </a:r>
            <a:r>
              <a:rPr dirty="0" sz="950" spc="-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increase</a:t>
            </a:r>
            <a:r>
              <a:rPr dirty="0" sz="950" spc="-1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of</a:t>
            </a:r>
            <a:r>
              <a:rPr dirty="0" sz="950" spc="-2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216%</a:t>
            </a:r>
            <a:r>
              <a:rPr dirty="0" sz="950" spc="-1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in</a:t>
            </a:r>
            <a:r>
              <a:rPr dirty="0" sz="950" spc="-2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PMS</a:t>
            </a:r>
            <a:r>
              <a:rPr dirty="0" sz="950" spc="-1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from January</a:t>
            </a:r>
            <a:r>
              <a:rPr dirty="0" sz="950" spc="-2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to</a:t>
            </a:r>
            <a:r>
              <a:rPr dirty="0" sz="950" spc="-1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September)</a:t>
            </a:r>
            <a:r>
              <a:rPr dirty="0" sz="950" spc="-1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will</a:t>
            </a:r>
            <a:r>
              <a:rPr dirty="0" sz="950" spc="-4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continue</a:t>
            </a:r>
            <a:r>
              <a:rPr dirty="0" sz="950" spc="-2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to</a:t>
            </a:r>
            <a:r>
              <a:rPr dirty="0" sz="950" spc="-1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pass</a:t>
            </a:r>
            <a:r>
              <a:rPr dirty="0" sz="950" spc="-2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through</a:t>
            </a:r>
            <a:r>
              <a:rPr dirty="0" sz="950" spc="-20" b="1">
                <a:latin typeface="Arial"/>
                <a:cs typeface="Arial"/>
              </a:rPr>
              <a:t> </a:t>
            </a:r>
            <a:r>
              <a:rPr dirty="0" sz="950" spc="-25" b="1">
                <a:latin typeface="Arial"/>
                <a:cs typeface="Arial"/>
              </a:rPr>
              <a:t>to </a:t>
            </a:r>
            <a:r>
              <a:rPr dirty="0" sz="950" spc="-25" b="1">
                <a:latin typeface="Arial"/>
                <a:cs typeface="Arial"/>
              </a:rPr>
              <a:t>	</a:t>
            </a:r>
            <a:r>
              <a:rPr dirty="0" sz="950" b="1">
                <a:latin typeface="Arial"/>
                <a:cs typeface="Arial"/>
              </a:rPr>
              <a:t>consumer</a:t>
            </a:r>
            <a:r>
              <a:rPr dirty="0" sz="950" spc="-1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prices</a:t>
            </a:r>
            <a:r>
              <a:rPr dirty="0" sz="950" spc="-15" b="1">
                <a:latin typeface="Arial"/>
                <a:cs typeface="Arial"/>
              </a:rPr>
              <a:t> </a:t>
            </a:r>
            <a:r>
              <a:rPr dirty="0" sz="950">
                <a:latin typeface="Arial MT"/>
                <a:cs typeface="Arial MT"/>
              </a:rPr>
              <a:t>further</a:t>
            </a:r>
            <a:r>
              <a:rPr dirty="0" sz="950" spc="-3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worsening</a:t>
            </a:r>
            <a:r>
              <a:rPr dirty="0" sz="950" spc="-3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the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affordability</a:t>
            </a:r>
            <a:r>
              <a:rPr dirty="0" sz="950" spc="-3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of</a:t>
            </a:r>
            <a:r>
              <a:rPr dirty="0" sz="950" spc="-2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goods</a:t>
            </a:r>
            <a:r>
              <a:rPr dirty="0" sz="950" spc="-2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and</a:t>
            </a:r>
            <a:r>
              <a:rPr dirty="0" sz="950" spc="-1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services</a:t>
            </a:r>
            <a:r>
              <a:rPr dirty="0" sz="950" spc="-2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in</a:t>
            </a:r>
            <a:r>
              <a:rPr dirty="0" sz="950" spc="-2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the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economy</a:t>
            </a:r>
            <a:r>
              <a:rPr dirty="0" sz="950" spc="-2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in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the</a:t>
            </a:r>
            <a:r>
              <a:rPr dirty="0" sz="950" spc="-2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short</a:t>
            </a:r>
            <a:r>
              <a:rPr dirty="0" sz="950" spc="-2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to</a:t>
            </a:r>
            <a:r>
              <a:rPr dirty="0" sz="950" spc="-2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medium</a:t>
            </a:r>
            <a:r>
              <a:rPr dirty="0" sz="950" spc="-15">
                <a:latin typeface="Arial MT"/>
                <a:cs typeface="Arial MT"/>
              </a:rPr>
              <a:t> </a:t>
            </a:r>
            <a:r>
              <a:rPr dirty="0" sz="950" spc="-20">
                <a:latin typeface="Arial MT"/>
                <a:cs typeface="Arial MT"/>
              </a:rPr>
              <a:t>term</a:t>
            </a:r>
            <a:endParaRPr sz="950">
              <a:latin typeface="Arial MT"/>
              <a:cs typeface="Arial MT"/>
            </a:endParaRPr>
          </a:p>
          <a:p>
            <a:pPr marL="102235" marR="93345" indent="-90170">
              <a:lnSpc>
                <a:spcPct val="100000"/>
              </a:lnSpc>
              <a:spcBef>
                <a:spcPts val="300"/>
              </a:spcBef>
              <a:buFont typeface="Arial MT"/>
              <a:buChar char="•"/>
              <a:tabLst>
                <a:tab pos="103505" algn="l"/>
              </a:tabLst>
            </a:pPr>
            <a:r>
              <a:rPr dirty="0" sz="950" b="1">
                <a:latin typeface="Arial"/>
                <a:cs typeface="Arial"/>
              </a:rPr>
              <a:t>Provisional</a:t>
            </a:r>
            <a:r>
              <a:rPr dirty="0" sz="950" spc="-1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increase</a:t>
            </a:r>
            <a:r>
              <a:rPr dirty="0" sz="950" spc="-1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in</a:t>
            </a:r>
            <a:r>
              <a:rPr dirty="0" sz="950" spc="-2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wages</a:t>
            </a:r>
            <a:r>
              <a:rPr dirty="0" sz="950" spc="-5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of</a:t>
            </a:r>
            <a:r>
              <a:rPr dirty="0" sz="950" spc="-1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N35,000</a:t>
            </a:r>
            <a:r>
              <a:rPr dirty="0" sz="950" spc="-3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to</a:t>
            </a:r>
            <a:r>
              <a:rPr dirty="0" sz="950" spc="-1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all</a:t>
            </a:r>
            <a:r>
              <a:rPr dirty="0" sz="950" spc="-1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Federal</a:t>
            </a:r>
            <a:r>
              <a:rPr dirty="0" sz="950" spc="-1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workers</a:t>
            </a:r>
            <a:r>
              <a:rPr dirty="0" sz="950" spc="-4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for</a:t>
            </a:r>
            <a:r>
              <a:rPr dirty="0" sz="950" spc="-1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a</a:t>
            </a:r>
            <a:r>
              <a:rPr dirty="0" sz="950" spc="-2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period</a:t>
            </a:r>
            <a:r>
              <a:rPr dirty="0" sz="950" spc="-1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of</a:t>
            </a:r>
            <a:r>
              <a:rPr dirty="0" sz="950" spc="-2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6</a:t>
            </a:r>
            <a:r>
              <a:rPr dirty="0" sz="950" spc="-2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months.</a:t>
            </a:r>
            <a:r>
              <a:rPr dirty="0" sz="950" spc="-1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The</a:t>
            </a:r>
            <a:r>
              <a:rPr dirty="0" sz="950" spc="-2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temporary</a:t>
            </a:r>
            <a:r>
              <a:rPr dirty="0" sz="950" spc="-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increase</a:t>
            </a:r>
            <a:r>
              <a:rPr dirty="0" sz="950" spc="-1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is</a:t>
            </a:r>
            <a:r>
              <a:rPr dirty="0" sz="950" spc="-2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aimed</a:t>
            </a:r>
            <a:r>
              <a:rPr dirty="0" sz="950" spc="-1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at</a:t>
            </a:r>
            <a:r>
              <a:rPr dirty="0" sz="950" spc="1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alleviating</a:t>
            </a:r>
            <a:r>
              <a:rPr dirty="0" sz="950" spc="-20" b="1">
                <a:latin typeface="Arial"/>
                <a:cs typeface="Arial"/>
              </a:rPr>
              <a:t> </a:t>
            </a:r>
            <a:r>
              <a:rPr dirty="0" sz="950" spc="-25" b="1">
                <a:latin typeface="Arial"/>
                <a:cs typeface="Arial"/>
              </a:rPr>
              <a:t>the </a:t>
            </a:r>
            <a:r>
              <a:rPr dirty="0" sz="950" spc="-25" b="1">
                <a:latin typeface="Arial"/>
                <a:cs typeface="Arial"/>
              </a:rPr>
              <a:t>	</a:t>
            </a:r>
            <a:r>
              <a:rPr dirty="0" sz="950" b="1">
                <a:latin typeface="Arial"/>
                <a:cs typeface="Arial"/>
              </a:rPr>
              <a:t>impact</a:t>
            </a:r>
            <a:r>
              <a:rPr dirty="0" sz="950" spc="-1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of</a:t>
            </a:r>
            <a:r>
              <a:rPr dirty="0" sz="950" spc="-1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subsidy</a:t>
            </a:r>
            <a:r>
              <a:rPr dirty="0" sz="950" spc="-2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removal in</a:t>
            </a:r>
            <a:r>
              <a:rPr dirty="0" sz="950" spc="-2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the</a:t>
            </a:r>
            <a:r>
              <a:rPr dirty="0" sz="950" spc="-10" b="1">
                <a:latin typeface="Arial"/>
                <a:cs typeface="Arial"/>
              </a:rPr>
              <a:t> short-</a:t>
            </a:r>
            <a:r>
              <a:rPr dirty="0" sz="950" spc="-20" b="1">
                <a:latin typeface="Arial"/>
                <a:cs typeface="Arial"/>
              </a:rPr>
              <a:t>term</a:t>
            </a:r>
            <a:endParaRPr sz="95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69926" y="3595497"/>
            <a:ext cx="158178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1015" marR="412750" indent="-218440">
              <a:lnSpc>
                <a:spcPct val="100000"/>
              </a:lnSpc>
              <a:spcBef>
                <a:spcPts val="95"/>
              </a:spcBef>
            </a:pPr>
            <a:r>
              <a:rPr dirty="0" sz="1000" spc="-10" b="1">
                <a:solidFill>
                  <a:srgbClr val="FFFFFF"/>
                </a:solidFill>
                <a:latin typeface="Arial"/>
                <a:cs typeface="Arial"/>
              </a:rPr>
              <a:t>Consumer</a:t>
            </a:r>
            <a:r>
              <a:rPr dirty="0" sz="1000" spc="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-25" b="1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dirty="0" sz="1000" spc="-10" b="1">
                <a:solidFill>
                  <a:srgbClr val="FFFFFF"/>
                </a:solidFill>
                <a:latin typeface="Arial"/>
                <a:cs typeface="Arial"/>
              </a:rPr>
              <a:t>demand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156971" y="655319"/>
            <a:ext cx="1592580" cy="2946400"/>
            <a:chOff x="156971" y="655319"/>
            <a:chExt cx="1592580" cy="2946400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7135" y="3413759"/>
              <a:ext cx="184404" cy="187451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923544" y="3459479"/>
              <a:ext cx="131445" cy="140335"/>
            </a:xfrm>
            <a:custGeom>
              <a:avLst/>
              <a:gdLst/>
              <a:ahLst/>
              <a:cxnLst/>
              <a:rect l="l" t="t" r="r" b="b"/>
              <a:pathLst>
                <a:path w="131444" h="140335">
                  <a:moveTo>
                    <a:pt x="19100" y="80137"/>
                  </a:moveTo>
                  <a:lnTo>
                    <a:pt x="0" y="80137"/>
                  </a:lnTo>
                  <a:lnTo>
                    <a:pt x="0" y="140208"/>
                  </a:lnTo>
                  <a:lnTo>
                    <a:pt x="19100" y="140208"/>
                  </a:lnTo>
                  <a:lnTo>
                    <a:pt x="19100" y="80137"/>
                  </a:lnTo>
                  <a:close/>
                </a:path>
                <a:path w="131444" h="140335">
                  <a:moveTo>
                    <a:pt x="56413" y="33909"/>
                  </a:moveTo>
                  <a:lnTo>
                    <a:pt x="37325" y="33909"/>
                  </a:lnTo>
                  <a:lnTo>
                    <a:pt x="37325" y="140208"/>
                  </a:lnTo>
                  <a:lnTo>
                    <a:pt x="56413" y="140208"/>
                  </a:lnTo>
                  <a:lnTo>
                    <a:pt x="56413" y="33909"/>
                  </a:lnTo>
                  <a:close/>
                </a:path>
                <a:path w="131444" h="140335">
                  <a:moveTo>
                    <a:pt x="93738" y="0"/>
                  </a:moveTo>
                  <a:lnTo>
                    <a:pt x="74650" y="0"/>
                  </a:lnTo>
                  <a:lnTo>
                    <a:pt x="74650" y="140208"/>
                  </a:lnTo>
                  <a:lnTo>
                    <a:pt x="93738" y="140208"/>
                  </a:lnTo>
                  <a:lnTo>
                    <a:pt x="93738" y="0"/>
                  </a:lnTo>
                  <a:close/>
                </a:path>
                <a:path w="131444" h="140335">
                  <a:moveTo>
                    <a:pt x="131064" y="54864"/>
                  </a:moveTo>
                  <a:lnTo>
                    <a:pt x="111963" y="54864"/>
                  </a:lnTo>
                  <a:lnTo>
                    <a:pt x="111963" y="140208"/>
                  </a:lnTo>
                  <a:lnTo>
                    <a:pt x="131064" y="140208"/>
                  </a:lnTo>
                  <a:lnTo>
                    <a:pt x="131064" y="548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56971" y="655319"/>
              <a:ext cx="1592580" cy="1188720"/>
            </a:xfrm>
            <a:custGeom>
              <a:avLst/>
              <a:gdLst/>
              <a:ahLst/>
              <a:cxnLst/>
              <a:rect l="l" t="t" r="r" b="b"/>
              <a:pathLst>
                <a:path w="1592580" h="1188720">
                  <a:moveTo>
                    <a:pt x="1592199" y="0"/>
                  </a:moveTo>
                  <a:lnTo>
                    <a:pt x="0" y="0"/>
                  </a:lnTo>
                  <a:lnTo>
                    <a:pt x="0" y="1188719"/>
                  </a:lnTo>
                  <a:lnTo>
                    <a:pt x="1592199" y="1188719"/>
                  </a:lnTo>
                  <a:lnTo>
                    <a:pt x="1592199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1834133" y="679145"/>
            <a:ext cx="7911465" cy="1051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4139" marR="5080" indent="-91440">
              <a:lnSpc>
                <a:spcPct val="100000"/>
              </a:lnSpc>
              <a:spcBef>
                <a:spcPts val="100"/>
              </a:spcBef>
              <a:buChar char="•"/>
              <a:tabLst>
                <a:tab pos="104139" algn="l"/>
              </a:tabLst>
            </a:pPr>
            <a:r>
              <a:rPr dirty="0" sz="950">
                <a:latin typeface="Arial MT"/>
                <a:cs typeface="Arial MT"/>
              </a:rPr>
              <a:t>The</a:t>
            </a:r>
            <a:r>
              <a:rPr dirty="0" sz="950" spc="-25">
                <a:latin typeface="Arial MT"/>
                <a:cs typeface="Arial MT"/>
              </a:rPr>
              <a:t> </a:t>
            </a:r>
            <a:r>
              <a:rPr dirty="0" sz="950" spc="-10">
                <a:latin typeface="Arial MT"/>
                <a:cs typeface="Arial MT"/>
              </a:rPr>
              <a:t>marginal</a:t>
            </a:r>
            <a:r>
              <a:rPr dirty="0" sz="950" spc="-4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growth</a:t>
            </a:r>
            <a:r>
              <a:rPr dirty="0" sz="950" spc="-5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in</a:t>
            </a:r>
            <a:r>
              <a:rPr dirty="0" sz="950" spc="-2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GDP</a:t>
            </a:r>
            <a:r>
              <a:rPr dirty="0" sz="950" spc="-1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by</a:t>
            </a:r>
            <a:r>
              <a:rPr dirty="0" sz="950" spc="-2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2.5%</a:t>
            </a:r>
            <a:r>
              <a:rPr dirty="0" sz="950" spc="-3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in</a:t>
            </a:r>
            <a:r>
              <a:rPr dirty="0" sz="950" spc="-2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Q2</a:t>
            </a:r>
            <a:r>
              <a:rPr dirty="0" sz="950" spc="-1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2023</a:t>
            </a:r>
            <a:r>
              <a:rPr dirty="0" sz="950" spc="-4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from</a:t>
            </a:r>
            <a:r>
              <a:rPr dirty="0" sz="950" spc="-4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2.3%</a:t>
            </a:r>
            <a:r>
              <a:rPr dirty="0" sz="950" spc="-3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in</a:t>
            </a:r>
            <a:r>
              <a:rPr dirty="0" sz="950" spc="-2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Q1</a:t>
            </a:r>
            <a:r>
              <a:rPr dirty="0" sz="950" spc="-1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2023</a:t>
            </a:r>
            <a:r>
              <a:rPr dirty="0" sz="950" spc="-4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was</a:t>
            </a:r>
            <a:r>
              <a:rPr dirty="0" sz="950" spc="-2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caused</a:t>
            </a:r>
            <a:r>
              <a:rPr dirty="0" sz="950" spc="-5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by</a:t>
            </a:r>
            <a:r>
              <a:rPr dirty="0" sz="950" spc="-2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the</a:t>
            </a:r>
            <a:r>
              <a:rPr dirty="0" sz="950" spc="-40">
                <a:latin typeface="Arial MT"/>
                <a:cs typeface="Arial MT"/>
              </a:rPr>
              <a:t> </a:t>
            </a:r>
            <a:r>
              <a:rPr dirty="0" sz="950" spc="-10">
                <a:latin typeface="Arial MT"/>
                <a:cs typeface="Arial MT"/>
              </a:rPr>
              <a:t>lingering</a:t>
            </a:r>
            <a:r>
              <a:rPr dirty="0" sz="950" spc="-5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effect</a:t>
            </a:r>
            <a:r>
              <a:rPr dirty="0" sz="950" spc="-5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of</a:t>
            </a:r>
            <a:r>
              <a:rPr dirty="0" sz="950" spc="-3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the</a:t>
            </a:r>
            <a:r>
              <a:rPr dirty="0" sz="950" spc="-3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cash</a:t>
            </a:r>
            <a:r>
              <a:rPr dirty="0" sz="950" spc="-5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crunch.</a:t>
            </a:r>
            <a:r>
              <a:rPr dirty="0" sz="950" spc="-40">
                <a:latin typeface="Arial MT"/>
                <a:cs typeface="Arial MT"/>
              </a:rPr>
              <a:t> </a:t>
            </a:r>
            <a:r>
              <a:rPr dirty="0" sz="950" b="1">
                <a:latin typeface="Arial"/>
                <a:cs typeface="Arial"/>
              </a:rPr>
              <a:t>PwC</a:t>
            </a:r>
            <a:r>
              <a:rPr dirty="0" sz="950" spc="-5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projects</a:t>
            </a:r>
            <a:r>
              <a:rPr dirty="0" sz="950" spc="-60" b="1">
                <a:latin typeface="Arial"/>
                <a:cs typeface="Arial"/>
              </a:rPr>
              <a:t> </a:t>
            </a:r>
            <a:r>
              <a:rPr dirty="0" sz="950" spc="-20" b="1">
                <a:latin typeface="Arial"/>
                <a:cs typeface="Arial"/>
              </a:rPr>
              <a:t>2.8% </a:t>
            </a:r>
            <a:r>
              <a:rPr dirty="0" sz="950" spc="-10" b="1">
                <a:latin typeface="Arial"/>
                <a:cs typeface="Arial"/>
              </a:rPr>
              <a:t>growth</a:t>
            </a:r>
            <a:r>
              <a:rPr dirty="0" sz="950" spc="-5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rate</a:t>
            </a:r>
            <a:r>
              <a:rPr dirty="0" sz="950" spc="-15" b="1">
                <a:latin typeface="Arial"/>
                <a:cs typeface="Arial"/>
              </a:rPr>
              <a:t> </a:t>
            </a:r>
            <a:r>
              <a:rPr dirty="0" sz="950">
                <a:latin typeface="Arial MT"/>
                <a:cs typeface="Arial MT"/>
              </a:rPr>
              <a:t>for</a:t>
            </a:r>
            <a:r>
              <a:rPr dirty="0" sz="950" spc="-30">
                <a:latin typeface="Arial MT"/>
                <a:cs typeface="Arial MT"/>
              </a:rPr>
              <a:t> </a:t>
            </a:r>
            <a:r>
              <a:rPr dirty="0" sz="950" spc="-10">
                <a:latin typeface="Arial MT"/>
                <a:cs typeface="Arial MT"/>
              </a:rPr>
              <a:t>Nigeria</a:t>
            </a:r>
            <a:r>
              <a:rPr dirty="0" sz="950" spc="-5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in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2023</a:t>
            </a:r>
            <a:r>
              <a:rPr dirty="0" sz="950" spc="-3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and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3%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in</a:t>
            </a:r>
            <a:r>
              <a:rPr dirty="0" sz="950" spc="-1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2024.</a:t>
            </a:r>
            <a:r>
              <a:rPr dirty="0" sz="950" spc="-4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This</a:t>
            </a:r>
            <a:r>
              <a:rPr dirty="0" sz="950" spc="-2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marginal</a:t>
            </a:r>
            <a:r>
              <a:rPr dirty="0" sz="950" spc="-4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growth</a:t>
            </a:r>
            <a:r>
              <a:rPr dirty="0" sz="950" spc="-30">
                <a:latin typeface="Arial MT"/>
                <a:cs typeface="Arial MT"/>
              </a:rPr>
              <a:t> </a:t>
            </a:r>
            <a:r>
              <a:rPr dirty="0" sz="950" spc="-10">
                <a:latin typeface="Arial MT"/>
                <a:cs typeface="Arial MT"/>
              </a:rPr>
              <a:t>projection</a:t>
            </a:r>
            <a:r>
              <a:rPr dirty="0" sz="950" spc="-3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may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be</a:t>
            </a:r>
            <a:r>
              <a:rPr dirty="0" sz="950" spc="-1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due</a:t>
            </a:r>
            <a:r>
              <a:rPr dirty="0" sz="950" spc="-2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to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the</a:t>
            </a:r>
            <a:r>
              <a:rPr dirty="0" sz="950" spc="-2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emerging</a:t>
            </a:r>
            <a:r>
              <a:rPr dirty="0" sz="950" spc="-45">
                <a:latin typeface="Arial MT"/>
                <a:cs typeface="Arial MT"/>
              </a:rPr>
              <a:t> </a:t>
            </a:r>
            <a:r>
              <a:rPr dirty="0" sz="950" spc="-10">
                <a:latin typeface="Arial MT"/>
                <a:cs typeface="Arial MT"/>
              </a:rPr>
              <a:t>effects</a:t>
            </a:r>
            <a:r>
              <a:rPr dirty="0" sz="950" spc="-4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of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the</a:t>
            </a:r>
            <a:r>
              <a:rPr dirty="0" sz="950" spc="-25">
                <a:latin typeface="Arial MT"/>
                <a:cs typeface="Arial MT"/>
              </a:rPr>
              <a:t> </a:t>
            </a:r>
            <a:r>
              <a:rPr dirty="0" sz="950" spc="-10">
                <a:latin typeface="Arial MT"/>
                <a:cs typeface="Arial MT"/>
              </a:rPr>
              <a:t>implementation</a:t>
            </a:r>
            <a:r>
              <a:rPr dirty="0" sz="950" spc="-40">
                <a:latin typeface="Arial MT"/>
                <a:cs typeface="Arial MT"/>
              </a:rPr>
              <a:t> </a:t>
            </a:r>
            <a:r>
              <a:rPr dirty="0" sz="950" spc="-10">
                <a:latin typeface="Arial MT"/>
                <a:cs typeface="Arial MT"/>
              </a:rPr>
              <a:t>domestic fiscal</a:t>
            </a:r>
            <a:r>
              <a:rPr dirty="0" sz="950" spc="-25">
                <a:latin typeface="Arial MT"/>
                <a:cs typeface="Arial MT"/>
              </a:rPr>
              <a:t> </a:t>
            </a:r>
            <a:r>
              <a:rPr dirty="0" sz="950" spc="-10">
                <a:latin typeface="Arial MT"/>
                <a:cs typeface="Arial MT"/>
              </a:rPr>
              <a:t>reforms</a:t>
            </a:r>
            <a:r>
              <a:rPr dirty="0" sz="950" spc="-3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by</a:t>
            </a:r>
            <a:r>
              <a:rPr dirty="0" sz="950" spc="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the </a:t>
            </a:r>
            <a:r>
              <a:rPr dirty="0" sz="950" spc="-10">
                <a:latin typeface="Arial MT"/>
                <a:cs typeface="Arial MT"/>
              </a:rPr>
              <a:t>ministerial</a:t>
            </a:r>
            <a:r>
              <a:rPr dirty="0" sz="950" spc="-2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and</a:t>
            </a:r>
            <a:r>
              <a:rPr dirty="0" sz="950" spc="-15">
                <a:latin typeface="Arial MT"/>
                <a:cs typeface="Arial MT"/>
              </a:rPr>
              <a:t> </a:t>
            </a:r>
            <a:r>
              <a:rPr dirty="0" sz="950" spc="-10">
                <a:latin typeface="Arial MT"/>
                <a:cs typeface="Arial MT"/>
              </a:rPr>
              <a:t>economic</a:t>
            </a:r>
            <a:r>
              <a:rPr dirty="0" sz="950" spc="-20">
                <a:latin typeface="Arial MT"/>
                <a:cs typeface="Arial MT"/>
              </a:rPr>
              <a:t> </a:t>
            </a:r>
            <a:r>
              <a:rPr dirty="0" sz="950" spc="-10">
                <a:latin typeface="Arial MT"/>
                <a:cs typeface="Arial MT"/>
              </a:rPr>
              <a:t>management</a:t>
            </a:r>
            <a:r>
              <a:rPr dirty="0" sz="950" spc="-2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team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of the</a:t>
            </a:r>
            <a:r>
              <a:rPr dirty="0" sz="950" spc="-15">
                <a:latin typeface="Arial MT"/>
                <a:cs typeface="Arial MT"/>
              </a:rPr>
              <a:t> </a:t>
            </a:r>
            <a:r>
              <a:rPr dirty="0" sz="950" spc="-10">
                <a:latin typeface="Arial MT"/>
                <a:cs typeface="Arial MT"/>
              </a:rPr>
              <a:t>country</a:t>
            </a:r>
            <a:endParaRPr sz="950">
              <a:latin typeface="Arial MT"/>
              <a:cs typeface="Arial MT"/>
            </a:endParaRPr>
          </a:p>
          <a:p>
            <a:pPr marL="102870" marR="179705" indent="-90170">
              <a:lnSpc>
                <a:spcPct val="100000"/>
              </a:lnSpc>
              <a:spcBef>
                <a:spcPts val="100"/>
              </a:spcBef>
              <a:buChar char="•"/>
              <a:tabLst>
                <a:tab pos="104139" algn="l"/>
              </a:tabLst>
            </a:pPr>
            <a:r>
              <a:rPr dirty="0" sz="950">
                <a:latin typeface="Arial MT"/>
                <a:cs typeface="Arial MT"/>
              </a:rPr>
              <a:t>The </a:t>
            </a:r>
            <a:r>
              <a:rPr dirty="0" sz="950" spc="-10">
                <a:latin typeface="Arial MT"/>
                <a:cs typeface="Arial MT"/>
              </a:rPr>
              <a:t>fastest</a:t>
            </a:r>
            <a:r>
              <a:rPr dirty="0" sz="950" spc="-3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growing</a:t>
            </a:r>
            <a:r>
              <a:rPr dirty="0" sz="950" spc="-20">
                <a:latin typeface="Arial MT"/>
                <a:cs typeface="Arial MT"/>
              </a:rPr>
              <a:t> </a:t>
            </a:r>
            <a:r>
              <a:rPr dirty="0" sz="950" spc="-10">
                <a:latin typeface="Arial MT"/>
                <a:cs typeface="Arial MT"/>
              </a:rPr>
              <a:t>sectors</a:t>
            </a:r>
            <a:r>
              <a:rPr dirty="0" sz="950" spc="-2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were</a:t>
            </a:r>
            <a:r>
              <a:rPr dirty="0" sz="950" spc="-10">
                <a:latin typeface="Arial MT"/>
                <a:cs typeface="Arial MT"/>
              </a:rPr>
              <a:t> utilities</a:t>
            </a:r>
            <a:r>
              <a:rPr dirty="0" sz="950" spc="-20">
                <a:latin typeface="Arial MT"/>
                <a:cs typeface="Arial MT"/>
              </a:rPr>
              <a:t> </a:t>
            </a:r>
            <a:r>
              <a:rPr dirty="0" sz="950" spc="-10">
                <a:latin typeface="Arial MT"/>
                <a:cs typeface="Arial MT"/>
              </a:rPr>
              <a:t>(31.8%),</a:t>
            </a:r>
            <a:r>
              <a:rPr dirty="0" sz="950" spc="-20">
                <a:latin typeface="Arial MT"/>
                <a:cs typeface="Arial MT"/>
              </a:rPr>
              <a:t> </a:t>
            </a:r>
            <a:r>
              <a:rPr dirty="0" sz="950" spc="-10">
                <a:latin typeface="Arial MT"/>
                <a:cs typeface="Arial MT"/>
              </a:rPr>
              <a:t>financial</a:t>
            </a:r>
            <a:r>
              <a:rPr dirty="0" sz="950" spc="-20">
                <a:latin typeface="Arial MT"/>
                <a:cs typeface="Arial MT"/>
              </a:rPr>
              <a:t> </a:t>
            </a:r>
            <a:r>
              <a:rPr dirty="0" sz="950" spc="-10">
                <a:latin typeface="Arial MT"/>
                <a:cs typeface="Arial MT"/>
              </a:rPr>
              <a:t>services</a:t>
            </a:r>
            <a:r>
              <a:rPr dirty="0" sz="950" spc="-20">
                <a:latin typeface="Arial MT"/>
                <a:cs typeface="Arial MT"/>
              </a:rPr>
              <a:t> </a:t>
            </a:r>
            <a:r>
              <a:rPr dirty="0" sz="950" spc="-10">
                <a:latin typeface="Arial MT"/>
                <a:cs typeface="Arial MT"/>
              </a:rPr>
              <a:t>(26.8%),</a:t>
            </a:r>
            <a:r>
              <a:rPr dirty="0" sz="950" spc="-20">
                <a:latin typeface="Arial MT"/>
                <a:cs typeface="Arial MT"/>
              </a:rPr>
              <a:t> </a:t>
            </a:r>
            <a:r>
              <a:rPr dirty="0" sz="950" spc="-10">
                <a:latin typeface="Arial MT"/>
                <a:cs typeface="Arial MT"/>
              </a:rPr>
              <a:t>information</a:t>
            </a:r>
            <a:r>
              <a:rPr dirty="0" sz="950" spc="-3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&amp;</a:t>
            </a:r>
            <a:r>
              <a:rPr dirty="0" sz="950" spc="20">
                <a:latin typeface="Arial MT"/>
                <a:cs typeface="Arial MT"/>
              </a:rPr>
              <a:t> </a:t>
            </a:r>
            <a:r>
              <a:rPr dirty="0" sz="950" spc="-10">
                <a:latin typeface="Arial MT"/>
                <a:cs typeface="Arial MT"/>
              </a:rPr>
              <a:t>communication</a:t>
            </a:r>
            <a:r>
              <a:rPr dirty="0" sz="950" spc="-2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(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8.6%),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and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 spc="-10">
                <a:latin typeface="Arial MT"/>
                <a:cs typeface="Arial MT"/>
              </a:rPr>
              <a:t>construction</a:t>
            </a:r>
            <a:r>
              <a:rPr dirty="0" sz="950" spc="-2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(3.4</a:t>
            </a:r>
            <a:r>
              <a:rPr dirty="0" sz="950" b="1">
                <a:latin typeface="Arial"/>
                <a:cs typeface="Arial"/>
              </a:rPr>
              <a:t>%).</a:t>
            </a:r>
            <a:r>
              <a:rPr dirty="0" sz="950" spc="15" b="1">
                <a:latin typeface="Arial"/>
                <a:cs typeface="Arial"/>
              </a:rPr>
              <a:t> </a:t>
            </a:r>
            <a:r>
              <a:rPr dirty="0" sz="950" spc="-25" b="1">
                <a:latin typeface="Arial"/>
                <a:cs typeface="Arial"/>
              </a:rPr>
              <a:t>The </a:t>
            </a:r>
            <a:r>
              <a:rPr dirty="0" sz="950" spc="-25" b="1">
                <a:latin typeface="Arial"/>
                <a:cs typeface="Arial"/>
              </a:rPr>
              <a:t>	</a:t>
            </a:r>
            <a:r>
              <a:rPr dirty="0" sz="950" spc="-10" b="1">
                <a:latin typeface="Arial"/>
                <a:cs typeface="Arial"/>
              </a:rPr>
              <a:t>growth</a:t>
            </a:r>
            <a:r>
              <a:rPr dirty="0" sz="950" spc="-5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in</a:t>
            </a:r>
            <a:r>
              <a:rPr dirty="0" sz="950" spc="-1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the</a:t>
            </a:r>
            <a:r>
              <a:rPr dirty="0" sz="950" spc="-20" b="1">
                <a:latin typeface="Arial"/>
                <a:cs typeface="Arial"/>
              </a:rPr>
              <a:t> </a:t>
            </a:r>
            <a:r>
              <a:rPr dirty="0" sz="950" spc="-10" b="1">
                <a:latin typeface="Arial"/>
                <a:cs typeface="Arial"/>
              </a:rPr>
              <a:t>activities</a:t>
            </a:r>
            <a:r>
              <a:rPr dirty="0" sz="950" spc="-4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of</a:t>
            </a:r>
            <a:r>
              <a:rPr dirty="0" sz="950" spc="-2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the</a:t>
            </a:r>
            <a:r>
              <a:rPr dirty="0" sz="950" spc="-1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utility</a:t>
            </a:r>
            <a:r>
              <a:rPr dirty="0" sz="950" spc="-4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sector</a:t>
            </a:r>
            <a:r>
              <a:rPr dirty="0" sz="950" spc="-4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may</a:t>
            </a:r>
            <a:r>
              <a:rPr dirty="0" sz="950" spc="-1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be</a:t>
            </a:r>
            <a:r>
              <a:rPr dirty="0" sz="950" spc="-2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partly</a:t>
            </a:r>
            <a:r>
              <a:rPr dirty="0" sz="950" spc="-30" b="1">
                <a:latin typeface="Arial"/>
                <a:cs typeface="Arial"/>
              </a:rPr>
              <a:t> </a:t>
            </a:r>
            <a:r>
              <a:rPr dirty="0" sz="950" spc="-10" b="1">
                <a:latin typeface="Arial"/>
                <a:cs typeface="Arial"/>
              </a:rPr>
              <a:t>attributed</a:t>
            </a:r>
            <a:r>
              <a:rPr dirty="0" sz="950" spc="-4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to</a:t>
            </a:r>
            <a:r>
              <a:rPr dirty="0" sz="950" spc="-2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the</a:t>
            </a:r>
            <a:r>
              <a:rPr dirty="0" sz="950" spc="-2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increase</a:t>
            </a:r>
            <a:r>
              <a:rPr dirty="0" sz="950" spc="-4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in</a:t>
            </a:r>
            <a:r>
              <a:rPr dirty="0" sz="950" spc="-2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the</a:t>
            </a:r>
            <a:r>
              <a:rPr dirty="0" sz="950" spc="-20" b="1">
                <a:latin typeface="Arial"/>
                <a:cs typeface="Arial"/>
              </a:rPr>
              <a:t> </a:t>
            </a:r>
            <a:r>
              <a:rPr dirty="0" sz="950" spc="-10" b="1">
                <a:latin typeface="Arial"/>
                <a:cs typeface="Arial"/>
              </a:rPr>
              <a:t>number</a:t>
            </a:r>
            <a:r>
              <a:rPr dirty="0" sz="950" spc="-1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of</a:t>
            </a:r>
            <a:r>
              <a:rPr dirty="0" sz="950" spc="-25" b="1">
                <a:latin typeface="Arial"/>
                <a:cs typeface="Arial"/>
              </a:rPr>
              <a:t> </a:t>
            </a:r>
            <a:r>
              <a:rPr dirty="0" sz="950" spc="-10" b="1">
                <a:latin typeface="Arial"/>
                <a:cs typeface="Arial"/>
              </a:rPr>
              <a:t>metered</a:t>
            </a:r>
            <a:r>
              <a:rPr dirty="0" sz="950" spc="-35" b="1">
                <a:latin typeface="Arial"/>
                <a:cs typeface="Arial"/>
              </a:rPr>
              <a:t> </a:t>
            </a:r>
            <a:r>
              <a:rPr dirty="0" sz="950" spc="-10" b="1">
                <a:latin typeface="Arial"/>
                <a:cs typeface="Arial"/>
              </a:rPr>
              <a:t>customers</a:t>
            </a:r>
            <a:r>
              <a:rPr dirty="0" sz="950" spc="-4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by</a:t>
            </a:r>
            <a:r>
              <a:rPr dirty="0" sz="950" spc="-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3.1%</a:t>
            </a:r>
            <a:r>
              <a:rPr dirty="0" sz="950" spc="-2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to</a:t>
            </a:r>
            <a:r>
              <a:rPr dirty="0" sz="950" spc="-10" b="1">
                <a:latin typeface="Arial"/>
                <a:cs typeface="Arial"/>
              </a:rPr>
              <a:t> </a:t>
            </a:r>
            <a:r>
              <a:rPr dirty="0" sz="950" spc="-20" b="1">
                <a:latin typeface="Arial"/>
                <a:cs typeface="Arial"/>
              </a:rPr>
              <a:t>5.47 </a:t>
            </a:r>
            <a:r>
              <a:rPr dirty="0" sz="950" spc="-20" b="1">
                <a:latin typeface="Arial"/>
                <a:cs typeface="Arial"/>
              </a:rPr>
              <a:t>	</a:t>
            </a:r>
            <a:r>
              <a:rPr dirty="0" sz="950" b="1">
                <a:latin typeface="Arial"/>
                <a:cs typeface="Arial"/>
              </a:rPr>
              <a:t>million</a:t>
            </a:r>
            <a:r>
              <a:rPr dirty="0" sz="950" spc="-3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people</a:t>
            </a:r>
            <a:r>
              <a:rPr dirty="0" sz="950" spc="-4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while</a:t>
            </a:r>
            <a:r>
              <a:rPr dirty="0" sz="950" spc="-4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increase</a:t>
            </a:r>
            <a:r>
              <a:rPr dirty="0" sz="950" spc="-4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in</a:t>
            </a:r>
            <a:r>
              <a:rPr dirty="0" sz="950" spc="-20" b="1">
                <a:latin typeface="Arial"/>
                <a:cs typeface="Arial"/>
              </a:rPr>
              <a:t> </a:t>
            </a:r>
            <a:r>
              <a:rPr dirty="0" sz="950" spc="-10" b="1">
                <a:latin typeface="Arial"/>
                <a:cs typeface="Arial"/>
              </a:rPr>
              <a:t>interest</a:t>
            </a:r>
            <a:r>
              <a:rPr dirty="0" sz="950" spc="-40" b="1">
                <a:latin typeface="Arial"/>
                <a:cs typeface="Arial"/>
              </a:rPr>
              <a:t> </a:t>
            </a:r>
            <a:r>
              <a:rPr dirty="0" sz="950" spc="-10" b="1">
                <a:latin typeface="Arial"/>
                <a:cs typeface="Arial"/>
              </a:rPr>
              <a:t>income,</a:t>
            </a:r>
            <a:r>
              <a:rPr dirty="0" sz="950" spc="-4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digital</a:t>
            </a:r>
            <a:r>
              <a:rPr dirty="0" sz="950" spc="-45" b="1">
                <a:latin typeface="Arial"/>
                <a:cs typeface="Arial"/>
              </a:rPr>
              <a:t> </a:t>
            </a:r>
            <a:r>
              <a:rPr dirty="0" sz="950" spc="-10" b="1">
                <a:latin typeface="Arial"/>
                <a:cs typeface="Arial"/>
              </a:rPr>
              <a:t>transactions</a:t>
            </a:r>
            <a:r>
              <a:rPr dirty="0" sz="950" spc="-5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and</a:t>
            </a:r>
            <a:r>
              <a:rPr dirty="0" sz="950" spc="-2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forex</a:t>
            </a:r>
            <a:r>
              <a:rPr dirty="0" sz="950" spc="-25" b="1">
                <a:latin typeface="Arial"/>
                <a:cs typeface="Arial"/>
              </a:rPr>
              <a:t> </a:t>
            </a:r>
            <a:r>
              <a:rPr dirty="0" sz="950" spc="-10" b="1">
                <a:latin typeface="Arial"/>
                <a:cs typeface="Arial"/>
              </a:rPr>
              <a:t>revaluation</a:t>
            </a:r>
            <a:r>
              <a:rPr dirty="0" sz="950" spc="-5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gains</a:t>
            </a:r>
            <a:r>
              <a:rPr dirty="0" sz="950" spc="-4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may</a:t>
            </a:r>
            <a:r>
              <a:rPr dirty="0" sz="950" spc="-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be</a:t>
            </a:r>
            <a:r>
              <a:rPr dirty="0" sz="950" spc="-15" b="1">
                <a:latin typeface="Arial"/>
                <a:cs typeface="Arial"/>
              </a:rPr>
              <a:t> </a:t>
            </a:r>
            <a:r>
              <a:rPr dirty="0" sz="950" spc="-10" b="1">
                <a:latin typeface="Arial"/>
                <a:cs typeface="Arial"/>
              </a:rPr>
              <a:t>responsible</a:t>
            </a:r>
            <a:r>
              <a:rPr dirty="0" sz="950" spc="-4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for</a:t>
            </a:r>
            <a:r>
              <a:rPr dirty="0" sz="950" spc="-1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the growth</a:t>
            </a:r>
            <a:r>
              <a:rPr dirty="0" sz="950" spc="-45" b="1">
                <a:latin typeface="Arial"/>
                <a:cs typeface="Arial"/>
              </a:rPr>
              <a:t> </a:t>
            </a:r>
            <a:r>
              <a:rPr dirty="0" sz="950" spc="-25" b="1">
                <a:latin typeface="Arial"/>
                <a:cs typeface="Arial"/>
              </a:rPr>
              <a:t>in </a:t>
            </a:r>
            <a:r>
              <a:rPr dirty="0" sz="950" spc="-25" b="1">
                <a:latin typeface="Arial"/>
                <a:cs typeface="Arial"/>
              </a:rPr>
              <a:t>	</a:t>
            </a:r>
            <a:r>
              <a:rPr dirty="0" sz="950" spc="-10" b="1">
                <a:latin typeface="Arial"/>
                <a:cs typeface="Arial"/>
              </a:rPr>
              <a:t>financial</a:t>
            </a:r>
            <a:r>
              <a:rPr dirty="0" sz="950" spc="5" b="1">
                <a:latin typeface="Arial"/>
                <a:cs typeface="Arial"/>
              </a:rPr>
              <a:t> </a:t>
            </a:r>
            <a:r>
              <a:rPr dirty="0" sz="950" spc="-10" b="1">
                <a:latin typeface="Arial"/>
                <a:cs typeface="Arial"/>
              </a:rPr>
              <a:t>services</a:t>
            </a:r>
            <a:endParaRPr sz="95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56971" y="655319"/>
            <a:ext cx="1592580" cy="11887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1000">
              <a:latin typeface="Times New Roman"/>
              <a:cs typeface="Times New Roman"/>
            </a:endParaRPr>
          </a:p>
          <a:p>
            <a:pPr marL="285115">
              <a:lnSpc>
                <a:spcPct val="100000"/>
              </a:lnSpc>
            </a:pPr>
            <a:r>
              <a:rPr dirty="0" sz="1000" b="1">
                <a:solidFill>
                  <a:srgbClr val="FFFFFF"/>
                </a:solidFill>
                <a:latin typeface="Arial"/>
                <a:cs typeface="Arial"/>
              </a:rPr>
              <a:t>Macro</a:t>
            </a:r>
            <a:r>
              <a:rPr dirty="0" sz="10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FFFFFF"/>
                </a:solidFill>
                <a:latin typeface="Arial"/>
                <a:cs typeface="Arial"/>
              </a:rPr>
              <a:t>dynamics</a:t>
            </a:r>
            <a:endParaRPr sz="10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832610" y="1913000"/>
            <a:ext cx="7919084" cy="103949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02235" marR="5080" indent="-90170">
              <a:lnSpc>
                <a:spcPct val="100000"/>
              </a:lnSpc>
              <a:spcBef>
                <a:spcPts val="95"/>
              </a:spcBef>
              <a:buChar char="•"/>
              <a:tabLst>
                <a:tab pos="103505" algn="l"/>
              </a:tabLst>
            </a:pPr>
            <a:r>
              <a:rPr dirty="0" sz="950">
                <a:latin typeface="Arial MT"/>
                <a:cs typeface="Arial MT"/>
              </a:rPr>
              <a:t>Inflation</a:t>
            </a:r>
            <a:r>
              <a:rPr dirty="0" sz="950" spc="-3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rose</a:t>
            </a:r>
            <a:r>
              <a:rPr dirty="0" sz="950" spc="-1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to</a:t>
            </a:r>
            <a:r>
              <a:rPr dirty="0" sz="950" spc="-1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25.8%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in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August</a:t>
            </a:r>
            <a:r>
              <a:rPr dirty="0" sz="950" spc="-2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from</a:t>
            </a:r>
            <a:r>
              <a:rPr dirty="0" sz="950" spc="-2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24.1%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in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July</a:t>
            </a:r>
            <a:r>
              <a:rPr dirty="0" sz="950" spc="-2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fueled</a:t>
            </a:r>
            <a:r>
              <a:rPr dirty="0" sz="950" spc="-2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by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both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food</a:t>
            </a:r>
            <a:r>
              <a:rPr dirty="0" sz="950" spc="-2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(29.3%)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and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transportation</a:t>
            </a:r>
            <a:r>
              <a:rPr dirty="0" sz="950" spc="-3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inflation</a:t>
            </a:r>
            <a:r>
              <a:rPr dirty="0" sz="950" spc="-3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rates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(27.1%)</a:t>
            </a:r>
            <a:r>
              <a:rPr dirty="0" sz="950" b="1">
                <a:latin typeface="Arial"/>
                <a:cs typeface="Arial"/>
              </a:rPr>
              <a:t>.</a:t>
            </a:r>
            <a:r>
              <a:rPr dirty="0" sz="950" spc="-1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We</a:t>
            </a:r>
            <a:r>
              <a:rPr dirty="0" sz="950" spc="-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expect</a:t>
            </a:r>
            <a:r>
              <a:rPr dirty="0" sz="950" spc="-1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that</a:t>
            </a:r>
            <a:r>
              <a:rPr dirty="0" sz="950" spc="-1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the</a:t>
            </a:r>
            <a:r>
              <a:rPr dirty="0" sz="950" spc="-5" b="1">
                <a:latin typeface="Arial"/>
                <a:cs typeface="Arial"/>
              </a:rPr>
              <a:t> </a:t>
            </a:r>
            <a:r>
              <a:rPr dirty="0" sz="950" spc="-20" b="1">
                <a:latin typeface="Arial"/>
                <a:cs typeface="Arial"/>
              </a:rPr>
              <a:t>full </a:t>
            </a:r>
            <a:r>
              <a:rPr dirty="0" sz="950" spc="-20" b="1">
                <a:latin typeface="Arial"/>
                <a:cs typeface="Arial"/>
              </a:rPr>
              <a:t>	</a:t>
            </a:r>
            <a:r>
              <a:rPr dirty="0" sz="950" b="1">
                <a:latin typeface="Arial"/>
                <a:cs typeface="Arial"/>
              </a:rPr>
              <a:t>effect</a:t>
            </a:r>
            <a:r>
              <a:rPr dirty="0" sz="950" spc="-2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of</a:t>
            </a:r>
            <a:r>
              <a:rPr dirty="0" sz="950" spc="-1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the</a:t>
            </a:r>
            <a:r>
              <a:rPr dirty="0" sz="950" spc="-1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PMS</a:t>
            </a:r>
            <a:r>
              <a:rPr dirty="0" sz="950" spc="-3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subsidy</a:t>
            </a:r>
            <a:r>
              <a:rPr dirty="0" sz="950" spc="-2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removal will</a:t>
            </a:r>
            <a:r>
              <a:rPr dirty="0" sz="950" spc="-4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continue</a:t>
            </a:r>
            <a:r>
              <a:rPr dirty="0" sz="950" spc="-2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to</a:t>
            </a:r>
            <a:r>
              <a:rPr dirty="0" sz="950" spc="-1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be</a:t>
            </a:r>
            <a:r>
              <a:rPr dirty="0" sz="950" spc="-2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a</a:t>
            </a:r>
            <a:r>
              <a:rPr dirty="0" sz="950" spc="-1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key</a:t>
            </a:r>
            <a:r>
              <a:rPr dirty="0" sz="950" spc="-2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driver of</a:t>
            </a:r>
            <a:r>
              <a:rPr dirty="0" sz="950" spc="-1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inflation</a:t>
            </a:r>
            <a:r>
              <a:rPr dirty="0" sz="950" spc="-2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in</a:t>
            </a:r>
            <a:r>
              <a:rPr dirty="0" sz="950" spc="-2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the</a:t>
            </a:r>
            <a:r>
              <a:rPr dirty="0" sz="950" spc="-1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short</a:t>
            </a:r>
            <a:r>
              <a:rPr dirty="0" sz="950" spc="-1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to</a:t>
            </a:r>
            <a:r>
              <a:rPr dirty="0" sz="950" spc="-1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medium</a:t>
            </a:r>
            <a:r>
              <a:rPr dirty="0" sz="950" spc="-5" b="1">
                <a:latin typeface="Arial"/>
                <a:cs typeface="Arial"/>
              </a:rPr>
              <a:t> </a:t>
            </a:r>
            <a:r>
              <a:rPr dirty="0" sz="950" spc="-20" b="1">
                <a:latin typeface="Arial"/>
                <a:cs typeface="Arial"/>
              </a:rPr>
              <a:t>term</a:t>
            </a:r>
            <a:endParaRPr sz="950">
              <a:latin typeface="Arial"/>
              <a:cs typeface="Arial"/>
            </a:endParaRPr>
          </a:p>
          <a:p>
            <a:pPr marL="102235" marR="58419" indent="-90170">
              <a:lnSpc>
                <a:spcPct val="100000"/>
              </a:lnSpc>
              <a:buFont typeface="Arial MT"/>
              <a:buChar char="•"/>
              <a:tabLst>
                <a:tab pos="103505" algn="l"/>
              </a:tabLst>
            </a:pPr>
            <a:r>
              <a:rPr dirty="0" sz="950" b="1">
                <a:latin typeface="Arial"/>
                <a:cs typeface="Arial"/>
              </a:rPr>
              <a:t>FTSE</a:t>
            </a:r>
            <a:r>
              <a:rPr dirty="0" sz="950" spc="-2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Russell</a:t>
            </a:r>
            <a:r>
              <a:rPr dirty="0" sz="950" spc="-2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downgrade</a:t>
            </a:r>
            <a:r>
              <a:rPr dirty="0" sz="950" spc="-4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of</a:t>
            </a:r>
            <a:r>
              <a:rPr dirty="0" sz="950" spc="-2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Nigeria</a:t>
            </a:r>
            <a:r>
              <a:rPr dirty="0" sz="950" spc="-2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from</a:t>
            </a:r>
            <a:r>
              <a:rPr dirty="0" sz="950" spc="-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frontline</a:t>
            </a:r>
            <a:r>
              <a:rPr dirty="0" sz="950" spc="-1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to</a:t>
            </a:r>
            <a:r>
              <a:rPr dirty="0" sz="950" spc="-2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unclassified</a:t>
            </a:r>
            <a:r>
              <a:rPr dirty="0" sz="950" spc="-4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market</a:t>
            </a:r>
            <a:r>
              <a:rPr dirty="0" sz="950" spc="-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due</a:t>
            </a:r>
            <a:r>
              <a:rPr dirty="0" sz="950" spc="-2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to</a:t>
            </a:r>
            <a:r>
              <a:rPr dirty="0" sz="950" spc="-1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low</a:t>
            </a:r>
            <a:r>
              <a:rPr dirty="0" sz="950" spc="-2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FX</a:t>
            </a:r>
            <a:r>
              <a:rPr dirty="0" sz="950" spc="-1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liquidity, triggered</a:t>
            </a:r>
            <a:r>
              <a:rPr dirty="0" sz="950" spc="-2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sell-offs</a:t>
            </a:r>
            <a:r>
              <a:rPr dirty="0" sz="950" spc="-2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which</a:t>
            </a:r>
            <a:r>
              <a:rPr dirty="0" sz="950" spc="-5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drove</a:t>
            </a:r>
            <a:r>
              <a:rPr dirty="0" sz="950" spc="-10" b="1">
                <a:latin typeface="Arial"/>
                <a:cs typeface="Arial"/>
              </a:rPr>
              <a:t> </a:t>
            </a:r>
            <a:r>
              <a:rPr dirty="0" sz="950" spc="-25" b="1">
                <a:latin typeface="Arial"/>
                <a:cs typeface="Arial"/>
              </a:rPr>
              <a:t>the </a:t>
            </a:r>
            <a:r>
              <a:rPr dirty="0" sz="950" spc="-25" b="1">
                <a:latin typeface="Arial"/>
                <a:cs typeface="Arial"/>
              </a:rPr>
              <a:t>	</a:t>
            </a:r>
            <a:r>
              <a:rPr dirty="0" sz="950" b="1">
                <a:latin typeface="Arial"/>
                <a:cs typeface="Arial"/>
              </a:rPr>
              <a:t>decline</a:t>
            </a:r>
            <a:r>
              <a:rPr dirty="0" sz="950" spc="-3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in</a:t>
            </a:r>
            <a:r>
              <a:rPr dirty="0" sz="950" spc="-3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the</a:t>
            </a:r>
            <a:r>
              <a:rPr dirty="0" sz="950" spc="-1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All</a:t>
            </a:r>
            <a:r>
              <a:rPr dirty="0" sz="950" spc="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Share</a:t>
            </a:r>
            <a:r>
              <a:rPr dirty="0" sz="950" spc="-1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Index</a:t>
            </a:r>
            <a:r>
              <a:rPr dirty="0" sz="950" spc="-3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(ASI)</a:t>
            </a:r>
            <a:r>
              <a:rPr dirty="0" sz="950" spc="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by</a:t>
            </a:r>
            <a:r>
              <a:rPr dirty="0" sz="950" spc="-3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1.2%</a:t>
            </a:r>
            <a:r>
              <a:rPr dirty="0" sz="950" spc="-1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or</a:t>
            </a:r>
            <a:r>
              <a:rPr dirty="0" sz="950" spc="-1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$1.4</a:t>
            </a:r>
            <a:r>
              <a:rPr dirty="0" sz="950" spc="-3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billion</a:t>
            </a:r>
            <a:r>
              <a:rPr dirty="0" sz="950" spc="-3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(N463.7billion)</a:t>
            </a:r>
            <a:r>
              <a:rPr dirty="0" sz="950" spc="-4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in</a:t>
            </a:r>
            <a:r>
              <a:rPr dirty="0" sz="950" spc="-2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market</a:t>
            </a:r>
            <a:r>
              <a:rPr dirty="0" sz="950" spc="-1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capitalisation</a:t>
            </a:r>
            <a:r>
              <a:rPr dirty="0" sz="950" spc="-4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on</a:t>
            </a:r>
            <a:r>
              <a:rPr dirty="0" sz="950" spc="-2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September</a:t>
            </a:r>
            <a:r>
              <a:rPr dirty="0" sz="950" spc="-1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13th.</a:t>
            </a:r>
            <a:r>
              <a:rPr dirty="0" sz="950" spc="-25" b="1">
                <a:latin typeface="Arial"/>
                <a:cs typeface="Arial"/>
              </a:rPr>
              <a:t> </a:t>
            </a:r>
            <a:r>
              <a:rPr dirty="0" sz="950">
                <a:latin typeface="Arial MT"/>
                <a:cs typeface="Arial MT"/>
              </a:rPr>
              <a:t>Further</a:t>
            </a:r>
            <a:r>
              <a:rPr dirty="0" sz="950" spc="-35">
                <a:latin typeface="Arial MT"/>
                <a:cs typeface="Arial MT"/>
              </a:rPr>
              <a:t> </a:t>
            </a:r>
            <a:r>
              <a:rPr dirty="0" sz="950" spc="-10">
                <a:latin typeface="Arial MT"/>
                <a:cs typeface="Arial MT"/>
              </a:rPr>
              <a:t>downgrades </a:t>
            </a:r>
            <a:r>
              <a:rPr dirty="0" sz="950" spc="-10">
                <a:latin typeface="Arial MT"/>
                <a:cs typeface="Arial MT"/>
              </a:rPr>
              <a:t>	</a:t>
            </a:r>
            <a:r>
              <a:rPr dirty="0" sz="950">
                <a:latin typeface="Arial MT"/>
                <a:cs typeface="Arial MT"/>
              </a:rPr>
              <a:t>may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continue</a:t>
            </a:r>
            <a:r>
              <a:rPr dirty="0" sz="950" spc="-3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to</a:t>
            </a:r>
            <a:r>
              <a:rPr dirty="0" sz="950" spc="-2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weigh</a:t>
            </a:r>
            <a:r>
              <a:rPr dirty="0" sz="950" spc="-1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negatively</a:t>
            </a:r>
            <a:r>
              <a:rPr dirty="0" sz="950" spc="-2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on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investor</a:t>
            </a:r>
            <a:r>
              <a:rPr dirty="0" sz="950" spc="-25">
                <a:latin typeface="Arial MT"/>
                <a:cs typeface="Arial MT"/>
              </a:rPr>
              <a:t> </a:t>
            </a:r>
            <a:r>
              <a:rPr dirty="0" sz="950" spc="-10">
                <a:latin typeface="Arial MT"/>
                <a:cs typeface="Arial MT"/>
              </a:rPr>
              <a:t>sentiment</a:t>
            </a:r>
            <a:endParaRPr sz="950">
              <a:latin typeface="Arial MT"/>
              <a:cs typeface="Arial MT"/>
            </a:endParaRPr>
          </a:p>
          <a:p>
            <a:pPr marL="102235" marR="391160" indent="-9017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103505" algn="l"/>
              </a:tabLst>
            </a:pPr>
            <a:r>
              <a:rPr dirty="0" sz="950" b="1">
                <a:solidFill>
                  <a:srgbClr val="0D0D0D"/>
                </a:solidFill>
                <a:latin typeface="Arial"/>
                <a:cs typeface="Arial"/>
              </a:rPr>
              <a:t>To</a:t>
            </a:r>
            <a:r>
              <a:rPr dirty="0" sz="950" spc="-30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0D0D0D"/>
                </a:solidFill>
                <a:latin typeface="Arial"/>
                <a:cs typeface="Arial"/>
              </a:rPr>
              <a:t>reduce</a:t>
            </a:r>
            <a:r>
              <a:rPr dirty="0" sz="950" spc="-20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0D0D0D"/>
                </a:solidFill>
                <a:latin typeface="Arial"/>
                <a:cs typeface="Arial"/>
              </a:rPr>
              <a:t>food</a:t>
            </a:r>
            <a:r>
              <a:rPr dirty="0" sz="950" spc="-15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0D0D0D"/>
                </a:solidFill>
                <a:latin typeface="Arial"/>
                <a:cs typeface="Arial"/>
              </a:rPr>
              <a:t>inflation,</a:t>
            </a:r>
            <a:r>
              <a:rPr dirty="0" sz="950" spc="-25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0D0D0D"/>
                </a:solidFill>
                <a:latin typeface="Arial"/>
                <a:cs typeface="Arial"/>
              </a:rPr>
              <a:t>wheat</a:t>
            </a:r>
            <a:r>
              <a:rPr dirty="0" sz="950" spc="-50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0D0D0D"/>
                </a:solidFill>
                <a:latin typeface="Arial"/>
                <a:cs typeface="Arial"/>
              </a:rPr>
              <a:t>import</a:t>
            </a:r>
            <a:r>
              <a:rPr dirty="0" sz="950" spc="-5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0D0D0D"/>
                </a:solidFill>
                <a:latin typeface="Arial"/>
                <a:cs typeface="Arial"/>
              </a:rPr>
              <a:t>bill</a:t>
            </a:r>
            <a:r>
              <a:rPr dirty="0" sz="950" spc="-30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0D0D0D"/>
                </a:solidFill>
                <a:latin typeface="Arial"/>
                <a:cs typeface="Arial"/>
              </a:rPr>
              <a:t>and</a:t>
            </a:r>
            <a:r>
              <a:rPr dirty="0" sz="950" spc="-20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0D0D0D"/>
                </a:solidFill>
                <a:latin typeface="Arial"/>
                <a:cs typeface="Arial"/>
              </a:rPr>
              <a:t>enhance</a:t>
            </a:r>
            <a:r>
              <a:rPr dirty="0" sz="950" spc="-25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0D0D0D"/>
                </a:solidFill>
                <a:latin typeface="Arial"/>
                <a:cs typeface="Arial"/>
              </a:rPr>
              <a:t>improve food</a:t>
            </a:r>
            <a:r>
              <a:rPr dirty="0" sz="950" spc="-25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950" b="1">
                <a:solidFill>
                  <a:srgbClr val="0D0D0D"/>
                </a:solidFill>
                <a:latin typeface="Arial"/>
                <a:cs typeface="Arial"/>
              </a:rPr>
              <a:t>security</a:t>
            </a:r>
            <a:r>
              <a:rPr dirty="0" sz="950">
                <a:solidFill>
                  <a:srgbClr val="0D0D0D"/>
                </a:solidFill>
                <a:latin typeface="Arial MT"/>
                <a:cs typeface="Arial MT"/>
              </a:rPr>
              <a:t>,</a:t>
            </a:r>
            <a:r>
              <a:rPr dirty="0" sz="950" spc="-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D0D0D"/>
                </a:solidFill>
                <a:latin typeface="Arial MT"/>
                <a:cs typeface="Arial MT"/>
              </a:rPr>
              <a:t>the</a:t>
            </a:r>
            <a:r>
              <a:rPr dirty="0" sz="950" spc="-2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D0D0D"/>
                </a:solidFill>
                <a:latin typeface="Arial MT"/>
                <a:cs typeface="Arial MT"/>
              </a:rPr>
              <a:t>Federal</a:t>
            </a:r>
            <a:r>
              <a:rPr dirty="0" sz="950" spc="-2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D0D0D"/>
                </a:solidFill>
                <a:latin typeface="Arial MT"/>
                <a:cs typeface="Arial MT"/>
              </a:rPr>
              <a:t>Government</a:t>
            </a:r>
            <a:r>
              <a:rPr dirty="0" sz="950" spc="-1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D0D0D"/>
                </a:solidFill>
                <a:latin typeface="Arial MT"/>
                <a:cs typeface="Arial MT"/>
              </a:rPr>
              <a:t>secured</a:t>
            </a:r>
            <a:r>
              <a:rPr dirty="0" sz="950" spc="-3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D0D0D"/>
                </a:solidFill>
                <a:latin typeface="Arial MT"/>
                <a:cs typeface="Arial MT"/>
              </a:rPr>
              <a:t>$163m</a:t>
            </a:r>
            <a:r>
              <a:rPr dirty="0" sz="950" spc="-2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D0D0D"/>
                </a:solidFill>
                <a:latin typeface="Arial MT"/>
                <a:cs typeface="Arial MT"/>
              </a:rPr>
              <a:t>AfDB</a:t>
            </a:r>
            <a:r>
              <a:rPr dirty="0" sz="950" spc="-2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D0D0D"/>
                </a:solidFill>
                <a:latin typeface="Arial MT"/>
                <a:cs typeface="Arial MT"/>
              </a:rPr>
              <a:t>loan</a:t>
            </a:r>
            <a:r>
              <a:rPr dirty="0" sz="950" spc="-2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950" spc="-25">
                <a:solidFill>
                  <a:srgbClr val="0D0D0D"/>
                </a:solidFill>
                <a:latin typeface="Arial MT"/>
                <a:cs typeface="Arial MT"/>
              </a:rPr>
              <a:t>for </a:t>
            </a:r>
            <a:r>
              <a:rPr dirty="0" sz="950" spc="-25">
                <a:solidFill>
                  <a:srgbClr val="0D0D0D"/>
                </a:solidFill>
                <a:latin typeface="Arial MT"/>
                <a:cs typeface="Arial MT"/>
              </a:rPr>
              <a:t>	</a:t>
            </a:r>
            <a:r>
              <a:rPr dirty="0" sz="950">
                <a:solidFill>
                  <a:srgbClr val="0D0D0D"/>
                </a:solidFill>
                <a:latin typeface="Arial MT"/>
                <a:cs typeface="Arial MT"/>
              </a:rPr>
              <a:t>domestic</a:t>
            </a:r>
            <a:r>
              <a:rPr dirty="0" sz="950" spc="-3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D0D0D"/>
                </a:solidFill>
                <a:latin typeface="Arial MT"/>
                <a:cs typeface="Arial MT"/>
              </a:rPr>
              <a:t>wheat</a:t>
            </a:r>
            <a:r>
              <a:rPr dirty="0" sz="950" spc="-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0D0D0D"/>
                </a:solidFill>
                <a:latin typeface="Arial MT"/>
                <a:cs typeface="Arial MT"/>
              </a:rPr>
              <a:t>production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166115" y="1886711"/>
            <a:ext cx="1584960" cy="1225550"/>
          </a:xfrm>
          <a:custGeom>
            <a:avLst/>
            <a:gdLst/>
            <a:ahLst/>
            <a:cxnLst/>
            <a:rect l="l" t="t" r="r" b="b"/>
            <a:pathLst>
              <a:path w="1584960" h="1225550">
                <a:moveTo>
                  <a:pt x="1584579" y="0"/>
                </a:moveTo>
                <a:lnTo>
                  <a:pt x="0" y="0"/>
                </a:lnTo>
                <a:lnTo>
                  <a:pt x="0" y="1225295"/>
                </a:lnTo>
                <a:lnTo>
                  <a:pt x="1584579" y="1225295"/>
                </a:lnTo>
                <a:lnTo>
                  <a:pt x="1584579" y="0"/>
                </a:lnTo>
                <a:close/>
              </a:path>
            </a:pathLst>
          </a:custGeom>
          <a:solidFill>
            <a:srgbClr val="DB526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169926" y="2626613"/>
            <a:ext cx="158178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R="102235">
              <a:lnSpc>
                <a:spcPct val="100000"/>
              </a:lnSpc>
              <a:spcBef>
                <a:spcPts val="95"/>
              </a:spcBef>
            </a:pPr>
            <a:r>
              <a:rPr dirty="0" sz="1000" b="1">
                <a:solidFill>
                  <a:srgbClr val="FFFFFF"/>
                </a:solidFill>
                <a:latin typeface="Arial"/>
                <a:cs typeface="Arial"/>
              </a:rPr>
              <a:t>Prices</a:t>
            </a:r>
            <a:r>
              <a:rPr dirty="0" sz="100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0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FFFFFF"/>
                </a:solidFill>
                <a:latin typeface="Arial"/>
                <a:cs typeface="Arial"/>
              </a:rPr>
              <a:t>markets</a:t>
            </a:r>
            <a:endParaRPr sz="1000">
              <a:latin typeface="Arial"/>
              <a:cs typeface="Arial"/>
            </a:endParaRPr>
          </a:p>
          <a:p>
            <a:pPr algn="ctr" marR="58419">
              <a:lnSpc>
                <a:spcPct val="100000"/>
              </a:lnSpc>
            </a:pPr>
            <a:r>
              <a:rPr dirty="0" sz="1000" spc="-10" b="1">
                <a:solidFill>
                  <a:srgbClr val="FFFFFF"/>
                </a:solidFill>
                <a:latin typeface="Arial"/>
                <a:cs typeface="Arial"/>
              </a:rPr>
              <a:t>development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166115" y="955547"/>
            <a:ext cx="1578610" cy="4343400"/>
            <a:chOff x="166115" y="955547"/>
            <a:chExt cx="1578610" cy="4343400"/>
          </a:xfrm>
        </p:grpSpPr>
        <p:sp>
          <p:nvSpPr>
            <p:cNvPr id="15" name="object 15" descr=""/>
            <p:cNvSpPr/>
            <p:nvPr/>
          </p:nvSpPr>
          <p:spPr>
            <a:xfrm>
              <a:off x="719328" y="955547"/>
              <a:ext cx="368935" cy="1461770"/>
            </a:xfrm>
            <a:custGeom>
              <a:avLst/>
              <a:gdLst/>
              <a:ahLst/>
              <a:cxnLst/>
              <a:rect l="l" t="t" r="r" b="b"/>
              <a:pathLst>
                <a:path w="368934" h="1461770">
                  <a:moveTo>
                    <a:pt x="80810" y="152527"/>
                  </a:moveTo>
                  <a:lnTo>
                    <a:pt x="41440" y="142240"/>
                  </a:lnTo>
                  <a:lnTo>
                    <a:pt x="37299" y="142240"/>
                  </a:lnTo>
                  <a:lnTo>
                    <a:pt x="29006" y="146304"/>
                  </a:lnTo>
                  <a:lnTo>
                    <a:pt x="29006" y="158623"/>
                  </a:lnTo>
                  <a:lnTo>
                    <a:pt x="33147" y="160782"/>
                  </a:lnTo>
                  <a:lnTo>
                    <a:pt x="35217" y="162814"/>
                  </a:lnTo>
                  <a:lnTo>
                    <a:pt x="68376" y="171069"/>
                  </a:lnTo>
                  <a:lnTo>
                    <a:pt x="80810" y="152527"/>
                  </a:lnTo>
                  <a:close/>
                </a:path>
                <a:path w="368934" h="1461770">
                  <a:moveTo>
                    <a:pt x="200977" y="138049"/>
                  </a:moveTo>
                  <a:lnTo>
                    <a:pt x="186474" y="121539"/>
                  </a:lnTo>
                  <a:lnTo>
                    <a:pt x="153327" y="168910"/>
                  </a:lnTo>
                  <a:lnTo>
                    <a:pt x="122250" y="162814"/>
                  </a:lnTo>
                  <a:lnTo>
                    <a:pt x="111887" y="181356"/>
                  </a:lnTo>
                  <a:lnTo>
                    <a:pt x="151257" y="189611"/>
                  </a:lnTo>
                  <a:lnTo>
                    <a:pt x="155397" y="191643"/>
                  </a:lnTo>
                  <a:lnTo>
                    <a:pt x="157467" y="191643"/>
                  </a:lnTo>
                  <a:lnTo>
                    <a:pt x="163690" y="189611"/>
                  </a:lnTo>
                  <a:lnTo>
                    <a:pt x="167830" y="187579"/>
                  </a:lnTo>
                  <a:lnTo>
                    <a:pt x="180314" y="168910"/>
                  </a:lnTo>
                  <a:lnTo>
                    <a:pt x="200977" y="138049"/>
                  </a:lnTo>
                  <a:close/>
                </a:path>
                <a:path w="368934" h="1461770">
                  <a:moveTo>
                    <a:pt x="297281" y="1183386"/>
                  </a:moveTo>
                  <a:lnTo>
                    <a:pt x="291871" y="1178306"/>
                  </a:lnTo>
                  <a:lnTo>
                    <a:pt x="291871" y="1187196"/>
                  </a:lnTo>
                  <a:lnTo>
                    <a:pt x="291871" y="1194816"/>
                  </a:lnTo>
                  <a:lnTo>
                    <a:pt x="288264" y="1196086"/>
                  </a:lnTo>
                  <a:lnTo>
                    <a:pt x="281051" y="1196086"/>
                  </a:lnTo>
                  <a:lnTo>
                    <a:pt x="279247" y="1194816"/>
                  </a:lnTo>
                  <a:lnTo>
                    <a:pt x="277444" y="1191006"/>
                  </a:lnTo>
                  <a:lnTo>
                    <a:pt x="277444" y="1187196"/>
                  </a:lnTo>
                  <a:lnTo>
                    <a:pt x="281051" y="1183386"/>
                  </a:lnTo>
                  <a:lnTo>
                    <a:pt x="288264" y="1183386"/>
                  </a:lnTo>
                  <a:lnTo>
                    <a:pt x="291871" y="1187196"/>
                  </a:lnTo>
                  <a:lnTo>
                    <a:pt x="291871" y="1178306"/>
                  </a:lnTo>
                  <a:lnTo>
                    <a:pt x="277444" y="1178306"/>
                  </a:lnTo>
                  <a:lnTo>
                    <a:pt x="272021" y="1183386"/>
                  </a:lnTo>
                  <a:lnTo>
                    <a:pt x="272021" y="1192276"/>
                  </a:lnTo>
                  <a:lnTo>
                    <a:pt x="273824" y="1194816"/>
                  </a:lnTo>
                  <a:lnTo>
                    <a:pt x="273824" y="1196086"/>
                  </a:lnTo>
                  <a:lnTo>
                    <a:pt x="261200" y="1207198"/>
                  </a:lnTo>
                  <a:lnTo>
                    <a:pt x="261200" y="1216406"/>
                  </a:lnTo>
                  <a:lnTo>
                    <a:pt x="261200" y="1222756"/>
                  </a:lnTo>
                  <a:lnTo>
                    <a:pt x="259397" y="1226566"/>
                  </a:lnTo>
                  <a:lnTo>
                    <a:pt x="252183" y="1226566"/>
                  </a:lnTo>
                  <a:lnTo>
                    <a:pt x="248577" y="1222756"/>
                  </a:lnTo>
                  <a:lnTo>
                    <a:pt x="248577" y="1217676"/>
                  </a:lnTo>
                  <a:lnTo>
                    <a:pt x="250380" y="1216406"/>
                  </a:lnTo>
                  <a:lnTo>
                    <a:pt x="252183" y="1213866"/>
                  </a:lnTo>
                  <a:lnTo>
                    <a:pt x="259397" y="1213866"/>
                  </a:lnTo>
                  <a:lnTo>
                    <a:pt x="261200" y="1216406"/>
                  </a:lnTo>
                  <a:lnTo>
                    <a:pt x="261200" y="1207198"/>
                  </a:lnTo>
                  <a:lnTo>
                    <a:pt x="259397" y="1208786"/>
                  </a:lnTo>
                  <a:lnTo>
                    <a:pt x="250380" y="1208786"/>
                  </a:lnTo>
                  <a:lnTo>
                    <a:pt x="246773" y="1210056"/>
                  </a:lnTo>
                  <a:lnTo>
                    <a:pt x="244970" y="1213866"/>
                  </a:lnTo>
                  <a:lnTo>
                    <a:pt x="228739" y="1208786"/>
                  </a:lnTo>
                  <a:lnTo>
                    <a:pt x="228739" y="1203706"/>
                  </a:lnTo>
                  <a:lnTo>
                    <a:pt x="223329" y="1197356"/>
                  </a:lnTo>
                  <a:lnTo>
                    <a:pt x="223329" y="1207516"/>
                  </a:lnTo>
                  <a:lnTo>
                    <a:pt x="223329" y="1213866"/>
                  </a:lnTo>
                  <a:lnTo>
                    <a:pt x="221526" y="1216406"/>
                  </a:lnTo>
                  <a:lnTo>
                    <a:pt x="219722" y="1216406"/>
                  </a:lnTo>
                  <a:lnTo>
                    <a:pt x="217919" y="1217676"/>
                  </a:lnTo>
                  <a:lnTo>
                    <a:pt x="216115" y="1217676"/>
                  </a:lnTo>
                  <a:lnTo>
                    <a:pt x="214312" y="1216406"/>
                  </a:lnTo>
                  <a:lnTo>
                    <a:pt x="212509" y="1216406"/>
                  </a:lnTo>
                  <a:lnTo>
                    <a:pt x="210705" y="1213866"/>
                  </a:lnTo>
                  <a:lnTo>
                    <a:pt x="210705" y="1208786"/>
                  </a:lnTo>
                  <a:lnTo>
                    <a:pt x="212509" y="1204976"/>
                  </a:lnTo>
                  <a:lnTo>
                    <a:pt x="214312" y="1203706"/>
                  </a:lnTo>
                  <a:lnTo>
                    <a:pt x="219722" y="1203706"/>
                  </a:lnTo>
                  <a:lnTo>
                    <a:pt x="223329" y="1207516"/>
                  </a:lnTo>
                  <a:lnTo>
                    <a:pt x="223329" y="1197356"/>
                  </a:lnTo>
                  <a:lnTo>
                    <a:pt x="210705" y="1197356"/>
                  </a:lnTo>
                  <a:lnTo>
                    <a:pt x="205295" y="1203706"/>
                  </a:lnTo>
                  <a:lnTo>
                    <a:pt x="205295" y="1210056"/>
                  </a:lnTo>
                  <a:lnTo>
                    <a:pt x="183654" y="1216406"/>
                  </a:lnTo>
                  <a:lnTo>
                    <a:pt x="207098" y="1175766"/>
                  </a:lnTo>
                  <a:lnTo>
                    <a:pt x="237756" y="1191006"/>
                  </a:lnTo>
                  <a:lnTo>
                    <a:pt x="250164" y="1179576"/>
                  </a:lnTo>
                  <a:lnTo>
                    <a:pt x="284657" y="1147826"/>
                  </a:lnTo>
                  <a:lnTo>
                    <a:pt x="281051" y="1138936"/>
                  </a:lnTo>
                  <a:lnTo>
                    <a:pt x="235953" y="1179576"/>
                  </a:lnTo>
                  <a:lnTo>
                    <a:pt x="227088" y="1175766"/>
                  </a:lnTo>
                  <a:lnTo>
                    <a:pt x="203492" y="1165606"/>
                  </a:lnTo>
                  <a:lnTo>
                    <a:pt x="178231" y="1207846"/>
                  </a:lnTo>
                  <a:lnTo>
                    <a:pt x="178231" y="1221486"/>
                  </a:lnTo>
                  <a:lnTo>
                    <a:pt x="178231" y="1230376"/>
                  </a:lnTo>
                  <a:lnTo>
                    <a:pt x="174625" y="1231646"/>
                  </a:lnTo>
                  <a:lnTo>
                    <a:pt x="169214" y="1231646"/>
                  </a:lnTo>
                  <a:lnTo>
                    <a:pt x="165608" y="1229106"/>
                  </a:lnTo>
                  <a:lnTo>
                    <a:pt x="165608" y="1221486"/>
                  </a:lnTo>
                  <a:lnTo>
                    <a:pt x="169214" y="1220216"/>
                  </a:lnTo>
                  <a:lnTo>
                    <a:pt x="176428" y="1220216"/>
                  </a:lnTo>
                  <a:lnTo>
                    <a:pt x="178231" y="1221486"/>
                  </a:lnTo>
                  <a:lnTo>
                    <a:pt x="178231" y="1207846"/>
                  </a:lnTo>
                  <a:lnTo>
                    <a:pt x="174625" y="1213866"/>
                  </a:lnTo>
                  <a:lnTo>
                    <a:pt x="165608" y="1213866"/>
                  </a:lnTo>
                  <a:lnTo>
                    <a:pt x="160197" y="1220216"/>
                  </a:lnTo>
                  <a:lnTo>
                    <a:pt x="160197" y="1231646"/>
                  </a:lnTo>
                  <a:lnTo>
                    <a:pt x="165608" y="1237996"/>
                  </a:lnTo>
                  <a:lnTo>
                    <a:pt x="178231" y="1237996"/>
                  </a:lnTo>
                  <a:lnTo>
                    <a:pt x="183654" y="1231646"/>
                  </a:lnTo>
                  <a:lnTo>
                    <a:pt x="183654" y="1225296"/>
                  </a:lnTo>
                  <a:lnTo>
                    <a:pt x="199275" y="1220216"/>
                  </a:lnTo>
                  <a:lnTo>
                    <a:pt x="207098" y="1217676"/>
                  </a:lnTo>
                  <a:lnTo>
                    <a:pt x="208902" y="1221486"/>
                  </a:lnTo>
                  <a:lnTo>
                    <a:pt x="212509" y="1222756"/>
                  </a:lnTo>
                  <a:lnTo>
                    <a:pt x="221526" y="1222756"/>
                  </a:lnTo>
                  <a:lnTo>
                    <a:pt x="226936" y="1217676"/>
                  </a:lnTo>
                  <a:lnTo>
                    <a:pt x="243166" y="1221486"/>
                  </a:lnTo>
                  <a:lnTo>
                    <a:pt x="243166" y="1226566"/>
                  </a:lnTo>
                  <a:lnTo>
                    <a:pt x="248577" y="1231646"/>
                  </a:lnTo>
                  <a:lnTo>
                    <a:pt x="261200" y="1231646"/>
                  </a:lnTo>
                  <a:lnTo>
                    <a:pt x="266611" y="1226566"/>
                  </a:lnTo>
                  <a:lnTo>
                    <a:pt x="266611" y="1216406"/>
                  </a:lnTo>
                  <a:lnTo>
                    <a:pt x="279247" y="1201166"/>
                  </a:lnTo>
                  <a:lnTo>
                    <a:pt x="291871" y="1201166"/>
                  </a:lnTo>
                  <a:lnTo>
                    <a:pt x="297281" y="1196086"/>
                  </a:lnTo>
                  <a:lnTo>
                    <a:pt x="297281" y="1183386"/>
                  </a:lnTo>
                  <a:close/>
                </a:path>
                <a:path w="368934" h="1461770">
                  <a:moveTo>
                    <a:pt x="305841" y="1372616"/>
                  </a:moveTo>
                  <a:lnTo>
                    <a:pt x="305701" y="1366266"/>
                  </a:lnTo>
                  <a:lnTo>
                    <a:pt x="305587" y="1361186"/>
                  </a:lnTo>
                  <a:lnTo>
                    <a:pt x="305498" y="1357376"/>
                  </a:lnTo>
                  <a:lnTo>
                    <a:pt x="304990" y="1352296"/>
                  </a:lnTo>
                  <a:lnTo>
                    <a:pt x="304863" y="1351026"/>
                  </a:lnTo>
                  <a:lnTo>
                    <a:pt x="304736" y="1349756"/>
                  </a:lnTo>
                  <a:lnTo>
                    <a:pt x="304609" y="1348486"/>
                  </a:lnTo>
                  <a:lnTo>
                    <a:pt x="304495" y="1338326"/>
                  </a:lnTo>
                  <a:lnTo>
                    <a:pt x="302691" y="1329436"/>
                  </a:lnTo>
                  <a:lnTo>
                    <a:pt x="288264" y="1324356"/>
                  </a:lnTo>
                  <a:lnTo>
                    <a:pt x="277444" y="1324356"/>
                  </a:lnTo>
                  <a:lnTo>
                    <a:pt x="275628" y="1320546"/>
                  </a:lnTo>
                  <a:lnTo>
                    <a:pt x="272021" y="1312926"/>
                  </a:lnTo>
                  <a:lnTo>
                    <a:pt x="264807" y="1311656"/>
                  </a:lnTo>
                  <a:lnTo>
                    <a:pt x="261200" y="1309116"/>
                  </a:lnTo>
                  <a:lnTo>
                    <a:pt x="259397" y="1307846"/>
                  </a:lnTo>
                  <a:lnTo>
                    <a:pt x="253987" y="1309116"/>
                  </a:lnTo>
                  <a:lnTo>
                    <a:pt x="250380" y="1309116"/>
                  </a:lnTo>
                  <a:lnTo>
                    <a:pt x="246773" y="1304036"/>
                  </a:lnTo>
                  <a:lnTo>
                    <a:pt x="241363" y="1300226"/>
                  </a:lnTo>
                  <a:lnTo>
                    <a:pt x="234149" y="1298956"/>
                  </a:lnTo>
                  <a:lnTo>
                    <a:pt x="226936" y="1298956"/>
                  </a:lnTo>
                  <a:lnTo>
                    <a:pt x="223329" y="1300226"/>
                  </a:lnTo>
                  <a:lnTo>
                    <a:pt x="223329" y="1291336"/>
                  </a:lnTo>
                  <a:lnTo>
                    <a:pt x="221970" y="1279906"/>
                  </a:lnTo>
                  <a:lnTo>
                    <a:pt x="220738" y="1267206"/>
                  </a:lnTo>
                  <a:lnTo>
                    <a:pt x="220624" y="1265936"/>
                  </a:lnTo>
                  <a:lnTo>
                    <a:pt x="219265" y="1254506"/>
                  </a:lnTo>
                  <a:lnTo>
                    <a:pt x="217919" y="1248156"/>
                  </a:lnTo>
                  <a:lnTo>
                    <a:pt x="217233" y="1244346"/>
                  </a:lnTo>
                  <a:lnTo>
                    <a:pt x="216115" y="1237996"/>
                  </a:lnTo>
                  <a:lnTo>
                    <a:pt x="208902" y="1231646"/>
                  </a:lnTo>
                  <a:lnTo>
                    <a:pt x="199885" y="1231646"/>
                  </a:lnTo>
                  <a:lnTo>
                    <a:pt x="193509" y="1234186"/>
                  </a:lnTo>
                  <a:lnTo>
                    <a:pt x="188163" y="1237996"/>
                  </a:lnTo>
                  <a:lnTo>
                    <a:pt x="184150" y="1244346"/>
                  </a:lnTo>
                  <a:lnTo>
                    <a:pt x="181851" y="1250696"/>
                  </a:lnTo>
                  <a:lnTo>
                    <a:pt x="181851" y="1287526"/>
                  </a:lnTo>
                  <a:lnTo>
                    <a:pt x="182054" y="1291336"/>
                  </a:lnTo>
                  <a:lnTo>
                    <a:pt x="182130" y="1292606"/>
                  </a:lnTo>
                  <a:lnTo>
                    <a:pt x="182753" y="1298956"/>
                  </a:lnTo>
                  <a:lnTo>
                    <a:pt x="183095" y="1304036"/>
                  </a:lnTo>
                  <a:lnTo>
                    <a:pt x="183184" y="1305306"/>
                  </a:lnTo>
                  <a:lnTo>
                    <a:pt x="183273" y="1306576"/>
                  </a:lnTo>
                  <a:lnTo>
                    <a:pt x="183362" y="1307846"/>
                  </a:lnTo>
                  <a:lnTo>
                    <a:pt x="183400" y="1309116"/>
                  </a:lnTo>
                  <a:lnTo>
                    <a:pt x="183527" y="1312926"/>
                  </a:lnTo>
                  <a:lnTo>
                    <a:pt x="183654" y="1316736"/>
                  </a:lnTo>
                  <a:lnTo>
                    <a:pt x="181851" y="1315466"/>
                  </a:lnTo>
                  <a:lnTo>
                    <a:pt x="176428" y="1312926"/>
                  </a:lnTo>
                  <a:lnTo>
                    <a:pt x="169214" y="1312926"/>
                  </a:lnTo>
                  <a:lnTo>
                    <a:pt x="165608" y="1316736"/>
                  </a:lnTo>
                  <a:lnTo>
                    <a:pt x="162001" y="1318006"/>
                  </a:lnTo>
                  <a:lnTo>
                    <a:pt x="158394" y="1321816"/>
                  </a:lnTo>
                  <a:lnTo>
                    <a:pt x="160197" y="1330706"/>
                  </a:lnTo>
                  <a:lnTo>
                    <a:pt x="160070" y="1334516"/>
                  </a:lnTo>
                  <a:lnTo>
                    <a:pt x="158864" y="1347216"/>
                  </a:lnTo>
                  <a:lnTo>
                    <a:pt x="158750" y="1348486"/>
                  </a:lnTo>
                  <a:lnTo>
                    <a:pt x="158623" y="1349756"/>
                  </a:lnTo>
                  <a:lnTo>
                    <a:pt x="158508" y="1351026"/>
                  </a:lnTo>
                  <a:lnTo>
                    <a:pt x="158394" y="1352296"/>
                  </a:lnTo>
                  <a:lnTo>
                    <a:pt x="158305" y="1357376"/>
                  </a:lnTo>
                  <a:lnTo>
                    <a:pt x="158216" y="1358646"/>
                  </a:lnTo>
                  <a:lnTo>
                    <a:pt x="158140" y="1359916"/>
                  </a:lnTo>
                  <a:lnTo>
                    <a:pt x="158051" y="1361186"/>
                  </a:lnTo>
                  <a:lnTo>
                    <a:pt x="159740" y="1366266"/>
                  </a:lnTo>
                  <a:lnTo>
                    <a:pt x="163461" y="1375156"/>
                  </a:lnTo>
                  <a:lnTo>
                    <a:pt x="169214" y="1386586"/>
                  </a:lnTo>
                  <a:lnTo>
                    <a:pt x="172821" y="1394206"/>
                  </a:lnTo>
                  <a:lnTo>
                    <a:pt x="172821" y="1395476"/>
                  </a:lnTo>
                  <a:lnTo>
                    <a:pt x="176428" y="1400556"/>
                  </a:lnTo>
                  <a:lnTo>
                    <a:pt x="180047" y="1404366"/>
                  </a:lnTo>
                  <a:lnTo>
                    <a:pt x="185458" y="1408176"/>
                  </a:lnTo>
                  <a:lnTo>
                    <a:pt x="187261" y="1408176"/>
                  </a:lnTo>
                  <a:lnTo>
                    <a:pt x="190868" y="1410716"/>
                  </a:lnTo>
                  <a:lnTo>
                    <a:pt x="195148" y="1415796"/>
                  </a:lnTo>
                  <a:lnTo>
                    <a:pt x="199428" y="1423416"/>
                  </a:lnTo>
                  <a:lnTo>
                    <a:pt x="203034" y="1429766"/>
                  </a:lnTo>
                  <a:lnTo>
                    <a:pt x="205295" y="1434846"/>
                  </a:lnTo>
                  <a:lnTo>
                    <a:pt x="205295" y="1458976"/>
                  </a:lnTo>
                  <a:lnTo>
                    <a:pt x="208902" y="1461516"/>
                  </a:lnTo>
                  <a:lnTo>
                    <a:pt x="216115" y="1461516"/>
                  </a:lnTo>
                  <a:lnTo>
                    <a:pt x="217919" y="1458976"/>
                  </a:lnTo>
                  <a:lnTo>
                    <a:pt x="217919" y="1431048"/>
                  </a:lnTo>
                  <a:lnTo>
                    <a:pt x="214553" y="1424686"/>
                  </a:lnTo>
                  <a:lnTo>
                    <a:pt x="210019" y="1417066"/>
                  </a:lnTo>
                  <a:lnTo>
                    <a:pt x="204470" y="1409446"/>
                  </a:lnTo>
                  <a:lnTo>
                    <a:pt x="198081" y="1403096"/>
                  </a:lnTo>
                  <a:lnTo>
                    <a:pt x="196278" y="1399286"/>
                  </a:lnTo>
                  <a:lnTo>
                    <a:pt x="192671" y="1398016"/>
                  </a:lnTo>
                  <a:lnTo>
                    <a:pt x="190868" y="1395476"/>
                  </a:lnTo>
                  <a:lnTo>
                    <a:pt x="187261" y="1394206"/>
                  </a:lnTo>
                  <a:lnTo>
                    <a:pt x="185458" y="1394206"/>
                  </a:lnTo>
                  <a:lnTo>
                    <a:pt x="185458" y="1390396"/>
                  </a:lnTo>
                  <a:lnTo>
                    <a:pt x="181851" y="1385316"/>
                  </a:lnTo>
                  <a:lnTo>
                    <a:pt x="180047" y="1378966"/>
                  </a:lnTo>
                  <a:lnTo>
                    <a:pt x="176428" y="1376426"/>
                  </a:lnTo>
                  <a:lnTo>
                    <a:pt x="169214" y="1363726"/>
                  </a:lnTo>
                  <a:lnTo>
                    <a:pt x="169214" y="1359916"/>
                  </a:lnTo>
                  <a:lnTo>
                    <a:pt x="170535" y="1352296"/>
                  </a:lnTo>
                  <a:lnTo>
                    <a:pt x="171691" y="1343406"/>
                  </a:lnTo>
                  <a:lnTo>
                    <a:pt x="172504" y="1334516"/>
                  </a:lnTo>
                  <a:lnTo>
                    <a:pt x="172732" y="1330706"/>
                  </a:lnTo>
                  <a:lnTo>
                    <a:pt x="172821" y="1325626"/>
                  </a:lnTo>
                  <a:lnTo>
                    <a:pt x="176428" y="1325626"/>
                  </a:lnTo>
                  <a:lnTo>
                    <a:pt x="180047" y="1326896"/>
                  </a:lnTo>
                  <a:lnTo>
                    <a:pt x="183654" y="1330706"/>
                  </a:lnTo>
                  <a:lnTo>
                    <a:pt x="183654" y="1337056"/>
                  </a:lnTo>
                  <a:lnTo>
                    <a:pt x="185458" y="1343406"/>
                  </a:lnTo>
                  <a:lnTo>
                    <a:pt x="187261" y="1348486"/>
                  </a:lnTo>
                  <a:lnTo>
                    <a:pt x="187261" y="1352296"/>
                  </a:lnTo>
                  <a:lnTo>
                    <a:pt x="189064" y="1354836"/>
                  </a:lnTo>
                  <a:lnTo>
                    <a:pt x="190868" y="1354836"/>
                  </a:lnTo>
                  <a:lnTo>
                    <a:pt x="198081" y="1351026"/>
                  </a:lnTo>
                  <a:lnTo>
                    <a:pt x="198081" y="1347216"/>
                  </a:lnTo>
                  <a:lnTo>
                    <a:pt x="196278" y="1343406"/>
                  </a:lnTo>
                  <a:lnTo>
                    <a:pt x="198081" y="1339596"/>
                  </a:lnTo>
                  <a:lnTo>
                    <a:pt x="196278" y="1338326"/>
                  </a:lnTo>
                  <a:lnTo>
                    <a:pt x="196164" y="1329436"/>
                  </a:lnTo>
                  <a:lnTo>
                    <a:pt x="196088" y="1325626"/>
                  </a:lnTo>
                  <a:lnTo>
                    <a:pt x="195986" y="1320546"/>
                  </a:lnTo>
                  <a:lnTo>
                    <a:pt x="195872" y="1318006"/>
                  </a:lnTo>
                  <a:lnTo>
                    <a:pt x="195821" y="1316736"/>
                  </a:lnTo>
                  <a:lnTo>
                    <a:pt x="194754" y="1293876"/>
                  </a:lnTo>
                  <a:lnTo>
                    <a:pt x="194513" y="1287526"/>
                  </a:lnTo>
                  <a:lnTo>
                    <a:pt x="194475" y="1246886"/>
                  </a:lnTo>
                  <a:lnTo>
                    <a:pt x="198081" y="1244346"/>
                  </a:lnTo>
                  <a:lnTo>
                    <a:pt x="205295" y="1244346"/>
                  </a:lnTo>
                  <a:lnTo>
                    <a:pt x="207098" y="1250696"/>
                  </a:lnTo>
                  <a:lnTo>
                    <a:pt x="207327" y="1254506"/>
                  </a:lnTo>
                  <a:lnTo>
                    <a:pt x="208127" y="1265936"/>
                  </a:lnTo>
                  <a:lnTo>
                    <a:pt x="208216" y="1267206"/>
                  </a:lnTo>
                  <a:lnTo>
                    <a:pt x="209270" y="1279906"/>
                  </a:lnTo>
                  <a:lnTo>
                    <a:pt x="209372" y="1281176"/>
                  </a:lnTo>
                  <a:lnTo>
                    <a:pt x="210705" y="1291336"/>
                  </a:lnTo>
                  <a:lnTo>
                    <a:pt x="210705" y="1305306"/>
                  </a:lnTo>
                  <a:lnTo>
                    <a:pt x="212509" y="1311656"/>
                  </a:lnTo>
                  <a:lnTo>
                    <a:pt x="212509" y="1315466"/>
                  </a:lnTo>
                  <a:lnTo>
                    <a:pt x="214312" y="1315466"/>
                  </a:lnTo>
                  <a:lnTo>
                    <a:pt x="214312" y="1316736"/>
                  </a:lnTo>
                  <a:lnTo>
                    <a:pt x="216115" y="1318006"/>
                  </a:lnTo>
                  <a:lnTo>
                    <a:pt x="221526" y="1318006"/>
                  </a:lnTo>
                  <a:lnTo>
                    <a:pt x="225132" y="1315466"/>
                  </a:lnTo>
                  <a:lnTo>
                    <a:pt x="226936" y="1311656"/>
                  </a:lnTo>
                  <a:lnTo>
                    <a:pt x="235953" y="1311656"/>
                  </a:lnTo>
                  <a:lnTo>
                    <a:pt x="239560" y="1315466"/>
                  </a:lnTo>
                  <a:lnTo>
                    <a:pt x="243166" y="1321816"/>
                  </a:lnTo>
                  <a:lnTo>
                    <a:pt x="246773" y="1324356"/>
                  </a:lnTo>
                  <a:lnTo>
                    <a:pt x="248577" y="1321816"/>
                  </a:lnTo>
                  <a:lnTo>
                    <a:pt x="250380" y="1321816"/>
                  </a:lnTo>
                  <a:lnTo>
                    <a:pt x="255790" y="1320546"/>
                  </a:lnTo>
                  <a:lnTo>
                    <a:pt x="261200" y="1321816"/>
                  </a:lnTo>
                  <a:lnTo>
                    <a:pt x="263004" y="1321816"/>
                  </a:lnTo>
                  <a:lnTo>
                    <a:pt x="264807" y="1325626"/>
                  </a:lnTo>
                  <a:lnTo>
                    <a:pt x="264807" y="1326896"/>
                  </a:lnTo>
                  <a:lnTo>
                    <a:pt x="266611" y="1329436"/>
                  </a:lnTo>
                  <a:lnTo>
                    <a:pt x="266611" y="1330706"/>
                  </a:lnTo>
                  <a:lnTo>
                    <a:pt x="268414" y="1333246"/>
                  </a:lnTo>
                  <a:lnTo>
                    <a:pt x="272021" y="1334516"/>
                  </a:lnTo>
                  <a:lnTo>
                    <a:pt x="284657" y="1334516"/>
                  </a:lnTo>
                  <a:lnTo>
                    <a:pt x="286461" y="1337056"/>
                  </a:lnTo>
                  <a:lnTo>
                    <a:pt x="291871" y="1338326"/>
                  </a:lnTo>
                  <a:lnTo>
                    <a:pt x="291871" y="1345692"/>
                  </a:lnTo>
                  <a:lnTo>
                    <a:pt x="260604" y="1345692"/>
                  </a:lnTo>
                  <a:lnTo>
                    <a:pt x="293878" y="1380159"/>
                  </a:lnTo>
                  <a:lnTo>
                    <a:pt x="293712" y="1385316"/>
                  </a:lnTo>
                  <a:lnTo>
                    <a:pt x="293674" y="1386586"/>
                  </a:lnTo>
                  <a:lnTo>
                    <a:pt x="291871" y="1398016"/>
                  </a:lnTo>
                  <a:lnTo>
                    <a:pt x="290068" y="1403096"/>
                  </a:lnTo>
                  <a:lnTo>
                    <a:pt x="286461" y="1410716"/>
                  </a:lnTo>
                  <a:lnTo>
                    <a:pt x="284657" y="1417066"/>
                  </a:lnTo>
                  <a:lnTo>
                    <a:pt x="282854" y="1420876"/>
                  </a:lnTo>
                  <a:lnTo>
                    <a:pt x="282854" y="1428496"/>
                  </a:lnTo>
                  <a:lnTo>
                    <a:pt x="286461" y="1447546"/>
                  </a:lnTo>
                  <a:lnTo>
                    <a:pt x="286461" y="1451356"/>
                  </a:lnTo>
                  <a:lnTo>
                    <a:pt x="290068" y="1452626"/>
                  </a:lnTo>
                  <a:lnTo>
                    <a:pt x="293674" y="1452626"/>
                  </a:lnTo>
                  <a:lnTo>
                    <a:pt x="297281" y="1451356"/>
                  </a:lnTo>
                  <a:lnTo>
                    <a:pt x="299085" y="1447546"/>
                  </a:lnTo>
                  <a:lnTo>
                    <a:pt x="299085" y="1446276"/>
                  </a:lnTo>
                  <a:lnTo>
                    <a:pt x="295478" y="1425956"/>
                  </a:lnTo>
                  <a:lnTo>
                    <a:pt x="295478" y="1424686"/>
                  </a:lnTo>
                  <a:lnTo>
                    <a:pt x="297281" y="1419606"/>
                  </a:lnTo>
                  <a:lnTo>
                    <a:pt x="300888" y="1411986"/>
                  </a:lnTo>
                  <a:lnTo>
                    <a:pt x="302691" y="1406906"/>
                  </a:lnTo>
                  <a:lnTo>
                    <a:pt x="304495" y="1400556"/>
                  </a:lnTo>
                  <a:lnTo>
                    <a:pt x="305498" y="1387856"/>
                  </a:lnTo>
                  <a:lnTo>
                    <a:pt x="305701" y="1378966"/>
                  </a:lnTo>
                  <a:lnTo>
                    <a:pt x="305790" y="1375156"/>
                  </a:lnTo>
                  <a:lnTo>
                    <a:pt x="305841" y="1372616"/>
                  </a:lnTo>
                  <a:close/>
                </a:path>
                <a:path w="368934" h="1461770">
                  <a:moveTo>
                    <a:pt x="326136" y="1108456"/>
                  </a:moveTo>
                  <a:lnTo>
                    <a:pt x="318922" y="1100836"/>
                  </a:lnTo>
                  <a:lnTo>
                    <a:pt x="136753" y="1100836"/>
                  </a:lnTo>
                  <a:lnTo>
                    <a:pt x="129540" y="1108456"/>
                  </a:lnTo>
                  <a:lnTo>
                    <a:pt x="129540" y="1348486"/>
                  </a:lnTo>
                  <a:lnTo>
                    <a:pt x="136753" y="1356106"/>
                  </a:lnTo>
                  <a:lnTo>
                    <a:pt x="149377" y="1356106"/>
                  </a:lnTo>
                  <a:lnTo>
                    <a:pt x="149694" y="1352296"/>
                  </a:lnTo>
                  <a:lnTo>
                    <a:pt x="149796" y="1351026"/>
                  </a:lnTo>
                  <a:lnTo>
                    <a:pt x="149910" y="1349756"/>
                  </a:lnTo>
                  <a:lnTo>
                    <a:pt x="150952" y="1342136"/>
                  </a:lnTo>
                  <a:lnTo>
                    <a:pt x="151180" y="1339596"/>
                  </a:lnTo>
                  <a:lnTo>
                    <a:pt x="151295" y="1338326"/>
                  </a:lnTo>
                  <a:lnTo>
                    <a:pt x="151422" y="1337056"/>
                  </a:lnTo>
                  <a:lnTo>
                    <a:pt x="151536" y="1333246"/>
                  </a:lnTo>
                  <a:lnTo>
                    <a:pt x="151295" y="1330706"/>
                  </a:lnTo>
                  <a:lnTo>
                    <a:pt x="151180" y="1326896"/>
                  </a:lnTo>
                  <a:lnTo>
                    <a:pt x="143967" y="1326896"/>
                  </a:lnTo>
                  <a:lnTo>
                    <a:pt x="143967" y="1121156"/>
                  </a:lnTo>
                  <a:lnTo>
                    <a:pt x="309905" y="1121156"/>
                  </a:lnTo>
                  <a:lnTo>
                    <a:pt x="309905" y="1326896"/>
                  </a:lnTo>
                  <a:lnTo>
                    <a:pt x="313512" y="1334516"/>
                  </a:lnTo>
                  <a:lnTo>
                    <a:pt x="311708" y="1339596"/>
                  </a:lnTo>
                  <a:lnTo>
                    <a:pt x="313512" y="1343406"/>
                  </a:lnTo>
                  <a:lnTo>
                    <a:pt x="313512" y="1354836"/>
                  </a:lnTo>
                  <a:lnTo>
                    <a:pt x="318922" y="1354836"/>
                  </a:lnTo>
                  <a:lnTo>
                    <a:pt x="326136" y="1347216"/>
                  </a:lnTo>
                  <a:lnTo>
                    <a:pt x="326136" y="1121156"/>
                  </a:lnTo>
                  <a:lnTo>
                    <a:pt x="326136" y="1108456"/>
                  </a:lnTo>
                  <a:close/>
                </a:path>
                <a:path w="368934" h="1461770">
                  <a:moveTo>
                    <a:pt x="358444" y="276098"/>
                  </a:moveTo>
                  <a:lnTo>
                    <a:pt x="16573" y="276098"/>
                  </a:lnTo>
                  <a:lnTo>
                    <a:pt x="16573" y="16510"/>
                  </a:lnTo>
                  <a:lnTo>
                    <a:pt x="0" y="16510"/>
                  </a:lnTo>
                  <a:lnTo>
                    <a:pt x="0" y="292608"/>
                  </a:lnTo>
                  <a:lnTo>
                    <a:pt x="358444" y="292608"/>
                  </a:lnTo>
                  <a:lnTo>
                    <a:pt x="358444" y="276098"/>
                  </a:lnTo>
                  <a:close/>
                </a:path>
                <a:path w="368934" h="1461770">
                  <a:moveTo>
                    <a:pt x="362597" y="150368"/>
                  </a:moveTo>
                  <a:lnTo>
                    <a:pt x="351091" y="140081"/>
                  </a:lnTo>
                  <a:lnTo>
                    <a:pt x="321157" y="113284"/>
                  </a:lnTo>
                  <a:lnTo>
                    <a:pt x="321157" y="140081"/>
                  </a:lnTo>
                  <a:lnTo>
                    <a:pt x="248640" y="140081"/>
                  </a:lnTo>
                  <a:lnTo>
                    <a:pt x="201002" y="92710"/>
                  </a:lnTo>
                  <a:lnTo>
                    <a:pt x="186563" y="78359"/>
                  </a:lnTo>
                  <a:lnTo>
                    <a:pt x="184404" y="76200"/>
                  </a:lnTo>
                  <a:lnTo>
                    <a:pt x="184404" y="70104"/>
                  </a:lnTo>
                  <a:lnTo>
                    <a:pt x="182689" y="59817"/>
                  </a:lnTo>
                  <a:lnTo>
                    <a:pt x="182333" y="57658"/>
                  </a:lnTo>
                  <a:lnTo>
                    <a:pt x="178193" y="49403"/>
                  </a:lnTo>
                  <a:lnTo>
                    <a:pt x="169900" y="45339"/>
                  </a:lnTo>
                  <a:lnTo>
                    <a:pt x="167830" y="45008"/>
                  </a:lnTo>
                  <a:lnTo>
                    <a:pt x="167830" y="65913"/>
                  </a:lnTo>
                  <a:lnTo>
                    <a:pt x="167830" y="72136"/>
                  </a:lnTo>
                  <a:lnTo>
                    <a:pt x="165760" y="76200"/>
                  </a:lnTo>
                  <a:lnTo>
                    <a:pt x="161607" y="78359"/>
                  </a:lnTo>
                  <a:lnTo>
                    <a:pt x="155397" y="78359"/>
                  </a:lnTo>
                  <a:lnTo>
                    <a:pt x="151257" y="76200"/>
                  </a:lnTo>
                  <a:lnTo>
                    <a:pt x="149186" y="72136"/>
                  </a:lnTo>
                  <a:lnTo>
                    <a:pt x="149186" y="65913"/>
                  </a:lnTo>
                  <a:lnTo>
                    <a:pt x="151257" y="61849"/>
                  </a:lnTo>
                  <a:lnTo>
                    <a:pt x="155397" y="59817"/>
                  </a:lnTo>
                  <a:lnTo>
                    <a:pt x="161607" y="59817"/>
                  </a:lnTo>
                  <a:lnTo>
                    <a:pt x="165760" y="61849"/>
                  </a:lnTo>
                  <a:lnTo>
                    <a:pt x="167830" y="65913"/>
                  </a:lnTo>
                  <a:lnTo>
                    <a:pt x="167830" y="45008"/>
                  </a:lnTo>
                  <a:lnTo>
                    <a:pt x="132600" y="70104"/>
                  </a:lnTo>
                  <a:lnTo>
                    <a:pt x="132600" y="76200"/>
                  </a:lnTo>
                  <a:lnTo>
                    <a:pt x="134670" y="82423"/>
                  </a:lnTo>
                  <a:lnTo>
                    <a:pt x="58013" y="206121"/>
                  </a:lnTo>
                  <a:lnTo>
                    <a:pt x="55943" y="206121"/>
                  </a:lnTo>
                  <a:lnTo>
                    <a:pt x="45580" y="208153"/>
                  </a:lnTo>
                  <a:lnTo>
                    <a:pt x="37299" y="214249"/>
                  </a:lnTo>
                  <a:lnTo>
                    <a:pt x="31076" y="222504"/>
                  </a:lnTo>
                  <a:lnTo>
                    <a:pt x="29006" y="232791"/>
                  </a:lnTo>
                  <a:lnTo>
                    <a:pt x="31076" y="243205"/>
                  </a:lnTo>
                  <a:lnTo>
                    <a:pt x="37299" y="251333"/>
                  </a:lnTo>
                  <a:lnTo>
                    <a:pt x="45580" y="257556"/>
                  </a:lnTo>
                  <a:lnTo>
                    <a:pt x="55943" y="259588"/>
                  </a:lnTo>
                  <a:lnTo>
                    <a:pt x="66306" y="257556"/>
                  </a:lnTo>
                  <a:lnTo>
                    <a:pt x="74587" y="251333"/>
                  </a:lnTo>
                  <a:lnTo>
                    <a:pt x="80810" y="243205"/>
                  </a:lnTo>
                  <a:lnTo>
                    <a:pt x="82880" y="232791"/>
                  </a:lnTo>
                  <a:lnTo>
                    <a:pt x="80810" y="224663"/>
                  </a:lnTo>
                  <a:lnTo>
                    <a:pt x="76657" y="216408"/>
                  </a:lnTo>
                  <a:lnTo>
                    <a:pt x="153327" y="94742"/>
                  </a:lnTo>
                  <a:lnTo>
                    <a:pt x="165760" y="94742"/>
                  </a:lnTo>
                  <a:lnTo>
                    <a:pt x="169900" y="92710"/>
                  </a:lnTo>
                  <a:lnTo>
                    <a:pt x="236207" y="156591"/>
                  </a:lnTo>
                  <a:lnTo>
                    <a:pt x="238277" y="158623"/>
                  </a:lnTo>
                  <a:lnTo>
                    <a:pt x="244487" y="160782"/>
                  </a:lnTo>
                  <a:lnTo>
                    <a:pt x="321157" y="160782"/>
                  </a:lnTo>
                  <a:lnTo>
                    <a:pt x="321157" y="187579"/>
                  </a:lnTo>
                  <a:lnTo>
                    <a:pt x="362597" y="150368"/>
                  </a:lnTo>
                  <a:close/>
                </a:path>
                <a:path w="368934" h="1461770">
                  <a:moveTo>
                    <a:pt x="368808" y="26797"/>
                  </a:moveTo>
                  <a:lnTo>
                    <a:pt x="366737" y="16510"/>
                  </a:lnTo>
                  <a:lnTo>
                    <a:pt x="360514" y="8255"/>
                  </a:lnTo>
                  <a:lnTo>
                    <a:pt x="352234" y="2032"/>
                  </a:lnTo>
                  <a:lnTo>
                    <a:pt x="341871" y="0"/>
                  </a:lnTo>
                  <a:lnTo>
                    <a:pt x="331508" y="2032"/>
                  </a:lnTo>
                  <a:lnTo>
                    <a:pt x="323227" y="8255"/>
                  </a:lnTo>
                  <a:lnTo>
                    <a:pt x="317004" y="16510"/>
                  </a:lnTo>
                  <a:lnTo>
                    <a:pt x="314934" y="26797"/>
                  </a:lnTo>
                  <a:lnTo>
                    <a:pt x="238277" y="51562"/>
                  </a:lnTo>
                  <a:lnTo>
                    <a:pt x="236207" y="51562"/>
                  </a:lnTo>
                  <a:lnTo>
                    <a:pt x="232054" y="53594"/>
                  </a:lnTo>
                  <a:lnTo>
                    <a:pt x="229984" y="57658"/>
                  </a:lnTo>
                  <a:lnTo>
                    <a:pt x="209270" y="88646"/>
                  </a:lnTo>
                  <a:lnTo>
                    <a:pt x="223774" y="102997"/>
                  </a:lnTo>
                  <a:lnTo>
                    <a:pt x="246557" y="70104"/>
                  </a:lnTo>
                  <a:lnTo>
                    <a:pt x="323227" y="45339"/>
                  </a:lnTo>
                  <a:lnTo>
                    <a:pt x="331508" y="51562"/>
                  </a:lnTo>
                  <a:lnTo>
                    <a:pt x="341871" y="53594"/>
                  </a:lnTo>
                  <a:lnTo>
                    <a:pt x="352234" y="51562"/>
                  </a:lnTo>
                  <a:lnTo>
                    <a:pt x="360514" y="45339"/>
                  </a:lnTo>
                  <a:lnTo>
                    <a:pt x="366737" y="37084"/>
                  </a:lnTo>
                  <a:lnTo>
                    <a:pt x="368808" y="2679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66115" y="4145280"/>
              <a:ext cx="1578610" cy="1153795"/>
            </a:xfrm>
            <a:custGeom>
              <a:avLst/>
              <a:gdLst/>
              <a:ahLst/>
              <a:cxnLst/>
              <a:rect l="l" t="t" r="r" b="b"/>
              <a:pathLst>
                <a:path w="1578610" h="1153795">
                  <a:moveTo>
                    <a:pt x="1578483" y="0"/>
                  </a:moveTo>
                  <a:lnTo>
                    <a:pt x="0" y="0"/>
                  </a:lnTo>
                  <a:lnTo>
                    <a:pt x="0" y="1153668"/>
                  </a:lnTo>
                  <a:lnTo>
                    <a:pt x="1578483" y="1153668"/>
                  </a:lnTo>
                  <a:lnTo>
                    <a:pt x="1578483" y="0"/>
                  </a:lnTo>
                  <a:close/>
                </a:path>
              </a:pathLst>
            </a:custGeom>
            <a:solidFill>
              <a:srgbClr val="D9395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742188" y="4401312"/>
              <a:ext cx="327660" cy="260985"/>
            </a:xfrm>
            <a:custGeom>
              <a:avLst/>
              <a:gdLst/>
              <a:ahLst/>
              <a:cxnLst/>
              <a:rect l="l" t="t" r="r" b="b"/>
              <a:pathLst>
                <a:path w="327659" h="260985">
                  <a:moveTo>
                    <a:pt x="312928" y="0"/>
                  </a:moveTo>
                  <a:lnTo>
                    <a:pt x="14732" y="0"/>
                  </a:lnTo>
                  <a:lnTo>
                    <a:pt x="9207" y="2159"/>
                  </a:lnTo>
                  <a:lnTo>
                    <a:pt x="3682" y="4190"/>
                  </a:lnTo>
                  <a:lnTo>
                    <a:pt x="1841" y="10540"/>
                  </a:lnTo>
                  <a:lnTo>
                    <a:pt x="0" y="16763"/>
                  </a:lnTo>
                  <a:lnTo>
                    <a:pt x="0" y="243789"/>
                  </a:lnTo>
                  <a:lnTo>
                    <a:pt x="3682" y="256400"/>
                  </a:lnTo>
                  <a:lnTo>
                    <a:pt x="14732" y="260603"/>
                  </a:lnTo>
                  <a:lnTo>
                    <a:pt x="312928" y="260603"/>
                  </a:lnTo>
                  <a:lnTo>
                    <a:pt x="323977" y="256400"/>
                  </a:lnTo>
                  <a:lnTo>
                    <a:pt x="327659" y="243789"/>
                  </a:lnTo>
                  <a:lnTo>
                    <a:pt x="23926" y="243789"/>
                  </a:lnTo>
                  <a:lnTo>
                    <a:pt x="23926" y="197548"/>
                  </a:lnTo>
                  <a:lnTo>
                    <a:pt x="82829" y="197548"/>
                  </a:lnTo>
                  <a:lnTo>
                    <a:pt x="82829" y="189153"/>
                  </a:lnTo>
                  <a:lnTo>
                    <a:pt x="18402" y="189153"/>
                  </a:lnTo>
                  <a:lnTo>
                    <a:pt x="11049" y="184950"/>
                  </a:lnTo>
                  <a:lnTo>
                    <a:pt x="9207" y="180746"/>
                  </a:lnTo>
                  <a:lnTo>
                    <a:pt x="9207" y="174434"/>
                  </a:lnTo>
                  <a:lnTo>
                    <a:pt x="11049" y="170230"/>
                  </a:lnTo>
                  <a:lnTo>
                    <a:pt x="14732" y="168135"/>
                  </a:lnTo>
                  <a:lnTo>
                    <a:pt x="82829" y="168135"/>
                  </a:lnTo>
                  <a:lnTo>
                    <a:pt x="82829" y="159727"/>
                  </a:lnTo>
                  <a:lnTo>
                    <a:pt x="23926" y="159727"/>
                  </a:lnTo>
                  <a:lnTo>
                    <a:pt x="23926" y="16763"/>
                  </a:lnTo>
                  <a:lnTo>
                    <a:pt x="327659" y="16763"/>
                  </a:lnTo>
                  <a:lnTo>
                    <a:pt x="325818" y="10540"/>
                  </a:lnTo>
                  <a:lnTo>
                    <a:pt x="323977" y="4190"/>
                  </a:lnTo>
                  <a:lnTo>
                    <a:pt x="318452" y="2159"/>
                  </a:lnTo>
                  <a:lnTo>
                    <a:pt x="312928" y="0"/>
                  </a:lnTo>
                  <a:close/>
                </a:path>
                <a:path w="327659" h="260985">
                  <a:moveTo>
                    <a:pt x="82829" y="197548"/>
                  </a:moveTo>
                  <a:lnTo>
                    <a:pt x="38658" y="197548"/>
                  </a:lnTo>
                  <a:lnTo>
                    <a:pt x="38658" y="243789"/>
                  </a:lnTo>
                  <a:lnTo>
                    <a:pt x="82829" y="243789"/>
                  </a:lnTo>
                  <a:lnTo>
                    <a:pt x="82829" y="197548"/>
                  </a:lnTo>
                  <a:close/>
                </a:path>
                <a:path w="327659" h="260985">
                  <a:moveTo>
                    <a:pt x="198805" y="16763"/>
                  </a:moveTo>
                  <a:lnTo>
                    <a:pt x="154622" y="16763"/>
                  </a:lnTo>
                  <a:lnTo>
                    <a:pt x="154622" y="111391"/>
                  </a:lnTo>
                  <a:lnTo>
                    <a:pt x="97561" y="111391"/>
                  </a:lnTo>
                  <a:lnTo>
                    <a:pt x="97561" y="243789"/>
                  </a:lnTo>
                  <a:lnTo>
                    <a:pt x="139903" y="243789"/>
                  </a:lnTo>
                  <a:lnTo>
                    <a:pt x="139903" y="149212"/>
                  </a:lnTo>
                  <a:lnTo>
                    <a:pt x="198805" y="149212"/>
                  </a:lnTo>
                  <a:lnTo>
                    <a:pt x="198805" y="140804"/>
                  </a:lnTo>
                  <a:lnTo>
                    <a:pt x="130695" y="140804"/>
                  </a:lnTo>
                  <a:lnTo>
                    <a:pt x="127012" y="138709"/>
                  </a:lnTo>
                  <a:lnTo>
                    <a:pt x="125171" y="134505"/>
                  </a:lnTo>
                  <a:lnTo>
                    <a:pt x="125171" y="126098"/>
                  </a:lnTo>
                  <a:lnTo>
                    <a:pt x="127012" y="121894"/>
                  </a:lnTo>
                  <a:lnTo>
                    <a:pt x="130695" y="119799"/>
                  </a:lnTo>
                  <a:lnTo>
                    <a:pt x="198805" y="119799"/>
                  </a:lnTo>
                  <a:lnTo>
                    <a:pt x="198805" y="79857"/>
                  </a:lnTo>
                  <a:lnTo>
                    <a:pt x="327659" y="79857"/>
                  </a:lnTo>
                  <a:lnTo>
                    <a:pt x="327659" y="71450"/>
                  </a:lnTo>
                  <a:lnTo>
                    <a:pt x="187756" y="71450"/>
                  </a:lnTo>
                  <a:lnTo>
                    <a:pt x="185915" y="69354"/>
                  </a:lnTo>
                  <a:lnTo>
                    <a:pt x="182232" y="60947"/>
                  </a:lnTo>
                  <a:lnTo>
                    <a:pt x="184073" y="56743"/>
                  </a:lnTo>
                  <a:lnTo>
                    <a:pt x="187756" y="52539"/>
                  </a:lnTo>
                  <a:lnTo>
                    <a:pt x="191439" y="50444"/>
                  </a:lnTo>
                  <a:lnTo>
                    <a:pt x="327659" y="50444"/>
                  </a:lnTo>
                  <a:lnTo>
                    <a:pt x="327659" y="42037"/>
                  </a:lnTo>
                  <a:lnTo>
                    <a:pt x="198805" y="42037"/>
                  </a:lnTo>
                  <a:lnTo>
                    <a:pt x="198805" y="16763"/>
                  </a:lnTo>
                  <a:close/>
                </a:path>
                <a:path w="327659" h="260985">
                  <a:moveTo>
                    <a:pt x="198805" y="149212"/>
                  </a:moveTo>
                  <a:lnTo>
                    <a:pt x="154622" y="149212"/>
                  </a:lnTo>
                  <a:lnTo>
                    <a:pt x="154622" y="243789"/>
                  </a:lnTo>
                  <a:lnTo>
                    <a:pt x="198805" y="243789"/>
                  </a:lnTo>
                  <a:lnTo>
                    <a:pt x="198805" y="149212"/>
                  </a:lnTo>
                  <a:close/>
                </a:path>
                <a:path w="327659" h="260985">
                  <a:moveTo>
                    <a:pt x="327659" y="79857"/>
                  </a:moveTo>
                  <a:lnTo>
                    <a:pt x="213525" y="79857"/>
                  </a:lnTo>
                  <a:lnTo>
                    <a:pt x="213525" y="243789"/>
                  </a:lnTo>
                  <a:lnTo>
                    <a:pt x="327659" y="243789"/>
                  </a:lnTo>
                  <a:lnTo>
                    <a:pt x="327659" y="166027"/>
                  </a:lnTo>
                  <a:lnTo>
                    <a:pt x="255866" y="166027"/>
                  </a:lnTo>
                  <a:lnTo>
                    <a:pt x="255866" y="94576"/>
                  </a:lnTo>
                  <a:lnTo>
                    <a:pt x="327659" y="94576"/>
                  </a:lnTo>
                  <a:lnTo>
                    <a:pt x="327659" y="79857"/>
                  </a:lnTo>
                  <a:close/>
                </a:path>
                <a:path w="327659" h="260985">
                  <a:moveTo>
                    <a:pt x="82829" y="168135"/>
                  </a:moveTo>
                  <a:lnTo>
                    <a:pt x="49695" y="168135"/>
                  </a:lnTo>
                  <a:lnTo>
                    <a:pt x="55219" y="174434"/>
                  </a:lnTo>
                  <a:lnTo>
                    <a:pt x="55219" y="180746"/>
                  </a:lnTo>
                  <a:lnTo>
                    <a:pt x="49695" y="187045"/>
                  </a:lnTo>
                  <a:lnTo>
                    <a:pt x="46024" y="189153"/>
                  </a:lnTo>
                  <a:lnTo>
                    <a:pt x="82829" y="189153"/>
                  </a:lnTo>
                  <a:lnTo>
                    <a:pt x="82829" y="168135"/>
                  </a:lnTo>
                  <a:close/>
                </a:path>
                <a:path w="327659" h="260985">
                  <a:moveTo>
                    <a:pt x="327659" y="94576"/>
                  </a:moveTo>
                  <a:lnTo>
                    <a:pt x="255866" y="94576"/>
                  </a:lnTo>
                  <a:lnTo>
                    <a:pt x="301891" y="130301"/>
                  </a:lnTo>
                  <a:lnTo>
                    <a:pt x="255866" y="166027"/>
                  </a:lnTo>
                  <a:lnTo>
                    <a:pt x="327659" y="166027"/>
                  </a:lnTo>
                  <a:lnTo>
                    <a:pt x="327659" y="94576"/>
                  </a:lnTo>
                  <a:close/>
                </a:path>
                <a:path w="327659" h="260985">
                  <a:moveTo>
                    <a:pt x="82829" y="16763"/>
                  </a:moveTo>
                  <a:lnTo>
                    <a:pt x="38658" y="16763"/>
                  </a:lnTo>
                  <a:lnTo>
                    <a:pt x="38658" y="159727"/>
                  </a:lnTo>
                  <a:lnTo>
                    <a:pt x="82829" y="159727"/>
                  </a:lnTo>
                  <a:lnTo>
                    <a:pt x="82829" y="111391"/>
                  </a:lnTo>
                  <a:lnTo>
                    <a:pt x="139903" y="111391"/>
                  </a:lnTo>
                  <a:lnTo>
                    <a:pt x="139903" y="102984"/>
                  </a:lnTo>
                  <a:lnTo>
                    <a:pt x="71793" y="102984"/>
                  </a:lnTo>
                  <a:lnTo>
                    <a:pt x="69951" y="100876"/>
                  </a:lnTo>
                  <a:lnTo>
                    <a:pt x="66268" y="92468"/>
                  </a:lnTo>
                  <a:lnTo>
                    <a:pt x="68110" y="90373"/>
                  </a:lnTo>
                  <a:lnTo>
                    <a:pt x="69951" y="86169"/>
                  </a:lnTo>
                  <a:lnTo>
                    <a:pt x="71793" y="84061"/>
                  </a:lnTo>
                  <a:lnTo>
                    <a:pt x="75476" y="81965"/>
                  </a:lnTo>
                  <a:lnTo>
                    <a:pt x="139903" y="81965"/>
                  </a:lnTo>
                  <a:lnTo>
                    <a:pt x="139903" y="73558"/>
                  </a:lnTo>
                  <a:lnTo>
                    <a:pt x="82829" y="73558"/>
                  </a:lnTo>
                  <a:lnTo>
                    <a:pt x="82829" y="16763"/>
                  </a:lnTo>
                  <a:close/>
                </a:path>
                <a:path w="327659" h="260985">
                  <a:moveTo>
                    <a:pt x="198805" y="119799"/>
                  </a:moveTo>
                  <a:lnTo>
                    <a:pt x="165671" y="119799"/>
                  </a:lnTo>
                  <a:lnTo>
                    <a:pt x="171196" y="126098"/>
                  </a:lnTo>
                  <a:lnTo>
                    <a:pt x="171196" y="134505"/>
                  </a:lnTo>
                  <a:lnTo>
                    <a:pt x="165671" y="140804"/>
                  </a:lnTo>
                  <a:lnTo>
                    <a:pt x="198805" y="140804"/>
                  </a:lnTo>
                  <a:lnTo>
                    <a:pt x="198805" y="119799"/>
                  </a:lnTo>
                  <a:close/>
                </a:path>
                <a:path w="327659" h="260985">
                  <a:moveTo>
                    <a:pt x="139903" y="81965"/>
                  </a:moveTo>
                  <a:lnTo>
                    <a:pt x="103085" y="81965"/>
                  </a:lnTo>
                  <a:lnTo>
                    <a:pt x="110451" y="86169"/>
                  </a:lnTo>
                  <a:lnTo>
                    <a:pt x="112293" y="90373"/>
                  </a:lnTo>
                  <a:lnTo>
                    <a:pt x="112293" y="96672"/>
                  </a:lnTo>
                  <a:lnTo>
                    <a:pt x="110451" y="100876"/>
                  </a:lnTo>
                  <a:lnTo>
                    <a:pt x="106768" y="102984"/>
                  </a:lnTo>
                  <a:lnTo>
                    <a:pt x="139903" y="102984"/>
                  </a:lnTo>
                  <a:lnTo>
                    <a:pt x="139903" y="81965"/>
                  </a:lnTo>
                  <a:close/>
                </a:path>
                <a:path w="327659" h="260985">
                  <a:moveTo>
                    <a:pt x="139903" y="16763"/>
                  </a:moveTo>
                  <a:lnTo>
                    <a:pt x="97561" y="16763"/>
                  </a:lnTo>
                  <a:lnTo>
                    <a:pt x="97561" y="73558"/>
                  </a:lnTo>
                  <a:lnTo>
                    <a:pt x="139903" y="73558"/>
                  </a:lnTo>
                  <a:lnTo>
                    <a:pt x="139903" y="16763"/>
                  </a:lnTo>
                  <a:close/>
                </a:path>
                <a:path w="327659" h="260985">
                  <a:moveTo>
                    <a:pt x="327659" y="50444"/>
                  </a:moveTo>
                  <a:lnTo>
                    <a:pt x="219049" y="50444"/>
                  </a:lnTo>
                  <a:lnTo>
                    <a:pt x="226415" y="54648"/>
                  </a:lnTo>
                  <a:lnTo>
                    <a:pt x="228257" y="56743"/>
                  </a:lnTo>
                  <a:lnTo>
                    <a:pt x="228257" y="65150"/>
                  </a:lnTo>
                  <a:lnTo>
                    <a:pt x="226415" y="69354"/>
                  </a:lnTo>
                  <a:lnTo>
                    <a:pt x="222732" y="71450"/>
                  </a:lnTo>
                  <a:lnTo>
                    <a:pt x="327659" y="71450"/>
                  </a:lnTo>
                  <a:lnTo>
                    <a:pt x="327659" y="50444"/>
                  </a:lnTo>
                  <a:close/>
                </a:path>
                <a:path w="327659" h="260985">
                  <a:moveTo>
                    <a:pt x="327659" y="16763"/>
                  </a:moveTo>
                  <a:lnTo>
                    <a:pt x="213525" y="16763"/>
                  </a:lnTo>
                  <a:lnTo>
                    <a:pt x="213525" y="42037"/>
                  </a:lnTo>
                  <a:lnTo>
                    <a:pt x="327659" y="42037"/>
                  </a:lnTo>
                  <a:lnTo>
                    <a:pt x="327659" y="167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8284" y="3313175"/>
              <a:ext cx="100584" cy="91440"/>
            </a:xfrm>
            <a:prstGeom prst="rect">
              <a:avLst/>
            </a:prstGeom>
          </p:spPr>
        </p:pic>
      </p:grpSp>
      <p:sp>
        <p:nvSpPr>
          <p:cNvPr id="19" name="object 19" descr=""/>
          <p:cNvSpPr txBox="1"/>
          <p:nvPr/>
        </p:nvSpPr>
        <p:spPr>
          <a:xfrm>
            <a:off x="1807210" y="4191127"/>
            <a:ext cx="8174990" cy="13093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635" marR="30480" indent="-9017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128905" algn="l"/>
              </a:tabLst>
            </a:pPr>
            <a:r>
              <a:rPr dirty="0" sz="950" b="1">
                <a:latin typeface="Arial"/>
                <a:cs typeface="Arial"/>
              </a:rPr>
              <a:t>Meter</a:t>
            </a:r>
            <a:r>
              <a:rPr dirty="0" sz="950" spc="-2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prices</a:t>
            </a:r>
            <a:r>
              <a:rPr dirty="0" sz="950" spc="-1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reviewed</a:t>
            </a:r>
            <a:r>
              <a:rPr dirty="0" sz="950" spc="-3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upwards</a:t>
            </a:r>
            <a:r>
              <a:rPr dirty="0" sz="950" spc="-4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by</a:t>
            </a:r>
            <a:r>
              <a:rPr dirty="0" sz="950" spc="-1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the</a:t>
            </a:r>
            <a:r>
              <a:rPr dirty="0" sz="950" spc="-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National</a:t>
            </a:r>
            <a:r>
              <a:rPr dirty="0" sz="950" spc="-1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Electricity</a:t>
            </a:r>
            <a:r>
              <a:rPr dirty="0" sz="950" spc="-1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Regulatory</a:t>
            </a:r>
            <a:r>
              <a:rPr dirty="0" sz="950" spc="-1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Commission</a:t>
            </a:r>
            <a:r>
              <a:rPr dirty="0" sz="950" spc="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(NERC).</a:t>
            </a:r>
            <a:r>
              <a:rPr dirty="0" sz="950" spc="30" b="1">
                <a:latin typeface="Arial"/>
                <a:cs typeface="Arial"/>
              </a:rPr>
              <a:t> </a:t>
            </a:r>
            <a:r>
              <a:rPr dirty="0" sz="950">
                <a:latin typeface="Arial MT"/>
                <a:cs typeface="Arial MT"/>
              </a:rPr>
              <a:t>The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price</a:t>
            </a:r>
            <a:r>
              <a:rPr dirty="0" sz="950" spc="-1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of </a:t>
            </a:r>
            <a:r>
              <a:rPr dirty="0" sz="950" spc="-10">
                <a:latin typeface="Arial MT"/>
                <a:cs typeface="Arial MT"/>
              </a:rPr>
              <a:t>single-</a:t>
            </a:r>
            <a:r>
              <a:rPr dirty="0" sz="950">
                <a:latin typeface="Arial MT"/>
                <a:cs typeface="Arial MT"/>
              </a:rPr>
              <a:t>phase</a:t>
            </a:r>
            <a:r>
              <a:rPr dirty="0" sz="950" spc="-5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and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 spc="-10">
                <a:latin typeface="Arial MT"/>
                <a:cs typeface="Arial MT"/>
              </a:rPr>
              <a:t>three-</a:t>
            </a:r>
            <a:r>
              <a:rPr dirty="0" sz="950">
                <a:latin typeface="Arial MT"/>
                <a:cs typeface="Arial MT"/>
              </a:rPr>
              <a:t>phase</a:t>
            </a:r>
            <a:r>
              <a:rPr dirty="0" sz="950" spc="-25">
                <a:latin typeface="Arial MT"/>
                <a:cs typeface="Arial MT"/>
              </a:rPr>
              <a:t> </a:t>
            </a:r>
            <a:r>
              <a:rPr dirty="0" sz="950" spc="-10">
                <a:latin typeface="Arial MT"/>
                <a:cs typeface="Arial MT"/>
              </a:rPr>
              <a:t>meters </a:t>
            </a:r>
            <a:r>
              <a:rPr dirty="0" sz="950" spc="-10">
                <a:latin typeface="Arial MT"/>
                <a:cs typeface="Arial MT"/>
              </a:rPr>
              <a:t>	</a:t>
            </a:r>
            <a:r>
              <a:rPr dirty="0" sz="950">
                <a:latin typeface="Arial MT"/>
                <a:cs typeface="Arial MT"/>
              </a:rPr>
              <a:t>were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raised</a:t>
            </a:r>
            <a:r>
              <a:rPr dirty="0" sz="950" spc="-2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by</a:t>
            </a:r>
            <a:r>
              <a:rPr dirty="0" sz="950" spc="-1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39.7%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and</a:t>
            </a:r>
            <a:r>
              <a:rPr dirty="0" sz="950" spc="-1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31.1%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respectively.</a:t>
            </a:r>
            <a:r>
              <a:rPr dirty="0" sz="950" spc="-1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The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increase</a:t>
            </a:r>
            <a:r>
              <a:rPr dirty="0" sz="950" spc="-3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is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aimed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at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ensuring</a:t>
            </a:r>
            <a:r>
              <a:rPr dirty="0" sz="950" spc="-2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balance</a:t>
            </a:r>
            <a:r>
              <a:rPr dirty="0" sz="950" spc="-2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between</a:t>
            </a:r>
            <a:r>
              <a:rPr dirty="0" sz="950" spc="-3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reasonable</a:t>
            </a:r>
            <a:r>
              <a:rPr dirty="0" sz="950" spc="-2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cost</a:t>
            </a:r>
            <a:r>
              <a:rPr dirty="0" sz="950" spc="-1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recovery</a:t>
            </a:r>
            <a:r>
              <a:rPr dirty="0" sz="950" spc="-1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for</a:t>
            </a:r>
            <a:r>
              <a:rPr dirty="0" sz="950" spc="-3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Meter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Asset</a:t>
            </a:r>
            <a:r>
              <a:rPr dirty="0" sz="950" spc="-15">
                <a:latin typeface="Arial MT"/>
                <a:cs typeface="Arial MT"/>
              </a:rPr>
              <a:t> </a:t>
            </a:r>
            <a:r>
              <a:rPr dirty="0" sz="950" spc="-10">
                <a:latin typeface="Arial MT"/>
                <a:cs typeface="Arial MT"/>
              </a:rPr>
              <a:t>Providers </a:t>
            </a:r>
            <a:r>
              <a:rPr dirty="0" sz="950" spc="-10">
                <a:latin typeface="Arial MT"/>
                <a:cs typeface="Arial MT"/>
              </a:rPr>
              <a:t>	</a:t>
            </a:r>
            <a:r>
              <a:rPr dirty="0" sz="950">
                <a:latin typeface="Arial MT"/>
                <a:cs typeface="Arial MT"/>
              </a:rPr>
              <a:t>(MAPs)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and affordable</a:t>
            </a:r>
            <a:r>
              <a:rPr dirty="0" sz="950" spc="-5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pricing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for</a:t>
            </a:r>
            <a:r>
              <a:rPr dirty="0" sz="950" spc="-3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consumers,</a:t>
            </a:r>
            <a:r>
              <a:rPr dirty="0" sz="950" spc="-3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ensuring</a:t>
            </a:r>
            <a:r>
              <a:rPr dirty="0" sz="950" spc="-2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sustainable</a:t>
            </a:r>
            <a:r>
              <a:rPr dirty="0" sz="950" spc="-4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meter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 spc="-10">
                <a:latin typeface="Arial MT"/>
                <a:cs typeface="Arial MT"/>
              </a:rPr>
              <a:t>provision</a:t>
            </a:r>
            <a:endParaRPr sz="950">
              <a:latin typeface="Arial MT"/>
              <a:cs typeface="Arial MT"/>
            </a:endParaRPr>
          </a:p>
          <a:p>
            <a:pPr marL="128270" indent="-90170">
              <a:lnSpc>
                <a:spcPct val="100000"/>
              </a:lnSpc>
              <a:buFont typeface="Arial MT"/>
              <a:buChar char="•"/>
              <a:tabLst>
                <a:tab pos="128270" algn="l"/>
              </a:tabLst>
            </a:pPr>
            <a:r>
              <a:rPr dirty="0" sz="950" b="1">
                <a:latin typeface="Arial"/>
                <a:cs typeface="Arial"/>
              </a:rPr>
              <a:t>Implementation</a:t>
            </a:r>
            <a:r>
              <a:rPr dirty="0" sz="950" spc="-1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of</a:t>
            </a:r>
            <a:r>
              <a:rPr dirty="0" sz="950" spc="-2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the</a:t>
            </a:r>
            <a:r>
              <a:rPr dirty="0" sz="950" spc="-1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Finance</a:t>
            </a:r>
            <a:r>
              <a:rPr dirty="0" sz="950" spc="-3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Act</a:t>
            </a:r>
            <a:r>
              <a:rPr dirty="0" sz="950" spc="1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2023</a:t>
            </a:r>
            <a:r>
              <a:rPr dirty="0" sz="950" spc="-2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from September</a:t>
            </a:r>
            <a:r>
              <a:rPr dirty="0" sz="950" spc="-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1</a:t>
            </a:r>
            <a:r>
              <a:rPr dirty="0" baseline="27777" sz="900" b="1">
                <a:latin typeface="Arial"/>
                <a:cs typeface="Arial"/>
              </a:rPr>
              <a:t>st</a:t>
            </a:r>
            <a:r>
              <a:rPr dirty="0" sz="950" b="1">
                <a:latin typeface="Arial"/>
                <a:cs typeface="Arial"/>
              </a:rPr>
              <a:t>,</a:t>
            </a:r>
            <a:r>
              <a:rPr dirty="0" sz="950" spc="-1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2023.</a:t>
            </a:r>
            <a:r>
              <a:rPr dirty="0" sz="950" spc="-30" b="1">
                <a:latin typeface="Arial"/>
                <a:cs typeface="Arial"/>
              </a:rPr>
              <a:t> </a:t>
            </a:r>
            <a:r>
              <a:rPr dirty="0" sz="950">
                <a:latin typeface="Arial MT"/>
                <a:cs typeface="Arial MT"/>
              </a:rPr>
              <a:t>The</a:t>
            </a:r>
            <a:r>
              <a:rPr dirty="0" sz="950" spc="-1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Act</a:t>
            </a:r>
            <a:r>
              <a:rPr dirty="0" sz="950" spc="-2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introduces</a:t>
            </a:r>
            <a:r>
              <a:rPr dirty="0" sz="950" spc="-3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key</a:t>
            </a:r>
            <a:r>
              <a:rPr dirty="0" sz="950" spc="-2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reforms</a:t>
            </a:r>
            <a:r>
              <a:rPr dirty="0" sz="950" spc="-2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for</a:t>
            </a:r>
            <a:r>
              <a:rPr dirty="0" sz="950" spc="-3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expansion</a:t>
            </a:r>
            <a:r>
              <a:rPr dirty="0" sz="950" spc="-3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of</a:t>
            </a:r>
            <a:r>
              <a:rPr dirty="0" sz="950" spc="-2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the</a:t>
            </a:r>
            <a:r>
              <a:rPr dirty="0" sz="950" spc="-2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tax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 spc="-10">
                <a:latin typeface="Arial MT"/>
                <a:cs typeface="Arial MT"/>
              </a:rPr>
              <a:t>base:</a:t>
            </a:r>
            <a:endParaRPr sz="950">
              <a:latin typeface="Arial MT"/>
              <a:cs typeface="Arial MT"/>
            </a:endParaRPr>
          </a:p>
          <a:p>
            <a:pPr marL="127635" marR="137160" indent="-90170">
              <a:lnSpc>
                <a:spcPct val="100000"/>
              </a:lnSpc>
              <a:buChar char="•"/>
              <a:tabLst>
                <a:tab pos="128905" algn="l"/>
              </a:tabLst>
            </a:pPr>
            <a:r>
              <a:rPr dirty="0" sz="950">
                <a:latin typeface="Arial MT"/>
                <a:cs typeface="Arial MT"/>
              </a:rPr>
              <a:t>VAT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withholding</a:t>
            </a:r>
            <a:r>
              <a:rPr dirty="0" sz="950" spc="-2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and</a:t>
            </a:r>
            <a:r>
              <a:rPr dirty="0" sz="950" spc="-1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collection:</a:t>
            </a:r>
            <a:r>
              <a:rPr dirty="0" sz="950" spc="-3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VAT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must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be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remitted</a:t>
            </a:r>
            <a:r>
              <a:rPr dirty="0" sz="950" spc="-1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by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appointed</a:t>
            </a:r>
            <a:r>
              <a:rPr dirty="0" sz="950" spc="-3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persons</a:t>
            </a:r>
            <a:r>
              <a:rPr dirty="0" sz="950" spc="-2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to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the</a:t>
            </a:r>
            <a:r>
              <a:rPr dirty="0" sz="950" spc="-2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FIRS no</a:t>
            </a:r>
            <a:r>
              <a:rPr dirty="0" sz="950" spc="-1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later</a:t>
            </a:r>
            <a:r>
              <a:rPr dirty="0" sz="950" spc="-1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than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the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14th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of</a:t>
            </a:r>
            <a:r>
              <a:rPr dirty="0" sz="950" spc="-2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the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month following</a:t>
            </a:r>
            <a:r>
              <a:rPr dirty="0" sz="950" spc="-4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collection</a:t>
            </a:r>
            <a:r>
              <a:rPr dirty="0" sz="950" spc="-35">
                <a:latin typeface="Arial MT"/>
                <a:cs typeface="Arial MT"/>
              </a:rPr>
              <a:t> </a:t>
            </a:r>
            <a:r>
              <a:rPr dirty="0" sz="950" spc="-10">
                <a:latin typeface="Arial MT"/>
                <a:cs typeface="Arial MT"/>
              </a:rPr>
              <a:t>(e.g., </a:t>
            </a:r>
            <a:r>
              <a:rPr dirty="0" sz="950" spc="-10">
                <a:latin typeface="Arial MT"/>
                <a:cs typeface="Arial MT"/>
              </a:rPr>
              <a:t>	</a:t>
            </a:r>
            <a:r>
              <a:rPr dirty="0" sz="950">
                <a:latin typeface="Arial MT"/>
                <a:cs typeface="Arial MT"/>
              </a:rPr>
              <a:t>VAT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collected</a:t>
            </a:r>
            <a:r>
              <a:rPr dirty="0" sz="950" spc="-4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in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August</a:t>
            </a:r>
            <a:r>
              <a:rPr dirty="0" sz="950" spc="-2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2023</a:t>
            </a:r>
            <a:r>
              <a:rPr dirty="0" sz="950" spc="-1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should</a:t>
            </a:r>
            <a:r>
              <a:rPr dirty="0" sz="950" spc="-3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be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remitted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by</a:t>
            </a:r>
            <a:r>
              <a:rPr dirty="0" sz="950" spc="-1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September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14,</a:t>
            </a:r>
            <a:r>
              <a:rPr dirty="0" sz="950" spc="-20">
                <a:latin typeface="Arial MT"/>
                <a:cs typeface="Arial MT"/>
              </a:rPr>
              <a:t> </a:t>
            </a:r>
            <a:r>
              <a:rPr dirty="0" sz="950" spc="-10">
                <a:latin typeface="Arial MT"/>
                <a:cs typeface="Arial MT"/>
              </a:rPr>
              <a:t>2023)</a:t>
            </a:r>
            <a:endParaRPr sz="950">
              <a:latin typeface="Arial MT"/>
              <a:cs typeface="Arial MT"/>
            </a:endParaRPr>
          </a:p>
          <a:p>
            <a:pPr marL="128270" indent="-90170">
              <a:lnSpc>
                <a:spcPts val="1130"/>
              </a:lnSpc>
              <a:buChar char="•"/>
              <a:tabLst>
                <a:tab pos="128270" algn="l"/>
              </a:tabLst>
            </a:pPr>
            <a:r>
              <a:rPr dirty="0" sz="950">
                <a:latin typeface="Arial MT"/>
                <a:cs typeface="Arial MT"/>
              </a:rPr>
              <a:t>Revised</a:t>
            </a:r>
            <a:r>
              <a:rPr dirty="0" sz="950" spc="-1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building</a:t>
            </a:r>
            <a:r>
              <a:rPr dirty="0" sz="950" spc="-2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definition:</a:t>
            </a:r>
            <a:r>
              <a:rPr dirty="0" sz="950" spc="-5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Certain</a:t>
            </a:r>
            <a:r>
              <a:rPr dirty="0" sz="950" spc="-1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structures</a:t>
            </a:r>
            <a:r>
              <a:rPr dirty="0" sz="950" spc="-3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like</a:t>
            </a:r>
            <a:r>
              <a:rPr dirty="0" sz="950" spc="-1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masts,</a:t>
            </a:r>
            <a:r>
              <a:rPr dirty="0" sz="950" spc="-2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transmission</a:t>
            </a:r>
            <a:r>
              <a:rPr dirty="0" sz="950" spc="-2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lines,</a:t>
            </a:r>
            <a:r>
              <a:rPr dirty="0" sz="950" spc="-3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caravans,</a:t>
            </a:r>
            <a:r>
              <a:rPr dirty="0" sz="950" spc="-2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and</a:t>
            </a:r>
            <a:r>
              <a:rPr dirty="0" sz="950" spc="-1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trailers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are</a:t>
            </a:r>
            <a:r>
              <a:rPr dirty="0" sz="950" spc="-2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no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longer</a:t>
            </a:r>
            <a:r>
              <a:rPr dirty="0" sz="950" spc="-3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exempt</a:t>
            </a:r>
            <a:r>
              <a:rPr dirty="0" sz="950" spc="-1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and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are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now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subject</a:t>
            </a:r>
            <a:r>
              <a:rPr dirty="0" sz="950" spc="-1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to</a:t>
            </a:r>
            <a:r>
              <a:rPr dirty="0" sz="950" spc="-15">
                <a:latin typeface="Arial MT"/>
                <a:cs typeface="Arial MT"/>
              </a:rPr>
              <a:t> </a:t>
            </a:r>
            <a:r>
              <a:rPr dirty="0" sz="950" spc="-25">
                <a:latin typeface="Arial MT"/>
                <a:cs typeface="Arial MT"/>
              </a:rPr>
              <a:t>VAT</a:t>
            </a:r>
            <a:endParaRPr sz="950">
              <a:latin typeface="Arial MT"/>
              <a:cs typeface="Arial MT"/>
            </a:endParaRPr>
          </a:p>
          <a:p>
            <a:pPr marL="128905">
              <a:lnSpc>
                <a:spcPts val="1130"/>
              </a:lnSpc>
            </a:pPr>
            <a:r>
              <a:rPr dirty="0" sz="950">
                <a:latin typeface="Arial MT"/>
                <a:cs typeface="Arial MT"/>
              </a:rPr>
              <a:t>starting</a:t>
            </a:r>
            <a:r>
              <a:rPr dirty="0" sz="950" spc="-3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from</a:t>
            </a:r>
            <a:r>
              <a:rPr dirty="0" sz="950" spc="-3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September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1,</a:t>
            </a:r>
            <a:r>
              <a:rPr dirty="0" sz="950" spc="-20">
                <a:latin typeface="Arial MT"/>
                <a:cs typeface="Arial MT"/>
              </a:rPr>
              <a:t> 2023</a:t>
            </a:r>
            <a:endParaRPr sz="950">
              <a:latin typeface="Arial MT"/>
              <a:cs typeface="Arial MT"/>
            </a:endParaRPr>
          </a:p>
          <a:p>
            <a:pPr marL="2618740">
              <a:lnSpc>
                <a:spcPct val="100000"/>
              </a:lnSpc>
              <a:spcBef>
                <a:spcPts val="175"/>
              </a:spcBef>
            </a:pPr>
            <a:r>
              <a:rPr dirty="0" sz="700" spc="-30" i="1">
                <a:latin typeface="Arial"/>
                <a:cs typeface="Arial"/>
              </a:rPr>
              <a:t>Source:</a:t>
            </a:r>
            <a:r>
              <a:rPr dirty="0" sz="700" spc="15" i="1">
                <a:latin typeface="Arial"/>
                <a:cs typeface="Arial"/>
              </a:rPr>
              <a:t> </a:t>
            </a:r>
            <a:r>
              <a:rPr dirty="0" sz="700" spc="-25" i="1">
                <a:latin typeface="Arial"/>
                <a:cs typeface="Arial"/>
              </a:rPr>
              <a:t>NBS,</a:t>
            </a:r>
            <a:r>
              <a:rPr dirty="0" sz="700" spc="-30" i="1">
                <a:latin typeface="Arial"/>
                <a:cs typeface="Arial"/>
              </a:rPr>
              <a:t> </a:t>
            </a:r>
            <a:r>
              <a:rPr dirty="0" sz="700" spc="-25" i="1">
                <a:latin typeface="Arial"/>
                <a:cs typeface="Arial"/>
              </a:rPr>
              <a:t>CBN,</a:t>
            </a:r>
            <a:r>
              <a:rPr dirty="0" sz="700" spc="-30" i="1">
                <a:latin typeface="Arial"/>
                <a:cs typeface="Arial"/>
              </a:rPr>
              <a:t> </a:t>
            </a:r>
            <a:r>
              <a:rPr dirty="0" sz="700" spc="-20" i="1">
                <a:latin typeface="Arial"/>
                <a:cs typeface="Arial"/>
              </a:rPr>
              <a:t>PwC</a:t>
            </a:r>
            <a:r>
              <a:rPr dirty="0" sz="700" spc="-15" i="1">
                <a:latin typeface="Arial"/>
                <a:cs typeface="Arial"/>
              </a:rPr>
              <a:t> </a:t>
            </a:r>
            <a:r>
              <a:rPr dirty="0" sz="700" spc="-10" i="1">
                <a:latin typeface="Arial"/>
                <a:cs typeface="Arial"/>
              </a:rPr>
              <a:t>Analysis</a:t>
            </a:r>
            <a:endParaRPr sz="700">
              <a:latin typeface="Arial"/>
              <a:cs typeface="Arial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66115" y="4145279"/>
            <a:ext cx="1578610" cy="11537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000">
              <a:latin typeface="Times New Roman"/>
              <a:cs typeface="Times New Roman"/>
            </a:endParaRPr>
          </a:p>
          <a:p>
            <a:pPr marL="348615" marR="116839" indent="-218440">
              <a:lnSpc>
                <a:spcPct val="100000"/>
              </a:lnSpc>
            </a:pPr>
            <a:r>
              <a:rPr dirty="0" sz="1000" b="1">
                <a:solidFill>
                  <a:srgbClr val="FFFFFF"/>
                </a:solidFill>
                <a:latin typeface="Arial"/>
                <a:cs typeface="Arial"/>
              </a:rPr>
              <a:t>Regulatory</a:t>
            </a:r>
            <a:r>
              <a:rPr dirty="0" sz="10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0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FFFFFF"/>
                </a:solidFill>
                <a:latin typeface="Arial"/>
                <a:cs typeface="Arial"/>
              </a:rPr>
              <a:t>policy development</a:t>
            </a:r>
            <a:r>
              <a:rPr dirty="0" sz="1000" spc="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-25" b="1">
                <a:solidFill>
                  <a:srgbClr val="FFFFFF"/>
                </a:solidFill>
                <a:latin typeface="Arial"/>
                <a:cs typeface="Arial"/>
              </a:rPr>
              <a:t>(1)</a:t>
            </a:r>
            <a:endParaRPr sz="1000">
              <a:latin typeface="Arial"/>
              <a:cs typeface="Arial"/>
            </a:endParaRPr>
          </a:p>
        </p:txBody>
      </p:sp>
      <p:sp>
        <p:nvSpPr>
          <p:cNvPr id="21" name="object 21" descr=""/>
          <p:cNvSpPr/>
          <p:nvPr/>
        </p:nvSpPr>
        <p:spPr>
          <a:xfrm>
            <a:off x="190500" y="1860804"/>
            <a:ext cx="9799320" cy="2266315"/>
          </a:xfrm>
          <a:custGeom>
            <a:avLst/>
            <a:gdLst/>
            <a:ahLst/>
            <a:cxnLst/>
            <a:rect l="l" t="t" r="r" b="b"/>
            <a:pathLst>
              <a:path w="9799320" h="2266315">
                <a:moveTo>
                  <a:pt x="0" y="0"/>
                </a:moveTo>
                <a:lnTo>
                  <a:pt x="9798812" y="0"/>
                </a:lnTo>
              </a:path>
              <a:path w="9799320" h="2266315">
                <a:moveTo>
                  <a:pt x="0" y="1267968"/>
                </a:moveTo>
                <a:lnTo>
                  <a:pt x="9798812" y="1267968"/>
                </a:lnTo>
              </a:path>
              <a:path w="9799320" h="2266315">
                <a:moveTo>
                  <a:pt x="0" y="2266188"/>
                </a:moveTo>
                <a:lnTo>
                  <a:pt x="9798812" y="2266188"/>
                </a:lnTo>
              </a:path>
            </a:pathLst>
          </a:custGeom>
          <a:ln w="6350">
            <a:solidFill>
              <a:srgbClr val="D0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49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Setting</a:t>
            </a:r>
            <a:r>
              <a:rPr dirty="0" spc="-45"/>
              <a:t> </a:t>
            </a:r>
            <a:r>
              <a:rPr dirty="0"/>
              <a:t>the</a:t>
            </a:r>
            <a:r>
              <a:rPr dirty="0" spc="-40"/>
              <a:t> </a:t>
            </a:r>
            <a:r>
              <a:rPr dirty="0"/>
              <a:t>context</a:t>
            </a:r>
            <a:r>
              <a:rPr dirty="0" spc="-30"/>
              <a:t> </a:t>
            </a:r>
            <a:r>
              <a:rPr dirty="0" spc="-20"/>
              <a:t>(1/2)</a:t>
            </a:r>
          </a:p>
        </p:txBody>
      </p:sp>
      <p:sp>
        <p:nvSpPr>
          <p:cNvPr id="23" name="object 2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Impact</a:t>
            </a:r>
            <a:r>
              <a:rPr dirty="0" spc="35"/>
              <a:t> </a:t>
            </a:r>
            <a:r>
              <a:rPr dirty="0"/>
              <a:t>of</a:t>
            </a:r>
            <a:r>
              <a:rPr dirty="0" spc="50"/>
              <a:t> </a:t>
            </a:r>
            <a:r>
              <a:rPr dirty="0"/>
              <a:t>Global</a:t>
            </a:r>
            <a:r>
              <a:rPr dirty="0" spc="65"/>
              <a:t> </a:t>
            </a:r>
            <a:r>
              <a:rPr dirty="0"/>
              <a:t>Economic</a:t>
            </a:r>
            <a:r>
              <a:rPr dirty="0" spc="30"/>
              <a:t> </a:t>
            </a:r>
            <a:r>
              <a:rPr dirty="0"/>
              <a:t>Trends</a:t>
            </a:r>
            <a:r>
              <a:rPr dirty="0" spc="45"/>
              <a:t> </a:t>
            </a:r>
            <a:r>
              <a:rPr dirty="0"/>
              <a:t>on</a:t>
            </a:r>
            <a:r>
              <a:rPr dirty="0" spc="40"/>
              <a:t> </a:t>
            </a:r>
            <a:r>
              <a:rPr dirty="0"/>
              <a:t>Nigeria’s</a:t>
            </a:r>
            <a:r>
              <a:rPr dirty="0" spc="60"/>
              <a:t> </a:t>
            </a:r>
            <a:r>
              <a:rPr dirty="0"/>
              <a:t>Foreign</a:t>
            </a:r>
            <a:r>
              <a:rPr dirty="0" spc="45"/>
              <a:t> </a:t>
            </a:r>
            <a:r>
              <a:rPr dirty="0"/>
              <a:t>Exchange</a:t>
            </a:r>
            <a:r>
              <a:rPr dirty="0" spc="60"/>
              <a:t> </a:t>
            </a:r>
            <a:r>
              <a:rPr dirty="0" spc="-10"/>
              <a:t>Market</a:t>
            </a:r>
          </a:p>
        </p:txBody>
      </p:sp>
      <p:sp>
        <p:nvSpPr>
          <p:cNvPr id="24" name="object 2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October</a:t>
            </a:r>
            <a:r>
              <a:rPr dirty="0" spc="80"/>
              <a:t> </a:t>
            </a:r>
            <a:r>
              <a:rPr dirty="0" spc="-20"/>
              <a:t>2023</a:t>
            </a:r>
          </a:p>
        </p:txBody>
      </p:sp>
      <p:sp>
        <p:nvSpPr>
          <p:cNvPr id="25" name="object 2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6360">
              <a:lnSpc>
                <a:spcPts val="815"/>
              </a:lnSpc>
            </a:pPr>
            <a:fld id="{81D60167-4931-47E6-BA6A-407CBD079E47}" type="slidenum">
              <a:rPr dirty="0" spc="-50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34053" y="5387746"/>
            <a:ext cx="1557020" cy="1155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50" spc="-10" i="1">
                <a:latin typeface="Arial"/>
                <a:cs typeface="Arial"/>
              </a:rPr>
              <a:t>Source:</a:t>
            </a:r>
            <a:r>
              <a:rPr dirty="0" sz="550" spc="-35" i="1">
                <a:latin typeface="Arial"/>
                <a:cs typeface="Arial"/>
              </a:rPr>
              <a:t> </a:t>
            </a:r>
            <a:r>
              <a:rPr dirty="0" sz="550" i="1">
                <a:latin typeface="Arial"/>
                <a:cs typeface="Arial"/>
              </a:rPr>
              <a:t>NBS,</a:t>
            </a:r>
            <a:r>
              <a:rPr dirty="0" sz="550" spc="-20" i="1">
                <a:latin typeface="Arial"/>
                <a:cs typeface="Arial"/>
              </a:rPr>
              <a:t> </a:t>
            </a:r>
            <a:r>
              <a:rPr dirty="0" sz="550" i="1">
                <a:latin typeface="Arial"/>
                <a:cs typeface="Arial"/>
              </a:rPr>
              <a:t>CBN,</a:t>
            </a:r>
            <a:r>
              <a:rPr dirty="0" sz="550" spc="-5" i="1">
                <a:latin typeface="Arial"/>
                <a:cs typeface="Arial"/>
              </a:rPr>
              <a:t> </a:t>
            </a:r>
            <a:r>
              <a:rPr dirty="0" sz="550" i="1">
                <a:latin typeface="Arial"/>
                <a:cs typeface="Arial"/>
              </a:rPr>
              <a:t>NGX, </a:t>
            </a:r>
            <a:r>
              <a:rPr dirty="0" sz="550" spc="-10" i="1">
                <a:latin typeface="Arial"/>
                <a:cs typeface="Arial"/>
              </a:rPr>
              <a:t>Proshare,</a:t>
            </a:r>
            <a:r>
              <a:rPr dirty="0" sz="550" spc="15" i="1">
                <a:latin typeface="Arial"/>
                <a:cs typeface="Arial"/>
              </a:rPr>
              <a:t> </a:t>
            </a:r>
            <a:r>
              <a:rPr dirty="0" sz="550" spc="-10" i="1">
                <a:latin typeface="Arial"/>
                <a:cs typeface="Arial"/>
              </a:rPr>
              <a:t>PwCAnalysis</a:t>
            </a:r>
            <a:endParaRPr sz="550">
              <a:latin typeface="Arial"/>
              <a:cs typeface="Arial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88976" y="2548127"/>
            <a:ext cx="1578610" cy="2697480"/>
            <a:chOff x="188976" y="2548127"/>
            <a:chExt cx="1578610" cy="2697480"/>
          </a:xfrm>
        </p:grpSpPr>
        <p:sp>
          <p:nvSpPr>
            <p:cNvPr id="4" name="object 4" descr=""/>
            <p:cNvSpPr/>
            <p:nvPr/>
          </p:nvSpPr>
          <p:spPr>
            <a:xfrm>
              <a:off x="188976" y="2548127"/>
              <a:ext cx="1578610" cy="2697480"/>
            </a:xfrm>
            <a:custGeom>
              <a:avLst/>
              <a:gdLst/>
              <a:ahLst/>
              <a:cxnLst/>
              <a:rect l="l" t="t" r="r" b="b"/>
              <a:pathLst>
                <a:path w="1578610" h="2697479">
                  <a:moveTo>
                    <a:pt x="1578483" y="0"/>
                  </a:moveTo>
                  <a:lnTo>
                    <a:pt x="0" y="0"/>
                  </a:lnTo>
                  <a:lnTo>
                    <a:pt x="0" y="2697480"/>
                  </a:lnTo>
                  <a:lnTo>
                    <a:pt x="1578483" y="2697480"/>
                  </a:lnTo>
                  <a:lnTo>
                    <a:pt x="1578483" y="0"/>
                  </a:lnTo>
                  <a:close/>
                </a:path>
              </a:pathLst>
            </a:custGeom>
            <a:solidFill>
              <a:srgbClr val="DB52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77596" y="2933700"/>
              <a:ext cx="706120" cy="547370"/>
            </a:xfrm>
            <a:custGeom>
              <a:avLst/>
              <a:gdLst/>
              <a:ahLst/>
              <a:cxnLst/>
              <a:rect l="l" t="t" r="r" b="b"/>
              <a:pathLst>
                <a:path w="706119" h="547370">
                  <a:moveTo>
                    <a:pt x="705612" y="521081"/>
                  </a:moveTo>
                  <a:lnTo>
                    <a:pt x="0" y="521081"/>
                  </a:lnTo>
                  <a:lnTo>
                    <a:pt x="0" y="547116"/>
                  </a:lnTo>
                  <a:lnTo>
                    <a:pt x="705612" y="547116"/>
                  </a:lnTo>
                  <a:lnTo>
                    <a:pt x="705612" y="521081"/>
                  </a:lnTo>
                  <a:close/>
                </a:path>
                <a:path w="706119" h="547370">
                  <a:moveTo>
                    <a:pt x="679475" y="503681"/>
                  </a:moveTo>
                  <a:lnTo>
                    <a:pt x="26136" y="503681"/>
                  </a:lnTo>
                  <a:lnTo>
                    <a:pt x="26136" y="521081"/>
                  </a:lnTo>
                  <a:lnTo>
                    <a:pt x="679475" y="521081"/>
                  </a:lnTo>
                  <a:lnTo>
                    <a:pt x="679475" y="503681"/>
                  </a:lnTo>
                  <a:close/>
                </a:path>
                <a:path w="706119" h="547370">
                  <a:moveTo>
                    <a:pt x="174231" y="477647"/>
                  </a:moveTo>
                  <a:lnTo>
                    <a:pt x="69684" y="477647"/>
                  </a:lnTo>
                  <a:lnTo>
                    <a:pt x="69684" y="503681"/>
                  </a:lnTo>
                  <a:lnTo>
                    <a:pt x="174231" y="503681"/>
                  </a:lnTo>
                  <a:lnTo>
                    <a:pt x="174231" y="477647"/>
                  </a:lnTo>
                  <a:close/>
                </a:path>
                <a:path w="706119" h="547370">
                  <a:moveTo>
                    <a:pt x="331025" y="477647"/>
                  </a:moveTo>
                  <a:lnTo>
                    <a:pt x="217779" y="477647"/>
                  </a:lnTo>
                  <a:lnTo>
                    <a:pt x="217779" y="503681"/>
                  </a:lnTo>
                  <a:lnTo>
                    <a:pt x="331025" y="503681"/>
                  </a:lnTo>
                  <a:lnTo>
                    <a:pt x="331025" y="477647"/>
                  </a:lnTo>
                  <a:close/>
                </a:path>
                <a:path w="706119" h="547370">
                  <a:moveTo>
                    <a:pt x="479120" y="477647"/>
                  </a:moveTo>
                  <a:lnTo>
                    <a:pt x="374586" y="477647"/>
                  </a:lnTo>
                  <a:lnTo>
                    <a:pt x="374586" y="503681"/>
                  </a:lnTo>
                  <a:lnTo>
                    <a:pt x="479120" y="503681"/>
                  </a:lnTo>
                  <a:lnTo>
                    <a:pt x="479120" y="477647"/>
                  </a:lnTo>
                  <a:close/>
                </a:path>
                <a:path w="706119" h="547370">
                  <a:moveTo>
                    <a:pt x="635927" y="477647"/>
                  </a:moveTo>
                  <a:lnTo>
                    <a:pt x="522681" y="477647"/>
                  </a:lnTo>
                  <a:lnTo>
                    <a:pt x="522681" y="503681"/>
                  </a:lnTo>
                  <a:lnTo>
                    <a:pt x="635927" y="503681"/>
                  </a:lnTo>
                  <a:lnTo>
                    <a:pt x="635927" y="477647"/>
                  </a:lnTo>
                  <a:close/>
                </a:path>
                <a:path w="706119" h="547370">
                  <a:moveTo>
                    <a:pt x="156806" y="217169"/>
                  </a:moveTo>
                  <a:lnTo>
                    <a:pt x="87109" y="217169"/>
                  </a:lnTo>
                  <a:lnTo>
                    <a:pt x="78397" y="477647"/>
                  </a:lnTo>
                  <a:lnTo>
                    <a:pt x="165519" y="477647"/>
                  </a:lnTo>
                  <a:lnTo>
                    <a:pt x="156806" y="217169"/>
                  </a:lnTo>
                  <a:close/>
                </a:path>
                <a:path w="706119" h="547370">
                  <a:moveTo>
                    <a:pt x="235204" y="416813"/>
                  </a:moveTo>
                  <a:lnTo>
                    <a:pt x="235204" y="477647"/>
                  </a:lnTo>
                  <a:lnTo>
                    <a:pt x="322313" y="477647"/>
                  </a:lnTo>
                  <a:lnTo>
                    <a:pt x="313601" y="460248"/>
                  </a:lnTo>
                  <a:lnTo>
                    <a:pt x="294005" y="452264"/>
                  </a:lnTo>
                  <a:lnTo>
                    <a:pt x="274407" y="441817"/>
                  </a:lnTo>
                  <a:lnTo>
                    <a:pt x="254806" y="429726"/>
                  </a:lnTo>
                  <a:lnTo>
                    <a:pt x="235204" y="416813"/>
                  </a:lnTo>
                  <a:close/>
                </a:path>
                <a:path w="706119" h="547370">
                  <a:moveTo>
                    <a:pt x="470408" y="416813"/>
                  </a:moveTo>
                  <a:lnTo>
                    <a:pt x="450669" y="429726"/>
                  </a:lnTo>
                  <a:lnTo>
                    <a:pt x="430115" y="441817"/>
                  </a:lnTo>
                  <a:lnTo>
                    <a:pt x="407930" y="452264"/>
                  </a:lnTo>
                  <a:lnTo>
                    <a:pt x="383298" y="460248"/>
                  </a:lnTo>
                  <a:lnTo>
                    <a:pt x="383298" y="477647"/>
                  </a:lnTo>
                  <a:lnTo>
                    <a:pt x="470408" y="477647"/>
                  </a:lnTo>
                  <a:lnTo>
                    <a:pt x="470408" y="416813"/>
                  </a:lnTo>
                  <a:close/>
                </a:path>
                <a:path w="706119" h="547370">
                  <a:moveTo>
                    <a:pt x="618502" y="217169"/>
                  </a:moveTo>
                  <a:lnTo>
                    <a:pt x="548805" y="217169"/>
                  </a:lnTo>
                  <a:lnTo>
                    <a:pt x="540092" y="477647"/>
                  </a:lnTo>
                  <a:lnTo>
                    <a:pt x="627214" y="477647"/>
                  </a:lnTo>
                  <a:lnTo>
                    <a:pt x="618502" y="217169"/>
                  </a:lnTo>
                  <a:close/>
                </a:path>
                <a:path w="706119" h="547370">
                  <a:moveTo>
                    <a:pt x="348449" y="121538"/>
                  </a:moveTo>
                  <a:lnTo>
                    <a:pt x="298692" y="129389"/>
                  </a:lnTo>
                  <a:lnTo>
                    <a:pt x="255622" y="150998"/>
                  </a:lnTo>
                  <a:lnTo>
                    <a:pt x="221751" y="183453"/>
                  </a:lnTo>
                  <a:lnTo>
                    <a:pt x="199588" y="223838"/>
                  </a:lnTo>
                  <a:lnTo>
                    <a:pt x="191643" y="269239"/>
                  </a:lnTo>
                  <a:lnTo>
                    <a:pt x="199588" y="318856"/>
                  </a:lnTo>
                  <a:lnTo>
                    <a:pt x="221751" y="361797"/>
                  </a:lnTo>
                  <a:lnTo>
                    <a:pt x="255622" y="395564"/>
                  </a:lnTo>
                  <a:lnTo>
                    <a:pt x="298692" y="417657"/>
                  </a:lnTo>
                  <a:lnTo>
                    <a:pt x="348449" y="425576"/>
                  </a:lnTo>
                  <a:lnTo>
                    <a:pt x="398207" y="417657"/>
                  </a:lnTo>
                  <a:lnTo>
                    <a:pt x="441277" y="395564"/>
                  </a:lnTo>
                  <a:lnTo>
                    <a:pt x="446077" y="390779"/>
                  </a:lnTo>
                  <a:lnTo>
                    <a:pt x="348449" y="390779"/>
                  </a:lnTo>
                  <a:lnTo>
                    <a:pt x="348449" y="364744"/>
                  </a:lnTo>
                  <a:lnTo>
                    <a:pt x="314147" y="358900"/>
                  </a:lnTo>
                  <a:lnTo>
                    <a:pt x="289648" y="344090"/>
                  </a:lnTo>
                  <a:lnTo>
                    <a:pt x="274951" y="324399"/>
                  </a:lnTo>
                  <a:lnTo>
                    <a:pt x="270052" y="303911"/>
                  </a:lnTo>
                  <a:lnTo>
                    <a:pt x="348449" y="303911"/>
                  </a:lnTo>
                  <a:lnTo>
                    <a:pt x="348449" y="286638"/>
                  </a:lnTo>
                  <a:lnTo>
                    <a:pt x="322313" y="286638"/>
                  </a:lnTo>
                  <a:lnTo>
                    <a:pt x="304482" y="278447"/>
                  </a:lnTo>
                  <a:lnTo>
                    <a:pt x="290737" y="267017"/>
                  </a:lnTo>
                  <a:lnTo>
                    <a:pt x="281893" y="252348"/>
                  </a:lnTo>
                  <a:lnTo>
                    <a:pt x="278765" y="234442"/>
                  </a:lnTo>
                  <a:lnTo>
                    <a:pt x="284752" y="211679"/>
                  </a:lnTo>
                  <a:lnTo>
                    <a:pt x="300539" y="195405"/>
                  </a:lnTo>
                  <a:lnTo>
                    <a:pt x="322859" y="185632"/>
                  </a:lnTo>
                  <a:lnTo>
                    <a:pt x="348449" y="182372"/>
                  </a:lnTo>
                  <a:lnTo>
                    <a:pt x="348449" y="156337"/>
                  </a:lnTo>
                  <a:lnTo>
                    <a:pt x="446848" y="156337"/>
                  </a:lnTo>
                  <a:lnTo>
                    <a:pt x="441277" y="150998"/>
                  </a:lnTo>
                  <a:lnTo>
                    <a:pt x="398207" y="129389"/>
                  </a:lnTo>
                  <a:lnTo>
                    <a:pt x="348449" y="121538"/>
                  </a:lnTo>
                  <a:close/>
                </a:path>
                <a:path w="706119" h="547370">
                  <a:moveTo>
                    <a:pt x="374586" y="217169"/>
                  </a:moveTo>
                  <a:lnTo>
                    <a:pt x="357162" y="217169"/>
                  </a:lnTo>
                  <a:lnTo>
                    <a:pt x="357162" y="243205"/>
                  </a:lnTo>
                  <a:lnTo>
                    <a:pt x="393773" y="256315"/>
                  </a:lnTo>
                  <a:lnTo>
                    <a:pt x="414869" y="270271"/>
                  </a:lnTo>
                  <a:lnTo>
                    <a:pt x="424533" y="285871"/>
                  </a:lnTo>
                  <a:lnTo>
                    <a:pt x="426847" y="303911"/>
                  </a:lnTo>
                  <a:lnTo>
                    <a:pt x="423309" y="324399"/>
                  </a:lnTo>
                  <a:lnTo>
                    <a:pt x="411607" y="344090"/>
                  </a:lnTo>
                  <a:lnTo>
                    <a:pt x="390103" y="358900"/>
                  </a:lnTo>
                  <a:lnTo>
                    <a:pt x="357162" y="364744"/>
                  </a:lnTo>
                  <a:lnTo>
                    <a:pt x="357162" y="390779"/>
                  </a:lnTo>
                  <a:lnTo>
                    <a:pt x="446077" y="390779"/>
                  </a:lnTo>
                  <a:lnTo>
                    <a:pt x="475148" y="361797"/>
                  </a:lnTo>
                  <a:lnTo>
                    <a:pt x="497311" y="318856"/>
                  </a:lnTo>
                  <a:lnTo>
                    <a:pt x="505256" y="269239"/>
                  </a:lnTo>
                  <a:lnTo>
                    <a:pt x="499167" y="234442"/>
                  </a:lnTo>
                  <a:lnTo>
                    <a:pt x="374586" y="234442"/>
                  </a:lnTo>
                  <a:lnTo>
                    <a:pt x="374586" y="217169"/>
                  </a:lnTo>
                  <a:close/>
                </a:path>
                <a:path w="706119" h="547370">
                  <a:moveTo>
                    <a:pt x="348449" y="303911"/>
                  </a:moveTo>
                  <a:lnTo>
                    <a:pt x="322313" y="303911"/>
                  </a:lnTo>
                  <a:lnTo>
                    <a:pt x="323946" y="310326"/>
                  </a:lnTo>
                  <a:lnTo>
                    <a:pt x="328847" y="315896"/>
                  </a:lnTo>
                  <a:lnTo>
                    <a:pt x="337015" y="319823"/>
                  </a:lnTo>
                  <a:lnTo>
                    <a:pt x="348449" y="321310"/>
                  </a:lnTo>
                  <a:lnTo>
                    <a:pt x="348449" y="303911"/>
                  </a:lnTo>
                  <a:close/>
                </a:path>
                <a:path w="706119" h="547370">
                  <a:moveTo>
                    <a:pt x="357162" y="295275"/>
                  </a:moveTo>
                  <a:lnTo>
                    <a:pt x="357162" y="321310"/>
                  </a:lnTo>
                  <a:lnTo>
                    <a:pt x="368596" y="321175"/>
                  </a:lnTo>
                  <a:lnTo>
                    <a:pt x="376764" y="320230"/>
                  </a:lnTo>
                  <a:lnTo>
                    <a:pt x="381665" y="317666"/>
                  </a:lnTo>
                  <a:lnTo>
                    <a:pt x="383298" y="312674"/>
                  </a:lnTo>
                  <a:lnTo>
                    <a:pt x="381665" y="306258"/>
                  </a:lnTo>
                  <a:lnTo>
                    <a:pt x="376764" y="300688"/>
                  </a:lnTo>
                  <a:lnTo>
                    <a:pt x="368596" y="296761"/>
                  </a:lnTo>
                  <a:lnTo>
                    <a:pt x="357162" y="295275"/>
                  </a:lnTo>
                  <a:close/>
                </a:path>
                <a:path w="706119" h="547370">
                  <a:moveTo>
                    <a:pt x="348449" y="217169"/>
                  </a:moveTo>
                  <a:lnTo>
                    <a:pt x="331025" y="217169"/>
                  </a:lnTo>
                  <a:lnTo>
                    <a:pt x="331025" y="243205"/>
                  </a:lnTo>
                  <a:lnTo>
                    <a:pt x="348449" y="243205"/>
                  </a:lnTo>
                  <a:lnTo>
                    <a:pt x="348449" y="217169"/>
                  </a:lnTo>
                  <a:close/>
                </a:path>
                <a:path w="706119" h="547370">
                  <a:moveTo>
                    <a:pt x="446848" y="156337"/>
                  </a:moveTo>
                  <a:lnTo>
                    <a:pt x="357162" y="156337"/>
                  </a:lnTo>
                  <a:lnTo>
                    <a:pt x="357162" y="182372"/>
                  </a:lnTo>
                  <a:lnTo>
                    <a:pt x="382752" y="185632"/>
                  </a:lnTo>
                  <a:lnTo>
                    <a:pt x="405072" y="195405"/>
                  </a:lnTo>
                  <a:lnTo>
                    <a:pt x="420859" y="211679"/>
                  </a:lnTo>
                  <a:lnTo>
                    <a:pt x="426847" y="234442"/>
                  </a:lnTo>
                  <a:lnTo>
                    <a:pt x="499167" y="234442"/>
                  </a:lnTo>
                  <a:lnTo>
                    <a:pt x="497311" y="223838"/>
                  </a:lnTo>
                  <a:lnTo>
                    <a:pt x="475148" y="183453"/>
                  </a:lnTo>
                  <a:lnTo>
                    <a:pt x="446848" y="156337"/>
                  </a:lnTo>
                  <a:close/>
                </a:path>
                <a:path w="706119" h="547370">
                  <a:moveTo>
                    <a:pt x="174231" y="199770"/>
                  </a:moveTo>
                  <a:lnTo>
                    <a:pt x="69684" y="199770"/>
                  </a:lnTo>
                  <a:lnTo>
                    <a:pt x="69684" y="217169"/>
                  </a:lnTo>
                  <a:lnTo>
                    <a:pt x="174231" y="217169"/>
                  </a:lnTo>
                  <a:lnTo>
                    <a:pt x="174231" y="199770"/>
                  </a:lnTo>
                  <a:close/>
                </a:path>
                <a:path w="706119" h="547370">
                  <a:moveTo>
                    <a:pt x="527030" y="86868"/>
                  </a:moveTo>
                  <a:lnTo>
                    <a:pt x="348449" y="86868"/>
                  </a:lnTo>
                  <a:lnTo>
                    <a:pt x="394165" y="91940"/>
                  </a:lnTo>
                  <a:lnTo>
                    <a:pt x="436119" y="106602"/>
                  </a:lnTo>
                  <a:lnTo>
                    <a:pt x="472639" y="130018"/>
                  </a:lnTo>
                  <a:lnTo>
                    <a:pt x="502050" y="161352"/>
                  </a:lnTo>
                  <a:lnTo>
                    <a:pt x="522681" y="199770"/>
                  </a:lnTo>
                  <a:lnTo>
                    <a:pt x="522681" y="208406"/>
                  </a:lnTo>
                  <a:lnTo>
                    <a:pt x="531380" y="208406"/>
                  </a:lnTo>
                  <a:lnTo>
                    <a:pt x="531380" y="217169"/>
                  </a:lnTo>
                  <a:lnTo>
                    <a:pt x="635927" y="217169"/>
                  </a:lnTo>
                  <a:lnTo>
                    <a:pt x="635927" y="199770"/>
                  </a:lnTo>
                  <a:lnTo>
                    <a:pt x="679475" y="199770"/>
                  </a:lnTo>
                  <a:lnTo>
                    <a:pt x="679475" y="173736"/>
                  </a:lnTo>
                  <a:lnTo>
                    <a:pt x="705612" y="173736"/>
                  </a:lnTo>
                  <a:lnTo>
                    <a:pt x="527030" y="86868"/>
                  </a:lnTo>
                  <a:close/>
                </a:path>
                <a:path w="706119" h="547370">
                  <a:moveTo>
                    <a:pt x="348449" y="0"/>
                  </a:moveTo>
                  <a:lnTo>
                    <a:pt x="0" y="173736"/>
                  </a:lnTo>
                  <a:lnTo>
                    <a:pt x="26136" y="173736"/>
                  </a:lnTo>
                  <a:lnTo>
                    <a:pt x="26136" y="199770"/>
                  </a:lnTo>
                  <a:lnTo>
                    <a:pt x="182930" y="199770"/>
                  </a:lnTo>
                  <a:lnTo>
                    <a:pt x="210020" y="152822"/>
                  </a:lnTo>
                  <a:lnTo>
                    <a:pt x="249359" y="117268"/>
                  </a:lnTo>
                  <a:lnTo>
                    <a:pt x="296864" y="94740"/>
                  </a:lnTo>
                  <a:lnTo>
                    <a:pt x="348449" y="86868"/>
                  </a:lnTo>
                  <a:lnTo>
                    <a:pt x="527030" y="86868"/>
                  </a:lnTo>
                  <a:lnTo>
                    <a:pt x="3484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5942" y="3096513"/>
              <a:ext cx="250444" cy="223012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188976" y="2548127"/>
            <a:ext cx="1578610" cy="26974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1200">
              <a:latin typeface="Times New Roman"/>
              <a:cs typeface="Times New Roman"/>
            </a:endParaRPr>
          </a:p>
          <a:p>
            <a:pPr algn="ctr" marR="83185">
              <a:lnSpc>
                <a:spcPct val="100000"/>
              </a:lnSpc>
            </a:pPr>
            <a:r>
              <a:rPr dirty="0" sz="1200" spc="-50" b="1">
                <a:solidFill>
                  <a:srgbClr val="DB526B"/>
                </a:solidFill>
                <a:latin typeface="Arial"/>
                <a:cs typeface="Arial"/>
              </a:rPr>
              <a:t>₦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25"/>
              </a:spcBef>
            </a:pPr>
            <a:endParaRPr sz="1200">
              <a:latin typeface="Arial"/>
              <a:cs typeface="Arial"/>
            </a:endParaRPr>
          </a:p>
          <a:p>
            <a:pPr marL="203200">
              <a:lnSpc>
                <a:spcPct val="100000"/>
              </a:lnSpc>
              <a:spcBef>
                <a:spcPts val="5"/>
              </a:spcBef>
            </a:pPr>
            <a:r>
              <a:rPr dirty="0" sz="1000" spc="-10" b="1">
                <a:solidFill>
                  <a:srgbClr val="FFFFFF"/>
                </a:solidFill>
                <a:latin typeface="Arial"/>
                <a:cs typeface="Arial"/>
              </a:rPr>
              <a:t>Monetary</a:t>
            </a:r>
            <a:r>
              <a:rPr dirty="0" sz="10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FFFFFF"/>
                </a:solidFill>
                <a:latin typeface="Arial"/>
                <a:cs typeface="Arial"/>
              </a:rPr>
              <a:t>dynamics</a:t>
            </a:r>
            <a:endParaRPr sz="10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02235" marR="92075" indent="-9017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103505" algn="l"/>
              </a:tabLst>
            </a:pPr>
            <a:r>
              <a:rPr dirty="0" spc="-10" b="1">
                <a:latin typeface="Arial"/>
                <a:cs typeface="Arial"/>
              </a:rPr>
              <a:t>Foreign</a:t>
            </a:r>
            <a:r>
              <a:rPr dirty="0" spc="-35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suppliers</a:t>
            </a:r>
            <a:r>
              <a:rPr dirty="0" spc="-3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may</a:t>
            </a:r>
            <a:r>
              <a:rPr dirty="0" spc="-3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not</a:t>
            </a:r>
            <a:r>
              <a:rPr dirty="0" spc="-50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accept</a:t>
            </a:r>
            <a:r>
              <a:rPr dirty="0" spc="-45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letters</a:t>
            </a:r>
            <a:r>
              <a:rPr dirty="0" spc="-3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of</a:t>
            </a:r>
            <a:r>
              <a:rPr dirty="0" spc="-50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credit</a:t>
            </a:r>
            <a:r>
              <a:rPr dirty="0" spc="-4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amid</a:t>
            </a:r>
            <a:r>
              <a:rPr dirty="0" spc="-30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unsettled</a:t>
            </a:r>
            <a:r>
              <a:rPr dirty="0" spc="-3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$7</a:t>
            </a:r>
            <a:r>
              <a:rPr dirty="0" spc="-55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billion</a:t>
            </a:r>
            <a:r>
              <a:rPr dirty="0" spc="-3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FX</a:t>
            </a:r>
            <a:r>
              <a:rPr dirty="0" spc="-40" b="1">
                <a:latin typeface="Arial"/>
                <a:cs typeface="Arial"/>
              </a:rPr>
              <a:t> </a:t>
            </a:r>
            <a:r>
              <a:rPr dirty="0" spc="-20" b="1">
                <a:latin typeface="Arial"/>
                <a:cs typeface="Arial"/>
              </a:rPr>
              <a:t>obligations </a:t>
            </a:r>
            <a:r>
              <a:rPr dirty="0" b="1">
                <a:latin typeface="Arial"/>
                <a:cs typeface="Arial"/>
              </a:rPr>
              <a:t>to</a:t>
            </a:r>
            <a:r>
              <a:rPr dirty="0" spc="-55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domestic</a:t>
            </a:r>
            <a:r>
              <a:rPr dirty="0" spc="-20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lenders. </a:t>
            </a:r>
            <a:r>
              <a:rPr dirty="0"/>
              <a:t>This</a:t>
            </a:r>
            <a:r>
              <a:rPr dirty="0" spc="-35"/>
              <a:t> </a:t>
            </a:r>
            <a:r>
              <a:rPr dirty="0"/>
              <a:t>may</a:t>
            </a:r>
            <a:r>
              <a:rPr dirty="0" spc="-35"/>
              <a:t> </a:t>
            </a:r>
            <a:r>
              <a:rPr dirty="0"/>
              <a:t>lead</a:t>
            </a:r>
            <a:r>
              <a:rPr dirty="0" spc="-5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less</a:t>
            </a:r>
            <a:r>
              <a:rPr dirty="0" spc="-50"/>
              <a:t> </a:t>
            </a:r>
            <a:r>
              <a:rPr dirty="0" spc="-10"/>
              <a:t>imports </a:t>
            </a:r>
            <a:r>
              <a:rPr dirty="0" spc="-10"/>
              <a:t>	</a:t>
            </a:r>
            <a:r>
              <a:rPr dirty="0"/>
              <a:t>of</a:t>
            </a:r>
            <a:r>
              <a:rPr dirty="0" spc="-35"/>
              <a:t> </a:t>
            </a:r>
            <a:r>
              <a:rPr dirty="0"/>
              <a:t>the</a:t>
            </a:r>
            <a:r>
              <a:rPr dirty="0" spc="-25"/>
              <a:t> much-</a:t>
            </a:r>
            <a:r>
              <a:rPr dirty="0" spc="-10"/>
              <a:t>needed inputs</a:t>
            </a:r>
            <a:r>
              <a:rPr dirty="0" spc="-20"/>
              <a:t> </a:t>
            </a:r>
            <a:r>
              <a:rPr dirty="0"/>
              <a:t>and</a:t>
            </a:r>
            <a:r>
              <a:rPr dirty="0" spc="-35"/>
              <a:t> </a:t>
            </a:r>
            <a:r>
              <a:rPr dirty="0" spc="-10"/>
              <a:t>goods</a:t>
            </a:r>
            <a:r>
              <a:rPr dirty="0" spc="-15"/>
              <a:t> </a:t>
            </a:r>
            <a:r>
              <a:rPr dirty="0"/>
              <a:t>for</a:t>
            </a:r>
            <a:r>
              <a:rPr dirty="0" spc="-40"/>
              <a:t> </a:t>
            </a:r>
            <a:r>
              <a:rPr dirty="0" spc="-20"/>
              <a:t>manufacturing </a:t>
            </a:r>
            <a:r>
              <a:rPr dirty="0"/>
              <a:t>and</a:t>
            </a:r>
            <a:r>
              <a:rPr dirty="0" spc="-25"/>
              <a:t> </a:t>
            </a:r>
            <a:r>
              <a:rPr dirty="0" spc="-20"/>
              <a:t>retail/wholesale</a:t>
            </a:r>
            <a:r>
              <a:rPr dirty="0" spc="-15"/>
              <a:t> </a:t>
            </a:r>
            <a:r>
              <a:rPr dirty="0" spc="-10"/>
              <a:t>trade</a:t>
            </a:r>
            <a:r>
              <a:rPr dirty="0" spc="-20"/>
              <a:t> </a:t>
            </a:r>
            <a:r>
              <a:rPr dirty="0" spc="-10"/>
              <a:t>which</a:t>
            </a:r>
            <a:r>
              <a:rPr dirty="0" spc="-25"/>
              <a:t> </a:t>
            </a:r>
            <a:r>
              <a:rPr dirty="0"/>
              <a:t>may</a:t>
            </a:r>
            <a:r>
              <a:rPr dirty="0" spc="-15"/>
              <a:t> </a:t>
            </a:r>
            <a:r>
              <a:rPr dirty="0" spc="-10"/>
              <a:t>heighten</a:t>
            </a:r>
            <a:r>
              <a:rPr dirty="0" spc="-25"/>
              <a:t> </a:t>
            </a:r>
            <a:r>
              <a:rPr dirty="0" spc="-10"/>
              <a:t>inflationary</a:t>
            </a:r>
            <a:r>
              <a:rPr dirty="0" spc="-30"/>
              <a:t> </a:t>
            </a:r>
            <a:r>
              <a:rPr dirty="0" spc="-10"/>
              <a:t>pressures</a:t>
            </a:r>
            <a:r>
              <a:rPr dirty="0"/>
              <a:t> and</a:t>
            </a:r>
            <a:r>
              <a:rPr dirty="0" spc="-35"/>
              <a:t> </a:t>
            </a:r>
            <a:r>
              <a:rPr dirty="0" spc="-10"/>
              <a:t>negatively</a:t>
            </a:r>
            <a:r>
              <a:rPr dirty="0" spc="-5"/>
              <a:t> </a:t>
            </a:r>
            <a:r>
              <a:rPr dirty="0" spc="-10"/>
              <a:t>impact </a:t>
            </a:r>
            <a:r>
              <a:rPr dirty="0" spc="-10"/>
              <a:t>	</a:t>
            </a:r>
            <a:r>
              <a:rPr dirty="0"/>
              <a:t>GDP</a:t>
            </a:r>
            <a:r>
              <a:rPr dirty="0" spc="-50"/>
              <a:t> </a:t>
            </a:r>
            <a:r>
              <a:rPr dirty="0" spc="-10"/>
              <a:t>growth</a:t>
            </a:r>
          </a:p>
          <a:p>
            <a:pPr marL="12700">
              <a:lnSpc>
                <a:spcPct val="100000"/>
              </a:lnSpc>
            </a:pPr>
            <a:r>
              <a:rPr dirty="0" b="1">
                <a:solidFill>
                  <a:srgbClr val="C00000"/>
                </a:solidFill>
                <a:latin typeface="Arial"/>
                <a:cs typeface="Arial"/>
              </a:rPr>
              <a:t>CBN</a:t>
            </a:r>
            <a:r>
              <a:rPr dirty="0" spc="-5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pc="-10" b="1">
                <a:solidFill>
                  <a:srgbClr val="C00000"/>
                </a:solidFill>
                <a:latin typeface="Arial"/>
                <a:cs typeface="Arial"/>
              </a:rPr>
              <a:t>Introduced</a:t>
            </a:r>
            <a:r>
              <a:rPr dirty="0" spc="-4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b="1">
                <a:solidFill>
                  <a:srgbClr val="C00000"/>
                </a:solidFill>
                <a:latin typeface="Arial"/>
                <a:cs typeface="Arial"/>
              </a:rPr>
              <a:t>new</a:t>
            </a:r>
            <a:r>
              <a:rPr dirty="0" spc="-6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pc="-10" b="1">
                <a:solidFill>
                  <a:srgbClr val="C00000"/>
                </a:solidFill>
                <a:latin typeface="Arial"/>
                <a:cs typeface="Arial"/>
              </a:rPr>
              <a:t>directives:</a:t>
            </a:r>
          </a:p>
          <a:p>
            <a:pPr marL="102235" marR="160020" indent="-90170">
              <a:lnSpc>
                <a:spcPct val="100000"/>
              </a:lnSpc>
              <a:buFont typeface="Arial MT"/>
              <a:buChar char="•"/>
              <a:tabLst>
                <a:tab pos="103505" algn="l"/>
              </a:tabLst>
            </a:pPr>
            <a:r>
              <a:rPr dirty="0" spc="-10" b="1">
                <a:latin typeface="Arial"/>
                <a:cs typeface="Arial"/>
              </a:rPr>
              <a:t>Directives</a:t>
            </a:r>
            <a:r>
              <a:rPr dirty="0" spc="-1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to</a:t>
            </a:r>
            <a:r>
              <a:rPr dirty="0" spc="-60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banks</a:t>
            </a:r>
            <a:r>
              <a:rPr dirty="0" spc="-4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to</a:t>
            </a:r>
            <a:r>
              <a:rPr dirty="0" spc="-50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cease</a:t>
            </a:r>
            <a:r>
              <a:rPr dirty="0" spc="-4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from</a:t>
            </a:r>
            <a:r>
              <a:rPr dirty="0" spc="-35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utilising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their</a:t>
            </a:r>
            <a:r>
              <a:rPr dirty="0" spc="-4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FX</a:t>
            </a:r>
            <a:r>
              <a:rPr dirty="0" spc="-40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revaluation</a:t>
            </a:r>
            <a:r>
              <a:rPr dirty="0" spc="-20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gains</a:t>
            </a:r>
            <a:r>
              <a:rPr dirty="0" spc="-4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for</a:t>
            </a:r>
            <a:r>
              <a:rPr dirty="0" spc="-30" b="1">
                <a:latin typeface="Arial"/>
                <a:cs typeface="Arial"/>
              </a:rPr>
              <a:t> </a:t>
            </a:r>
            <a:r>
              <a:rPr dirty="0" spc="-20" b="1">
                <a:latin typeface="Arial"/>
                <a:cs typeface="Arial"/>
              </a:rPr>
              <a:t>dividends</a:t>
            </a:r>
            <a:r>
              <a:rPr dirty="0" spc="-3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and</a:t>
            </a:r>
            <a:r>
              <a:rPr dirty="0" spc="-50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operational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expenditures. </a:t>
            </a:r>
            <a:r>
              <a:rPr dirty="0"/>
              <a:t>This</a:t>
            </a:r>
            <a:r>
              <a:rPr dirty="0" spc="-40"/>
              <a:t> </a:t>
            </a:r>
            <a:r>
              <a:rPr dirty="0"/>
              <a:t>is</a:t>
            </a:r>
            <a:r>
              <a:rPr dirty="0" spc="-50"/>
              <a:t> </a:t>
            </a:r>
            <a:r>
              <a:rPr dirty="0"/>
              <a:t>to</a:t>
            </a:r>
            <a:r>
              <a:rPr dirty="0" spc="-55"/>
              <a:t> </a:t>
            </a:r>
            <a:r>
              <a:rPr dirty="0" spc="-10"/>
              <a:t>enable</a:t>
            </a:r>
            <a:r>
              <a:rPr dirty="0" spc="-45"/>
              <a:t> </a:t>
            </a:r>
            <a:r>
              <a:rPr dirty="0" spc="-10"/>
              <a:t>banks</a:t>
            </a:r>
            <a:r>
              <a:rPr dirty="0" spc="-50"/>
              <a:t> </a:t>
            </a:r>
            <a:r>
              <a:rPr dirty="0" spc="-25"/>
              <a:t>to </a:t>
            </a:r>
            <a:r>
              <a:rPr dirty="0" spc="-25"/>
              <a:t>	</a:t>
            </a:r>
            <a:r>
              <a:rPr dirty="0"/>
              <a:t>set</a:t>
            </a:r>
            <a:r>
              <a:rPr dirty="0" spc="-50"/>
              <a:t> </a:t>
            </a:r>
            <a:r>
              <a:rPr dirty="0" spc="-10" b="1">
                <a:latin typeface="Arial"/>
                <a:cs typeface="Arial"/>
              </a:rPr>
              <a:t>aside</a:t>
            </a:r>
            <a:r>
              <a:rPr dirty="0" spc="-3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FX</a:t>
            </a:r>
            <a:r>
              <a:rPr dirty="0" spc="-30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revaluation</a:t>
            </a:r>
            <a:r>
              <a:rPr dirty="0" b="1">
                <a:latin typeface="Arial"/>
                <a:cs typeface="Arial"/>
              </a:rPr>
              <a:t> </a:t>
            </a:r>
            <a:r>
              <a:rPr dirty="0" spc="-10"/>
              <a:t>gains</a:t>
            </a:r>
            <a:r>
              <a:rPr dirty="0" spc="-40"/>
              <a:t> </a:t>
            </a:r>
            <a:r>
              <a:rPr dirty="0"/>
              <a:t>for</a:t>
            </a:r>
            <a:r>
              <a:rPr dirty="0" spc="-55"/>
              <a:t> </a:t>
            </a:r>
            <a:r>
              <a:rPr dirty="0" spc="-20"/>
              <a:t>counter-</a:t>
            </a:r>
            <a:r>
              <a:rPr dirty="0" spc="-10"/>
              <a:t>cyclical</a:t>
            </a:r>
            <a:r>
              <a:rPr dirty="0" spc="-5"/>
              <a:t> </a:t>
            </a:r>
            <a:r>
              <a:rPr dirty="0" spc="-10"/>
              <a:t>buffers</a:t>
            </a:r>
            <a:r>
              <a:rPr dirty="0" spc="-50"/>
              <a:t> </a:t>
            </a:r>
            <a:r>
              <a:rPr dirty="0"/>
              <a:t>to</a:t>
            </a:r>
            <a:r>
              <a:rPr dirty="0" spc="-45"/>
              <a:t> </a:t>
            </a:r>
            <a:r>
              <a:rPr dirty="0" spc="-10"/>
              <a:t>mitigate</a:t>
            </a:r>
            <a:r>
              <a:rPr dirty="0" spc="-30"/>
              <a:t> </a:t>
            </a:r>
            <a:r>
              <a:rPr dirty="0" spc="-10"/>
              <a:t>potential</a:t>
            </a:r>
            <a:r>
              <a:rPr dirty="0" spc="-25"/>
              <a:t> </a:t>
            </a:r>
            <a:r>
              <a:rPr dirty="0" spc="-10"/>
              <a:t>unfavourable</a:t>
            </a:r>
            <a:r>
              <a:rPr dirty="0" spc="-15"/>
              <a:t> </a:t>
            </a:r>
            <a:r>
              <a:rPr dirty="0" spc="-10"/>
              <a:t>fluctuations</a:t>
            </a:r>
            <a:r>
              <a:rPr dirty="0" spc="-40"/>
              <a:t> </a:t>
            </a:r>
            <a:r>
              <a:rPr dirty="0"/>
              <a:t>in</a:t>
            </a:r>
            <a:r>
              <a:rPr dirty="0" spc="-45"/>
              <a:t> </a:t>
            </a:r>
            <a:r>
              <a:rPr dirty="0"/>
              <a:t>FX</a:t>
            </a:r>
            <a:r>
              <a:rPr dirty="0" spc="-35"/>
              <a:t> </a:t>
            </a:r>
            <a:r>
              <a:rPr dirty="0" spc="-10"/>
              <a:t>rates</a:t>
            </a:r>
          </a:p>
          <a:p>
            <a:pPr marL="103505" indent="-90805">
              <a:lnSpc>
                <a:spcPct val="100000"/>
              </a:lnSpc>
              <a:buFont typeface="Arial MT"/>
              <a:buChar char="•"/>
              <a:tabLst>
                <a:tab pos="103505" algn="l"/>
              </a:tabLst>
            </a:pPr>
            <a:r>
              <a:rPr dirty="0" spc="-10" b="1">
                <a:latin typeface="Arial"/>
                <a:cs typeface="Arial"/>
              </a:rPr>
              <a:t>Directives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to</a:t>
            </a:r>
            <a:r>
              <a:rPr dirty="0" spc="-5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all</a:t>
            </a:r>
            <a:r>
              <a:rPr dirty="0" spc="-35" b="1">
                <a:latin typeface="Arial"/>
                <a:cs typeface="Arial"/>
              </a:rPr>
              <a:t> </a:t>
            </a:r>
            <a:r>
              <a:rPr dirty="0" spc="-20" b="1">
                <a:latin typeface="Arial"/>
                <a:cs typeface="Arial"/>
              </a:rPr>
              <a:t>International</a:t>
            </a:r>
            <a:r>
              <a:rPr dirty="0" spc="-5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Money</a:t>
            </a:r>
            <a:r>
              <a:rPr dirty="0" spc="-55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Transfer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Operators</a:t>
            </a:r>
            <a:r>
              <a:rPr dirty="0" spc="-15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(IMTOs)</a:t>
            </a:r>
            <a:r>
              <a:rPr dirty="0" spc="-50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operating</a:t>
            </a:r>
            <a:r>
              <a:rPr dirty="0" spc="-15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within</a:t>
            </a:r>
            <a:r>
              <a:rPr dirty="0" spc="-5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the</a:t>
            </a:r>
            <a:r>
              <a:rPr dirty="0" spc="-40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country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to</a:t>
            </a:r>
            <a:r>
              <a:rPr dirty="0" spc="-45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strictly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follow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the</a:t>
            </a:r>
            <a:r>
              <a:rPr dirty="0" spc="-35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allowable</a:t>
            </a:r>
            <a:r>
              <a:rPr dirty="0" spc="-55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limit</a:t>
            </a:r>
            <a:r>
              <a:rPr dirty="0" spc="-3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of</a:t>
            </a:r>
            <a:r>
              <a:rPr dirty="0" spc="-35" b="1">
                <a:latin typeface="Arial"/>
                <a:cs typeface="Arial"/>
              </a:rPr>
              <a:t> </a:t>
            </a:r>
            <a:r>
              <a:rPr dirty="0" spc="-25" b="1">
                <a:latin typeface="Arial"/>
                <a:cs typeface="Arial"/>
              </a:rPr>
              <a:t>-</a:t>
            </a:r>
            <a:r>
              <a:rPr dirty="0" b="1">
                <a:latin typeface="Arial"/>
                <a:cs typeface="Arial"/>
              </a:rPr>
              <a:t>2.5%</a:t>
            </a:r>
            <a:r>
              <a:rPr dirty="0" spc="-30" b="1">
                <a:latin typeface="Arial"/>
                <a:cs typeface="Arial"/>
              </a:rPr>
              <a:t> </a:t>
            </a:r>
            <a:r>
              <a:rPr dirty="0" spc="-25" b="1">
                <a:latin typeface="Arial"/>
                <a:cs typeface="Arial"/>
              </a:rPr>
              <a:t>to</a:t>
            </a:r>
          </a:p>
          <a:p>
            <a:pPr marL="103505" marR="15875">
              <a:lnSpc>
                <a:spcPct val="100000"/>
              </a:lnSpc>
              <a:spcBef>
                <a:spcPts val="5"/>
              </a:spcBef>
            </a:pPr>
            <a:r>
              <a:rPr dirty="0" spc="-10" b="1">
                <a:latin typeface="Arial"/>
                <a:cs typeface="Arial"/>
              </a:rPr>
              <a:t>+2.5%</a:t>
            </a:r>
            <a:r>
              <a:rPr dirty="0" spc="-35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foreign</a:t>
            </a:r>
            <a:r>
              <a:rPr dirty="0" spc="-35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exchange</a:t>
            </a:r>
            <a:r>
              <a:rPr dirty="0" spc="-40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guideline</a:t>
            </a:r>
            <a:r>
              <a:rPr dirty="0" spc="-10"/>
              <a:t>.</a:t>
            </a:r>
            <a:r>
              <a:rPr dirty="0" spc="-20"/>
              <a:t> </a:t>
            </a:r>
            <a:r>
              <a:rPr dirty="0" spc="-10"/>
              <a:t>This</a:t>
            </a:r>
            <a:r>
              <a:rPr dirty="0" spc="-45"/>
              <a:t> </a:t>
            </a:r>
            <a:r>
              <a:rPr dirty="0" spc="-10"/>
              <a:t>enables</a:t>
            </a:r>
            <a:r>
              <a:rPr dirty="0" spc="-40"/>
              <a:t> </a:t>
            </a:r>
            <a:r>
              <a:rPr dirty="0"/>
              <a:t>the</a:t>
            </a:r>
            <a:r>
              <a:rPr dirty="0" spc="-50"/>
              <a:t> </a:t>
            </a:r>
            <a:r>
              <a:rPr dirty="0" spc="-10"/>
              <a:t>IMTOs</a:t>
            </a:r>
            <a:r>
              <a:rPr dirty="0" spc="-15"/>
              <a:t> </a:t>
            </a:r>
            <a:r>
              <a:rPr dirty="0"/>
              <a:t>to</a:t>
            </a:r>
            <a:r>
              <a:rPr dirty="0" spc="-50"/>
              <a:t> </a:t>
            </a:r>
            <a:r>
              <a:rPr dirty="0"/>
              <a:t>sell</a:t>
            </a:r>
            <a:r>
              <a:rPr dirty="0" spc="-40"/>
              <a:t> </a:t>
            </a:r>
            <a:r>
              <a:rPr dirty="0" spc="-10"/>
              <a:t>forex</a:t>
            </a:r>
            <a:r>
              <a:rPr dirty="0" spc="-55"/>
              <a:t> </a:t>
            </a:r>
            <a:r>
              <a:rPr dirty="0" spc="-10"/>
              <a:t>above</a:t>
            </a:r>
            <a:r>
              <a:rPr dirty="0" spc="-30"/>
              <a:t> </a:t>
            </a:r>
            <a:r>
              <a:rPr dirty="0"/>
              <a:t>the</a:t>
            </a:r>
            <a:r>
              <a:rPr dirty="0" spc="-50"/>
              <a:t> </a:t>
            </a:r>
            <a:r>
              <a:rPr dirty="0"/>
              <a:t>2.5%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the</a:t>
            </a:r>
            <a:r>
              <a:rPr dirty="0" spc="-50"/>
              <a:t> </a:t>
            </a:r>
            <a:r>
              <a:rPr dirty="0" spc="-10"/>
              <a:t>preceding</a:t>
            </a:r>
            <a:r>
              <a:rPr dirty="0" spc="-45"/>
              <a:t> </a:t>
            </a:r>
            <a:r>
              <a:rPr dirty="0" spc="-10"/>
              <a:t>day’s</a:t>
            </a:r>
            <a:r>
              <a:rPr dirty="0" spc="-25"/>
              <a:t> </a:t>
            </a:r>
            <a:r>
              <a:rPr dirty="0" spc="-10"/>
              <a:t>NAFEX</a:t>
            </a:r>
            <a:r>
              <a:rPr dirty="0" spc="-25"/>
              <a:t> </a:t>
            </a:r>
            <a:r>
              <a:rPr dirty="0" spc="-10"/>
              <a:t>rates.</a:t>
            </a:r>
            <a:r>
              <a:rPr dirty="0" spc="-45"/>
              <a:t> </a:t>
            </a:r>
            <a:r>
              <a:rPr dirty="0" spc="-10"/>
              <a:t>However,</a:t>
            </a:r>
            <a:r>
              <a:rPr dirty="0" spc="-20"/>
              <a:t> </a:t>
            </a:r>
            <a:r>
              <a:rPr dirty="0" spc="-10"/>
              <a:t>there</a:t>
            </a:r>
            <a:r>
              <a:rPr dirty="0" spc="-40"/>
              <a:t> </a:t>
            </a:r>
            <a:r>
              <a:rPr dirty="0" spc="-25"/>
              <a:t>are</a:t>
            </a:r>
            <a:r>
              <a:rPr dirty="0" spc="500"/>
              <a:t>  </a:t>
            </a:r>
            <a:r>
              <a:rPr dirty="0" spc="-10"/>
              <a:t>still</a:t>
            </a:r>
            <a:r>
              <a:rPr dirty="0" spc="-40"/>
              <a:t> </a:t>
            </a:r>
            <a:r>
              <a:rPr dirty="0" spc="-10"/>
              <a:t>compliance</a:t>
            </a:r>
            <a:r>
              <a:rPr dirty="0" spc="-25"/>
              <a:t> </a:t>
            </a:r>
            <a:r>
              <a:rPr dirty="0" spc="-10"/>
              <a:t>concerns</a:t>
            </a:r>
            <a:r>
              <a:rPr dirty="0" spc="-25"/>
              <a:t> </a:t>
            </a:r>
            <a:r>
              <a:rPr dirty="0"/>
              <a:t>on</a:t>
            </a:r>
            <a:r>
              <a:rPr dirty="0" spc="-45"/>
              <a:t> </a:t>
            </a:r>
            <a:r>
              <a:rPr dirty="0"/>
              <a:t>the</a:t>
            </a:r>
            <a:r>
              <a:rPr dirty="0" spc="-30"/>
              <a:t> </a:t>
            </a:r>
            <a:r>
              <a:rPr dirty="0" spc="-10"/>
              <a:t>ability</a:t>
            </a:r>
            <a:r>
              <a:rPr dirty="0" spc="-40"/>
              <a:t> </a:t>
            </a:r>
            <a:r>
              <a:rPr dirty="0"/>
              <a:t>of</a:t>
            </a:r>
            <a:r>
              <a:rPr dirty="0" spc="-30"/>
              <a:t> </a:t>
            </a:r>
            <a:r>
              <a:rPr dirty="0"/>
              <a:t>the</a:t>
            </a:r>
            <a:r>
              <a:rPr dirty="0" spc="-45"/>
              <a:t> </a:t>
            </a:r>
            <a:r>
              <a:rPr dirty="0"/>
              <a:t>CBN</a:t>
            </a:r>
            <a:r>
              <a:rPr dirty="0" spc="-20"/>
              <a:t> </a:t>
            </a:r>
            <a:r>
              <a:rPr dirty="0"/>
              <a:t>to</a:t>
            </a:r>
            <a:r>
              <a:rPr dirty="0" spc="-35"/>
              <a:t> </a:t>
            </a:r>
            <a:r>
              <a:rPr dirty="0" spc="-10"/>
              <a:t>enforce</a:t>
            </a:r>
            <a:r>
              <a:rPr dirty="0" spc="-40"/>
              <a:t> </a:t>
            </a:r>
            <a:r>
              <a:rPr dirty="0"/>
              <a:t>the</a:t>
            </a:r>
            <a:r>
              <a:rPr dirty="0" spc="-45"/>
              <a:t> </a:t>
            </a:r>
            <a:r>
              <a:rPr dirty="0" spc="-10"/>
              <a:t>directive.</a:t>
            </a:r>
            <a:r>
              <a:rPr dirty="0"/>
              <a:t> </a:t>
            </a:r>
            <a:r>
              <a:rPr dirty="0" b="1">
                <a:latin typeface="Arial"/>
                <a:cs typeface="Arial"/>
              </a:rPr>
              <a:t>Enforcing</a:t>
            </a:r>
            <a:r>
              <a:rPr dirty="0" spc="-3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this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directive</a:t>
            </a:r>
            <a:r>
              <a:rPr dirty="0" spc="-3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may</a:t>
            </a:r>
            <a:r>
              <a:rPr dirty="0" spc="-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help</a:t>
            </a:r>
            <a:r>
              <a:rPr dirty="0" spc="-3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narrow</a:t>
            </a:r>
            <a:r>
              <a:rPr dirty="0" spc="-3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the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gap</a:t>
            </a:r>
            <a:r>
              <a:rPr dirty="0" spc="-3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between</a:t>
            </a:r>
            <a:r>
              <a:rPr dirty="0" spc="-5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the</a:t>
            </a:r>
            <a:r>
              <a:rPr dirty="0" spc="-35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official </a:t>
            </a:r>
            <a:r>
              <a:rPr dirty="0" b="1">
                <a:latin typeface="Arial"/>
                <a:cs typeface="Arial"/>
              </a:rPr>
              <a:t>exchange</a:t>
            </a:r>
            <a:r>
              <a:rPr dirty="0" spc="-3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rate</a:t>
            </a:r>
            <a:r>
              <a:rPr dirty="0" spc="-1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and</a:t>
            </a:r>
            <a:r>
              <a:rPr dirty="0" spc="-2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the</a:t>
            </a:r>
            <a:r>
              <a:rPr dirty="0" spc="-1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parallel</a:t>
            </a:r>
            <a:r>
              <a:rPr dirty="0" spc="-1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exchange</a:t>
            </a:r>
            <a:r>
              <a:rPr dirty="0" spc="-3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rate,</a:t>
            </a:r>
            <a:r>
              <a:rPr dirty="0" spc="-1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therefore</a:t>
            </a:r>
            <a:r>
              <a:rPr dirty="0" spc="-2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fostering</a:t>
            </a:r>
            <a:r>
              <a:rPr dirty="0" spc="-2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stability</a:t>
            </a:r>
            <a:r>
              <a:rPr dirty="0" spc="-2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within</a:t>
            </a:r>
            <a:r>
              <a:rPr dirty="0" spc="-4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the</a:t>
            </a:r>
            <a:r>
              <a:rPr dirty="0" spc="-2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foreign</a:t>
            </a:r>
            <a:r>
              <a:rPr dirty="0" spc="-2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exchange</a:t>
            </a:r>
            <a:r>
              <a:rPr dirty="0" spc="-3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(FX)</a:t>
            </a:r>
            <a:r>
              <a:rPr dirty="0" spc="-1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market</a:t>
            </a:r>
            <a:r>
              <a:rPr dirty="0" spc="-5" b="1">
                <a:latin typeface="Arial"/>
                <a:cs typeface="Arial"/>
              </a:rPr>
              <a:t> </a:t>
            </a:r>
            <a:r>
              <a:rPr dirty="0" b="1" i="1">
                <a:latin typeface="Arial"/>
                <a:cs typeface="Arial"/>
              </a:rPr>
              <a:t>(see</a:t>
            </a:r>
            <a:r>
              <a:rPr dirty="0" spc="-15" b="1" i="1">
                <a:latin typeface="Arial"/>
                <a:cs typeface="Arial"/>
              </a:rPr>
              <a:t> </a:t>
            </a:r>
            <a:r>
              <a:rPr dirty="0" b="1" i="1">
                <a:latin typeface="Arial"/>
                <a:cs typeface="Arial"/>
              </a:rPr>
              <a:t>Page</a:t>
            </a:r>
            <a:r>
              <a:rPr dirty="0" spc="-15" b="1" i="1">
                <a:latin typeface="Arial"/>
                <a:cs typeface="Arial"/>
              </a:rPr>
              <a:t> </a:t>
            </a:r>
            <a:r>
              <a:rPr dirty="0" b="1" i="1">
                <a:latin typeface="Arial"/>
                <a:cs typeface="Arial"/>
              </a:rPr>
              <a:t>27</a:t>
            </a:r>
            <a:r>
              <a:rPr dirty="0" spc="-20" b="1" i="1">
                <a:latin typeface="Arial"/>
                <a:cs typeface="Arial"/>
              </a:rPr>
              <a:t> </a:t>
            </a:r>
            <a:r>
              <a:rPr dirty="0" spc="-25" b="1" i="1">
                <a:latin typeface="Arial"/>
                <a:cs typeface="Arial"/>
              </a:rPr>
              <a:t>for </a:t>
            </a:r>
            <a:r>
              <a:rPr dirty="0" b="1" i="1">
                <a:latin typeface="Arial"/>
                <a:cs typeface="Arial"/>
              </a:rPr>
              <a:t>recommendations</a:t>
            </a:r>
            <a:r>
              <a:rPr dirty="0" spc="-25" b="1" i="1">
                <a:latin typeface="Arial"/>
                <a:cs typeface="Arial"/>
              </a:rPr>
              <a:t> </a:t>
            </a:r>
            <a:r>
              <a:rPr dirty="0" b="1" i="1">
                <a:latin typeface="Arial"/>
                <a:cs typeface="Arial"/>
              </a:rPr>
              <a:t>on</a:t>
            </a:r>
            <a:r>
              <a:rPr dirty="0" spc="-25" b="1" i="1">
                <a:latin typeface="Arial"/>
                <a:cs typeface="Arial"/>
              </a:rPr>
              <a:t> </a:t>
            </a:r>
            <a:r>
              <a:rPr dirty="0" b="1" i="1">
                <a:latin typeface="Arial"/>
                <a:cs typeface="Arial"/>
              </a:rPr>
              <a:t>closing</a:t>
            </a:r>
            <a:r>
              <a:rPr dirty="0" spc="-35" b="1" i="1">
                <a:latin typeface="Arial"/>
                <a:cs typeface="Arial"/>
              </a:rPr>
              <a:t> </a:t>
            </a:r>
            <a:r>
              <a:rPr dirty="0" b="1" i="1">
                <a:latin typeface="Arial"/>
                <a:cs typeface="Arial"/>
              </a:rPr>
              <a:t>the</a:t>
            </a:r>
            <a:r>
              <a:rPr dirty="0" spc="-30" b="1" i="1">
                <a:latin typeface="Arial"/>
                <a:cs typeface="Arial"/>
              </a:rPr>
              <a:t> </a:t>
            </a:r>
            <a:r>
              <a:rPr dirty="0" spc="-20" b="1" i="1">
                <a:latin typeface="Arial"/>
                <a:cs typeface="Arial"/>
              </a:rPr>
              <a:t>gap)</a:t>
            </a:r>
          </a:p>
          <a:p>
            <a:pPr marL="12700">
              <a:lnSpc>
                <a:spcPct val="100000"/>
              </a:lnSpc>
            </a:pPr>
            <a:r>
              <a:rPr dirty="0" b="1">
                <a:solidFill>
                  <a:srgbClr val="C00000"/>
                </a:solidFill>
                <a:latin typeface="Arial"/>
                <a:cs typeface="Arial"/>
              </a:rPr>
              <a:t>CBN</a:t>
            </a:r>
            <a:r>
              <a:rPr dirty="0" spc="-6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pc="-10" b="1">
                <a:solidFill>
                  <a:srgbClr val="C00000"/>
                </a:solidFill>
                <a:latin typeface="Arial"/>
                <a:cs typeface="Arial"/>
              </a:rPr>
              <a:t>introduces</a:t>
            </a:r>
            <a:r>
              <a:rPr dirty="0" spc="-4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b="1">
                <a:solidFill>
                  <a:srgbClr val="C00000"/>
                </a:solidFill>
                <a:latin typeface="Arial"/>
                <a:cs typeface="Arial"/>
              </a:rPr>
              <a:t>new</a:t>
            </a:r>
            <a:r>
              <a:rPr dirty="0" spc="-6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pc="-10" b="1">
                <a:solidFill>
                  <a:srgbClr val="C00000"/>
                </a:solidFill>
                <a:latin typeface="Arial"/>
                <a:cs typeface="Arial"/>
              </a:rPr>
              <a:t>policies:</a:t>
            </a:r>
          </a:p>
          <a:p>
            <a:pPr marL="102235" marR="5080" indent="-90170">
              <a:lnSpc>
                <a:spcPct val="100000"/>
              </a:lnSpc>
              <a:buChar char="•"/>
              <a:tabLst>
                <a:tab pos="103505" algn="l"/>
              </a:tabLst>
            </a:pPr>
            <a:r>
              <a:rPr dirty="0"/>
              <a:t>The</a:t>
            </a:r>
            <a:r>
              <a:rPr dirty="0" spc="-35"/>
              <a:t> </a:t>
            </a:r>
            <a:r>
              <a:rPr dirty="0" spc="-20"/>
              <a:t>reintroduction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 spc="-10"/>
              <a:t>Bureau</a:t>
            </a:r>
            <a:r>
              <a:rPr dirty="0" spc="-35"/>
              <a:t> </a:t>
            </a:r>
            <a:r>
              <a:rPr dirty="0"/>
              <a:t>De</a:t>
            </a:r>
            <a:r>
              <a:rPr dirty="0" spc="-30"/>
              <a:t> </a:t>
            </a:r>
            <a:r>
              <a:rPr dirty="0" spc="-10"/>
              <a:t>Change</a:t>
            </a:r>
            <a:r>
              <a:rPr dirty="0" spc="-2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 spc="-10"/>
              <a:t>increase</a:t>
            </a:r>
            <a:r>
              <a:rPr dirty="0" spc="-35"/>
              <a:t> </a:t>
            </a:r>
            <a:r>
              <a:rPr dirty="0"/>
              <a:t>the</a:t>
            </a:r>
            <a:r>
              <a:rPr dirty="0" spc="-30"/>
              <a:t> </a:t>
            </a:r>
            <a:r>
              <a:rPr dirty="0" spc="-10"/>
              <a:t>supply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 spc="-10"/>
              <a:t>foreign</a:t>
            </a:r>
            <a:r>
              <a:rPr dirty="0" spc="-35"/>
              <a:t> </a:t>
            </a:r>
            <a:r>
              <a:rPr dirty="0" spc="-10"/>
              <a:t>exchange,</a:t>
            </a:r>
            <a:r>
              <a:rPr dirty="0" spc="-40"/>
              <a:t> </a:t>
            </a:r>
            <a:r>
              <a:rPr dirty="0" spc="-10"/>
              <a:t>reduce</a:t>
            </a:r>
            <a:r>
              <a:rPr dirty="0" spc="-30"/>
              <a:t> </a:t>
            </a:r>
            <a:r>
              <a:rPr dirty="0"/>
              <a:t>the</a:t>
            </a:r>
            <a:r>
              <a:rPr dirty="0" spc="-30"/>
              <a:t> </a:t>
            </a:r>
            <a:r>
              <a:rPr dirty="0" spc="-10"/>
              <a:t>divergence</a:t>
            </a:r>
            <a:r>
              <a:rPr dirty="0" spc="-25"/>
              <a:t> </a:t>
            </a:r>
            <a:r>
              <a:rPr dirty="0" spc="-10"/>
              <a:t>between</a:t>
            </a:r>
            <a:r>
              <a:rPr dirty="0" spc="-30"/>
              <a:t> </a:t>
            </a:r>
            <a:r>
              <a:rPr dirty="0"/>
              <a:t>the</a:t>
            </a:r>
            <a:r>
              <a:rPr dirty="0" spc="-30"/>
              <a:t> </a:t>
            </a:r>
            <a:r>
              <a:rPr dirty="0" spc="-10"/>
              <a:t>forex</a:t>
            </a:r>
            <a:r>
              <a:rPr dirty="0" spc="-40"/>
              <a:t> </a:t>
            </a:r>
            <a:r>
              <a:rPr dirty="0" spc="-10"/>
              <a:t>markets</a:t>
            </a:r>
            <a:r>
              <a:rPr dirty="0" spc="-25"/>
              <a:t> </a:t>
            </a:r>
            <a:r>
              <a:rPr dirty="0"/>
              <a:t>and</a:t>
            </a:r>
            <a:r>
              <a:rPr dirty="0" spc="-30"/>
              <a:t> </a:t>
            </a:r>
            <a:r>
              <a:rPr dirty="0" spc="-10"/>
              <a:t>strengthen </a:t>
            </a:r>
            <a:r>
              <a:rPr dirty="0" spc="-10"/>
              <a:t>	</a:t>
            </a:r>
            <a:r>
              <a:rPr dirty="0"/>
              <a:t>the</a:t>
            </a:r>
            <a:r>
              <a:rPr dirty="0" spc="-35"/>
              <a:t> </a:t>
            </a:r>
            <a:r>
              <a:rPr dirty="0" spc="-10"/>
              <a:t>Naira</a:t>
            </a:r>
            <a:r>
              <a:rPr dirty="0" spc="-35"/>
              <a:t> </a:t>
            </a:r>
            <a:r>
              <a:rPr dirty="0"/>
              <a:t>in</a:t>
            </a:r>
            <a:r>
              <a:rPr dirty="0" spc="-45"/>
              <a:t> </a:t>
            </a:r>
            <a:r>
              <a:rPr dirty="0"/>
              <a:t>the</a:t>
            </a:r>
            <a:r>
              <a:rPr dirty="0" spc="-35"/>
              <a:t> </a:t>
            </a:r>
            <a:r>
              <a:rPr dirty="0" spc="-10"/>
              <a:t>medium</a:t>
            </a:r>
            <a:r>
              <a:rPr dirty="0" spc="-35"/>
              <a:t> </a:t>
            </a:r>
            <a:r>
              <a:rPr dirty="0"/>
              <a:t>to</a:t>
            </a:r>
            <a:r>
              <a:rPr dirty="0" spc="-35"/>
              <a:t> </a:t>
            </a:r>
            <a:r>
              <a:rPr dirty="0" spc="-20"/>
              <a:t>long-</a:t>
            </a:r>
            <a:r>
              <a:rPr dirty="0"/>
              <a:t>term.</a:t>
            </a:r>
            <a:r>
              <a:rPr dirty="0" spc="-10"/>
              <a:t> This</a:t>
            </a:r>
            <a:r>
              <a:rPr dirty="0" spc="-40"/>
              <a:t> </a:t>
            </a:r>
            <a:r>
              <a:rPr dirty="0" spc="-10"/>
              <a:t>raises</a:t>
            </a:r>
            <a:r>
              <a:rPr dirty="0" spc="-30"/>
              <a:t> </a:t>
            </a:r>
            <a:r>
              <a:rPr dirty="0" spc="-10"/>
              <a:t>concerns</a:t>
            </a:r>
            <a:r>
              <a:rPr dirty="0" spc="-40"/>
              <a:t> </a:t>
            </a:r>
            <a:r>
              <a:rPr dirty="0"/>
              <a:t>over</a:t>
            </a:r>
            <a:r>
              <a:rPr dirty="0" spc="-30"/>
              <a:t> </a:t>
            </a:r>
            <a:r>
              <a:rPr dirty="0"/>
              <a:t>the</a:t>
            </a:r>
            <a:r>
              <a:rPr dirty="0" spc="-35"/>
              <a:t> </a:t>
            </a:r>
            <a:r>
              <a:rPr dirty="0" spc="-10"/>
              <a:t>absence</a:t>
            </a:r>
            <a:r>
              <a:rPr dirty="0" spc="-40"/>
              <a:t> </a:t>
            </a:r>
            <a:r>
              <a:rPr dirty="0"/>
              <a:t>of</a:t>
            </a:r>
            <a:r>
              <a:rPr dirty="0" spc="-35"/>
              <a:t> </a:t>
            </a:r>
            <a:r>
              <a:rPr dirty="0" spc="-20"/>
              <a:t>long-</a:t>
            </a:r>
            <a:r>
              <a:rPr dirty="0"/>
              <a:t>term</a:t>
            </a:r>
            <a:r>
              <a:rPr dirty="0" spc="-30"/>
              <a:t> </a:t>
            </a:r>
            <a:r>
              <a:rPr dirty="0" spc="-10"/>
              <a:t>planning</a:t>
            </a:r>
            <a:r>
              <a:rPr dirty="0" spc="-30"/>
              <a:t> </a:t>
            </a:r>
            <a:r>
              <a:rPr dirty="0"/>
              <a:t>by</a:t>
            </a:r>
            <a:r>
              <a:rPr dirty="0" spc="-40"/>
              <a:t> </a:t>
            </a:r>
            <a:r>
              <a:rPr dirty="0"/>
              <a:t>the</a:t>
            </a:r>
            <a:r>
              <a:rPr dirty="0" spc="-30"/>
              <a:t> </a:t>
            </a:r>
            <a:r>
              <a:rPr dirty="0" spc="-10"/>
              <a:t>monetary</a:t>
            </a:r>
            <a:r>
              <a:rPr dirty="0" spc="-15"/>
              <a:t> </a:t>
            </a:r>
            <a:r>
              <a:rPr dirty="0" spc="-10"/>
              <a:t>policy</a:t>
            </a:r>
            <a:r>
              <a:rPr dirty="0" spc="-40"/>
              <a:t> </a:t>
            </a:r>
            <a:r>
              <a:rPr dirty="0" spc="-10"/>
              <a:t>authority.</a:t>
            </a:r>
          </a:p>
          <a:p>
            <a:pPr marL="103505" indent="-90805">
              <a:lnSpc>
                <a:spcPct val="100000"/>
              </a:lnSpc>
              <a:buChar char="•"/>
              <a:tabLst>
                <a:tab pos="103505" algn="l"/>
              </a:tabLst>
            </a:pPr>
            <a:r>
              <a:rPr dirty="0"/>
              <a:t>The</a:t>
            </a:r>
            <a:r>
              <a:rPr dirty="0" spc="-45"/>
              <a:t> </a:t>
            </a:r>
            <a:r>
              <a:rPr dirty="0" spc="-10"/>
              <a:t>launch</a:t>
            </a:r>
            <a:r>
              <a:rPr dirty="0" spc="-5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a</a:t>
            </a:r>
            <a:r>
              <a:rPr dirty="0" spc="-50"/>
              <a:t> </a:t>
            </a:r>
            <a:r>
              <a:rPr dirty="0" spc="-10"/>
              <a:t>Foreign</a:t>
            </a:r>
            <a:r>
              <a:rPr dirty="0" spc="-40"/>
              <a:t> </a:t>
            </a:r>
            <a:r>
              <a:rPr dirty="0" spc="-10"/>
              <a:t>Exchange</a:t>
            </a:r>
            <a:r>
              <a:rPr dirty="0" spc="-45"/>
              <a:t> </a:t>
            </a:r>
            <a:r>
              <a:rPr dirty="0"/>
              <a:t>(FX)</a:t>
            </a:r>
            <a:r>
              <a:rPr dirty="0" spc="-20"/>
              <a:t> </a:t>
            </a:r>
            <a:r>
              <a:rPr dirty="0" spc="-10"/>
              <a:t>Price</a:t>
            </a:r>
            <a:r>
              <a:rPr dirty="0" spc="-45"/>
              <a:t> </a:t>
            </a:r>
            <a:r>
              <a:rPr dirty="0" spc="-10"/>
              <a:t>Verification</a:t>
            </a:r>
            <a:r>
              <a:rPr dirty="0" spc="-40"/>
              <a:t> </a:t>
            </a:r>
            <a:r>
              <a:rPr dirty="0" spc="-10"/>
              <a:t>System</a:t>
            </a:r>
            <a:r>
              <a:rPr dirty="0" spc="-40"/>
              <a:t> </a:t>
            </a:r>
            <a:r>
              <a:rPr dirty="0"/>
              <a:t>(PVS)</a:t>
            </a:r>
            <a:r>
              <a:rPr dirty="0" spc="-25"/>
              <a:t> </a:t>
            </a:r>
            <a:r>
              <a:rPr dirty="0"/>
              <a:t>to</a:t>
            </a:r>
            <a:r>
              <a:rPr dirty="0" spc="-50"/>
              <a:t> </a:t>
            </a:r>
            <a:r>
              <a:rPr dirty="0" spc="-10"/>
              <a:t>enable</a:t>
            </a:r>
            <a:r>
              <a:rPr dirty="0" spc="-40"/>
              <a:t> </a:t>
            </a:r>
            <a:r>
              <a:rPr dirty="0" spc="-10"/>
              <a:t>importers</a:t>
            </a:r>
            <a:r>
              <a:rPr dirty="0" spc="-30"/>
              <a:t> </a:t>
            </a:r>
            <a:r>
              <a:rPr dirty="0"/>
              <a:t>gain</a:t>
            </a:r>
            <a:r>
              <a:rPr dirty="0" spc="-40"/>
              <a:t> </a:t>
            </a:r>
            <a:r>
              <a:rPr dirty="0" spc="-10"/>
              <a:t>access</a:t>
            </a:r>
            <a:r>
              <a:rPr dirty="0" spc="-50"/>
              <a:t> </a:t>
            </a:r>
            <a:r>
              <a:rPr dirty="0"/>
              <a:t>to</a:t>
            </a:r>
            <a:r>
              <a:rPr dirty="0" spc="-50"/>
              <a:t> </a:t>
            </a:r>
            <a:r>
              <a:rPr dirty="0" spc="-10"/>
              <a:t>forex.</a:t>
            </a:r>
            <a:r>
              <a:rPr dirty="0" spc="-40"/>
              <a:t> </a:t>
            </a:r>
            <a:r>
              <a:rPr dirty="0" b="1">
                <a:latin typeface="Arial"/>
                <a:cs typeface="Arial"/>
              </a:rPr>
              <a:t>This</a:t>
            </a:r>
            <a:r>
              <a:rPr dirty="0" spc="-5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may</a:t>
            </a:r>
            <a:r>
              <a:rPr dirty="0" spc="-3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help</a:t>
            </a:r>
            <a:r>
              <a:rPr dirty="0" spc="-45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regularise</a:t>
            </a:r>
            <a:r>
              <a:rPr dirty="0" spc="-20" b="1">
                <a:latin typeface="Arial"/>
                <a:cs typeface="Arial"/>
              </a:rPr>
              <a:t> </a:t>
            </a:r>
            <a:r>
              <a:rPr dirty="0" spc="-25" b="1">
                <a:latin typeface="Arial"/>
                <a:cs typeface="Arial"/>
              </a:rPr>
              <a:t>and</a:t>
            </a:r>
          </a:p>
          <a:p>
            <a:pPr marL="103505">
              <a:lnSpc>
                <a:spcPct val="100000"/>
              </a:lnSpc>
            </a:pPr>
            <a:r>
              <a:rPr dirty="0" spc="-10" b="1">
                <a:latin typeface="Arial"/>
                <a:cs typeface="Arial"/>
              </a:rPr>
              <a:t>standardise</a:t>
            </a:r>
            <a:r>
              <a:rPr dirty="0" spc="-3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the</a:t>
            </a:r>
            <a:r>
              <a:rPr dirty="0" spc="-50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prices</a:t>
            </a:r>
            <a:r>
              <a:rPr dirty="0" spc="-3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of</a:t>
            </a:r>
            <a:r>
              <a:rPr dirty="0" spc="-50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goods</a:t>
            </a:r>
            <a:r>
              <a:rPr dirty="0" spc="-4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and</a:t>
            </a:r>
            <a:r>
              <a:rPr dirty="0" spc="-50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services</a:t>
            </a:r>
            <a:r>
              <a:rPr dirty="0" spc="-3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that</a:t>
            </a:r>
            <a:r>
              <a:rPr dirty="0" spc="-40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people</a:t>
            </a:r>
            <a:r>
              <a:rPr dirty="0" spc="-4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wish</a:t>
            </a:r>
            <a:r>
              <a:rPr dirty="0" spc="-6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to</a:t>
            </a:r>
            <a:r>
              <a:rPr dirty="0" spc="-55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import,</a:t>
            </a:r>
            <a:r>
              <a:rPr dirty="0" spc="-15" b="1">
                <a:latin typeface="Arial"/>
                <a:cs typeface="Arial"/>
              </a:rPr>
              <a:t> </a:t>
            </a:r>
            <a:r>
              <a:rPr dirty="0" spc="-20" b="1">
                <a:latin typeface="Arial"/>
                <a:cs typeface="Arial"/>
              </a:rPr>
              <a:t>potentially</a:t>
            </a:r>
            <a:r>
              <a:rPr dirty="0" spc="-30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reducing</a:t>
            </a:r>
            <a:r>
              <a:rPr dirty="0" spc="-3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the</a:t>
            </a:r>
            <a:r>
              <a:rPr dirty="0" spc="-45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demand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for</a:t>
            </a:r>
            <a:r>
              <a:rPr dirty="0" spc="-4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the</a:t>
            </a:r>
            <a:r>
              <a:rPr dirty="0" spc="-45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dollar</a:t>
            </a:r>
            <a:r>
              <a:rPr dirty="0" spc="-30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within</a:t>
            </a:r>
            <a:r>
              <a:rPr dirty="0" spc="-5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the</a:t>
            </a:r>
            <a:r>
              <a:rPr dirty="0" spc="-45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economy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1844167" y="1634439"/>
            <a:ext cx="7734300" cy="762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3505" indent="-90805">
              <a:lnSpc>
                <a:spcPct val="100000"/>
              </a:lnSpc>
              <a:spcBef>
                <a:spcPts val="100"/>
              </a:spcBef>
              <a:buChar char="•"/>
              <a:tabLst>
                <a:tab pos="103505" algn="l"/>
              </a:tabLst>
            </a:pPr>
            <a:r>
              <a:rPr dirty="0" sz="950">
                <a:latin typeface="Arial MT"/>
                <a:cs typeface="Arial MT"/>
              </a:rPr>
              <a:t>Public</a:t>
            </a:r>
            <a:r>
              <a:rPr dirty="0" sz="950" spc="-2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debt</a:t>
            </a:r>
            <a:r>
              <a:rPr dirty="0" sz="950" spc="-1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rose</a:t>
            </a:r>
            <a:r>
              <a:rPr dirty="0" sz="950" spc="-1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by 4.6%</a:t>
            </a:r>
            <a:r>
              <a:rPr dirty="0" sz="950" spc="-15">
                <a:latin typeface="Arial MT"/>
                <a:cs typeface="Arial MT"/>
              </a:rPr>
              <a:t> </a:t>
            </a:r>
            <a:r>
              <a:rPr dirty="0" sz="950" spc="-10">
                <a:latin typeface="Arial MT"/>
                <a:cs typeface="Arial MT"/>
              </a:rPr>
              <a:t>Q-o-</a:t>
            </a:r>
            <a:r>
              <a:rPr dirty="0" sz="950">
                <a:latin typeface="Arial MT"/>
                <a:cs typeface="Arial MT"/>
              </a:rPr>
              <a:t>Q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to $113bn</a:t>
            </a:r>
            <a:r>
              <a:rPr dirty="0" sz="950" spc="-2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in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Q2 2023</a:t>
            </a:r>
            <a:r>
              <a:rPr dirty="0" sz="950" spc="-1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from</a:t>
            </a:r>
            <a:r>
              <a:rPr dirty="0" sz="950" spc="-2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$108bn</a:t>
            </a:r>
            <a:r>
              <a:rPr dirty="0" sz="950" spc="-3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in</a:t>
            </a:r>
            <a:r>
              <a:rPr dirty="0" sz="950" spc="-1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Q1</a:t>
            </a:r>
            <a:r>
              <a:rPr dirty="0" sz="950" spc="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2023.</a:t>
            </a:r>
            <a:r>
              <a:rPr dirty="0" sz="950" spc="-3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The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rise</a:t>
            </a:r>
            <a:r>
              <a:rPr dirty="0" sz="950" spc="-1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in</a:t>
            </a:r>
            <a:r>
              <a:rPr dirty="0" sz="950" spc="-1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public</a:t>
            </a:r>
            <a:r>
              <a:rPr dirty="0" sz="950" spc="-2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debt</a:t>
            </a:r>
            <a:r>
              <a:rPr dirty="0" sz="950" spc="-2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is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attributed</a:t>
            </a:r>
            <a:r>
              <a:rPr dirty="0" sz="950" spc="-3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to the securitisation</a:t>
            </a:r>
            <a:r>
              <a:rPr dirty="0" sz="950" spc="-4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of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 spc="-20">
                <a:latin typeface="Arial MT"/>
                <a:cs typeface="Arial MT"/>
              </a:rPr>
              <a:t>ways</a:t>
            </a:r>
            <a:endParaRPr sz="950">
              <a:latin typeface="Arial MT"/>
              <a:cs typeface="Arial MT"/>
            </a:endParaRPr>
          </a:p>
          <a:p>
            <a:pPr marL="103505">
              <a:lnSpc>
                <a:spcPct val="100000"/>
              </a:lnSpc>
            </a:pPr>
            <a:r>
              <a:rPr dirty="0" sz="950">
                <a:latin typeface="Arial MT"/>
                <a:cs typeface="Arial MT"/>
              </a:rPr>
              <a:t>and</a:t>
            </a:r>
            <a:r>
              <a:rPr dirty="0" sz="950" spc="-1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means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(N22.7tn),</a:t>
            </a:r>
            <a:r>
              <a:rPr dirty="0" sz="950" spc="-20">
                <a:latin typeface="Arial MT"/>
                <a:cs typeface="Arial MT"/>
              </a:rPr>
              <a:t> </a:t>
            </a:r>
            <a:r>
              <a:rPr dirty="0" sz="950" b="1">
                <a:latin typeface="Arial"/>
                <a:cs typeface="Arial"/>
              </a:rPr>
              <a:t>a</a:t>
            </a:r>
            <a:r>
              <a:rPr dirty="0" sz="950" spc="-1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67%</a:t>
            </a:r>
            <a:r>
              <a:rPr dirty="0" sz="950" spc="-1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depreciation</a:t>
            </a:r>
            <a:r>
              <a:rPr dirty="0" sz="950" spc="-1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of</a:t>
            </a:r>
            <a:r>
              <a:rPr dirty="0" sz="950" spc="-1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the</a:t>
            </a:r>
            <a:r>
              <a:rPr dirty="0" sz="950" spc="-2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naira</a:t>
            </a:r>
            <a:r>
              <a:rPr dirty="0" sz="950" spc="-1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which</a:t>
            </a:r>
            <a:r>
              <a:rPr dirty="0" sz="950" spc="-5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resulted</a:t>
            </a:r>
            <a:r>
              <a:rPr dirty="0" sz="950" spc="-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in</a:t>
            </a:r>
            <a:r>
              <a:rPr dirty="0" sz="950" spc="-2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the</a:t>
            </a:r>
            <a:r>
              <a:rPr dirty="0" sz="950" spc="-1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increase</a:t>
            </a:r>
            <a:r>
              <a:rPr dirty="0" sz="950" spc="-3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of</a:t>
            </a:r>
            <a:r>
              <a:rPr dirty="0" sz="950" spc="-1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total</a:t>
            </a:r>
            <a:r>
              <a:rPr dirty="0" sz="950" spc="-1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debt</a:t>
            </a:r>
            <a:r>
              <a:rPr dirty="0" sz="950" spc="-2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by</a:t>
            </a:r>
            <a:r>
              <a:rPr dirty="0" sz="950" spc="-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$5bn</a:t>
            </a:r>
            <a:r>
              <a:rPr dirty="0" sz="950" spc="-20" b="1">
                <a:latin typeface="Arial"/>
                <a:cs typeface="Arial"/>
              </a:rPr>
              <a:t> </a:t>
            </a:r>
            <a:r>
              <a:rPr dirty="0" sz="950" i="1">
                <a:latin typeface="Arial"/>
                <a:cs typeface="Arial"/>
              </a:rPr>
              <a:t>(see</a:t>
            </a:r>
            <a:r>
              <a:rPr dirty="0" sz="950" spc="-15" i="1">
                <a:latin typeface="Arial"/>
                <a:cs typeface="Arial"/>
              </a:rPr>
              <a:t> </a:t>
            </a:r>
            <a:r>
              <a:rPr dirty="0" sz="950" i="1">
                <a:latin typeface="Arial"/>
                <a:cs typeface="Arial"/>
              </a:rPr>
              <a:t>Page</a:t>
            </a:r>
            <a:r>
              <a:rPr dirty="0" sz="950" spc="-15" i="1">
                <a:latin typeface="Arial"/>
                <a:cs typeface="Arial"/>
              </a:rPr>
              <a:t> </a:t>
            </a:r>
            <a:r>
              <a:rPr dirty="0" sz="950" spc="-35" i="1">
                <a:latin typeface="Arial"/>
                <a:cs typeface="Arial"/>
              </a:rPr>
              <a:t>6)</a:t>
            </a:r>
            <a:endParaRPr sz="950">
              <a:latin typeface="Arial"/>
              <a:cs typeface="Arial"/>
            </a:endParaRPr>
          </a:p>
          <a:p>
            <a:pPr marL="102235" marR="12065" indent="-9017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103505" algn="l"/>
              </a:tabLst>
            </a:pPr>
            <a:r>
              <a:rPr dirty="0" sz="950" b="1">
                <a:latin typeface="Arial"/>
                <a:cs typeface="Arial"/>
              </a:rPr>
              <a:t>Manufacturing,</a:t>
            </a:r>
            <a:r>
              <a:rPr dirty="0" sz="950" spc="-5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finance</a:t>
            </a:r>
            <a:r>
              <a:rPr dirty="0" sz="950" spc="-2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&amp;</a:t>
            </a:r>
            <a:r>
              <a:rPr dirty="0" sz="950" spc="-2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insurance</a:t>
            </a:r>
            <a:r>
              <a:rPr dirty="0" sz="950" spc="-3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activities</a:t>
            </a:r>
            <a:r>
              <a:rPr dirty="0" sz="950" spc="-2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and</a:t>
            </a:r>
            <a:r>
              <a:rPr dirty="0" sz="950" spc="-2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information</a:t>
            </a:r>
            <a:r>
              <a:rPr dirty="0" sz="950" spc="-2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and</a:t>
            </a:r>
            <a:r>
              <a:rPr dirty="0" sz="950" spc="-2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communication</a:t>
            </a:r>
            <a:r>
              <a:rPr dirty="0" sz="950" spc="-2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accounted</a:t>
            </a:r>
            <a:r>
              <a:rPr dirty="0" sz="950" spc="-4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for</a:t>
            </a:r>
            <a:r>
              <a:rPr dirty="0" sz="950" spc="-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45%</a:t>
            </a:r>
            <a:r>
              <a:rPr dirty="0" sz="950" spc="-2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of</a:t>
            </a:r>
            <a:r>
              <a:rPr dirty="0" sz="950" spc="-2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total</a:t>
            </a:r>
            <a:r>
              <a:rPr dirty="0" sz="950" spc="-2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collection</a:t>
            </a:r>
            <a:r>
              <a:rPr dirty="0" sz="950" spc="-3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of</a:t>
            </a:r>
            <a:r>
              <a:rPr dirty="0" sz="950" spc="-3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CIT</a:t>
            </a:r>
            <a:r>
              <a:rPr dirty="0" sz="950" spc="-1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&amp;</a:t>
            </a:r>
            <a:r>
              <a:rPr dirty="0" sz="950" spc="-5" b="1">
                <a:latin typeface="Arial"/>
                <a:cs typeface="Arial"/>
              </a:rPr>
              <a:t> </a:t>
            </a:r>
            <a:r>
              <a:rPr dirty="0" sz="950" spc="-20" b="1">
                <a:latin typeface="Arial"/>
                <a:cs typeface="Arial"/>
              </a:rPr>
              <a:t>VAT. </a:t>
            </a:r>
            <a:r>
              <a:rPr dirty="0" sz="950" spc="-20" b="1">
                <a:latin typeface="Arial"/>
                <a:cs typeface="Arial"/>
              </a:rPr>
              <a:t>	</a:t>
            </a:r>
            <a:r>
              <a:rPr dirty="0" sz="950">
                <a:latin typeface="Arial MT"/>
                <a:cs typeface="Arial MT"/>
              </a:rPr>
              <a:t>It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implies</a:t>
            </a:r>
            <a:r>
              <a:rPr dirty="0" sz="950" spc="-2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that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revenue collection</a:t>
            </a:r>
            <a:r>
              <a:rPr dirty="0" sz="950" spc="-3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is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not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well diversified</a:t>
            </a:r>
            <a:r>
              <a:rPr dirty="0" sz="950" spc="-3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across</a:t>
            </a:r>
            <a:r>
              <a:rPr dirty="0" sz="950" spc="-2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the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21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sectors</a:t>
            </a:r>
            <a:r>
              <a:rPr dirty="0" sz="950" spc="-2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of the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economy.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This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may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have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implications</a:t>
            </a:r>
            <a:r>
              <a:rPr dirty="0" sz="950" spc="-3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for</a:t>
            </a:r>
            <a:r>
              <a:rPr dirty="0" sz="950" spc="-1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reaching</a:t>
            </a:r>
            <a:r>
              <a:rPr dirty="0" sz="950" spc="-25">
                <a:latin typeface="Arial MT"/>
                <a:cs typeface="Arial MT"/>
              </a:rPr>
              <a:t> the </a:t>
            </a:r>
            <a:r>
              <a:rPr dirty="0" sz="950" spc="-25">
                <a:latin typeface="Arial MT"/>
                <a:cs typeface="Arial MT"/>
              </a:rPr>
              <a:t>	</a:t>
            </a:r>
            <a:r>
              <a:rPr dirty="0" sz="950">
                <a:latin typeface="Arial MT"/>
                <a:cs typeface="Arial MT"/>
              </a:rPr>
              <a:t>targeted</a:t>
            </a:r>
            <a:r>
              <a:rPr dirty="0" sz="950" spc="-3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tax</a:t>
            </a:r>
            <a:r>
              <a:rPr dirty="0" sz="950" spc="-1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to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GDP</a:t>
            </a:r>
            <a:r>
              <a:rPr dirty="0" sz="950" spc="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of</a:t>
            </a:r>
            <a:r>
              <a:rPr dirty="0" sz="950" spc="-2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18%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by</a:t>
            </a:r>
            <a:r>
              <a:rPr dirty="0" sz="950" spc="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2026</a:t>
            </a:r>
            <a:r>
              <a:rPr dirty="0" sz="950" spc="-1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and</a:t>
            </a:r>
            <a:r>
              <a:rPr dirty="0" sz="950" spc="-1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government</a:t>
            </a:r>
            <a:r>
              <a:rPr dirty="0" sz="950" spc="-1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revenue</a:t>
            </a:r>
            <a:r>
              <a:rPr dirty="0" sz="950" spc="-1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generation</a:t>
            </a:r>
            <a:r>
              <a:rPr dirty="0" sz="950" spc="-3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capacity</a:t>
            </a:r>
            <a:r>
              <a:rPr dirty="0" sz="950" spc="-2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in</a:t>
            </a:r>
            <a:r>
              <a:rPr dirty="0" sz="950" spc="-2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the</a:t>
            </a:r>
            <a:r>
              <a:rPr dirty="0" sz="950" spc="-1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short</a:t>
            </a:r>
            <a:r>
              <a:rPr dirty="0" sz="950" spc="-2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to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medium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 spc="-20">
                <a:latin typeface="Arial MT"/>
                <a:cs typeface="Arial MT"/>
              </a:rPr>
              <a:t>term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188976" y="1598625"/>
            <a:ext cx="1579245" cy="845819"/>
            <a:chOff x="188976" y="1598625"/>
            <a:chExt cx="1579245" cy="845819"/>
          </a:xfrm>
        </p:grpSpPr>
        <p:sp>
          <p:nvSpPr>
            <p:cNvPr id="11" name="object 11" descr=""/>
            <p:cNvSpPr/>
            <p:nvPr/>
          </p:nvSpPr>
          <p:spPr>
            <a:xfrm>
              <a:off x="188976" y="1598625"/>
              <a:ext cx="1579245" cy="845819"/>
            </a:xfrm>
            <a:custGeom>
              <a:avLst/>
              <a:gdLst/>
              <a:ahLst/>
              <a:cxnLst/>
              <a:rect l="l" t="t" r="r" b="b"/>
              <a:pathLst>
                <a:path w="1579245" h="845819">
                  <a:moveTo>
                    <a:pt x="1578737" y="0"/>
                  </a:moveTo>
                  <a:lnTo>
                    <a:pt x="0" y="0"/>
                  </a:lnTo>
                  <a:lnTo>
                    <a:pt x="0" y="845616"/>
                  </a:lnTo>
                  <a:lnTo>
                    <a:pt x="1578737" y="845616"/>
                  </a:lnTo>
                  <a:lnTo>
                    <a:pt x="1578737" y="0"/>
                  </a:lnTo>
                  <a:close/>
                </a:path>
              </a:pathLst>
            </a:custGeom>
            <a:solidFill>
              <a:srgbClr val="A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739139" y="1735835"/>
              <a:ext cx="300355" cy="389890"/>
            </a:xfrm>
            <a:custGeom>
              <a:avLst/>
              <a:gdLst/>
              <a:ahLst/>
              <a:cxnLst/>
              <a:rect l="l" t="t" r="r" b="b"/>
              <a:pathLst>
                <a:path w="300355" h="389889">
                  <a:moveTo>
                    <a:pt x="210642" y="0"/>
                  </a:moveTo>
                  <a:lnTo>
                    <a:pt x="21069" y="0"/>
                  </a:lnTo>
                  <a:lnTo>
                    <a:pt x="13322" y="1650"/>
                  </a:lnTo>
                  <a:lnTo>
                    <a:pt x="6578" y="6096"/>
                  </a:lnTo>
                  <a:lnTo>
                    <a:pt x="1803" y="12318"/>
                  </a:lnTo>
                  <a:lnTo>
                    <a:pt x="0" y="19558"/>
                  </a:lnTo>
                  <a:lnTo>
                    <a:pt x="0" y="365378"/>
                  </a:lnTo>
                  <a:lnTo>
                    <a:pt x="1803" y="375412"/>
                  </a:lnTo>
                  <a:lnTo>
                    <a:pt x="6578" y="383159"/>
                  </a:lnTo>
                  <a:lnTo>
                    <a:pt x="13322" y="387985"/>
                  </a:lnTo>
                  <a:lnTo>
                    <a:pt x="21069" y="389763"/>
                  </a:lnTo>
                  <a:lnTo>
                    <a:pt x="279057" y="389763"/>
                  </a:lnTo>
                  <a:lnTo>
                    <a:pt x="289026" y="387985"/>
                  </a:lnTo>
                  <a:lnTo>
                    <a:pt x="295541" y="383159"/>
                  </a:lnTo>
                  <a:lnTo>
                    <a:pt x="299072" y="375412"/>
                  </a:lnTo>
                  <a:lnTo>
                    <a:pt x="300139" y="365378"/>
                  </a:lnTo>
                  <a:lnTo>
                    <a:pt x="300139" y="112140"/>
                  </a:lnTo>
                  <a:lnTo>
                    <a:pt x="194868" y="112140"/>
                  </a:lnTo>
                  <a:lnTo>
                    <a:pt x="194868" y="14604"/>
                  </a:lnTo>
                  <a:lnTo>
                    <a:pt x="224763" y="14604"/>
                  </a:lnTo>
                  <a:lnTo>
                    <a:pt x="210642" y="0"/>
                  </a:lnTo>
                  <a:close/>
                </a:path>
                <a:path w="300355" h="389889">
                  <a:moveTo>
                    <a:pt x="289598" y="81661"/>
                  </a:moveTo>
                  <a:lnTo>
                    <a:pt x="289598" y="112140"/>
                  </a:lnTo>
                  <a:lnTo>
                    <a:pt x="300139" y="112140"/>
                  </a:lnTo>
                  <a:lnTo>
                    <a:pt x="300139" y="92583"/>
                  </a:lnTo>
                  <a:lnTo>
                    <a:pt x="289598" y="81661"/>
                  </a:lnTo>
                  <a:close/>
                </a:path>
                <a:path w="300355" h="389889">
                  <a:moveTo>
                    <a:pt x="224763" y="14604"/>
                  </a:moveTo>
                  <a:lnTo>
                    <a:pt x="200088" y="14604"/>
                  </a:lnTo>
                  <a:lnTo>
                    <a:pt x="200088" y="19558"/>
                  </a:lnTo>
                  <a:lnTo>
                    <a:pt x="221183" y="34162"/>
                  </a:lnTo>
                  <a:lnTo>
                    <a:pt x="221183" y="87756"/>
                  </a:lnTo>
                  <a:lnTo>
                    <a:pt x="268503" y="87756"/>
                  </a:lnTo>
                  <a:lnTo>
                    <a:pt x="284365" y="107187"/>
                  </a:lnTo>
                  <a:lnTo>
                    <a:pt x="289598" y="107187"/>
                  </a:lnTo>
                  <a:lnTo>
                    <a:pt x="289598" y="81661"/>
                  </a:lnTo>
                  <a:lnTo>
                    <a:pt x="224763" y="1460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188976" y="1598625"/>
            <a:ext cx="1579245" cy="845819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20"/>
              </a:spcBef>
            </a:pPr>
            <a:endParaRPr sz="1400">
              <a:latin typeface="Times New Roman"/>
              <a:cs typeface="Times New Roman"/>
            </a:endParaRPr>
          </a:p>
          <a:p>
            <a:pPr algn="ctr" marR="193040">
              <a:lnSpc>
                <a:spcPct val="100000"/>
              </a:lnSpc>
            </a:pPr>
            <a:r>
              <a:rPr dirty="0" sz="1400" spc="-50" b="1">
                <a:solidFill>
                  <a:srgbClr val="A21F1F"/>
                </a:solidFill>
                <a:latin typeface="Arial"/>
                <a:cs typeface="Arial"/>
              </a:rPr>
              <a:t>₦</a:t>
            </a:r>
            <a:endParaRPr sz="1400">
              <a:latin typeface="Arial"/>
              <a:cs typeface="Arial"/>
            </a:endParaRPr>
          </a:p>
          <a:p>
            <a:pPr marL="273050">
              <a:lnSpc>
                <a:spcPct val="100000"/>
              </a:lnSpc>
              <a:spcBef>
                <a:spcPts val="1270"/>
              </a:spcBef>
            </a:pPr>
            <a:r>
              <a:rPr dirty="0" sz="1000" b="1">
                <a:solidFill>
                  <a:srgbClr val="FFFFFF"/>
                </a:solidFill>
                <a:latin typeface="Arial"/>
                <a:cs typeface="Arial"/>
              </a:rPr>
              <a:t>Fiscal</a:t>
            </a:r>
            <a:r>
              <a:rPr dirty="0" sz="100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FFFFFF"/>
                </a:solidFill>
                <a:latin typeface="Arial"/>
                <a:cs typeface="Arial"/>
              </a:rPr>
              <a:t>dynamics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188976" y="659891"/>
            <a:ext cx="1578610" cy="830580"/>
            <a:chOff x="188976" y="659891"/>
            <a:chExt cx="1578610" cy="830580"/>
          </a:xfrm>
        </p:grpSpPr>
        <p:sp>
          <p:nvSpPr>
            <p:cNvPr id="15" name="object 15" descr=""/>
            <p:cNvSpPr/>
            <p:nvPr/>
          </p:nvSpPr>
          <p:spPr>
            <a:xfrm>
              <a:off x="188976" y="659891"/>
              <a:ext cx="1578610" cy="830580"/>
            </a:xfrm>
            <a:custGeom>
              <a:avLst/>
              <a:gdLst/>
              <a:ahLst/>
              <a:cxnLst/>
              <a:rect l="l" t="t" r="r" b="b"/>
              <a:pathLst>
                <a:path w="1578610" h="830580">
                  <a:moveTo>
                    <a:pt x="1578483" y="0"/>
                  </a:moveTo>
                  <a:lnTo>
                    <a:pt x="0" y="0"/>
                  </a:lnTo>
                  <a:lnTo>
                    <a:pt x="0" y="830579"/>
                  </a:lnTo>
                  <a:lnTo>
                    <a:pt x="1578483" y="830579"/>
                  </a:lnTo>
                  <a:lnTo>
                    <a:pt x="1578483" y="0"/>
                  </a:lnTo>
                  <a:close/>
                </a:path>
              </a:pathLst>
            </a:custGeom>
            <a:solidFill>
              <a:srgbClr val="D9395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766571" y="818387"/>
              <a:ext cx="364490" cy="273050"/>
            </a:xfrm>
            <a:custGeom>
              <a:avLst/>
              <a:gdLst/>
              <a:ahLst/>
              <a:cxnLst/>
              <a:rect l="l" t="t" r="r" b="b"/>
              <a:pathLst>
                <a:path w="364490" h="273050">
                  <a:moveTo>
                    <a:pt x="347865" y="0"/>
                  </a:moveTo>
                  <a:lnTo>
                    <a:pt x="16370" y="0"/>
                  </a:lnTo>
                  <a:lnTo>
                    <a:pt x="10236" y="2159"/>
                  </a:lnTo>
                  <a:lnTo>
                    <a:pt x="4089" y="4445"/>
                  </a:lnTo>
                  <a:lnTo>
                    <a:pt x="0" y="17652"/>
                  </a:lnTo>
                  <a:lnTo>
                    <a:pt x="0" y="255142"/>
                  </a:lnTo>
                  <a:lnTo>
                    <a:pt x="4089" y="268350"/>
                  </a:lnTo>
                  <a:lnTo>
                    <a:pt x="10236" y="270637"/>
                  </a:lnTo>
                  <a:lnTo>
                    <a:pt x="16370" y="272796"/>
                  </a:lnTo>
                  <a:lnTo>
                    <a:pt x="347865" y="272796"/>
                  </a:lnTo>
                  <a:lnTo>
                    <a:pt x="353999" y="270637"/>
                  </a:lnTo>
                  <a:lnTo>
                    <a:pt x="360146" y="268350"/>
                  </a:lnTo>
                  <a:lnTo>
                    <a:pt x="364236" y="255142"/>
                  </a:lnTo>
                  <a:lnTo>
                    <a:pt x="26606" y="255142"/>
                  </a:lnTo>
                  <a:lnTo>
                    <a:pt x="26606" y="206756"/>
                  </a:lnTo>
                  <a:lnTo>
                    <a:pt x="92087" y="206756"/>
                  </a:lnTo>
                  <a:lnTo>
                    <a:pt x="92087" y="197992"/>
                  </a:lnTo>
                  <a:lnTo>
                    <a:pt x="20459" y="197992"/>
                  </a:lnTo>
                  <a:lnTo>
                    <a:pt x="16370" y="195834"/>
                  </a:lnTo>
                  <a:lnTo>
                    <a:pt x="12280" y="193548"/>
                  </a:lnTo>
                  <a:lnTo>
                    <a:pt x="10236" y="189229"/>
                  </a:lnTo>
                  <a:lnTo>
                    <a:pt x="10236" y="182625"/>
                  </a:lnTo>
                  <a:lnTo>
                    <a:pt x="12280" y="178181"/>
                  </a:lnTo>
                  <a:lnTo>
                    <a:pt x="16370" y="176022"/>
                  </a:lnTo>
                  <a:lnTo>
                    <a:pt x="92087" y="176022"/>
                  </a:lnTo>
                  <a:lnTo>
                    <a:pt x="92087" y="167259"/>
                  </a:lnTo>
                  <a:lnTo>
                    <a:pt x="26606" y="167259"/>
                  </a:lnTo>
                  <a:lnTo>
                    <a:pt x="26606" y="17652"/>
                  </a:lnTo>
                  <a:lnTo>
                    <a:pt x="364236" y="17652"/>
                  </a:lnTo>
                  <a:lnTo>
                    <a:pt x="360146" y="4445"/>
                  </a:lnTo>
                  <a:lnTo>
                    <a:pt x="353999" y="2159"/>
                  </a:lnTo>
                  <a:lnTo>
                    <a:pt x="347865" y="0"/>
                  </a:lnTo>
                  <a:close/>
                </a:path>
                <a:path w="364490" h="273050">
                  <a:moveTo>
                    <a:pt x="92087" y="206756"/>
                  </a:moveTo>
                  <a:lnTo>
                    <a:pt x="42976" y="206756"/>
                  </a:lnTo>
                  <a:lnTo>
                    <a:pt x="42976" y="255142"/>
                  </a:lnTo>
                  <a:lnTo>
                    <a:pt x="92087" y="255142"/>
                  </a:lnTo>
                  <a:lnTo>
                    <a:pt x="92087" y="206756"/>
                  </a:lnTo>
                  <a:close/>
                </a:path>
                <a:path w="364490" h="273050">
                  <a:moveTo>
                    <a:pt x="220992" y="17652"/>
                  </a:moveTo>
                  <a:lnTo>
                    <a:pt x="171881" y="17652"/>
                  </a:lnTo>
                  <a:lnTo>
                    <a:pt x="171881" y="116586"/>
                  </a:lnTo>
                  <a:lnTo>
                    <a:pt x="108458" y="116586"/>
                  </a:lnTo>
                  <a:lnTo>
                    <a:pt x="108458" y="255142"/>
                  </a:lnTo>
                  <a:lnTo>
                    <a:pt x="155511" y="255142"/>
                  </a:lnTo>
                  <a:lnTo>
                    <a:pt x="155511" y="156210"/>
                  </a:lnTo>
                  <a:lnTo>
                    <a:pt x="220992" y="156210"/>
                  </a:lnTo>
                  <a:lnTo>
                    <a:pt x="220992" y="147447"/>
                  </a:lnTo>
                  <a:lnTo>
                    <a:pt x="145287" y="147447"/>
                  </a:lnTo>
                  <a:lnTo>
                    <a:pt x="141198" y="145161"/>
                  </a:lnTo>
                  <a:lnTo>
                    <a:pt x="139141" y="140842"/>
                  </a:lnTo>
                  <a:lnTo>
                    <a:pt x="139141" y="131952"/>
                  </a:lnTo>
                  <a:lnTo>
                    <a:pt x="141198" y="127635"/>
                  </a:lnTo>
                  <a:lnTo>
                    <a:pt x="145287" y="125349"/>
                  </a:lnTo>
                  <a:lnTo>
                    <a:pt x="220992" y="125349"/>
                  </a:lnTo>
                  <a:lnTo>
                    <a:pt x="220992" y="83565"/>
                  </a:lnTo>
                  <a:lnTo>
                    <a:pt x="364236" y="83565"/>
                  </a:lnTo>
                  <a:lnTo>
                    <a:pt x="364236" y="74802"/>
                  </a:lnTo>
                  <a:lnTo>
                    <a:pt x="208724" y="74802"/>
                  </a:lnTo>
                  <a:lnTo>
                    <a:pt x="206667" y="72644"/>
                  </a:lnTo>
                  <a:lnTo>
                    <a:pt x="202577" y="63753"/>
                  </a:lnTo>
                  <a:lnTo>
                    <a:pt x="204622" y="59436"/>
                  </a:lnTo>
                  <a:lnTo>
                    <a:pt x="206667" y="57150"/>
                  </a:lnTo>
                  <a:lnTo>
                    <a:pt x="208724" y="54990"/>
                  </a:lnTo>
                  <a:lnTo>
                    <a:pt x="212813" y="52832"/>
                  </a:lnTo>
                  <a:lnTo>
                    <a:pt x="364236" y="52832"/>
                  </a:lnTo>
                  <a:lnTo>
                    <a:pt x="364236" y="43941"/>
                  </a:lnTo>
                  <a:lnTo>
                    <a:pt x="220992" y="43941"/>
                  </a:lnTo>
                  <a:lnTo>
                    <a:pt x="220992" y="17652"/>
                  </a:lnTo>
                  <a:close/>
                </a:path>
                <a:path w="364490" h="273050">
                  <a:moveTo>
                    <a:pt x="220992" y="156210"/>
                  </a:moveTo>
                  <a:lnTo>
                    <a:pt x="171881" y="156210"/>
                  </a:lnTo>
                  <a:lnTo>
                    <a:pt x="171881" y="255142"/>
                  </a:lnTo>
                  <a:lnTo>
                    <a:pt x="220992" y="255142"/>
                  </a:lnTo>
                  <a:lnTo>
                    <a:pt x="220992" y="156210"/>
                  </a:lnTo>
                  <a:close/>
                </a:path>
                <a:path w="364490" h="273050">
                  <a:moveTo>
                    <a:pt x="364236" y="83565"/>
                  </a:moveTo>
                  <a:lnTo>
                    <a:pt x="237362" y="83565"/>
                  </a:lnTo>
                  <a:lnTo>
                    <a:pt x="237362" y="255142"/>
                  </a:lnTo>
                  <a:lnTo>
                    <a:pt x="364236" y="255142"/>
                  </a:lnTo>
                  <a:lnTo>
                    <a:pt x="364236" y="173736"/>
                  </a:lnTo>
                  <a:lnTo>
                    <a:pt x="284429" y="173736"/>
                  </a:lnTo>
                  <a:lnTo>
                    <a:pt x="284429" y="99060"/>
                  </a:lnTo>
                  <a:lnTo>
                    <a:pt x="364236" y="99060"/>
                  </a:lnTo>
                  <a:lnTo>
                    <a:pt x="364236" y="83565"/>
                  </a:lnTo>
                  <a:close/>
                </a:path>
                <a:path w="364490" h="273050">
                  <a:moveTo>
                    <a:pt x="92087" y="176022"/>
                  </a:moveTo>
                  <a:lnTo>
                    <a:pt x="55244" y="176022"/>
                  </a:lnTo>
                  <a:lnTo>
                    <a:pt x="57289" y="178181"/>
                  </a:lnTo>
                  <a:lnTo>
                    <a:pt x="61391" y="182625"/>
                  </a:lnTo>
                  <a:lnTo>
                    <a:pt x="61391" y="189229"/>
                  </a:lnTo>
                  <a:lnTo>
                    <a:pt x="57289" y="193548"/>
                  </a:lnTo>
                  <a:lnTo>
                    <a:pt x="55244" y="195834"/>
                  </a:lnTo>
                  <a:lnTo>
                    <a:pt x="51155" y="197992"/>
                  </a:lnTo>
                  <a:lnTo>
                    <a:pt x="92087" y="197992"/>
                  </a:lnTo>
                  <a:lnTo>
                    <a:pt x="92087" y="176022"/>
                  </a:lnTo>
                  <a:close/>
                </a:path>
                <a:path w="364490" h="273050">
                  <a:moveTo>
                    <a:pt x="364236" y="99060"/>
                  </a:moveTo>
                  <a:lnTo>
                    <a:pt x="284429" y="99060"/>
                  </a:lnTo>
                  <a:lnTo>
                    <a:pt x="335584" y="136398"/>
                  </a:lnTo>
                  <a:lnTo>
                    <a:pt x="284429" y="173736"/>
                  </a:lnTo>
                  <a:lnTo>
                    <a:pt x="364236" y="173736"/>
                  </a:lnTo>
                  <a:lnTo>
                    <a:pt x="364236" y="99060"/>
                  </a:lnTo>
                  <a:close/>
                </a:path>
                <a:path w="364490" h="273050">
                  <a:moveTo>
                    <a:pt x="92087" y="17652"/>
                  </a:moveTo>
                  <a:lnTo>
                    <a:pt x="42976" y="17652"/>
                  </a:lnTo>
                  <a:lnTo>
                    <a:pt x="42976" y="167259"/>
                  </a:lnTo>
                  <a:lnTo>
                    <a:pt x="92087" y="167259"/>
                  </a:lnTo>
                  <a:lnTo>
                    <a:pt x="92087" y="116586"/>
                  </a:lnTo>
                  <a:lnTo>
                    <a:pt x="155511" y="116586"/>
                  </a:lnTo>
                  <a:lnTo>
                    <a:pt x="155511" y="107823"/>
                  </a:lnTo>
                  <a:lnTo>
                    <a:pt x="79806" y="107823"/>
                  </a:lnTo>
                  <a:lnTo>
                    <a:pt x="77762" y="105537"/>
                  </a:lnTo>
                  <a:lnTo>
                    <a:pt x="75717" y="101219"/>
                  </a:lnTo>
                  <a:lnTo>
                    <a:pt x="73659" y="96774"/>
                  </a:lnTo>
                  <a:lnTo>
                    <a:pt x="75717" y="94614"/>
                  </a:lnTo>
                  <a:lnTo>
                    <a:pt x="77762" y="90170"/>
                  </a:lnTo>
                  <a:lnTo>
                    <a:pt x="79806" y="88011"/>
                  </a:lnTo>
                  <a:lnTo>
                    <a:pt x="83896" y="85851"/>
                  </a:lnTo>
                  <a:lnTo>
                    <a:pt x="155511" y="85851"/>
                  </a:lnTo>
                  <a:lnTo>
                    <a:pt x="155511" y="76962"/>
                  </a:lnTo>
                  <a:lnTo>
                    <a:pt x="92087" y="76962"/>
                  </a:lnTo>
                  <a:lnTo>
                    <a:pt x="92087" y="17652"/>
                  </a:lnTo>
                  <a:close/>
                </a:path>
                <a:path w="364490" h="273050">
                  <a:moveTo>
                    <a:pt x="220992" y="125349"/>
                  </a:moveTo>
                  <a:lnTo>
                    <a:pt x="184162" y="125349"/>
                  </a:lnTo>
                  <a:lnTo>
                    <a:pt x="186207" y="127635"/>
                  </a:lnTo>
                  <a:lnTo>
                    <a:pt x="190296" y="131952"/>
                  </a:lnTo>
                  <a:lnTo>
                    <a:pt x="190296" y="140842"/>
                  </a:lnTo>
                  <a:lnTo>
                    <a:pt x="186207" y="145161"/>
                  </a:lnTo>
                  <a:lnTo>
                    <a:pt x="184162" y="147447"/>
                  </a:lnTo>
                  <a:lnTo>
                    <a:pt x="220992" y="147447"/>
                  </a:lnTo>
                  <a:lnTo>
                    <a:pt x="220992" y="125349"/>
                  </a:lnTo>
                  <a:close/>
                </a:path>
                <a:path w="364490" h="273050">
                  <a:moveTo>
                    <a:pt x="155511" y="85851"/>
                  </a:moveTo>
                  <a:lnTo>
                    <a:pt x="114592" y="85851"/>
                  </a:lnTo>
                  <a:lnTo>
                    <a:pt x="122770" y="90170"/>
                  </a:lnTo>
                  <a:lnTo>
                    <a:pt x="124828" y="94614"/>
                  </a:lnTo>
                  <a:lnTo>
                    <a:pt x="124828" y="101219"/>
                  </a:lnTo>
                  <a:lnTo>
                    <a:pt x="122770" y="105537"/>
                  </a:lnTo>
                  <a:lnTo>
                    <a:pt x="118681" y="107823"/>
                  </a:lnTo>
                  <a:lnTo>
                    <a:pt x="155511" y="107823"/>
                  </a:lnTo>
                  <a:lnTo>
                    <a:pt x="155511" y="85851"/>
                  </a:lnTo>
                  <a:close/>
                </a:path>
                <a:path w="364490" h="273050">
                  <a:moveTo>
                    <a:pt x="155511" y="17652"/>
                  </a:moveTo>
                  <a:lnTo>
                    <a:pt x="108458" y="17652"/>
                  </a:lnTo>
                  <a:lnTo>
                    <a:pt x="108458" y="76962"/>
                  </a:lnTo>
                  <a:lnTo>
                    <a:pt x="155511" y="76962"/>
                  </a:lnTo>
                  <a:lnTo>
                    <a:pt x="155511" y="17652"/>
                  </a:lnTo>
                  <a:close/>
                </a:path>
                <a:path w="364490" h="273050">
                  <a:moveTo>
                    <a:pt x="364236" y="52832"/>
                  </a:moveTo>
                  <a:lnTo>
                    <a:pt x="243509" y="52832"/>
                  </a:lnTo>
                  <a:lnTo>
                    <a:pt x="251688" y="57150"/>
                  </a:lnTo>
                  <a:lnTo>
                    <a:pt x="253733" y="59436"/>
                  </a:lnTo>
                  <a:lnTo>
                    <a:pt x="253733" y="68199"/>
                  </a:lnTo>
                  <a:lnTo>
                    <a:pt x="251688" y="72644"/>
                  </a:lnTo>
                  <a:lnTo>
                    <a:pt x="247599" y="74802"/>
                  </a:lnTo>
                  <a:lnTo>
                    <a:pt x="364236" y="74802"/>
                  </a:lnTo>
                  <a:lnTo>
                    <a:pt x="364236" y="52832"/>
                  </a:lnTo>
                  <a:close/>
                </a:path>
                <a:path w="364490" h="273050">
                  <a:moveTo>
                    <a:pt x="364236" y="17652"/>
                  </a:moveTo>
                  <a:lnTo>
                    <a:pt x="237362" y="17652"/>
                  </a:lnTo>
                  <a:lnTo>
                    <a:pt x="237362" y="43941"/>
                  </a:lnTo>
                  <a:lnTo>
                    <a:pt x="364236" y="43941"/>
                  </a:lnTo>
                  <a:lnTo>
                    <a:pt x="364236" y="1765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188976" y="659891"/>
            <a:ext cx="1578610" cy="830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00">
              <a:latin typeface="Times New Roman"/>
              <a:cs typeface="Times New Roman"/>
            </a:endParaRPr>
          </a:p>
          <a:p>
            <a:pPr marL="187960" marR="59690">
              <a:lnSpc>
                <a:spcPct val="100000"/>
              </a:lnSpc>
            </a:pPr>
            <a:r>
              <a:rPr dirty="0" sz="1000" b="1">
                <a:solidFill>
                  <a:srgbClr val="FFFFFF"/>
                </a:solidFill>
                <a:latin typeface="Arial"/>
                <a:cs typeface="Arial"/>
              </a:rPr>
              <a:t>Regulatory</a:t>
            </a:r>
            <a:r>
              <a:rPr dirty="0" sz="10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0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FFFFFF"/>
                </a:solidFill>
                <a:latin typeface="Arial"/>
                <a:cs typeface="Arial"/>
              </a:rPr>
              <a:t>policy development</a:t>
            </a:r>
            <a:r>
              <a:rPr dirty="0" sz="1000" spc="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-25" b="1">
                <a:solidFill>
                  <a:srgbClr val="FFFFFF"/>
                </a:solidFill>
                <a:latin typeface="Arial"/>
                <a:cs typeface="Arial"/>
              </a:rPr>
              <a:t>(2)</a:t>
            </a:r>
            <a:endParaRPr sz="1000">
              <a:latin typeface="Arial"/>
              <a:cs typeface="Arial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844167" y="680974"/>
            <a:ext cx="7684134" cy="7499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02870" indent="-90170">
              <a:lnSpc>
                <a:spcPct val="100000"/>
              </a:lnSpc>
              <a:spcBef>
                <a:spcPts val="95"/>
              </a:spcBef>
              <a:buChar char="•"/>
              <a:tabLst>
                <a:tab pos="102870" algn="l"/>
              </a:tabLst>
            </a:pPr>
            <a:r>
              <a:rPr dirty="0" sz="950">
                <a:latin typeface="Arial MT"/>
                <a:cs typeface="Arial MT"/>
              </a:rPr>
              <a:t>Increased</a:t>
            </a:r>
            <a:r>
              <a:rPr dirty="0" sz="950" spc="-3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Tertiary</a:t>
            </a:r>
            <a:r>
              <a:rPr dirty="0" sz="950" spc="-3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Education</a:t>
            </a:r>
            <a:r>
              <a:rPr dirty="0" sz="950" spc="-2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Tax</a:t>
            </a:r>
            <a:r>
              <a:rPr dirty="0" sz="950" spc="-1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(TET)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rate:</a:t>
            </a:r>
            <a:r>
              <a:rPr dirty="0" sz="950" spc="-1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The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TET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rate</a:t>
            </a:r>
            <a:r>
              <a:rPr dirty="0" sz="950" spc="-1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has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been</a:t>
            </a:r>
            <a:r>
              <a:rPr dirty="0" sz="950" spc="-1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raised</a:t>
            </a:r>
            <a:r>
              <a:rPr dirty="0" sz="950" spc="-2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from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 b="1">
                <a:latin typeface="Arial"/>
                <a:cs typeface="Arial"/>
              </a:rPr>
              <a:t>2.5%</a:t>
            </a:r>
            <a:r>
              <a:rPr dirty="0" sz="950" spc="-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to</a:t>
            </a:r>
            <a:r>
              <a:rPr dirty="0" sz="950" spc="-1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3%</a:t>
            </a:r>
            <a:r>
              <a:rPr dirty="0" sz="950" spc="5" b="1">
                <a:latin typeface="Arial"/>
                <a:cs typeface="Arial"/>
              </a:rPr>
              <a:t> </a:t>
            </a:r>
            <a:r>
              <a:rPr dirty="0" sz="950">
                <a:latin typeface="Arial MT"/>
                <a:cs typeface="Arial MT"/>
              </a:rPr>
              <a:t>of</a:t>
            </a:r>
            <a:r>
              <a:rPr dirty="0" sz="950" spc="-1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a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company's assessable</a:t>
            </a:r>
            <a:r>
              <a:rPr dirty="0" sz="950" spc="-5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profits</a:t>
            </a:r>
            <a:r>
              <a:rPr dirty="0" sz="950" spc="-2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for</a:t>
            </a:r>
            <a:r>
              <a:rPr dirty="0" sz="950" spc="-35">
                <a:latin typeface="Arial MT"/>
                <a:cs typeface="Arial MT"/>
              </a:rPr>
              <a:t> </a:t>
            </a:r>
            <a:r>
              <a:rPr dirty="0" sz="950" spc="-10">
                <a:latin typeface="Arial MT"/>
                <a:cs typeface="Arial MT"/>
              </a:rPr>
              <a:t>accounting</a:t>
            </a:r>
            <a:endParaRPr sz="950">
              <a:latin typeface="Arial MT"/>
              <a:cs typeface="Arial MT"/>
            </a:endParaRPr>
          </a:p>
          <a:p>
            <a:pPr marL="103505">
              <a:lnSpc>
                <a:spcPct val="100000"/>
              </a:lnSpc>
            </a:pPr>
            <a:r>
              <a:rPr dirty="0" sz="950">
                <a:latin typeface="Arial MT"/>
                <a:cs typeface="Arial MT"/>
              </a:rPr>
              <a:t>periods</a:t>
            </a:r>
            <a:r>
              <a:rPr dirty="0" sz="950" spc="-3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ending</a:t>
            </a:r>
            <a:r>
              <a:rPr dirty="0" sz="950" spc="-1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on</a:t>
            </a:r>
            <a:r>
              <a:rPr dirty="0" sz="950" spc="-2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or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after</a:t>
            </a:r>
            <a:r>
              <a:rPr dirty="0" sz="950" spc="-3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September</a:t>
            </a:r>
            <a:r>
              <a:rPr dirty="0" sz="950" spc="-2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1,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 spc="-20">
                <a:latin typeface="Arial MT"/>
                <a:cs typeface="Arial MT"/>
              </a:rPr>
              <a:t>2023</a:t>
            </a:r>
            <a:endParaRPr sz="950">
              <a:latin typeface="Arial MT"/>
              <a:cs typeface="Arial MT"/>
            </a:endParaRPr>
          </a:p>
          <a:p>
            <a:pPr marL="102235" marR="426084" indent="-90170">
              <a:lnSpc>
                <a:spcPct val="100000"/>
              </a:lnSpc>
              <a:spcBef>
                <a:spcPts val="5"/>
              </a:spcBef>
              <a:buChar char="•"/>
              <a:tabLst>
                <a:tab pos="103505" algn="l"/>
              </a:tabLst>
            </a:pPr>
            <a:r>
              <a:rPr dirty="0" sz="950">
                <a:latin typeface="Arial MT"/>
                <a:cs typeface="Arial MT"/>
              </a:rPr>
              <a:t>Repealed</a:t>
            </a:r>
            <a:r>
              <a:rPr dirty="0" sz="950" spc="-3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tax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benefits:</a:t>
            </a:r>
            <a:r>
              <a:rPr dirty="0" sz="950" spc="-4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The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Companies</a:t>
            </a:r>
            <a:r>
              <a:rPr dirty="0" sz="950" spc="-2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Income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Tax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Act</a:t>
            </a:r>
            <a:r>
              <a:rPr dirty="0" sz="950" spc="-1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(CITA)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no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longer</a:t>
            </a:r>
            <a:r>
              <a:rPr dirty="0" sz="950" spc="-3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provides</a:t>
            </a:r>
            <a:r>
              <a:rPr dirty="0" sz="950" spc="-1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benefits</a:t>
            </a:r>
            <a:r>
              <a:rPr dirty="0" sz="950" spc="-3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for</a:t>
            </a:r>
            <a:r>
              <a:rPr dirty="0" sz="950" spc="-1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investment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allowances,</a:t>
            </a:r>
            <a:r>
              <a:rPr dirty="0" sz="950" spc="-4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rural</a:t>
            </a:r>
            <a:r>
              <a:rPr dirty="0" sz="950" spc="-10">
                <a:latin typeface="Arial MT"/>
                <a:cs typeface="Arial MT"/>
              </a:rPr>
              <a:t> investment </a:t>
            </a:r>
            <a:r>
              <a:rPr dirty="0" sz="950" spc="-10">
                <a:latin typeface="Arial MT"/>
                <a:cs typeface="Arial MT"/>
              </a:rPr>
              <a:t>	</a:t>
            </a:r>
            <a:r>
              <a:rPr dirty="0" sz="950">
                <a:latin typeface="Arial MT"/>
                <a:cs typeface="Arial MT"/>
              </a:rPr>
              <a:t>allowances,</a:t>
            </a:r>
            <a:r>
              <a:rPr dirty="0" sz="950" spc="-4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and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tax exemptions</a:t>
            </a:r>
            <a:r>
              <a:rPr dirty="0" sz="950" spc="-2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on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income</a:t>
            </a:r>
            <a:r>
              <a:rPr dirty="0" sz="950" spc="-2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earned</a:t>
            </a:r>
            <a:r>
              <a:rPr dirty="0" sz="950" spc="-1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in</a:t>
            </a:r>
            <a:r>
              <a:rPr dirty="0" sz="950" spc="-1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convertible</a:t>
            </a:r>
            <a:r>
              <a:rPr dirty="0" sz="950" spc="-3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currencies</a:t>
            </a:r>
            <a:r>
              <a:rPr dirty="0" sz="950" spc="-2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by</a:t>
            </a:r>
            <a:r>
              <a:rPr dirty="0" sz="950" spc="-1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hotels</a:t>
            </a:r>
            <a:r>
              <a:rPr dirty="0" sz="950" spc="-2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from</a:t>
            </a:r>
            <a:r>
              <a:rPr dirty="0" sz="950" spc="-2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September</a:t>
            </a:r>
            <a:r>
              <a:rPr dirty="0" sz="950" spc="-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1,</a:t>
            </a:r>
            <a:r>
              <a:rPr dirty="0" sz="950" spc="-2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2023</a:t>
            </a:r>
            <a:r>
              <a:rPr dirty="0" sz="950" spc="-10">
                <a:latin typeface="Arial MT"/>
                <a:cs typeface="Arial MT"/>
              </a:rPr>
              <a:t> onwards</a:t>
            </a:r>
            <a:endParaRPr sz="950">
              <a:latin typeface="Arial MT"/>
              <a:cs typeface="Arial MT"/>
            </a:endParaRPr>
          </a:p>
          <a:p>
            <a:pPr marL="102870" indent="-90170">
              <a:lnSpc>
                <a:spcPct val="100000"/>
              </a:lnSpc>
              <a:buChar char="•"/>
              <a:tabLst>
                <a:tab pos="102870" algn="l"/>
              </a:tabLst>
            </a:pPr>
            <a:r>
              <a:rPr dirty="0" sz="950">
                <a:latin typeface="Arial MT"/>
                <a:cs typeface="Arial MT"/>
              </a:rPr>
              <a:t>Imposition</a:t>
            </a:r>
            <a:r>
              <a:rPr dirty="0" sz="950" spc="-40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of</a:t>
            </a:r>
            <a:r>
              <a:rPr dirty="0" sz="950" spc="-15">
                <a:latin typeface="Arial MT"/>
                <a:cs typeface="Arial MT"/>
              </a:rPr>
              <a:t> </a:t>
            </a:r>
            <a:r>
              <a:rPr dirty="0" sz="950">
                <a:latin typeface="Arial MT"/>
                <a:cs typeface="Arial MT"/>
              </a:rPr>
              <a:t>a</a:t>
            </a:r>
            <a:r>
              <a:rPr dirty="0" sz="950" spc="-25">
                <a:latin typeface="Arial MT"/>
                <a:cs typeface="Arial MT"/>
              </a:rPr>
              <a:t> </a:t>
            </a:r>
            <a:r>
              <a:rPr dirty="0" sz="950" b="1">
                <a:latin typeface="Arial"/>
                <a:cs typeface="Arial"/>
              </a:rPr>
              <a:t>0.5%</a:t>
            </a:r>
            <a:r>
              <a:rPr dirty="0" sz="950" spc="-1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levy</a:t>
            </a:r>
            <a:r>
              <a:rPr dirty="0" sz="950" spc="-1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on</a:t>
            </a:r>
            <a:r>
              <a:rPr dirty="0" sz="950" spc="-2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goods</a:t>
            </a:r>
            <a:r>
              <a:rPr dirty="0" sz="950" spc="-3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imported</a:t>
            </a:r>
            <a:r>
              <a:rPr dirty="0" sz="950" spc="-1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into</a:t>
            </a:r>
            <a:r>
              <a:rPr dirty="0" sz="950" spc="-25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Nigeria</a:t>
            </a:r>
            <a:r>
              <a:rPr dirty="0" sz="950" spc="-2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from</a:t>
            </a:r>
            <a:r>
              <a:rPr dirty="0" sz="950" spc="-10" b="1">
                <a:latin typeface="Arial"/>
                <a:cs typeface="Arial"/>
              </a:rPr>
              <a:t> </a:t>
            </a:r>
            <a:r>
              <a:rPr dirty="0" sz="950" b="1">
                <a:latin typeface="Arial"/>
                <a:cs typeface="Arial"/>
              </a:rPr>
              <a:t>outside</a:t>
            </a:r>
            <a:r>
              <a:rPr dirty="0" sz="950" spc="-30" b="1">
                <a:latin typeface="Arial"/>
                <a:cs typeface="Arial"/>
              </a:rPr>
              <a:t> </a:t>
            </a:r>
            <a:r>
              <a:rPr dirty="0" sz="950" spc="-10" b="1">
                <a:latin typeface="Arial"/>
                <a:cs typeface="Arial"/>
              </a:rPr>
              <a:t>Africa</a:t>
            </a:r>
            <a:endParaRPr sz="950">
              <a:latin typeface="Arial"/>
              <a:cs typeface="Arial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190500" y="1539239"/>
            <a:ext cx="9799320" cy="0"/>
          </a:xfrm>
          <a:custGeom>
            <a:avLst/>
            <a:gdLst/>
            <a:ahLst/>
            <a:cxnLst/>
            <a:rect l="l" t="t" r="r" b="b"/>
            <a:pathLst>
              <a:path w="9799320" h="0">
                <a:moveTo>
                  <a:pt x="0" y="0"/>
                </a:moveTo>
                <a:lnTo>
                  <a:pt x="9798812" y="0"/>
                </a:lnTo>
              </a:path>
            </a:pathLst>
          </a:custGeom>
          <a:ln w="6350">
            <a:solidFill>
              <a:srgbClr val="D0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190500" y="2494788"/>
            <a:ext cx="9799320" cy="0"/>
          </a:xfrm>
          <a:custGeom>
            <a:avLst/>
            <a:gdLst/>
            <a:ahLst/>
            <a:cxnLst/>
            <a:rect l="l" t="t" r="r" b="b"/>
            <a:pathLst>
              <a:path w="9799320" h="0">
                <a:moveTo>
                  <a:pt x="0" y="0"/>
                </a:moveTo>
                <a:lnTo>
                  <a:pt x="9798812" y="0"/>
                </a:lnTo>
              </a:path>
            </a:pathLst>
          </a:custGeom>
          <a:ln w="6350">
            <a:solidFill>
              <a:srgbClr val="D0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49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Setting</a:t>
            </a:r>
            <a:r>
              <a:rPr dirty="0" spc="-45"/>
              <a:t> </a:t>
            </a:r>
            <a:r>
              <a:rPr dirty="0"/>
              <a:t>the</a:t>
            </a:r>
            <a:r>
              <a:rPr dirty="0" spc="-40"/>
              <a:t> </a:t>
            </a:r>
            <a:r>
              <a:rPr dirty="0"/>
              <a:t>context</a:t>
            </a:r>
            <a:r>
              <a:rPr dirty="0" spc="-30"/>
              <a:t> </a:t>
            </a:r>
            <a:r>
              <a:rPr dirty="0" spc="-20"/>
              <a:t>(2/2)</a:t>
            </a:r>
          </a:p>
        </p:txBody>
      </p:sp>
      <p:sp>
        <p:nvSpPr>
          <p:cNvPr id="22" name="object 2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Impact</a:t>
            </a:r>
            <a:r>
              <a:rPr dirty="0" spc="35"/>
              <a:t> </a:t>
            </a:r>
            <a:r>
              <a:rPr dirty="0"/>
              <a:t>of</a:t>
            </a:r>
            <a:r>
              <a:rPr dirty="0" spc="50"/>
              <a:t> </a:t>
            </a:r>
            <a:r>
              <a:rPr dirty="0"/>
              <a:t>Global</a:t>
            </a:r>
            <a:r>
              <a:rPr dirty="0" spc="65"/>
              <a:t> </a:t>
            </a:r>
            <a:r>
              <a:rPr dirty="0"/>
              <a:t>Economic</a:t>
            </a:r>
            <a:r>
              <a:rPr dirty="0" spc="30"/>
              <a:t> </a:t>
            </a:r>
            <a:r>
              <a:rPr dirty="0"/>
              <a:t>Trends</a:t>
            </a:r>
            <a:r>
              <a:rPr dirty="0" spc="45"/>
              <a:t> </a:t>
            </a:r>
            <a:r>
              <a:rPr dirty="0"/>
              <a:t>on</a:t>
            </a:r>
            <a:r>
              <a:rPr dirty="0" spc="40"/>
              <a:t> </a:t>
            </a:r>
            <a:r>
              <a:rPr dirty="0"/>
              <a:t>Nigeria’s</a:t>
            </a:r>
            <a:r>
              <a:rPr dirty="0" spc="60"/>
              <a:t> </a:t>
            </a:r>
            <a:r>
              <a:rPr dirty="0"/>
              <a:t>Foreign</a:t>
            </a:r>
            <a:r>
              <a:rPr dirty="0" spc="45"/>
              <a:t> </a:t>
            </a:r>
            <a:r>
              <a:rPr dirty="0"/>
              <a:t>Exchange</a:t>
            </a:r>
            <a:r>
              <a:rPr dirty="0" spc="60"/>
              <a:t> </a:t>
            </a:r>
            <a:r>
              <a:rPr dirty="0" spc="-10"/>
              <a:t>Market</a:t>
            </a:r>
          </a:p>
        </p:txBody>
      </p:sp>
      <p:sp>
        <p:nvSpPr>
          <p:cNvPr id="23" name="object 23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October</a:t>
            </a:r>
            <a:r>
              <a:rPr dirty="0" spc="80"/>
              <a:t> </a:t>
            </a:r>
            <a:r>
              <a:rPr dirty="0" spc="-20"/>
              <a:t>2023</a:t>
            </a:r>
          </a:p>
        </p:txBody>
      </p:sp>
      <p:sp>
        <p:nvSpPr>
          <p:cNvPr id="24" name="object 2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6360">
              <a:lnSpc>
                <a:spcPts val="815"/>
              </a:lnSpc>
            </a:pPr>
            <a:fld id="{81D60167-4931-47E6-BA6A-407CBD079E47}" type="slidenum">
              <a:rPr dirty="0" spc="-50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3970" marR="5080">
              <a:lnSpc>
                <a:spcPct val="100000"/>
              </a:lnSpc>
              <a:spcBef>
                <a:spcPts val="100"/>
              </a:spcBef>
            </a:pPr>
            <a:r>
              <a:rPr dirty="0" sz="1500"/>
              <a:t>The</a:t>
            </a:r>
            <a:r>
              <a:rPr dirty="0" sz="1500" spc="-15"/>
              <a:t> </a:t>
            </a:r>
            <a:r>
              <a:rPr dirty="0" sz="1500"/>
              <a:t>rise</a:t>
            </a:r>
            <a:r>
              <a:rPr dirty="0" sz="1500" spc="-20"/>
              <a:t> </a:t>
            </a:r>
            <a:r>
              <a:rPr dirty="0" sz="1500"/>
              <a:t>in</a:t>
            </a:r>
            <a:r>
              <a:rPr dirty="0" sz="1500" spc="-15"/>
              <a:t> </a:t>
            </a:r>
            <a:r>
              <a:rPr dirty="0" sz="1500"/>
              <a:t>Nigeria’s</a:t>
            </a:r>
            <a:r>
              <a:rPr dirty="0" sz="1500" spc="-45"/>
              <a:t> </a:t>
            </a:r>
            <a:r>
              <a:rPr dirty="0" sz="1500"/>
              <a:t>public</a:t>
            </a:r>
            <a:r>
              <a:rPr dirty="0" sz="1500" spc="-30"/>
              <a:t> </a:t>
            </a:r>
            <a:r>
              <a:rPr dirty="0" sz="1500"/>
              <a:t>debt</a:t>
            </a:r>
            <a:r>
              <a:rPr dirty="0" sz="1500" spc="-25"/>
              <a:t> </a:t>
            </a:r>
            <a:r>
              <a:rPr dirty="0" sz="1500"/>
              <a:t>to</a:t>
            </a:r>
            <a:r>
              <a:rPr dirty="0" sz="1500" spc="-15"/>
              <a:t> </a:t>
            </a:r>
            <a:r>
              <a:rPr dirty="0" sz="1500"/>
              <a:t>N87.4trillion</a:t>
            </a:r>
            <a:r>
              <a:rPr dirty="0" sz="1500" spc="-40"/>
              <a:t> </a:t>
            </a:r>
            <a:r>
              <a:rPr dirty="0" sz="1500"/>
              <a:t>in</a:t>
            </a:r>
            <a:r>
              <a:rPr dirty="0" sz="1500" spc="-25"/>
              <a:t> </a:t>
            </a:r>
            <a:r>
              <a:rPr dirty="0" sz="1500"/>
              <a:t>Q2</a:t>
            </a:r>
            <a:r>
              <a:rPr dirty="0" sz="1500" spc="-15"/>
              <a:t> </a:t>
            </a:r>
            <a:r>
              <a:rPr dirty="0" sz="1500"/>
              <a:t>2023</a:t>
            </a:r>
            <a:r>
              <a:rPr dirty="0" sz="1500" spc="-15"/>
              <a:t> </a:t>
            </a:r>
            <a:r>
              <a:rPr dirty="0" sz="1500"/>
              <a:t>could</a:t>
            </a:r>
            <a:r>
              <a:rPr dirty="0" sz="1500" spc="-25"/>
              <a:t> </a:t>
            </a:r>
            <a:r>
              <a:rPr dirty="0" sz="1500"/>
              <a:t>be</a:t>
            </a:r>
            <a:r>
              <a:rPr dirty="0" sz="1500" spc="-25"/>
              <a:t> </a:t>
            </a:r>
            <a:r>
              <a:rPr dirty="0" sz="1500"/>
              <a:t>attributed</a:t>
            </a:r>
            <a:r>
              <a:rPr dirty="0" sz="1500" spc="-30"/>
              <a:t> </a:t>
            </a:r>
            <a:r>
              <a:rPr dirty="0" sz="1500"/>
              <a:t>to</a:t>
            </a:r>
            <a:r>
              <a:rPr dirty="0" sz="1500" spc="-25"/>
              <a:t> </a:t>
            </a:r>
            <a:r>
              <a:rPr dirty="0" sz="1500"/>
              <a:t>the</a:t>
            </a:r>
            <a:r>
              <a:rPr dirty="0" sz="1500" spc="-20"/>
              <a:t> </a:t>
            </a:r>
            <a:r>
              <a:rPr dirty="0" sz="1500"/>
              <a:t>impact</a:t>
            </a:r>
            <a:r>
              <a:rPr dirty="0" sz="1500" spc="-30"/>
              <a:t> </a:t>
            </a:r>
            <a:r>
              <a:rPr dirty="0" sz="1500"/>
              <a:t>of</a:t>
            </a:r>
            <a:r>
              <a:rPr dirty="0" sz="1500" spc="25"/>
              <a:t> </a:t>
            </a:r>
            <a:r>
              <a:rPr dirty="0" sz="1500"/>
              <a:t>securitisation</a:t>
            </a:r>
            <a:r>
              <a:rPr dirty="0" sz="1500" spc="-40"/>
              <a:t> </a:t>
            </a:r>
            <a:r>
              <a:rPr dirty="0" sz="1500" spc="-25"/>
              <a:t>of </a:t>
            </a:r>
            <a:r>
              <a:rPr dirty="0" sz="1500"/>
              <a:t>ways</a:t>
            </a:r>
            <a:r>
              <a:rPr dirty="0" sz="1500" spc="-30"/>
              <a:t> </a:t>
            </a:r>
            <a:r>
              <a:rPr dirty="0" sz="1500"/>
              <a:t>&amp;</a:t>
            </a:r>
            <a:r>
              <a:rPr dirty="0" sz="1500" spc="-15"/>
              <a:t> </a:t>
            </a:r>
            <a:r>
              <a:rPr dirty="0" sz="1500"/>
              <a:t>means,</a:t>
            </a:r>
            <a:r>
              <a:rPr dirty="0" sz="1500" spc="-15"/>
              <a:t> </a:t>
            </a:r>
            <a:r>
              <a:rPr dirty="0" sz="1500"/>
              <a:t>and</a:t>
            </a:r>
            <a:r>
              <a:rPr dirty="0" sz="1500" spc="-20"/>
              <a:t> </a:t>
            </a:r>
            <a:r>
              <a:rPr dirty="0" sz="1500"/>
              <a:t>the</a:t>
            </a:r>
            <a:r>
              <a:rPr dirty="0" sz="1500" spc="-10"/>
              <a:t> </a:t>
            </a:r>
            <a:r>
              <a:rPr dirty="0" sz="1500"/>
              <a:t>naira</a:t>
            </a:r>
            <a:r>
              <a:rPr dirty="0" sz="1500" spc="-40"/>
              <a:t> </a:t>
            </a:r>
            <a:r>
              <a:rPr dirty="0" sz="1500" spc="-10"/>
              <a:t>devaluation</a:t>
            </a:r>
            <a:endParaRPr sz="1500"/>
          </a:p>
        </p:txBody>
      </p:sp>
      <p:sp>
        <p:nvSpPr>
          <p:cNvPr id="3" name="object 3" descr=""/>
          <p:cNvSpPr/>
          <p:nvPr/>
        </p:nvSpPr>
        <p:spPr>
          <a:xfrm>
            <a:off x="161544" y="4337303"/>
            <a:ext cx="9814560" cy="708660"/>
          </a:xfrm>
          <a:custGeom>
            <a:avLst/>
            <a:gdLst/>
            <a:ahLst/>
            <a:cxnLst/>
            <a:rect l="l" t="t" r="r" b="b"/>
            <a:pathLst>
              <a:path w="9814560" h="708660">
                <a:moveTo>
                  <a:pt x="0" y="708660"/>
                </a:moveTo>
                <a:lnTo>
                  <a:pt x="9814433" y="708660"/>
                </a:lnTo>
                <a:lnTo>
                  <a:pt x="9814433" y="0"/>
                </a:lnTo>
                <a:lnTo>
                  <a:pt x="0" y="0"/>
                </a:lnTo>
                <a:lnTo>
                  <a:pt x="0" y="708660"/>
                </a:lnTo>
                <a:close/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73736" y="4332732"/>
            <a:ext cx="9814560" cy="170815"/>
          </a:xfrm>
          <a:prstGeom prst="rect">
            <a:avLst/>
          </a:prstGeom>
          <a:solidFill>
            <a:srgbClr val="5F5F5F"/>
          </a:solidFill>
        </p:spPr>
        <p:txBody>
          <a:bodyPr wrap="square" lIns="0" tIns="12065" rIns="0" bIns="0" rtlCol="0" vert="horz">
            <a:spAutoFit/>
          </a:bodyPr>
          <a:lstStyle/>
          <a:p>
            <a:pPr marL="9017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Insights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66306" y="4584598"/>
            <a:ext cx="980503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86385" indent="-172085">
              <a:lnSpc>
                <a:spcPct val="100000"/>
              </a:lnSpc>
              <a:spcBef>
                <a:spcPts val="95"/>
              </a:spcBef>
              <a:buChar char="•"/>
              <a:tabLst>
                <a:tab pos="286385" algn="l"/>
              </a:tabLst>
            </a:pP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securitisation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of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ways</a:t>
            </a:r>
            <a:r>
              <a:rPr dirty="0" sz="1000" spc="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and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means,</a:t>
            </a:r>
            <a:r>
              <a:rPr dirty="0" sz="1000" spc="-5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and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impact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of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devaluation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of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naira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accounted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for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59.1%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and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34.9%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respectively</a:t>
            </a:r>
            <a:r>
              <a:rPr dirty="0" sz="1000">
                <a:latin typeface="Arial MT"/>
                <a:cs typeface="Arial MT"/>
              </a:rPr>
              <a:t> of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rise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in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public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debt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in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Q2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2023.</a:t>
            </a:r>
            <a:endParaRPr sz="1000">
              <a:latin typeface="Arial MT"/>
              <a:cs typeface="Arial MT"/>
            </a:endParaRPr>
          </a:p>
          <a:p>
            <a:pPr marL="286385">
              <a:lnSpc>
                <a:spcPct val="100000"/>
              </a:lnSpc>
              <a:spcBef>
                <a:spcPts val="5"/>
              </a:spcBef>
            </a:pPr>
            <a:r>
              <a:rPr dirty="0" sz="1000">
                <a:latin typeface="Arial MT"/>
                <a:cs typeface="Arial MT"/>
              </a:rPr>
              <a:t>A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sustained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rise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in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public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debt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may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negatively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affect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country's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credit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ratings,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subsequently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increasing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cost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of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borrowing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025753" y="3244341"/>
            <a:ext cx="79819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b="1">
                <a:latin typeface="Arial"/>
                <a:cs typeface="Arial"/>
              </a:rPr>
              <a:t>Q1</a:t>
            </a:r>
            <a:r>
              <a:rPr dirty="0" sz="1000" spc="-3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total</a:t>
            </a:r>
            <a:r>
              <a:rPr dirty="0" sz="1000" spc="-20" b="1">
                <a:latin typeface="Arial"/>
                <a:cs typeface="Arial"/>
              </a:rPr>
              <a:t> debt</a:t>
            </a:r>
            <a:endParaRPr sz="10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432050" y="3241293"/>
            <a:ext cx="189293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746125" marR="5080" indent="-733425">
              <a:lnSpc>
                <a:spcPct val="100000"/>
              </a:lnSpc>
              <a:spcBef>
                <a:spcPts val="95"/>
              </a:spcBef>
            </a:pPr>
            <a:r>
              <a:rPr dirty="0" sz="1000" b="1">
                <a:latin typeface="Arial"/>
                <a:cs typeface="Arial"/>
              </a:rPr>
              <a:t>Impact</a:t>
            </a:r>
            <a:r>
              <a:rPr dirty="0" sz="1000" spc="-2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of</a:t>
            </a:r>
            <a:r>
              <a:rPr dirty="0" sz="1000" spc="-1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securitised</a:t>
            </a:r>
            <a:r>
              <a:rPr dirty="0" sz="1000" spc="-3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ways</a:t>
            </a:r>
            <a:r>
              <a:rPr dirty="0" sz="1000" spc="-35" b="1">
                <a:latin typeface="Arial"/>
                <a:cs typeface="Arial"/>
              </a:rPr>
              <a:t> </a:t>
            </a:r>
            <a:r>
              <a:rPr dirty="0" sz="1000" spc="-25" b="1">
                <a:latin typeface="Arial"/>
                <a:cs typeface="Arial"/>
              </a:rPr>
              <a:t>and </a:t>
            </a:r>
            <a:r>
              <a:rPr dirty="0" sz="1000" spc="-10" b="1">
                <a:latin typeface="Arial"/>
                <a:cs typeface="Arial"/>
              </a:rPr>
              <a:t>means</a:t>
            </a:r>
            <a:endParaRPr sz="10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574540" y="3243452"/>
            <a:ext cx="137731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b="1">
                <a:latin typeface="Arial"/>
                <a:cs typeface="Arial"/>
              </a:rPr>
              <a:t>*Impact</a:t>
            </a:r>
            <a:r>
              <a:rPr dirty="0" sz="1000" spc="-3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of</a:t>
            </a:r>
            <a:r>
              <a:rPr dirty="0" sz="1000" spc="-2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devaluation</a:t>
            </a:r>
            <a:endParaRPr sz="10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574917" y="3238245"/>
            <a:ext cx="48260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 b="1">
                <a:latin typeface="Arial"/>
                <a:cs typeface="Arial"/>
              </a:rPr>
              <a:t>*Others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185673" y="752855"/>
            <a:ext cx="9760585" cy="2877820"/>
            <a:chOff x="185673" y="752855"/>
            <a:chExt cx="9760585" cy="2877820"/>
          </a:xfrm>
        </p:grpSpPr>
        <p:sp>
          <p:nvSpPr>
            <p:cNvPr id="11" name="object 11" descr=""/>
            <p:cNvSpPr/>
            <p:nvPr/>
          </p:nvSpPr>
          <p:spPr>
            <a:xfrm>
              <a:off x="192023" y="833627"/>
              <a:ext cx="9747885" cy="2790825"/>
            </a:xfrm>
            <a:custGeom>
              <a:avLst/>
              <a:gdLst/>
              <a:ahLst/>
              <a:cxnLst/>
              <a:rect l="l" t="t" r="r" b="b"/>
              <a:pathLst>
                <a:path w="9747885" h="2790825">
                  <a:moveTo>
                    <a:pt x="0" y="2790444"/>
                  </a:moveTo>
                  <a:lnTo>
                    <a:pt x="9747504" y="2790444"/>
                  </a:lnTo>
                  <a:lnTo>
                    <a:pt x="9747504" y="0"/>
                  </a:lnTo>
                  <a:lnTo>
                    <a:pt x="0" y="0"/>
                  </a:lnTo>
                  <a:lnTo>
                    <a:pt x="0" y="2790444"/>
                  </a:lnTo>
                  <a:close/>
                </a:path>
              </a:pathLst>
            </a:custGeom>
            <a:ln w="12700">
              <a:solidFill>
                <a:srgbClr val="E7E6E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156203" y="752855"/>
              <a:ext cx="3886200" cy="190500"/>
            </a:xfrm>
            <a:custGeom>
              <a:avLst/>
              <a:gdLst/>
              <a:ahLst/>
              <a:cxnLst/>
              <a:rect l="l" t="t" r="r" b="b"/>
              <a:pathLst>
                <a:path w="3886200" h="190500">
                  <a:moveTo>
                    <a:pt x="3886200" y="0"/>
                  </a:moveTo>
                  <a:lnTo>
                    <a:pt x="0" y="0"/>
                  </a:lnTo>
                  <a:lnTo>
                    <a:pt x="0" y="190500"/>
                  </a:lnTo>
                  <a:lnTo>
                    <a:pt x="3886200" y="190500"/>
                  </a:lnTo>
                  <a:lnTo>
                    <a:pt x="3886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3380359" y="748411"/>
            <a:ext cx="3449954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b="1">
                <a:latin typeface="Arial"/>
                <a:cs typeface="Arial"/>
              </a:rPr>
              <a:t>The</a:t>
            </a:r>
            <a:r>
              <a:rPr dirty="0" sz="1150" spc="1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Dynamics</a:t>
            </a:r>
            <a:r>
              <a:rPr dirty="0" sz="1150" spc="3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of</a:t>
            </a:r>
            <a:r>
              <a:rPr dirty="0" sz="1150" spc="-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Nigeria’s</a:t>
            </a:r>
            <a:r>
              <a:rPr dirty="0" sz="1150" spc="-3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Public</a:t>
            </a:r>
            <a:r>
              <a:rPr dirty="0" sz="1150" spc="-3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Debt</a:t>
            </a:r>
            <a:r>
              <a:rPr dirty="0" sz="1150" spc="-10" b="1">
                <a:latin typeface="Arial"/>
                <a:cs typeface="Arial"/>
              </a:rPr>
              <a:t> (N’trillion)</a:t>
            </a:r>
            <a:endParaRPr sz="115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8868282" y="3708908"/>
            <a:ext cx="1097280" cy="1282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50" i="1">
                <a:latin typeface="Arial"/>
                <a:cs typeface="Arial"/>
              </a:rPr>
              <a:t>Source:</a:t>
            </a:r>
            <a:r>
              <a:rPr dirty="0" sz="650" spc="30" i="1">
                <a:latin typeface="Arial"/>
                <a:cs typeface="Arial"/>
              </a:rPr>
              <a:t> </a:t>
            </a:r>
            <a:r>
              <a:rPr dirty="0" sz="650" i="1">
                <a:latin typeface="Arial"/>
                <a:cs typeface="Arial"/>
              </a:rPr>
              <a:t>DMO,</a:t>
            </a:r>
            <a:r>
              <a:rPr dirty="0" sz="650" spc="30" i="1">
                <a:latin typeface="Arial"/>
                <a:cs typeface="Arial"/>
              </a:rPr>
              <a:t> </a:t>
            </a:r>
            <a:r>
              <a:rPr dirty="0" sz="650" i="1">
                <a:latin typeface="Arial"/>
                <a:cs typeface="Arial"/>
              </a:rPr>
              <a:t>PwC</a:t>
            </a:r>
            <a:r>
              <a:rPr dirty="0" sz="650" spc="5" i="1">
                <a:latin typeface="Arial"/>
                <a:cs typeface="Arial"/>
              </a:rPr>
              <a:t> </a:t>
            </a:r>
            <a:r>
              <a:rPr dirty="0" sz="650" spc="-10" i="1">
                <a:latin typeface="Arial"/>
                <a:cs typeface="Arial"/>
              </a:rPr>
              <a:t>Analysis</a:t>
            </a:r>
            <a:endParaRPr sz="650">
              <a:latin typeface="Arial"/>
              <a:cs typeface="Arial"/>
            </a:endParaRPr>
          </a:p>
        </p:txBody>
      </p:sp>
      <p:pic>
        <p:nvPicPr>
          <p:cNvPr id="15" name="object 1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754" y="1037994"/>
            <a:ext cx="9231593" cy="2138647"/>
          </a:xfrm>
          <a:prstGeom prst="rect">
            <a:avLst/>
          </a:prstGeom>
        </p:spPr>
      </p:pic>
      <p:sp>
        <p:nvSpPr>
          <p:cNvPr id="16" name="object 16" descr=""/>
          <p:cNvSpPr txBox="1"/>
          <p:nvPr/>
        </p:nvSpPr>
        <p:spPr>
          <a:xfrm>
            <a:off x="8512809" y="3223386"/>
            <a:ext cx="79819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b="1">
                <a:latin typeface="Arial"/>
                <a:cs typeface="Arial"/>
              </a:rPr>
              <a:t>Q2</a:t>
            </a:r>
            <a:r>
              <a:rPr dirty="0" sz="1000" spc="-3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total</a:t>
            </a:r>
            <a:r>
              <a:rPr dirty="0" sz="1000" spc="-20" b="1">
                <a:latin typeface="Arial"/>
                <a:cs typeface="Arial"/>
              </a:rPr>
              <a:t> debt</a:t>
            </a:r>
            <a:endParaRPr sz="1000">
              <a:latin typeface="Arial"/>
              <a:cs typeface="Arial"/>
            </a:endParaRPr>
          </a:p>
        </p:txBody>
      </p:sp>
      <p:sp>
        <p:nvSpPr>
          <p:cNvPr id="18" name="object 1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Impact</a:t>
            </a:r>
            <a:r>
              <a:rPr dirty="0" spc="35"/>
              <a:t> </a:t>
            </a:r>
            <a:r>
              <a:rPr dirty="0"/>
              <a:t>of</a:t>
            </a:r>
            <a:r>
              <a:rPr dirty="0" spc="50"/>
              <a:t> </a:t>
            </a:r>
            <a:r>
              <a:rPr dirty="0"/>
              <a:t>Global</a:t>
            </a:r>
            <a:r>
              <a:rPr dirty="0" spc="65"/>
              <a:t> </a:t>
            </a:r>
            <a:r>
              <a:rPr dirty="0"/>
              <a:t>Economic</a:t>
            </a:r>
            <a:r>
              <a:rPr dirty="0" spc="30"/>
              <a:t> </a:t>
            </a:r>
            <a:r>
              <a:rPr dirty="0"/>
              <a:t>Trends</a:t>
            </a:r>
            <a:r>
              <a:rPr dirty="0" spc="45"/>
              <a:t> </a:t>
            </a:r>
            <a:r>
              <a:rPr dirty="0"/>
              <a:t>on</a:t>
            </a:r>
            <a:r>
              <a:rPr dirty="0" spc="40"/>
              <a:t> </a:t>
            </a:r>
            <a:r>
              <a:rPr dirty="0"/>
              <a:t>Nigeria’s</a:t>
            </a:r>
            <a:r>
              <a:rPr dirty="0" spc="60"/>
              <a:t> </a:t>
            </a:r>
            <a:r>
              <a:rPr dirty="0"/>
              <a:t>Foreign</a:t>
            </a:r>
            <a:r>
              <a:rPr dirty="0" spc="45"/>
              <a:t> </a:t>
            </a:r>
            <a:r>
              <a:rPr dirty="0"/>
              <a:t>Exchange</a:t>
            </a:r>
            <a:r>
              <a:rPr dirty="0" spc="60"/>
              <a:t> </a:t>
            </a:r>
            <a:r>
              <a:rPr dirty="0" spc="-10"/>
              <a:t>Market</a:t>
            </a:r>
          </a:p>
        </p:txBody>
      </p:sp>
      <p:sp>
        <p:nvSpPr>
          <p:cNvPr id="19" name="object 19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October</a:t>
            </a:r>
            <a:r>
              <a:rPr dirty="0" spc="80"/>
              <a:t> </a:t>
            </a:r>
            <a:r>
              <a:rPr dirty="0" spc="-20"/>
              <a:t>2023</a:t>
            </a:r>
          </a:p>
        </p:txBody>
      </p:sp>
      <p:sp>
        <p:nvSpPr>
          <p:cNvPr id="20" name="object 2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6360">
              <a:lnSpc>
                <a:spcPts val="815"/>
              </a:lnSpc>
            </a:pPr>
            <a:fld id="{81D60167-4931-47E6-BA6A-407CBD079E47}" type="slidenum">
              <a:rPr dirty="0" spc="-50"/>
              <a:t>5</a:t>
            </a:fld>
          </a:p>
        </p:txBody>
      </p:sp>
      <p:sp>
        <p:nvSpPr>
          <p:cNvPr id="17" name="object 17" descr=""/>
          <p:cNvSpPr txBox="1"/>
          <p:nvPr/>
        </p:nvSpPr>
        <p:spPr>
          <a:xfrm>
            <a:off x="266801" y="3734561"/>
            <a:ext cx="603504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i="1">
                <a:solidFill>
                  <a:srgbClr val="0D0D0D"/>
                </a:solidFill>
                <a:latin typeface="Arial"/>
                <a:cs typeface="Arial"/>
              </a:rPr>
              <a:t>*External</a:t>
            </a:r>
            <a:r>
              <a:rPr dirty="0" sz="700" spc="-5" i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0D0D0D"/>
                </a:solidFill>
                <a:latin typeface="Arial"/>
                <a:cs typeface="Arial"/>
              </a:rPr>
              <a:t>debt</a:t>
            </a:r>
            <a:r>
              <a:rPr dirty="0" sz="700" spc="-15" i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0D0D0D"/>
                </a:solidFill>
                <a:latin typeface="Arial"/>
                <a:cs typeface="Arial"/>
              </a:rPr>
              <a:t>as</a:t>
            </a:r>
            <a:r>
              <a:rPr dirty="0" sz="700" spc="-20" i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0D0D0D"/>
                </a:solidFill>
                <a:latin typeface="Arial"/>
                <a:cs typeface="Arial"/>
              </a:rPr>
              <a:t>of</a:t>
            </a:r>
            <a:r>
              <a:rPr dirty="0" sz="700" spc="-15" i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0D0D0D"/>
                </a:solidFill>
                <a:latin typeface="Arial"/>
                <a:cs typeface="Arial"/>
              </a:rPr>
              <a:t>Q2</a:t>
            </a:r>
            <a:r>
              <a:rPr dirty="0" sz="700" spc="-15" i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0D0D0D"/>
                </a:solidFill>
                <a:latin typeface="Arial"/>
                <a:cs typeface="Arial"/>
              </a:rPr>
              <a:t>2023</a:t>
            </a:r>
            <a:r>
              <a:rPr dirty="0" sz="700" spc="-15" i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0D0D0D"/>
                </a:solidFill>
                <a:latin typeface="Arial"/>
                <a:cs typeface="Arial"/>
              </a:rPr>
              <a:t>was</a:t>
            </a:r>
            <a:r>
              <a:rPr dirty="0" sz="700" spc="-25" i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0D0D0D"/>
                </a:solidFill>
                <a:latin typeface="Arial"/>
                <a:cs typeface="Arial"/>
              </a:rPr>
              <a:t>$43.2billion</a:t>
            </a:r>
            <a:r>
              <a:rPr dirty="0" sz="700" spc="-15" i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0D0D0D"/>
                </a:solidFill>
                <a:latin typeface="Arial"/>
                <a:cs typeface="Arial"/>
              </a:rPr>
              <a:t>at</a:t>
            </a:r>
            <a:r>
              <a:rPr dirty="0" sz="700" spc="-15" i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0D0D0D"/>
                </a:solidFill>
                <a:latin typeface="Arial"/>
                <a:cs typeface="Arial"/>
              </a:rPr>
              <a:t>an</a:t>
            </a:r>
            <a:r>
              <a:rPr dirty="0" sz="700" spc="-20" i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0D0D0D"/>
                </a:solidFill>
                <a:latin typeface="Arial"/>
                <a:cs typeface="Arial"/>
              </a:rPr>
              <a:t>exchange</a:t>
            </a:r>
            <a:r>
              <a:rPr dirty="0" sz="700" spc="5" i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0D0D0D"/>
                </a:solidFill>
                <a:latin typeface="Arial"/>
                <a:cs typeface="Arial"/>
              </a:rPr>
              <a:t>rate</a:t>
            </a:r>
            <a:r>
              <a:rPr dirty="0" sz="700" spc="-15" i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0D0D0D"/>
                </a:solidFill>
                <a:latin typeface="Arial"/>
                <a:cs typeface="Arial"/>
              </a:rPr>
              <a:t>of</a:t>
            </a:r>
            <a:r>
              <a:rPr dirty="0" sz="700" spc="-15" i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0D0D0D"/>
                </a:solidFill>
                <a:latin typeface="Arial"/>
                <a:cs typeface="Arial"/>
              </a:rPr>
              <a:t>N770.38/$</a:t>
            </a:r>
            <a:r>
              <a:rPr dirty="0" sz="700" spc="-5" i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0D0D0D"/>
                </a:solidFill>
                <a:latin typeface="Arial"/>
                <a:cs typeface="Arial"/>
              </a:rPr>
              <a:t>while</a:t>
            </a:r>
            <a:r>
              <a:rPr dirty="0" sz="700" spc="-20" i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0D0D0D"/>
                </a:solidFill>
                <a:latin typeface="Arial"/>
                <a:cs typeface="Arial"/>
              </a:rPr>
              <a:t>the</a:t>
            </a:r>
            <a:r>
              <a:rPr dirty="0" sz="700" spc="-15" i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0D0D0D"/>
                </a:solidFill>
                <a:latin typeface="Arial"/>
                <a:cs typeface="Arial"/>
              </a:rPr>
              <a:t>exchange</a:t>
            </a:r>
            <a:r>
              <a:rPr dirty="0" sz="700" spc="5" i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0D0D0D"/>
                </a:solidFill>
                <a:latin typeface="Arial"/>
                <a:cs typeface="Arial"/>
              </a:rPr>
              <a:t>rate</a:t>
            </a:r>
            <a:r>
              <a:rPr dirty="0" sz="700" spc="-5" i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0D0D0D"/>
                </a:solidFill>
                <a:latin typeface="Arial"/>
                <a:cs typeface="Arial"/>
              </a:rPr>
              <a:t>as</a:t>
            </a:r>
            <a:r>
              <a:rPr dirty="0" sz="700" spc="-25" i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0D0D0D"/>
                </a:solidFill>
                <a:latin typeface="Arial"/>
                <a:cs typeface="Arial"/>
              </a:rPr>
              <a:t>of</a:t>
            </a:r>
            <a:r>
              <a:rPr dirty="0" sz="700" spc="-20" i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0D0D0D"/>
                </a:solidFill>
                <a:latin typeface="Arial"/>
                <a:cs typeface="Arial"/>
              </a:rPr>
              <a:t>Q1</a:t>
            </a:r>
            <a:r>
              <a:rPr dirty="0" sz="700" spc="-15" i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0D0D0D"/>
                </a:solidFill>
                <a:latin typeface="Arial"/>
                <a:cs typeface="Arial"/>
              </a:rPr>
              <a:t>2023</a:t>
            </a:r>
            <a:r>
              <a:rPr dirty="0" sz="700" spc="-15" i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0D0D0D"/>
                </a:solidFill>
                <a:latin typeface="Arial"/>
                <a:cs typeface="Arial"/>
              </a:rPr>
              <a:t>was</a:t>
            </a:r>
            <a:r>
              <a:rPr dirty="0" sz="700" spc="-10" i="1">
                <a:solidFill>
                  <a:srgbClr val="0D0D0D"/>
                </a:solidFill>
                <a:latin typeface="Arial"/>
                <a:cs typeface="Arial"/>
              </a:rPr>
              <a:t> 460.35</a:t>
            </a:r>
            <a:endParaRPr sz="7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dirty="0" sz="700" i="1">
                <a:solidFill>
                  <a:srgbClr val="0D0D0D"/>
                </a:solidFill>
                <a:latin typeface="Arial"/>
                <a:cs typeface="Arial"/>
              </a:rPr>
              <a:t>*The</a:t>
            </a:r>
            <a:r>
              <a:rPr dirty="0" sz="700" spc="-15" i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0D0D0D"/>
                </a:solidFill>
                <a:latin typeface="Arial"/>
                <a:cs typeface="Arial"/>
              </a:rPr>
              <a:t>impact of</a:t>
            </a:r>
            <a:r>
              <a:rPr dirty="0" sz="700" spc="-15" i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0D0D0D"/>
                </a:solidFill>
                <a:latin typeface="Arial"/>
                <a:cs typeface="Arial"/>
              </a:rPr>
              <a:t>devaluation</a:t>
            </a:r>
            <a:r>
              <a:rPr dirty="0" sz="700" spc="-10" i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0D0D0D"/>
                </a:solidFill>
                <a:latin typeface="Arial"/>
                <a:cs typeface="Arial"/>
              </a:rPr>
              <a:t>was</a:t>
            </a:r>
            <a:r>
              <a:rPr dirty="0" sz="700" spc="-10" i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0D0D0D"/>
                </a:solidFill>
                <a:latin typeface="Arial"/>
                <a:cs typeface="Arial"/>
              </a:rPr>
              <a:t>calculated</a:t>
            </a:r>
            <a:r>
              <a:rPr dirty="0" sz="700" spc="-10" i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0D0D0D"/>
                </a:solidFill>
                <a:latin typeface="Arial"/>
                <a:cs typeface="Arial"/>
              </a:rPr>
              <a:t>using</a:t>
            </a:r>
            <a:r>
              <a:rPr dirty="0" sz="700" spc="-30" i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0D0D0D"/>
                </a:solidFill>
                <a:latin typeface="Arial"/>
                <a:cs typeface="Arial"/>
              </a:rPr>
              <a:t>the</a:t>
            </a:r>
            <a:r>
              <a:rPr dirty="0" sz="700" spc="-10" i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0D0D0D"/>
                </a:solidFill>
                <a:latin typeface="Arial"/>
                <a:cs typeface="Arial"/>
              </a:rPr>
              <a:t>difference</a:t>
            </a:r>
            <a:r>
              <a:rPr dirty="0" sz="700" spc="10" i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0D0D0D"/>
                </a:solidFill>
                <a:latin typeface="Arial"/>
                <a:cs typeface="Arial"/>
              </a:rPr>
              <a:t>in</a:t>
            </a:r>
            <a:r>
              <a:rPr dirty="0" sz="700" spc="-25" i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0D0D0D"/>
                </a:solidFill>
                <a:latin typeface="Arial"/>
                <a:cs typeface="Arial"/>
              </a:rPr>
              <a:t>official</a:t>
            </a:r>
            <a:r>
              <a:rPr dirty="0" sz="700" spc="-15" i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0D0D0D"/>
                </a:solidFill>
                <a:latin typeface="Arial"/>
                <a:cs typeface="Arial"/>
              </a:rPr>
              <a:t>exchange</a:t>
            </a:r>
            <a:r>
              <a:rPr dirty="0" sz="700" spc="10" i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0D0D0D"/>
                </a:solidFill>
                <a:latin typeface="Arial"/>
                <a:cs typeface="Arial"/>
              </a:rPr>
              <a:t>rates in</a:t>
            </a:r>
            <a:r>
              <a:rPr dirty="0" sz="700" spc="-30" i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0D0D0D"/>
                </a:solidFill>
                <a:latin typeface="Arial"/>
                <a:cs typeface="Arial"/>
              </a:rPr>
              <a:t>Q1</a:t>
            </a:r>
            <a:r>
              <a:rPr dirty="0" sz="700" spc="-15" i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0D0D0D"/>
                </a:solidFill>
                <a:latin typeface="Arial"/>
                <a:cs typeface="Arial"/>
              </a:rPr>
              <a:t>and</a:t>
            </a:r>
            <a:r>
              <a:rPr dirty="0" sz="700" spc="-20" i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0D0D0D"/>
                </a:solidFill>
                <a:latin typeface="Arial"/>
                <a:cs typeface="Arial"/>
              </a:rPr>
              <a:t>Q2</a:t>
            </a:r>
            <a:r>
              <a:rPr dirty="0" sz="700" spc="-15" i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0D0D0D"/>
                </a:solidFill>
                <a:latin typeface="Arial"/>
                <a:cs typeface="Arial"/>
              </a:rPr>
              <a:t>2023</a:t>
            </a:r>
            <a:r>
              <a:rPr dirty="0" sz="700" spc="-10" i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0D0D0D"/>
                </a:solidFill>
                <a:latin typeface="Arial"/>
                <a:cs typeface="Arial"/>
              </a:rPr>
              <a:t>multiplied</a:t>
            </a:r>
            <a:r>
              <a:rPr dirty="0" sz="700" spc="-15" i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0D0D0D"/>
                </a:solidFill>
                <a:latin typeface="Arial"/>
                <a:cs typeface="Arial"/>
              </a:rPr>
              <a:t>by</a:t>
            </a:r>
            <a:r>
              <a:rPr dirty="0" sz="700" spc="-10" i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0D0D0D"/>
                </a:solidFill>
                <a:latin typeface="Arial"/>
                <a:cs typeface="Arial"/>
              </a:rPr>
              <a:t>the external debt</a:t>
            </a:r>
            <a:r>
              <a:rPr dirty="0" sz="700" spc="5" i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0D0D0D"/>
                </a:solidFill>
                <a:latin typeface="Arial"/>
                <a:cs typeface="Arial"/>
              </a:rPr>
              <a:t>in</a:t>
            </a:r>
            <a:r>
              <a:rPr dirty="0" sz="700" spc="-35" i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0D0D0D"/>
                </a:solidFill>
                <a:latin typeface="Arial"/>
                <a:cs typeface="Arial"/>
              </a:rPr>
              <a:t>Q2</a:t>
            </a:r>
            <a:r>
              <a:rPr dirty="0" sz="700" spc="-10" i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0D0D0D"/>
                </a:solidFill>
                <a:latin typeface="Arial"/>
                <a:cs typeface="Arial"/>
              </a:rPr>
              <a:t>2023</a:t>
            </a:r>
            <a:r>
              <a:rPr dirty="0" sz="700" spc="-15" i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700" spc="-25" i="1">
                <a:solidFill>
                  <a:srgbClr val="0D0D0D"/>
                </a:solidFill>
                <a:latin typeface="Arial"/>
                <a:cs typeface="Arial"/>
              </a:rPr>
              <a:t>to</a:t>
            </a:r>
            <a:r>
              <a:rPr dirty="0" sz="700" spc="500" i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0D0D0D"/>
                </a:solidFill>
                <a:latin typeface="Arial"/>
                <a:cs typeface="Arial"/>
              </a:rPr>
              <a:t>obtain</a:t>
            </a:r>
            <a:r>
              <a:rPr dirty="0" sz="700" spc="-25" i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0D0D0D"/>
                </a:solidFill>
                <a:latin typeface="Arial"/>
                <a:cs typeface="Arial"/>
              </a:rPr>
              <a:t>the</a:t>
            </a:r>
            <a:r>
              <a:rPr dirty="0" sz="700" spc="-20" i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0D0D0D"/>
                </a:solidFill>
                <a:latin typeface="Arial"/>
                <a:cs typeface="Arial"/>
              </a:rPr>
              <a:t>revaluation</a:t>
            </a:r>
            <a:r>
              <a:rPr dirty="0" sz="700" spc="-5" i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700" spc="-20" i="1">
                <a:solidFill>
                  <a:srgbClr val="0D0D0D"/>
                </a:solidFill>
                <a:latin typeface="Arial"/>
                <a:cs typeface="Arial"/>
              </a:rPr>
              <a:t>gain</a:t>
            </a:r>
            <a:endParaRPr sz="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700" spc="-10" i="1">
                <a:latin typeface="Arial"/>
                <a:cs typeface="Arial"/>
              </a:rPr>
              <a:t>*Others</a:t>
            </a:r>
            <a:r>
              <a:rPr dirty="0" sz="700" spc="-15" i="1">
                <a:latin typeface="Arial"/>
                <a:cs typeface="Arial"/>
              </a:rPr>
              <a:t> </a:t>
            </a:r>
            <a:r>
              <a:rPr dirty="0" sz="700" i="1">
                <a:latin typeface="Arial"/>
                <a:cs typeface="Arial"/>
              </a:rPr>
              <a:t>are</a:t>
            </a:r>
            <a:r>
              <a:rPr dirty="0" sz="700" spc="-10" i="1">
                <a:latin typeface="Arial"/>
                <a:cs typeface="Arial"/>
              </a:rPr>
              <a:t> estimated </a:t>
            </a:r>
            <a:r>
              <a:rPr dirty="0" sz="700" i="1">
                <a:latin typeface="Arial"/>
                <a:cs typeface="Arial"/>
              </a:rPr>
              <a:t>and</a:t>
            </a:r>
            <a:r>
              <a:rPr dirty="0" sz="700" spc="-20" i="1">
                <a:latin typeface="Arial"/>
                <a:cs typeface="Arial"/>
              </a:rPr>
              <a:t> </a:t>
            </a:r>
            <a:r>
              <a:rPr dirty="0" sz="700" i="1">
                <a:latin typeface="Arial"/>
                <a:cs typeface="Arial"/>
              </a:rPr>
              <a:t>may</a:t>
            </a:r>
            <a:r>
              <a:rPr dirty="0" sz="700" spc="5" i="1">
                <a:latin typeface="Arial"/>
                <a:cs typeface="Arial"/>
              </a:rPr>
              <a:t> </a:t>
            </a:r>
            <a:r>
              <a:rPr dirty="0" sz="700" i="1">
                <a:latin typeface="Arial"/>
                <a:cs typeface="Arial"/>
              </a:rPr>
              <a:t>include</a:t>
            </a:r>
            <a:r>
              <a:rPr dirty="0" sz="700" spc="-40" i="1">
                <a:latin typeface="Arial"/>
                <a:cs typeface="Arial"/>
              </a:rPr>
              <a:t> </a:t>
            </a:r>
            <a:r>
              <a:rPr dirty="0" sz="700" i="1">
                <a:latin typeface="Arial"/>
                <a:cs typeface="Arial"/>
              </a:rPr>
              <a:t>new</a:t>
            </a:r>
            <a:r>
              <a:rPr dirty="0" sz="700" spc="-20" i="1">
                <a:latin typeface="Arial"/>
                <a:cs typeface="Arial"/>
              </a:rPr>
              <a:t> </a:t>
            </a:r>
            <a:r>
              <a:rPr dirty="0" sz="700" spc="-10" i="1">
                <a:latin typeface="Arial"/>
                <a:cs typeface="Arial"/>
              </a:rPr>
              <a:t>borrowings</a:t>
            </a:r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706868" y="1444752"/>
            <a:ext cx="658495" cy="2026920"/>
          </a:xfrm>
          <a:custGeom>
            <a:avLst/>
            <a:gdLst/>
            <a:ahLst/>
            <a:cxnLst/>
            <a:rect l="l" t="t" r="r" b="b"/>
            <a:pathLst>
              <a:path w="658495" h="2026920">
                <a:moveTo>
                  <a:pt x="658368" y="0"/>
                </a:moveTo>
                <a:lnTo>
                  <a:pt x="0" y="0"/>
                </a:lnTo>
                <a:lnTo>
                  <a:pt x="0" y="2026920"/>
                </a:lnTo>
                <a:lnTo>
                  <a:pt x="658368" y="2026920"/>
                </a:lnTo>
                <a:lnTo>
                  <a:pt x="658368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81355" y="4087367"/>
            <a:ext cx="9744710" cy="1207135"/>
          </a:xfrm>
          <a:custGeom>
            <a:avLst/>
            <a:gdLst/>
            <a:ahLst/>
            <a:cxnLst/>
            <a:rect l="l" t="t" r="r" b="b"/>
            <a:pathLst>
              <a:path w="9744710" h="1207135">
                <a:moveTo>
                  <a:pt x="0" y="1207007"/>
                </a:moveTo>
                <a:lnTo>
                  <a:pt x="9744329" y="1207007"/>
                </a:lnTo>
                <a:lnTo>
                  <a:pt x="9744329" y="0"/>
                </a:lnTo>
                <a:lnTo>
                  <a:pt x="0" y="0"/>
                </a:lnTo>
                <a:lnTo>
                  <a:pt x="0" y="1207007"/>
                </a:lnTo>
                <a:close/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95071" y="4082859"/>
            <a:ext cx="9744710" cy="220979"/>
          </a:xfrm>
          <a:prstGeom prst="rect">
            <a:avLst/>
          </a:prstGeom>
          <a:solidFill>
            <a:srgbClr val="5F5F5F"/>
          </a:solidFill>
        </p:spPr>
        <p:txBody>
          <a:bodyPr wrap="square" lIns="0" tIns="29845" rIns="0" bIns="0" rtlCol="0" vert="horz">
            <a:spAutoFit/>
          </a:bodyPr>
          <a:lstStyle/>
          <a:p>
            <a:pPr marL="97155">
              <a:lnSpc>
                <a:spcPct val="100000"/>
              </a:lnSpc>
              <a:spcBef>
                <a:spcPts val="235"/>
              </a:spcBef>
            </a:pP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Insights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86118" y="4329480"/>
            <a:ext cx="9735185" cy="939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4475" marR="351790" indent="-172720">
              <a:lnSpc>
                <a:spcPct val="100000"/>
              </a:lnSpc>
              <a:spcBef>
                <a:spcPts val="95"/>
              </a:spcBef>
              <a:buChar char="•"/>
              <a:tabLst>
                <a:tab pos="244475" algn="l"/>
              </a:tabLst>
            </a:pPr>
            <a:r>
              <a:rPr dirty="0" sz="1000">
                <a:latin typeface="Arial MT"/>
                <a:cs typeface="Arial MT"/>
              </a:rPr>
              <a:t>All</a:t>
            </a:r>
            <a:r>
              <a:rPr dirty="0" sz="1000" spc="24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identified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energy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pressure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points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which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include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kerosene,</a:t>
            </a:r>
            <a:r>
              <a:rPr dirty="0" sz="1000" spc="-5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PMS,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Automotive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Gas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Oil,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and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Liquified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Petroleum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Gas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have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been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b="1">
                <a:latin typeface="Arial"/>
                <a:cs typeface="Arial"/>
              </a:rPr>
              <a:t>deregulated</a:t>
            </a:r>
            <a:r>
              <a:rPr dirty="0" sz="1000" spc="-2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by</a:t>
            </a:r>
            <a:r>
              <a:rPr dirty="0" sz="1000" spc="-2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the</a:t>
            </a:r>
            <a:r>
              <a:rPr dirty="0" sz="1000" spc="-2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government</a:t>
            </a:r>
            <a:r>
              <a:rPr dirty="0" sz="1000" spc="-10">
                <a:latin typeface="Arial MT"/>
                <a:cs typeface="Arial MT"/>
              </a:rPr>
              <a:t>. </a:t>
            </a:r>
            <a:r>
              <a:rPr dirty="0" sz="1000" b="1">
                <a:latin typeface="Arial"/>
                <a:cs typeface="Arial"/>
              </a:rPr>
              <a:t>This</a:t>
            </a:r>
            <a:r>
              <a:rPr dirty="0" sz="1000" spc="-3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implies</a:t>
            </a:r>
            <a:r>
              <a:rPr dirty="0" sz="1000" spc="-3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that</a:t>
            </a:r>
            <a:r>
              <a:rPr dirty="0" sz="1000" spc="-2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they</a:t>
            </a:r>
            <a:r>
              <a:rPr dirty="0" sz="1000" spc="-2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may</a:t>
            </a:r>
            <a:r>
              <a:rPr dirty="0" sz="1000" spc="-3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likely</a:t>
            </a:r>
            <a:r>
              <a:rPr dirty="0" sz="1000" spc="-2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move</a:t>
            </a:r>
            <a:r>
              <a:rPr dirty="0" sz="1000" spc="-4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in</a:t>
            </a:r>
            <a:r>
              <a:rPr dirty="0" sz="1000" spc="-2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the</a:t>
            </a:r>
            <a:r>
              <a:rPr dirty="0" sz="1000" spc="-2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same</a:t>
            </a:r>
            <a:r>
              <a:rPr dirty="0" sz="1000" spc="-3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direction</a:t>
            </a:r>
            <a:r>
              <a:rPr dirty="0" sz="1000" spc="-1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with</a:t>
            </a:r>
            <a:r>
              <a:rPr dirty="0" sz="1000" spc="-3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the</a:t>
            </a:r>
            <a:r>
              <a:rPr dirty="0" sz="1000" spc="-2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trends</a:t>
            </a:r>
            <a:r>
              <a:rPr dirty="0" sz="1000" spc="-2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in</a:t>
            </a:r>
            <a:r>
              <a:rPr dirty="0" sz="1000" spc="-1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the</a:t>
            </a:r>
            <a:r>
              <a:rPr dirty="0" sz="1000" spc="-2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international</a:t>
            </a:r>
            <a:r>
              <a:rPr dirty="0" sz="1000" spc="-2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oil</a:t>
            </a:r>
            <a:r>
              <a:rPr dirty="0" sz="1000" spc="-3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price.</a:t>
            </a:r>
            <a:endParaRPr sz="1000">
              <a:latin typeface="Arial"/>
              <a:cs typeface="Arial"/>
            </a:endParaRPr>
          </a:p>
          <a:p>
            <a:pPr marL="244475" indent="-172720">
              <a:lnSpc>
                <a:spcPct val="100000"/>
              </a:lnSpc>
              <a:buChar char="•"/>
              <a:tabLst>
                <a:tab pos="244475" algn="l"/>
              </a:tabLst>
            </a:pP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rise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in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energy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pressure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points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due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to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increases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in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international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oil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price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will</a:t>
            </a:r>
            <a:r>
              <a:rPr dirty="0" sz="1000" spc="35">
                <a:latin typeface="Arial MT"/>
                <a:cs typeface="Arial MT"/>
              </a:rPr>
              <a:t> </a:t>
            </a:r>
            <a:r>
              <a:rPr dirty="0" sz="1000" b="1">
                <a:latin typeface="Arial"/>
                <a:cs typeface="Arial"/>
              </a:rPr>
              <a:t>further</a:t>
            </a:r>
            <a:r>
              <a:rPr dirty="0" sz="1000" spc="-2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squeeze</a:t>
            </a:r>
            <a:r>
              <a:rPr dirty="0" sz="1000" spc="-3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consumer’s</a:t>
            </a:r>
            <a:r>
              <a:rPr dirty="0" sz="1000" spc="-2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purchasing</a:t>
            </a:r>
            <a:r>
              <a:rPr dirty="0" sz="1000" spc="-20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power</a:t>
            </a:r>
            <a:endParaRPr sz="1000">
              <a:latin typeface="Arial"/>
              <a:cs typeface="Arial"/>
            </a:endParaRPr>
          </a:p>
          <a:p>
            <a:pPr marL="244475" marR="228600" indent="-172720">
              <a:lnSpc>
                <a:spcPct val="100000"/>
              </a:lnSpc>
              <a:buFont typeface="Arial MT"/>
              <a:buChar char="•"/>
              <a:tabLst>
                <a:tab pos="244475" algn="l"/>
              </a:tabLst>
            </a:pPr>
            <a:r>
              <a:rPr dirty="0" sz="1000" b="1">
                <a:latin typeface="Arial"/>
                <a:cs typeface="Arial"/>
              </a:rPr>
              <a:t>Although</a:t>
            </a:r>
            <a:r>
              <a:rPr dirty="0" sz="1000" spc="2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the</a:t>
            </a:r>
            <a:r>
              <a:rPr dirty="0" sz="1000" spc="-3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prices</a:t>
            </a:r>
            <a:r>
              <a:rPr dirty="0" sz="1000" spc="-2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of</a:t>
            </a:r>
            <a:r>
              <a:rPr dirty="0" sz="1000" spc="-1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petroleum</a:t>
            </a:r>
            <a:r>
              <a:rPr dirty="0" sz="1000" spc="-2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products</a:t>
            </a:r>
            <a:r>
              <a:rPr dirty="0" sz="1000" spc="-2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may</a:t>
            </a:r>
            <a:r>
              <a:rPr dirty="0" sz="1000" spc="-2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possibly</a:t>
            </a:r>
            <a:r>
              <a:rPr dirty="0" sz="1000" spc="-3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be</a:t>
            </a:r>
            <a:r>
              <a:rPr dirty="0" sz="1000" spc="-2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moving</a:t>
            </a:r>
            <a:r>
              <a:rPr dirty="0" sz="1000" spc="-2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in</a:t>
            </a:r>
            <a:r>
              <a:rPr dirty="0" sz="1000" spc="-2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the</a:t>
            </a:r>
            <a:r>
              <a:rPr dirty="0" sz="1000" spc="-2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same</a:t>
            </a:r>
            <a:r>
              <a:rPr dirty="0" sz="1000" spc="-3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direction,</a:t>
            </a:r>
            <a:r>
              <a:rPr dirty="0" sz="1000" spc="-2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the</a:t>
            </a:r>
            <a:r>
              <a:rPr dirty="0" sz="1000" spc="-2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price</a:t>
            </a:r>
            <a:r>
              <a:rPr dirty="0" sz="1000" spc="-2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of</a:t>
            </a:r>
            <a:r>
              <a:rPr dirty="0" sz="1000" spc="-1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PMS</a:t>
            </a:r>
            <a:r>
              <a:rPr dirty="0" sz="1000" spc="-3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may</a:t>
            </a:r>
            <a:r>
              <a:rPr dirty="0" sz="1000" spc="-3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not</a:t>
            </a:r>
            <a:r>
              <a:rPr dirty="0" sz="1000" spc="-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be</a:t>
            </a:r>
            <a:r>
              <a:rPr dirty="0" sz="1000" spc="-3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on</a:t>
            </a:r>
            <a:r>
              <a:rPr dirty="0" sz="1000" spc="-1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par</a:t>
            </a:r>
            <a:r>
              <a:rPr dirty="0" sz="1000" spc="-2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with</a:t>
            </a:r>
            <a:r>
              <a:rPr dirty="0" sz="1000" spc="-2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the</a:t>
            </a:r>
            <a:r>
              <a:rPr dirty="0" sz="1000" spc="-2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other</a:t>
            </a:r>
            <a:r>
              <a:rPr dirty="0" sz="1000" spc="-2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products</a:t>
            </a:r>
            <a:r>
              <a:rPr dirty="0" sz="1000" spc="-15" b="1">
                <a:latin typeface="Arial"/>
                <a:cs typeface="Arial"/>
              </a:rPr>
              <a:t> </a:t>
            </a:r>
            <a:r>
              <a:rPr dirty="0" sz="1000" spc="-25">
                <a:latin typeface="Arial MT"/>
                <a:cs typeface="Arial MT"/>
              </a:rPr>
              <a:t>due </a:t>
            </a:r>
            <a:r>
              <a:rPr dirty="0" sz="1000">
                <a:latin typeface="Arial MT"/>
                <a:cs typeface="Arial MT"/>
              </a:rPr>
              <a:t>to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likelihood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of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partial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subsidy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being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reintroduced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to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cushion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effect</a:t>
            </a:r>
            <a:r>
              <a:rPr dirty="0" sz="1000" spc="-5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of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rise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in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PMS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price,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in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absence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of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increase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in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minimum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wage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for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labour</a:t>
            </a:r>
            <a:r>
              <a:rPr dirty="0" sz="1000" spc="-10">
                <a:latin typeface="Arial MT"/>
                <a:cs typeface="Arial MT"/>
              </a:rPr>
              <a:t> force </a:t>
            </a:r>
            <a:r>
              <a:rPr dirty="0" sz="1000">
                <a:latin typeface="Arial MT"/>
                <a:cs typeface="Arial MT"/>
              </a:rPr>
              <a:t>and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palliative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measures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for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poor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624196" y="3885057"/>
            <a:ext cx="1099185" cy="1282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50" i="1">
                <a:latin typeface="Arial"/>
                <a:cs typeface="Arial"/>
              </a:rPr>
              <a:t>Source:</a:t>
            </a:r>
            <a:r>
              <a:rPr dirty="0" sz="650" spc="220" i="1">
                <a:latin typeface="Arial"/>
                <a:cs typeface="Arial"/>
              </a:rPr>
              <a:t> </a:t>
            </a:r>
            <a:r>
              <a:rPr dirty="0" sz="650" i="1">
                <a:latin typeface="Arial"/>
                <a:cs typeface="Arial"/>
              </a:rPr>
              <a:t>NBS,</a:t>
            </a:r>
            <a:r>
              <a:rPr dirty="0" sz="650" spc="20" i="1">
                <a:latin typeface="Arial"/>
                <a:cs typeface="Arial"/>
              </a:rPr>
              <a:t> </a:t>
            </a:r>
            <a:r>
              <a:rPr dirty="0" sz="650" i="1">
                <a:latin typeface="Arial"/>
                <a:cs typeface="Arial"/>
              </a:rPr>
              <a:t>PwC</a:t>
            </a:r>
            <a:r>
              <a:rPr dirty="0" sz="650" spc="-10" i="1">
                <a:latin typeface="Arial"/>
                <a:cs typeface="Arial"/>
              </a:rPr>
              <a:t> Analysis</a:t>
            </a:r>
            <a:endParaRPr sz="650">
              <a:latin typeface="Arial"/>
              <a:cs typeface="Arial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536448" y="3395471"/>
            <a:ext cx="8982710" cy="26034"/>
          </a:xfrm>
          <a:custGeom>
            <a:avLst/>
            <a:gdLst/>
            <a:ahLst/>
            <a:cxnLst/>
            <a:rect l="l" t="t" r="r" b="b"/>
            <a:pathLst>
              <a:path w="8982710" h="26035">
                <a:moveTo>
                  <a:pt x="0" y="0"/>
                </a:moveTo>
                <a:lnTo>
                  <a:pt x="8982456" y="0"/>
                </a:lnTo>
              </a:path>
              <a:path w="8982710" h="26035">
                <a:moveTo>
                  <a:pt x="1776983" y="0"/>
                </a:moveTo>
                <a:lnTo>
                  <a:pt x="1776983" y="25907"/>
                </a:lnTo>
              </a:path>
              <a:path w="8982710" h="26035">
                <a:moveTo>
                  <a:pt x="1973579" y="0"/>
                </a:moveTo>
                <a:lnTo>
                  <a:pt x="1973579" y="25907"/>
                </a:lnTo>
              </a:path>
              <a:path w="8982710" h="26035">
                <a:moveTo>
                  <a:pt x="2171700" y="0"/>
                </a:moveTo>
                <a:lnTo>
                  <a:pt x="2171700" y="25907"/>
                </a:lnTo>
              </a:path>
              <a:path w="8982710" h="26035">
                <a:moveTo>
                  <a:pt x="2368296" y="0"/>
                </a:moveTo>
                <a:lnTo>
                  <a:pt x="2368296" y="25907"/>
                </a:lnTo>
              </a:path>
              <a:path w="8982710" h="26035">
                <a:moveTo>
                  <a:pt x="3159252" y="0"/>
                </a:moveTo>
                <a:lnTo>
                  <a:pt x="3159252" y="25907"/>
                </a:lnTo>
              </a:path>
              <a:path w="8982710" h="26035">
                <a:moveTo>
                  <a:pt x="3355848" y="0"/>
                </a:moveTo>
                <a:lnTo>
                  <a:pt x="3355848" y="25907"/>
                </a:lnTo>
              </a:path>
              <a:path w="8982710" h="26035">
                <a:moveTo>
                  <a:pt x="3553967" y="0"/>
                </a:moveTo>
                <a:lnTo>
                  <a:pt x="3553967" y="25907"/>
                </a:lnTo>
              </a:path>
              <a:path w="8982710" h="26035">
                <a:moveTo>
                  <a:pt x="3750564" y="0"/>
                </a:moveTo>
                <a:lnTo>
                  <a:pt x="3750564" y="25907"/>
                </a:lnTo>
              </a:path>
              <a:path w="8982710" h="26035">
                <a:moveTo>
                  <a:pt x="4539996" y="0"/>
                </a:moveTo>
                <a:lnTo>
                  <a:pt x="4539996" y="25907"/>
                </a:lnTo>
              </a:path>
              <a:path w="8982710" h="26035">
                <a:moveTo>
                  <a:pt x="4738116" y="0"/>
                </a:moveTo>
                <a:lnTo>
                  <a:pt x="4738116" y="25907"/>
                </a:lnTo>
              </a:path>
              <a:path w="8982710" h="26035">
                <a:moveTo>
                  <a:pt x="4934712" y="0"/>
                </a:moveTo>
                <a:lnTo>
                  <a:pt x="4934712" y="25907"/>
                </a:lnTo>
              </a:path>
              <a:path w="8982710" h="26035">
                <a:moveTo>
                  <a:pt x="5132832" y="0"/>
                </a:moveTo>
                <a:lnTo>
                  <a:pt x="5132832" y="25907"/>
                </a:lnTo>
              </a:path>
              <a:path w="8982710" h="26035">
                <a:moveTo>
                  <a:pt x="5330952" y="0"/>
                </a:moveTo>
                <a:lnTo>
                  <a:pt x="5330952" y="25907"/>
                </a:lnTo>
              </a:path>
              <a:path w="8982710" h="26035">
                <a:moveTo>
                  <a:pt x="5527548" y="0"/>
                </a:moveTo>
                <a:lnTo>
                  <a:pt x="5527548" y="25907"/>
                </a:lnTo>
              </a:path>
              <a:path w="8982710" h="26035">
                <a:moveTo>
                  <a:pt x="5725668" y="0"/>
                </a:moveTo>
                <a:lnTo>
                  <a:pt x="5725668" y="25907"/>
                </a:lnTo>
              </a:path>
              <a:path w="8982710" h="26035">
                <a:moveTo>
                  <a:pt x="5922264" y="0"/>
                </a:moveTo>
                <a:lnTo>
                  <a:pt x="5922264" y="25907"/>
                </a:lnTo>
              </a:path>
              <a:path w="8982710" h="26035">
                <a:moveTo>
                  <a:pt x="6711696" y="0"/>
                </a:moveTo>
                <a:lnTo>
                  <a:pt x="6711696" y="25907"/>
                </a:lnTo>
              </a:path>
              <a:path w="8982710" h="26035">
                <a:moveTo>
                  <a:pt x="6909816" y="0"/>
                </a:moveTo>
                <a:lnTo>
                  <a:pt x="6909816" y="25907"/>
                </a:lnTo>
              </a:path>
              <a:path w="8982710" h="26035">
                <a:moveTo>
                  <a:pt x="7106411" y="0"/>
                </a:moveTo>
                <a:lnTo>
                  <a:pt x="7106411" y="25907"/>
                </a:lnTo>
              </a:path>
              <a:path w="8982710" h="26035">
                <a:moveTo>
                  <a:pt x="7304532" y="0"/>
                </a:moveTo>
                <a:lnTo>
                  <a:pt x="7304532" y="25907"/>
                </a:lnTo>
              </a:path>
              <a:path w="8982710" h="26035">
                <a:moveTo>
                  <a:pt x="7502652" y="0"/>
                </a:moveTo>
                <a:lnTo>
                  <a:pt x="7502652" y="25907"/>
                </a:lnTo>
              </a:path>
              <a:path w="8982710" h="26035">
                <a:moveTo>
                  <a:pt x="7699248" y="0"/>
                </a:moveTo>
                <a:lnTo>
                  <a:pt x="7699248" y="25907"/>
                </a:lnTo>
              </a:path>
              <a:path w="8982710" h="26035">
                <a:moveTo>
                  <a:pt x="7897368" y="0"/>
                </a:moveTo>
                <a:lnTo>
                  <a:pt x="7897368" y="25907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8866" y="2063593"/>
            <a:ext cx="8897619" cy="1237039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9584563" y="1863876"/>
            <a:ext cx="222885" cy="310515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dirty="0" sz="700" spc="-20">
                <a:solidFill>
                  <a:srgbClr val="0D0D0D"/>
                </a:solidFill>
                <a:latin typeface="Arial MT"/>
                <a:cs typeface="Arial MT"/>
              </a:rPr>
              <a:t>5000</a:t>
            </a:r>
            <a:endParaRPr sz="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z="700" spc="-20">
                <a:solidFill>
                  <a:srgbClr val="0D0D0D"/>
                </a:solidFill>
                <a:latin typeface="Arial MT"/>
                <a:cs typeface="Arial MT"/>
              </a:rPr>
              <a:t>4500</a:t>
            </a:r>
            <a:endParaRPr sz="700">
              <a:latin typeface="Arial MT"/>
              <a:cs typeface="Arial MT"/>
            </a:endParaRPr>
          </a:p>
        </p:txBody>
      </p:sp>
      <p:graphicFrame>
        <p:nvGraphicFramePr>
          <p:cNvPr id="10" name="object 10" descr=""/>
          <p:cNvGraphicFramePr>
            <a:graphicFrameLocks noGrp="1"/>
          </p:cNvGraphicFramePr>
          <p:nvPr/>
        </p:nvGraphicFramePr>
        <p:xfrm>
          <a:off x="230378" y="2205981"/>
          <a:ext cx="9672320" cy="12357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6070"/>
                <a:gridCol w="196850"/>
                <a:gridCol w="198120"/>
                <a:gridCol w="198119"/>
                <a:gridCol w="196850"/>
                <a:gridCol w="198119"/>
                <a:gridCol w="196850"/>
                <a:gridCol w="198120"/>
                <a:gridCol w="196850"/>
                <a:gridCol w="988060"/>
                <a:gridCol w="198755"/>
                <a:gridCol w="197484"/>
                <a:gridCol w="988695"/>
                <a:gridCol w="197485"/>
                <a:gridCol w="198754"/>
                <a:gridCol w="1777364"/>
                <a:gridCol w="196850"/>
                <a:gridCol w="198120"/>
                <a:gridCol w="1607820"/>
                <a:gridCol w="168909"/>
                <a:gridCol w="196850"/>
                <a:gridCol w="198120"/>
                <a:gridCol w="196850"/>
                <a:gridCol w="406400"/>
              </a:tblGrid>
              <a:tr h="109855">
                <a:tc gridSpan="2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77165">
                        <a:lnSpc>
                          <a:spcPts val="770"/>
                        </a:lnSpc>
                      </a:pPr>
                      <a:r>
                        <a:rPr dirty="0" sz="700" spc="-2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4000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</a:tr>
              <a:tr h="172720">
                <a:tc>
                  <a:txBody>
                    <a:bodyPr/>
                    <a:lstStyle/>
                    <a:p>
                      <a:pPr algn="r" marR="6921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700" spc="-2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1000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254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7716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700" spc="-2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3500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22860"/>
                </a:tc>
              </a:tr>
              <a:tr h="264160">
                <a:tc>
                  <a:txBody>
                    <a:bodyPr/>
                    <a:lstStyle/>
                    <a:p>
                      <a:pPr algn="r" marR="6858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700" spc="-25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800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330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77165">
                        <a:lnSpc>
                          <a:spcPts val="780"/>
                        </a:lnSpc>
                      </a:pPr>
                      <a:r>
                        <a:rPr dirty="0" sz="700" spc="-2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3000</a:t>
                      </a:r>
                      <a:endParaRPr sz="700">
                        <a:latin typeface="Arial MT"/>
                        <a:cs typeface="Arial MT"/>
                      </a:endParaRPr>
                    </a:p>
                    <a:p>
                      <a:pPr marL="17716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700" spc="-2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2500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</a:tr>
              <a:tr h="142240">
                <a:tc>
                  <a:txBody>
                    <a:bodyPr/>
                    <a:lstStyle/>
                    <a:p>
                      <a:pPr algn="r" marR="68580">
                        <a:lnSpc>
                          <a:spcPts val="620"/>
                        </a:lnSpc>
                      </a:pPr>
                      <a:r>
                        <a:rPr dirty="0" sz="700" spc="-25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600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7716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700" spc="-2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2000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12700"/>
                </a:tc>
              </a:tr>
              <a:tr h="152400">
                <a:tc>
                  <a:txBody>
                    <a:bodyPr/>
                    <a:lstStyle/>
                    <a:p>
                      <a:pPr algn="r" marR="68580">
                        <a:lnSpc>
                          <a:spcPts val="840"/>
                        </a:lnSpc>
                        <a:spcBef>
                          <a:spcPts val="260"/>
                        </a:spcBef>
                      </a:pPr>
                      <a:r>
                        <a:rPr dirty="0" sz="700" spc="-25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400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330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7716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700" spc="-2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1500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12700"/>
                </a:tc>
              </a:tr>
              <a:tr h="101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77165">
                        <a:lnSpc>
                          <a:spcPts val="680"/>
                        </a:lnSpc>
                        <a:spcBef>
                          <a:spcPts val="20"/>
                        </a:spcBef>
                      </a:pPr>
                      <a:r>
                        <a:rPr dirty="0" sz="700" spc="-2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1000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2540"/>
                </a:tc>
              </a:tr>
              <a:tr h="172720">
                <a:tc>
                  <a:txBody>
                    <a:bodyPr/>
                    <a:lstStyle/>
                    <a:p>
                      <a:pPr algn="r" marR="68580">
                        <a:lnSpc>
                          <a:spcPts val="700"/>
                        </a:lnSpc>
                      </a:pPr>
                      <a:r>
                        <a:rPr dirty="0" sz="700" spc="-25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200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7716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700" spc="-25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500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43180"/>
                </a:tc>
              </a:tr>
              <a:tr h="120014">
                <a:tc>
                  <a:txBody>
                    <a:bodyPr/>
                    <a:lstStyle/>
                    <a:p>
                      <a:pPr algn="r" marR="68580">
                        <a:lnSpc>
                          <a:spcPts val="745"/>
                        </a:lnSpc>
                        <a:spcBef>
                          <a:spcPts val="100"/>
                        </a:spcBef>
                      </a:pPr>
                      <a:r>
                        <a:rPr dirty="0" sz="700" spc="-5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12700">
                    <a:lnR w="9525">
                      <a:solidFill>
                        <a:srgbClr val="D9D9D9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77165">
                        <a:lnSpc>
                          <a:spcPts val="745"/>
                        </a:lnSpc>
                        <a:spcBef>
                          <a:spcPts val="100"/>
                        </a:spcBef>
                      </a:pPr>
                      <a:r>
                        <a:rPr dirty="0" sz="700" spc="-5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12700">
                    <a:lnL w="9525">
                      <a:solidFill>
                        <a:srgbClr val="D9D9D9"/>
                      </a:solidFill>
                      <a:prstDash val="solid"/>
                    </a:lnL>
                  </a:tcPr>
                </a:tc>
              </a:tr>
            </a:tbl>
          </a:graphicData>
        </a:graphic>
      </p:graphicFrame>
      <p:sp>
        <p:nvSpPr>
          <p:cNvPr id="11" name="object 11" descr=""/>
          <p:cNvSpPr txBox="1"/>
          <p:nvPr/>
        </p:nvSpPr>
        <p:spPr>
          <a:xfrm>
            <a:off x="249427" y="2103500"/>
            <a:ext cx="2228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0">
                <a:solidFill>
                  <a:srgbClr val="0D0D0D"/>
                </a:solidFill>
                <a:latin typeface="Arial MT"/>
                <a:cs typeface="Arial MT"/>
              </a:rPr>
              <a:t>1200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249427" y="1900173"/>
            <a:ext cx="2228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0">
                <a:solidFill>
                  <a:srgbClr val="0D0D0D"/>
                </a:solidFill>
                <a:latin typeface="Arial MT"/>
                <a:cs typeface="Arial MT"/>
              </a:rPr>
              <a:t>1400</a:t>
            </a:r>
            <a:endParaRPr sz="700">
              <a:latin typeface="Arial MT"/>
              <a:cs typeface="Arial MT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185673" y="667512"/>
            <a:ext cx="9760585" cy="3231515"/>
            <a:chOff x="185673" y="667512"/>
            <a:chExt cx="9760585" cy="3231515"/>
          </a:xfrm>
        </p:grpSpPr>
        <p:sp>
          <p:nvSpPr>
            <p:cNvPr id="14" name="object 14" descr=""/>
            <p:cNvSpPr/>
            <p:nvPr/>
          </p:nvSpPr>
          <p:spPr>
            <a:xfrm>
              <a:off x="391134" y="3464559"/>
              <a:ext cx="9090025" cy="247015"/>
            </a:xfrm>
            <a:custGeom>
              <a:avLst/>
              <a:gdLst/>
              <a:ahLst/>
              <a:cxnLst/>
              <a:rect l="l" t="t" r="r" b="b"/>
              <a:pathLst>
                <a:path w="9090025" h="247014">
                  <a:moveTo>
                    <a:pt x="45021" y="209042"/>
                  </a:moveTo>
                  <a:lnTo>
                    <a:pt x="44932" y="207137"/>
                  </a:lnTo>
                  <a:lnTo>
                    <a:pt x="44894" y="206121"/>
                  </a:lnTo>
                  <a:lnTo>
                    <a:pt x="43738" y="203073"/>
                  </a:lnTo>
                  <a:lnTo>
                    <a:pt x="42595" y="200152"/>
                  </a:lnTo>
                  <a:lnTo>
                    <a:pt x="40144" y="196850"/>
                  </a:lnTo>
                  <a:lnTo>
                    <a:pt x="36410" y="193040"/>
                  </a:lnTo>
                  <a:lnTo>
                    <a:pt x="5918" y="162560"/>
                  </a:lnTo>
                  <a:lnTo>
                    <a:pt x="0" y="168529"/>
                  </a:lnTo>
                  <a:lnTo>
                    <a:pt x="30822" y="199390"/>
                  </a:lnTo>
                  <a:lnTo>
                    <a:pt x="33388" y="201930"/>
                  </a:lnTo>
                  <a:lnTo>
                    <a:pt x="35052" y="203962"/>
                  </a:lnTo>
                  <a:lnTo>
                    <a:pt x="35814" y="205486"/>
                  </a:lnTo>
                  <a:lnTo>
                    <a:pt x="36576" y="207137"/>
                  </a:lnTo>
                  <a:lnTo>
                    <a:pt x="36690" y="209042"/>
                  </a:lnTo>
                  <a:lnTo>
                    <a:pt x="35966" y="212344"/>
                  </a:lnTo>
                  <a:lnTo>
                    <a:pt x="35026" y="213868"/>
                  </a:lnTo>
                  <a:lnTo>
                    <a:pt x="31521" y="217424"/>
                  </a:lnTo>
                  <a:lnTo>
                    <a:pt x="29311" y="218313"/>
                  </a:lnTo>
                  <a:lnTo>
                    <a:pt x="26911" y="218313"/>
                  </a:lnTo>
                  <a:lnTo>
                    <a:pt x="24511" y="218186"/>
                  </a:lnTo>
                  <a:lnTo>
                    <a:pt x="21526" y="216408"/>
                  </a:lnTo>
                  <a:lnTo>
                    <a:pt x="17970" y="213106"/>
                  </a:lnTo>
                  <a:lnTo>
                    <a:pt x="13360" y="219202"/>
                  </a:lnTo>
                  <a:lnTo>
                    <a:pt x="17741" y="223774"/>
                  </a:lnTo>
                  <a:lnTo>
                    <a:pt x="22085" y="226060"/>
                  </a:lnTo>
                  <a:lnTo>
                    <a:pt x="28600" y="226441"/>
                  </a:lnTo>
                  <a:lnTo>
                    <a:pt x="30784" y="226441"/>
                  </a:lnTo>
                  <a:lnTo>
                    <a:pt x="34925" y="224536"/>
                  </a:lnTo>
                  <a:lnTo>
                    <a:pt x="38849" y="220726"/>
                  </a:lnTo>
                  <a:lnTo>
                    <a:pt x="41236" y="218313"/>
                  </a:lnTo>
                  <a:lnTo>
                    <a:pt x="41363" y="218186"/>
                  </a:lnTo>
                  <a:lnTo>
                    <a:pt x="41871" y="217424"/>
                  </a:lnTo>
                  <a:lnTo>
                    <a:pt x="43256" y="215138"/>
                  </a:lnTo>
                  <a:lnTo>
                    <a:pt x="45021" y="209042"/>
                  </a:lnTo>
                  <a:close/>
                </a:path>
                <a:path w="9090025" h="247014">
                  <a:moveTo>
                    <a:pt x="87617" y="170307"/>
                  </a:moveTo>
                  <a:lnTo>
                    <a:pt x="75234" y="161417"/>
                  </a:lnTo>
                  <a:lnTo>
                    <a:pt x="65989" y="152273"/>
                  </a:lnTo>
                  <a:lnTo>
                    <a:pt x="64973" y="151257"/>
                  </a:lnTo>
                  <a:lnTo>
                    <a:pt x="62534" y="148717"/>
                  </a:lnTo>
                  <a:lnTo>
                    <a:pt x="60744" y="147193"/>
                  </a:lnTo>
                  <a:lnTo>
                    <a:pt x="59626" y="146431"/>
                  </a:lnTo>
                  <a:lnTo>
                    <a:pt x="57797" y="145288"/>
                  </a:lnTo>
                  <a:lnTo>
                    <a:pt x="56273" y="144653"/>
                  </a:lnTo>
                  <a:lnTo>
                    <a:pt x="57772" y="144653"/>
                  </a:lnTo>
                  <a:lnTo>
                    <a:pt x="77000" y="144653"/>
                  </a:lnTo>
                  <a:lnTo>
                    <a:pt x="76746" y="144399"/>
                  </a:lnTo>
                  <a:lnTo>
                    <a:pt x="55676" y="144399"/>
                  </a:lnTo>
                  <a:lnTo>
                    <a:pt x="55968" y="144526"/>
                  </a:lnTo>
                  <a:lnTo>
                    <a:pt x="54178" y="144399"/>
                  </a:lnTo>
                  <a:lnTo>
                    <a:pt x="52387" y="144145"/>
                  </a:lnTo>
                  <a:lnTo>
                    <a:pt x="50292" y="144653"/>
                  </a:lnTo>
                  <a:lnTo>
                    <a:pt x="47904" y="145796"/>
                  </a:lnTo>
                  <a:lnTo>
                    <a:pt x="45529" y="146812"/>
                  </a:lnTo>
                  <a:lnTo>
                    <a:pt x="42951" y="148717"/>
                  </a:lnTo>
                  <a:lnTo>
                    <a:pt x="40195" y="151511"/>
                  </a:lnTo>
                  <a:lnTo>
                    <a:pt x="37401" y="154305"/>
                  </a:lnTo>
                  <a:lnTo>
                    <a:pt x="35331" y="157099"/>
                  </a:lnTo>
                  <a:lnTo>
                    <a:pt x="32626" y="162941"/>
                  </a:lnTo>
                  <a:lnTo>
                    <a:pt x="32092" y="165608"/>
                  </a:lnTo>
                  <a:lnTo>
                    <a:pt x="32359" y="167894"/>
                  </a:lnTo>
                  <a:lnTo>
                    <a:pt x="32435" y="168529"/>
                  </a:lnTo>
                  <a:lnTo>
                    <a:pt x="32486" y="169037"/>
                  </a:lnTo>
                  <a:lnTo>
                    <a:pt x="32575" y="169799"/>
                  </a:lnTo>
                  <a:lnTo>
                    <a:pt x="32689" y="170688"/>
                  </a:lnTo>
                  <a:lnTo>
                    <a:pt x="33743" y="173355"/>
                  </a:lnTo>
                  <a:lnTo>
                    <a:pt x="35547" y="176149"/>
                  </a:lnTo>
                  <a:lnTo>
                    <a:pt x="41656" y="171450"/>
                  </a:lnTo>
                  <a:lnTo>
                    <a:pt x="39941" y="168529"/>
                  </a:lnTo>
                  <a:lnTo>
                    <a:pt x="39255" y="166116"/>
                  </a:lnTo>
                  <a:lnTo>
                    <a:pt x="39535" y="164211"/>
                  </a:lnTo>
                  <a:lnTo>
                    <a:pt x="39649" y="163449"/>
                  </a:lnTo>
                  <a:lnTo>
                    <a:pt x="39725" y="162941"/>
                  </a:lnTo>
                  <a:lnTo>
                    <a:pt x="39789" y="162560"/>
                  </a:lnTo>
                  <a:lnTo>
                    <a:pt x="39903" y="161798"/>
                  </a:lnTo>
                  <a:lnTo>
                    <a:pt x="41363" y="159385"/>
                  </a:lnTo>
                  <a:lnTo>
                    <a:pt x="43942" y="156845"/>
                  </a:lnTo>
                  <a:lnTo>
                    <a:pt x="46710" y="154051"/>
                  </a:lnTo>
                  <a:lnTo>
                    <a:pt x="49415" y="152654"/>
                  </a:lnTo>
                  <a:lnTo>
                    <a:pt x="52057" y="152400"/>
                  </a:lnTo>
                  <a:lnTo>
                    <a:pt x="54013" y="152273"/>
                  </a:lnTo>
                  <a:lnTo>
                    <a:pt x="56108" y="153416"/>
                  </a:lnTo>
                  <a:lnTo>
                    <a:pt x="58343" y="155575"/>
                  </a:lnTo>
                  <a:lnTo>
                    <a:pt x="58547" y="155829"/>
                  </a:lnTo>
                  <a:lnTo>
                    <a:pt x="59512" y="156845"/>
                  </a:lnTo>
                  <a:lnTo>
                    <a:pt x="59626" y="157353"/>
                  </a:lnTo>
                  <a:lnTo>
                    <a:pt x="58394" y="159893"/>
                  </a:lnTo>
                  <a:lnTo>
                    <a:pt x="55753" y="163830"/>
                  </a:lnTo>
                  <a:lnTo>
                    <a:pt x="49936" y="171196"/>
                  </a:lnTo>
                  <a:lnTo>
                    <a:pt x="49022" y="172466"/>
                  </a:lnTo>
                  <a:lnTo>
                    <a:pt x="45275" y="182118"/>
                  </a:lnTo>
                  <a:lnTo>
                    <a:pt x="45364" y="184150"/>
                  </a:lnTo>
                  <a:lnTo>
                    <a:pt x="46355" y="187579"/>
                  </a:lnTo>
                  <a:lnTo>
                    <a:pt x="46431" y="187833"/>
                  </a:lnTo>
                  <a:lnTo>
                    <a:pt x="46545" y="188214"/>
                  </a:lnTo>
                  <a:lnTo>
                    <a:pt x="47637" y="190119"/>
                  </a:lnTo>
                  <a:lnTo>
                    <a:pt x="49225" y="191643"/>
                  </a:lnTo>
                  <a:lnTo>
                    <a:pt x="51930" y="194437"/>
                  </a:lnTo>
                  <a:lnTo>
                    <a:pt x="55105" y="195580"/>
                  </a:lnTo>
                  <a:lnTo>
                    <a:pt x="61925" y="195580"/>
                  </a:lnTo>
                  <a:lnTo>
                    <a:pt x="66014" y="193421"/>
                  </a:lnTo>
                  <a:lnTo>
                    <a:pt x="71602" y="187833"/>
                  </a:lnTo>
                  <a:lnTo>
                    <a:pt x="76415" y="177165"/>
                  </a:lnTo>
                  <a:lnTo>
                    <a:pt x="70840" y="177165"/>
                  </a:lnTo>
                  <a:lnTo>
                    <a:pt x="70154" y="179705"/>
                  </a:lnTo>
                  <a:lnTo>
                    <a:pt x="70129" y="179832"/>
                  </a:lnTo>
                  <a:lnTo>
                    <a:pt x="68707" y="182118"/>
                  </a:lnTo>
                  <a:lnTo>
                    <a:pt x="64452" y="186436"/>
                  </a:lnTo>
                  <a:lnTo>
                    <a:pt x="62344" y="187579"/>
                  </a:lnTo>
                  <a:lnTo>
                    <a:pt x="58166" y="187833"/>
                  </a:lnTo>
                  <a:lnTo>
                    <a:pt x="56400" y="187071"/>
                  </a:lnTo>
                  <a:lnTo>
                    <a:pt x="54927" y="185674"/>
                  </a:lnTo>
                  <a:lnTo>
                    <a:pt x="53975" y="184658"/>
                  </a:lnTo>
                  <a:lnTo>
                    <a:pt x="53352" y="183515"/>
                  </a:lnTo>
                  <a:lnTo>
                    <a:pt x="52806" y="180975"/>
                  </a:lnTo>
                  <a:lnTo>
                    <a:pt x="52933" y="179705"/>
                  </a:lnTo>
                  <a:lnTo>
                    <a:pt x="53467" y="178308"/>
                  </a:lnTo>
                  <a:lnTo>
                    <a:pt x="53924" y="177165"/>
                  </a:lnTo>
                  <a:lnTo>
                    <a:pt x="70840" y="177165"/>
                  </a:lnTo>
                  <a:lnTo>
                    <a:pt x="70904" y="176911"/>
                  </a:lnTo>
                  <a:lnTo>
                    <a:pt x="54063" y="176911"/>
                  </a:lnTo>
                  <a:lnTo>
                    <a:pt x="55219" y="175006"/>
                  </a:lnTo>
                  <a:lnTo>
                    <a:pt x="57162" y="172466"/>
                  </a:lnTo>
                  <a:lnTo>
                    <a:pt x="60579" y="167894"/>
                  </a:lnTo>
                  <a:lnTo>
                    <a:pt x="62877" y="164211"/>
                  </a:lnTo>
                  <a:lnTo>
                    <a:pt x="64058" y="161417"/>
                  </a:lnTo>
                  <a:lnTo>
                    <a:pt x="66065" y="163449"/>
                  </a:lnTo>
                  <a:lnTo>
                    <a:pt x="68491" y="165862"/>
                  </a:lnTo>
                  <a:lnTo>
                    <a:pt x="70027" y="167894"/>
                  </a:lnTo>
                  <a:lnTo>
                    <a:pt x="71513" y="172212"/>
                  </a:lnTo>
                  <a:lnTo>
                    <a:pt x="71450" y="175006"/>
                  </a:lnTo>
                  <a:lnTo>
                    <a:pt x="70904" y="176911"/>
                  </a:lnTo>
                  <a:lnTo>
                    <a:pt x="76479" y="176911"/>
                  </a:lnTo>
                  <a:lnTo>
                    <a:pt x="76593" y="175514"/>
                  </a:lnTo>
                  <a:lnTo>
                    <a:pt x="76657" y="174625"/>
                  </a:lnTo>
                  <a:lnTo>
                    <a:pt x="76771" y="173355"/>
                  </a:lnTo>
                  <a:lnTo>
                    <a:pt x="76936" y="173355"/>
                  </a:lnTo>
                  <a:lnTo>
                    <a:pt x="78473" y="174625"/>
                  </a:lnTo>
                  <a:lnTo>
                    <a:pt x="80175" y="175514"/>
                  </a:lnTo>
                  <a:lnTo>
                    <a:pt x="81876" y="176149"/>
                  </a:lnTo>
                  <a:lnTo>
                    <a:pt x="84620" y="173355"/>
                  </a:lnTo>
                  <a:lnTo>
                    <a:pt x="87617" y="170307"/>
                  </a:lnTo>
                  <a:close/>
                </a:path>
                <a:path w="9090025" h="247014">
                  <a:moveTo>
                    <a:pt x="100685" y="157353"/>
                  </a:moveTo>
                  <a:lnTo>
                    <a:pt x="88036" y="144653"/>
                  </a:lnTo>
                  <a:lnTo>
                    <a:pt x="77000" y="144653"/>
                  </a:lnTo>
                  <a:lnTo>
                    <a:pt x="95173" y="162814"/>
                  </a:lnTo>
                  <a:lnTo>
                    <a:pt x="100685" y="157353"/>
                  </a:lnTo>
                  <a:close/>
                </a:path>
                <a:path w="9090025" h="247014">
                  <a:moveTo>
                    <a:pt x="121526" y="136398"/>
                  </a:moveTo>
                  <a:lnTo>
                    <a:pt x="102235" y="117221"/>
                  </a:lnTo>
                  <a:lnTo>
                    <a:pt x="101600" y="116586"/>
                  </a:lnTo>
                  <a:lnTo>
                    <a:pt x="99060" y="113919"/>
                  </a:lnTo>
                  <a:lnTo>
                    <a:pt x="97180" y="112268"/>
                  </a:lnTo>
                  <a:lnTo>
                    <a:pt x="95948" y="111506"/>
                  </a:lnTo>
                  <a:lnTo>
                    <a:pt x="94056" y="110236"/>
                  </a:lnTo>
                  <a:lnTo>
                    <a:pt x="92138" y="109474"/>
                  </a:lnTo>
                  <a:lnTo>
                    <a:pt x="90182" y="109093"/>
                  </a:lnTo>
                  <a:lnTo>
                    <a:pt x="88226" y="108839"/>
                  </a:lnTo>
                  <a:lnTo>
                    <a:pt x="86080" y="109093"/>
                  </a:lnTo>
                  <a:lnTo>
                    <a:pt x="83400" y="110236"/>
                  </a:lnTo>
                  <a:lnTo>
                    <a:pt x="81407" y="110998"/>
                  </a:lnTo>
                  <a:lnTo>
                    <a:pt x="79260" y="112395"/>
                  </a:lnTo>
                  <a:lnTo>
                    <a:pt x="77304" y="114427"/>
                  </a:lnTo>
                  <a:lnTo>
                    <a:pt x="72809" y="118872"/>
                  </a:lnTo>
                  <a:lnTo>
                    <a:pt x="71158" y="124079"/>
                  </a:lnTo>
                  <a:lnTo>
                    <a:pt x="72339" y="130048"/>
                  </a:lnTo>
                  <a:lnTo>
                    <a:pt x="67729" y="125476"/>
                  </a:lnTo>
                  <a:lnTo>
                    <a:pt x="62776" y="130429"/>
                  </a:lnTo>
                  <a:lnTo>
                    <a:pt x="76746" y="144399"/>
                  </a:lnTo>
                  <a:lnTo>
                    <a:pt x="87782" y="144399"/>
                  </a:lnTo>
                  <a:lnTo>
                    <a:pt x="82981" y="139573"/>
                  </a:lnTo>
                  <a:lnTo>
                    <a:pt x="78828" y="135509"/>
                  </a:lnTo>
                  <a:lnTo>
                    <a:pt x="76860" y="131826"/>
                  </a:lnTo>
                  <a:lnTo>
                    <a:pt x="86893" y="117221"/>
                  </a:lnTo>
                  <a:lnTo>
                    <a:pt x="89128" y="117221"/>
                  </a:lnTo>
                  <a:lnTo>
                    <a:pt x="92189" y="118491"/>
                  </a:lnTo>
                  <a:lnTo>
                    <a:pt x="94081" y="120015"/>
                  </a:lnTo>
                  <a:lnTo>
                    <a:pt x="96316" y="122174"/>
                  </a:lnTo>
                  <a:lnTo>
                    <a:pt x="116039" y="141986"/>
                  </a:lnTo>
                  <a:lnTo>
                    <a:pt x="121526" y="136398"/>
                  </a:lnTo>
                  <a:close/>
                </a:path>
                <a:path w="9090025" h="247014">
                  <a:moveTo>
                    <a:pt x="130987" y="100076"/>
                  </a:moveTo>
                  <a:lnTo>
                    <a:pt x="125463" y="94615"/>
                  </a:lnTo>
                  <a:lnTo>
                    <a:pt x="108585" y="111506"/>
                  </a:lnTo>
                  <a:lnTo>
                    <a:pt x="114109" y="116967"/>
                  </a:lnTo>
                  <a:lnTo>
                    <a:pt x="130987" y="100076"/>
                  </a:lnTo>
                  <a:close/>
                </a:path>
                <a:path w="9090025" h="247014">
                  <a:moveTo>
                    <a:pt x="170395" y="87630"/>
                  </a:moveTo>
                  <a:lnTo>
                    <a:pt x="140817" y="58039"/>
                  </a:lnTo>
                  <a:lnTo>
                    <a:pt x="125476" y="42672"/>
                  </a:lnTo>
                  <a:lnTo>
                    <a:pt x="121932" y="46228"/>
                  </a:lnTo>
                  <a:lnTo>
                    <a:pt x="122910" y="49149"/>
                  </a:lnTo>
                  <a:lnTo>
                    <a:pt x="123278" y="52705"/>
                  </a:lnTo>
                  <a:lnTo>
                    <a:pt x="122809" y="60833"/>
                  </a:lnTo>
                  <a:lnTo>
                    <a:pt x="122783" y="61468"/>
                  </a:lnTo>
                  <a:lnTo>
                    <a:pt x="121843" y="65913"/>
                  </a:lnTo>
                  <a:lnTo>
                    <a:pt x="120167" y="70485"/>
                  </a:lnTo>
                  <a:lnTo>
                    <a:pt x="120332" y="70485"/>
                  </a:lnTo>
                  <a:lnTo>
                    <a:pt x="125526" y="75692"/>
                  </a:lnTo>
                  <a:lnTo>
                    <a:pt x="126606" y="73406"/>
                  </a:lnTo>
                  <a:lnTo>
                    <a:pt x="127596" y="70485"/>
                  </a:lnTo>
                  <a:lnTo>
                    <a:pt x="129286" y="63881"/>
                  </a:lnTo>
                  <a:lnTo>
                    <a:pt x="129362" y="63627"/>
                  </a:lnTo>
                  <a:lnTo>
                    <a:pt x="129705" y="61468"/>
                  </a:lnTo>
                  <a:lnTo>
                    <a:pt x="129806" y="60833"/>
                  </a:lnTo>
                  <a:lnTo>
                    <a:pt x="129895" y="58039"/>
                  </a:lnTo>
                  <a:lnTo>
                    <a:pt x="164896" y="93091"/>
                  </a:lnTo>
                  <a:lnTo>
                    <a:pt x="170395" y="87630"/>
                  </a:lnTo>
                  <a:close/>
                </a:path>
                <a:path w="9090025" h="247014">
                  <a:moveTo>
                    <a:pt x="206248" y="47117"/>
                  </a:moveTo>
                  <a:lnTo>
                    <a:pt x="206171" y="43180"/>
                  </a:lnTo>
                  <a:lnTo>
                    <a:pt x="204965" y="39624"/>
                  </a:lnTo>
                  <a:lnTo>
                    <a:pt x="203771" y="35941"/>
                  </a:lnTo>
                  <a:lnTo>
                    <a:pt x="201841" y="32893"/>
                  </a:lnTo>
                  <a:lnTo>
                    <a:pt x="201117" y="32131"/>
                  </a:lnTo>
                  <a:lnTo>
                    <a:pt x="199720" y="30734"/>
                  </a:lnTo>
                  <a:lnTo>
                    <a:pt x="199009" y="30022"/>
                  </a:lnTo>
                  <a:lnTo>
                    <a:pt x="199009" y="49657"/>
                  </a:lnTo>
                  <a:lnTo>
                    <a:pt x="198767" y="50292"/>
                  </a:lnTo>
                  <a:lnTo>
                    <a:pt x="197815" y="52705"/>
                  </a:lnTo>
                  <a:lnTo>
                    <a:pt x="195630" y="54864"/>
                  </a:lnTo>
                  <a:lnTo>
                    <a:pt x="193776" y="56642"/>
                  </a:lnTo>
                  <a:lnTo>
                    <a:pt x="193598" y="56642"/>
                  </a:lnTo>
                  <a:lnTo>
                    <a:pt x="192074" y="57531"/>
                  </a:lnTo>
                  <a:lnTo>
                    <a:pt x="187375" y="58547"/>
                  </a:lnTo>
                  <a:lnTo>
                    <a:pt x="185242" y="58547"/>
                  </a:lnTo>
                  <a:lnTo>
                    <a:pt x="182397" y="57404"/>
                  </a:lnTo>
                  <a:lnTo>
                    <a:pt x="180225" y="56642"/>
                  </a:lnTo>
                  <a:lnTo>
                    <a:pt x="180060" y="56642"/>
                  </a:lnTo>
                  <a:lnTo>
                    <a:pt x="177660" y="55118"/>
                  </a:lnTo>
                  <a:lnTo>
                    <a:pt x="172872" y="50292"/>
                  </a:lnTo>
                  <a:lnTo>
                    <a:pt x="171399" y="47117"/>
                  </a:lnTo>
                  <a:lnTo>
                    <a:pt x="171373" y="45466"/>
                  </a:lnTo>
                  <a:lnTo>
                    <a:pt x="171297" y="40132"/>
                  </a:lnTo>
                  <a:lnTo>
                    <a:pt x="172516" y="37084"/>
                  </a:lnTo>
                  <a:lnTo>
                    <a:pt x="175006" y="34671"/>
                  </a:lnTo>
                  <a:lnTo>
                    <a:pt x="177507" y="32131"/>
                  </a:lnTo>
                  <a:lnTo>
                    <a:pt x="179806" y="31242"/>
                  </a:lnTo>
                  <a:lnTo>
                    <a:pt x="187312" y="31242"/>
                  </a:lnTo>
                  <a:lnTo>
                    <a:pt x="198856" y="47117"/>
                  </a:lnTo>
                  <a:lnTo>
                    <a:pt x="198970" y="49149"/>
                  </a:lnTo>
                  <a:lnTo>
                    <a:pt x="199009" y="49657"/>
                  </a:lnTo>
                  <a:lnTo>
                    <a:pt x="199009" y="30022"/>
                  </a:lnTo>
                  <a:lnTo>
                    <a:pt x="194691" y="25654"/>
                  </a:lnTo>
                  <a:lnTo>
                    <a:pt x="189915" y="23495"/>
                  </a:lnTo>
                  <a:lnTo>
                    <a:pt x="179374" y="23241"/>
                  </a:lnTo>
                  <a:lnTo>
                    <a:pt x="174904" y="25019"/>
                  </a:lnTo>
                  <a:lnTo>
                    <a:pt x="171246" y="28702"/>
                  </a:lnTo>
                  <a:lnTo>
                    <a:pt x="169151" y="30734"/>
                  </a:lnTo>
                  <a:lnTo>
                    <a:pt x="167640" y="33274"/>
                  </a:lnTo>
                  <a:lnTo>
                    <a:pt x="165760" y="39116"/>
                  </a:lnTo>
                  <a:lnTo>
                    <a:pt x="165849" y="43180"/>
                  </a:lnTo>
                  <a:lnTo>
                    <a:pt x="166331" y="45466"/>
                  </a:lnTo>
                  <a:lnTo>
                    <a:pt x="161899" y="41021"/>
                  </a:lnTo>
                  <a:lnTo>
                    <a:pt x="158965" y="37084"/>
                  </a:lnTo>
                  <a:lnTo>
                    <a:pt x="156121" y="30226"/>
                  </a:lnTo>
                  <a:lnTo>
                    <a:pt x="155638" y="26924"/>
                  </a:lnTo>
                  <a:lnTo>
                    <a:pt x="156108" y="24003"/>
                  </a:lnTo>
                  <a:lnTo>
                    <a:pt x="156451" y="21717"/>
                  </a:lnTo>
                  <a:lnTo>
                    <a:pt x="157505" y="19685"/>
                  </a:lnTo>
                  <a:lnTo>
                    <a:pt x="159258" y="17907"/>
                  </a:lnTo>
                  <a:lnTo>
                    <a:pt x="161429" y="15748"/>
                  </a:lnTo>
                  <a:lnTo>
                    <a:pt x="163715" y="14859"/>
                  </a:lnTo>
                  <a:lnTo>
                    <a:pt x="168973" y="14859"/>
                  </a:lnTo>
                  <a:lnTo>
                    <a:pt x="171221" y="15748"/>
                  </a:lnTo>
                  <a:lnTo>
                    <a:pt x="173875" y="17399"/>
                  </a:lnTo>
                  <a:lnTo>
                    <a:pt x="176060" y="14859"/>
                  </a:lnTo>
                  <a:lnTo>
                    <a:pt x="178904" y="11557"/>
                  </a:lnTo>
                  <a:lnTo>
                    <a:pt x="174980" y="8509"/>
                  </a:lnTo>
                  <a:lnTo>
                    <a:pt x="170903" y="7112"/>
                  </a:lnTo>
                  <a:lnTo>
                    <a:pt x="162458" y="7620"/>
                  </a:lnTo>
                  <a:lnTo>
                    <a:pt x="158597" y="9525"/>
                  </a:lnTo>
                  <a:lnTo>
                    <a:pt x="150355" y="17780"/>
                  </a:lnTo>
                  <a:lnTo>
                    <a:pt x="148310" y="23241"/>
                  </a:lnTo>
                  <a:lnTo>
                    <a:pt x="148856" y="28702"/>
                  </a:lnTo>
                  <a:lnTo>
                    <a:pt x="148932" y="29464"/>
                  </a:lnTo>
                  <a:lnTo>
                    <a:pt x="150152" y="34671"/>
                  </a:lnTo>
                  <a:lnTo>
                    <a:pt x="150215" y="34950"/>
                  </a:lnTo>
                  <a:lnTo>
                    <a:pt x="152996" y="40703"/>
                  </a:lnTo>
                  <a:lnTo>
                    <a:pt x="190246" y="65913"/>
                  </a:lnTo>
                  <a:lnTo>
                    <a:pt x="195656" y="63881"/>
                  </a:lnTo>
                  <a:lnTo>
                    <a:pt x="201002" y="58547"/>
                  </a:lnTo>
                  <a:lnTo>
                    <a:pt x="202920" y="56642"/>
                  </a:lnTo>
                  <a:lnTo>
                    <a:pt x="204685" y="53594"/>
                  </a:lnTo>
                  <a:lnTo>
                    <a:pt x="206248" y="47117"/>
                  </a:lnTo>
                  <a:close/>
                </a:path>
                <a:path w="9090025" h="247014">
                  <a:moveTo>
                    <a:pt x="262153" y="193294"/>
                  </a:moveTo>
                  <a:lnTo>
                    <a:pt x="230581" y="161671"/>
                  </a:lnTo>
                  <a:lnTo>
                    <a:pt x="217411" y="148463"/>
                  </a:lnTo>
                  <a:lnTo>
                    <a:pt x="209308" y="156591"/>
                  </a:lnTo>
                  <a:lnTo>
                    <a:pt x="209486" y="156591"/>
                  </a:lnTo>
                  <a:lnTo>
                    <a:pt x="229857" y="198374"/>
                  </a:lnTo>
                  <a:lnTo>
                    <a:pt x="231927" y="202565"/>
                  </a:lnTo>
                  <a:lnTo>
                    <a:pt x="233527" y="205740"/>
                  </a:lnTo>
                  <a:lnTo>
                    <a:pt x="234645" y="207899"/>
                  </a:lnTo>
                  <a:lnTo>
                    <a:pt x="229819" y="205359"/>
                  </a:lnTo>
                  <a:lnTo>
                    <a:pt x="225894" y="203454"/>
                  </a:lnTo>
                  <a:lnTo>
                    <a:pt x="203352" y="192151"/>
                  </a:lnTo>
                  <a:lnTo>
                    <a:pt x="183616" y="182245"/>
                  </a:lnTo>
                  <a:lnTo>
                    <a:pt x="174713" y="191262"/>
                  </a:lnTo>
                  <a:lnTo>
                    <a:pt x="219456" y="235966"/>
                  </a:lnTo>
                  <a:lnTo>
                    <a:pt x="225158" y="230251"/>
                  </a:lnTo>
                  <a:lnTo>
                    <a:pt x="187071" y="192151"/>
                  </a:lnTo>
                  <a:lnTo>
                    <a:pt x="238099" y="217297"/>
                  </a:lnTo>
                  <a:lnTo>
                    <a:pt x="243433" y="211963"/>
                  </a:lnTo>
                  <a:lnTo>
                    <a:pt x="241452" y="207899"/>
                  </a:lnTo>
                  <a:lnTo>
                    <a:pt x="219049" y="161671"/>
                  </a:lnTo>
                  <a:lnTo>
                    <a:pt x="256438" y="199009"/>
                  </a:lnTo>
                  <a:lnTo>
                    <a:pt x="262153" y="193294"/>
                  </a:lnTo>
                  <a:close/>
                </a:path>
                <a:path w="9090025" h="247014">
                  <a:moveTo>
                    <a:pt x="299720" y="155702"/>
                  </a:moveTo>
                  <a:lnTo>
                    <a:pt x="283616" y="143090"/>
                  </a:lnTo>
                  <a:lnTo>
                    <a:pt x="283616" y="157480"/>
                  </a:lnTo>
                  <a:lnTo>
                    <a:pt x="283565" y="160401"/>
                  </a:lnTo>
                  <a:lnTo>
                    <a:pt x="282257" y="164973"/>
                  </a:lnTo>
                  <a:lnTo>
                    <a:pt x="282232" y="165100"/>
                  </a:lnTo>
                  <a:lnTo>
                    <a:pt x="280809" y="167513"/>
                  </a:lnTo>
                  <a:lnTo>
                    <a:pt x="278688" y="169545"/>
                  </a:lnTo>
                  <a:lnTo>
                    <a:pt x="276555" y="171704"/>
                  </a:lnTo>
                  <a:lnTo>
                    <a:pt x="274205" y="172974"/>
                  </a:lnTo>
                  <a:lnTo>
                    <a:pt x="272364" y="172974"/>
                  </a:lnTo>
                  <a:lnTo>
                    <a:pt x="270281" y="173101"/>
                  </a:lnTo>
                  <a:lnTo>
                    <a:pt x="268503" y="172466"/>
                  </a:lnTo>
                  <a:lnTo>
                    <a:pt x="267030" y="170942"/>
                  </a:lnTo>
                  <a:lnTo>
                    <a:pt x="266077" y="170053"/>
                  </a:lnTo>
                  <a:lnTo>
                    <a:pt x="265468" y="168910"/>
                  </a:lnTo>
                  <a:lnTo>
                    <a:pt x="264909" y="166370"/>
                  </a:lnTo>
                  <a:lnTo>
                    <a:pt x="265023" y="165100"/>
                  </a:lnTo>
                  <a:lnTo>
                    <a:pt x="265036" y="164973"/>
                  </a:lnTo>
                  <a:lnTo>
                    <a:pt x="265569" y="163703"/>
                  </a:lnTo>
                  <a:lnTo>
                    <a:pt x="266103" y="162306"/>
                  </a:lnTo>
                  <a:lnTo>
                    <a:pt x="267335" y="160401"/>
                  </a:lnTo>
                  <a:lnTo>
                    <a:pt x="269265" y="157734"/>
                  </a:lnTo>
                  <a:lnTo>
                    <a:pt x="272580" y="153289"/>
                  </a:lnTo>
                  <a:lnTo>
                    <a:pt x="274980" y="149479"/>
                  </a:lnTo>
                  <a:lnTo>
                    <a:pt x="276161" y="146685"/>
                  </a:lnTo>
                  <a:lnTo>
                    <a:pt x="280593" y="151130"/>
                  </a:lnTo>
                  <a:lnTo>
                    <a:pt x="282130" y="153289"/>
                  </a:lnTo>
                  <a:lnTo>
                    <a:pt x="283616" y="157480"/>
                  </a:lnTo>
                  <a:lnTo>
                    <a:pt x="283616" y="143090"/>
                  </a:lnTo>
                  <a:lnTo>
                    <a:pt x="266293" y="129667"/>
                  </a:lnTo>
                  <a:lnTo>
                    <a:pt x="263791" y="129667"/>
                  </a:lnTo>
                  <a:lnTo>
                    <a:pt x="262394" y="129921"/>
                  </a:lnTo>
                  <a:lnTo>
                    <a:pt x="260019" y="131064"/>
                  </a:lnTo>
                  <a:lnTo>
                    <a:pt x="257632" y="132080"/>
                  </a:lnTo>
                  <a:lnTo>
                    <a:pt x="244208" y="150876"/>
                  </a:lnTo>
                  <a:lnTo>
                    <a:pt x="244475" y="153289"/>
                  </a:lnTo>
                  <a:lnTo>
                    <a:pt x="244563" y="154051"/>
                  </a:lnTo>
                  <a:lnTo>
                    <a:pt x="244678" y="155067"/>
                  </a:lnTo>
                  <a:lnTo>
                    <a:pt x="244792" y="155956"/>
                  </a:lnTo>
                  <a:lnTo>
                    <a:pt x="245846" y="158623"/>
                  </a:lnTo>
                  <a:lnTo>
                    <a:pt x="247662" y="161417"/>
                  </a:lnTo>
                  <a:lnTo>
                    <a:pt x="253758" y="156845"/>
                  </a:lnTo>
                  <a:lnTo>
                    <a:pt x="252120" y="154051"/>
                  </a:lnTo>
                  <a:lnTo>
                    <a:pt x="252056" y="153924"/>
                  </a:lnTo>
                  <a:lnTo>
                    <a:pt x="251358" y="151384"/>
                  </a:lnTo>
                  <a:lnTo>
                    <a:pt x="252006" y="147066"/>
                  </a:lnTo>
                  <a:lnTo>
                    <a:pt x="253466" y="144780"/>
                  </a:lnTo>
                  <a:lnTo>
                    <a:pt x="256044" y="142113"/>
                  </a:lnTo>
                  <a:lnTo>
                    <a:pt x="258673" y="139573"/>
                  </a:lnTo>
                  <a:lnTo>
                    <a:pt x="260159" y="138684"/>
                  </a:lnTo>
                  <a:lnTo>
                    <a:pt x="261518" y="137922"/>
                  </a:lnTo>
                  <a:lnTo>
                    <a:pt x="262229" y="137922"/>
                  </a:lnTo>
                  <a:lnTo>
                    <a:pt x="266115" y="137668"/>
                  </a:lnTo>
                  <a:lnTo>
                    <a:pt x="268211" y="138684"/>
                  </a:lnTo>
                  <a:lnTo>
                    <a:pt x="269074" y="139573"/>
                  </a:lnTo>
                  <a:lnTo>
                    <a:pt x="270662" y="141097"/>
                  </a:lnTo>
                  <a:lnTo>
                    <a:pt x="271119" y="141605"/>
                  </a:lnTo>
                  <a:lnTo>
                    <a:pt x="271856" y="142367"/>
                  </a:lnTo>
                  <a:lnTo>
                    <a:pt x="270497" y="145288"/>
                  </a:lnTo>
                  <a:lnTo>
                    <a:pt x="267855" y="149098"/>
                  </a:lnTo>
                  <a:lnTo>
                    <a:pt x="264045" y="153924"/>
                  </a:lnTo>
                  <a:lnTo>
                    <a:pt x="262039" y="156591"/>
                  </a:lnTo>
                  <a:lnTo>
                    <a:pt x="257479" y="169545"/>
                  </a:lnTo>
                  <a:lnTo>
                    <a:pt x="258648" y="173609"/>
                  </a:lnTo>
                  <a:lnTo>
                    <a:pt x="259740" y="175387"/>
                  </a:lnTo>
                  <a:lnTo>
                    <a:pt x="261327" y="177038"/>
                  </a:lnTo>
                  <a:lnTo>
                    <a:pt x="264033" y="179705"/>
                  </a:lnTo>
                  <a:lnTo>
                    <a:pt x="267220" y="180975"/>
                  </a:lnTo>
                  <a:lnTo>
                    <a:pt x="270865" y="180848"/>
                  </a:lnTo>
                  <a:lnTo>
                    <a:pt x="274523" y="180594"/>
                  </a:lnTo>
                  <a:lnTo>
                    <a:pt x="278130" y="178689"/>
                  </a:lnTo>
                  <a:lnTo>
                    <a:pt x="283705" y="173101"/>
                  </a:lnTo>
                  <a:lnTo>
                    <a:pt x="283845" y="172974"/>
                  </a:lnTo>
                  <a:lnTo>
                    <a:pt x="285508" y="170688"/>
                  </a:lnTo>
                  <a:lnTo>
                    <a:pt x="286677" y="168021"/>
                  </a:lnTo>
                  <a:lnTo>
                    <a:pt x="287782" y="165608"/>
                  </a:lnTo>
                  <a:lnTo>
                    <a:pt x="287921" y="165100"/>
                  </a:lnTo>
                  <a:lnTo>
                    <a:pt x="288582" y="162306"/>
                  </a:lnTo>
                  <a:lnTo>
                    <a:pt x="288683" y="160909"/>
                  </a:lnTo>
                  <a:lnTo>
                    <a:pt x="288772" y="159893"/>
                  </a:lnTo>
                  <a:lnTo>
                    <a:pt x="288874" y="158623"/>
                  </a:lnTo>
                  <a:lnTo>
                    <a:pt x="289039" y="158623"/>
                  </a:lnTo>
                  <a:lnTo>
                    <a:pt x="290576" y="159893"/>
                  </a:lnTo>
                  <a:lnTo>
                    <a:pt x="292277" y="160909"/>
                  </a:lnTo>
                  <a:lnTo>
                    <a:pt x="293979" y="161417"/>
                  </a:lnTo>
                  <a:lnTo>
                    <a:pt x="296773" y="158623"/>
                  </a:lnTo>
                  <a:lnTo>
                    <a:pt x="299720" y="155702"/>
                  </a:lnTo>
                  <a:close/>
                </a:path>
                <a:path w="9090025" h="247014">
                  <a:moveTo>
                    <a:pt x="311772" y="143891"/>
                  </a:moveTo>
                  <a:lnTo>
                    <a:pt x="294678" y="126746"/>
                  </a:lnTo>
                  <a:lnTo>
                    <a:pt x="292366" y="124460"/>
                  </a:lnTo>
                  <a:lnTo>
                    <a:pt x="290537" y="122047"/>
                  </a:lnTo>
                  <a:lnTo>
                    <a:pt x="289191" y="119507"/>
                  </a:lnTo>
                  <a:lnTo>
                    <a:pt x="288315" y="117729"/>
                  </a:lnTo>
                  <a:lnTo>
                    <a:pt x="288264" y="117475"/>
                  </a:lnTo>
                  <a:lnTo>
                    <a:pt x="288137" y="116840"/>
                  </a:lnTo>
                  <a:lnTo>
                    <a:pt x="290385" y="110109"/>
                  </a:lnTo>
                  <a:lnTo>
                    <a:pt x="291719" y="108712"/>
                  </a:lnTo>
                  <a:lnTo>
                    <a:pt x="293458" y="107823"/>
                  </a:lnTo>
                  <a:lnTo>
                    <a:pt x="295605" y="107315"/>
                  </a:lnTo>
                  <a:lnTo>
                    <a:pt x="292392" y="100203"/>
                  </a:lnTo>
                  <a:lnTo>
                    <a:pt x="289306" y="100965"/>
                  </a:lnTo>
                  <a:lnTo>
                    <a:pt x="286829" y="102235"/>
                  </a:lnTo>
                  <a:lnTo>
                    <a:pt x="284975" y="104140"/>
                  </a:lnTo>
                  <a:lnTo>
                    <a:pt x="283692" y="105410"/>
                  </a:lnTo>
                  <a:lnTo>
                    <a:pt x="282892" y="106934"/>
                  </a:lnTo>
                  <a:lnTo>
                    <a:pt x="282549" y="108712"/>
                  </a:lnTo>
                  <a:lnTo>
                    <a:pt x="282295" y="110109"/>
                  </a:lnTo>
                  <a:lnTo>
                    <a:pt x="282371" y="111887"/>
                  </a:lnTo>
                  <a:lnTo>
                    <a:pt x="282486" y="112776"/>
                  </a:lnTo>
                  <a:lnTo>
                    <a:pt x="282562" y="113284"/>
                  </a:lnTo>
                  <a:lnTo>
                    <a:pt x="283603" y="116840"/>
                  </a:lnTo>
                  <a:lnTo>
                    <a:pt x="278688" y="111887"/>
                  </a:lnTo>
                  <a:lnTo>
                    <a:pt x="273748" y="116840"/>
                  </a:lnTo>
                  <a:lnTo>
                    <a:pt x="306158" y="149225"/>
                  </a:lnTo>
                  <a:lnTo>
                    <a:pt x="311518" y="143891"/>
                  </a:lnTo>
                  <a:lnTo>
                    <a:pt x="311772" y="143891"/>
                  </a:lnTo>
                  <a:close/>
                </a:path>
                <a:path w="9090025" h="247014">
                  <a:moveTo>
                    <a:pt x="328002" y="100584"/>
                  </a:moveTo>
                  <a:lnTo>
                    <a:pt x="322478" y="94996"/>
                  </a:lnTo>
                  <a:lnTo>
                    <a:pt x="305612" y="111887"/>
                  </a:lnTo>
                  <a:lnTo>
                    <a:pt x="311124" y="117475"/>
                  </a:lnTo>
                  <a:lnTo>
                    <a:pt x="328002" y="100584"/>
                  </a:lnTo>
                  <a:close/>
                </a:path>
                <a:path w="9090025" h="247014">
                  <a:moveTo>
                    <a:pt x="367411" y="88011"/>
                  </a:moveTo>
                  <a:lnTo>
                    <a:pt x="337832" y="58420"/>
                  </a:lnTo>
                  <a:lnTo>
                    <a:pt x="322491" y="43053"/>
                  </a:lnTo>
                  <a:lnTo>
                    <a:pt x="318947" y="46609"/>
                  </a:lnTo>
                  <a:lnTo>
                    <a:pt x="319925" y="49530"/>
                  </a:lnTo>
                  <a:lnTo>
                    <a:pt x="319963" y="58928"/>
                  </a:lnTo>
                  <a:lnTo>
                    <a:pt x="319824" y="61214"/>
                  </a:lnTo>
                  <a:lnTo>
                    <a:pt x="319798" y="61849"/>
                  </a:lnTo>
                  <a:lnTo>
                    <a:pt x="319049" y="65405"/>
                  </a:lnTo>
                  <a:lnTo>
                    <a:pt x="318973" y="65786"/>
                  </a:lnTo>
                  <a:lnTo>
                    <a:pt x="318871" y="66294"/>
                  </a:lnTo>
                  <a:lnTo>
                    <a:pt x="317195" y="70866"/>
                  </a:lnTo>
                  <a:lnTo>
                    <a:pt x="317360" y="70866"/>
                  </a:lnTo>
                  <a:lnTo>
                    <a:pt x="322554" y="76073"/>
                  </a:lnTo>
                  <a:lnTo>
                    <a:pt x="323634" y="73787"/>
                  </a:lnTo>
                  <a:lnTo>
                    <a:pt x="324612" y="70866"/>
                  </a:lnTo>
                  <a:lnTo>
                    <a:pt x="326301" y="64262"/>
                  </a:lnTo>
                  <a:lnTo>
                    <a:pt x="326377" y="64008"/>
                  </a:lnTo>
                  <a:lnTo>
                    <a:pt x="326732" y="61849"/>
                  </a:lnTo>
                  <a:lnTo>
                    <a:pt x="326834" y="61214"/>
                  </a:lnTo>
                  <a:lnTo>
                    <a:pt x="326910" y="58420"/>
                  </a:lnTo>
                  <a:lnTo>
                    <a:pt x="361924" y="93472"/>
                  </a:lnTo>
                  <a:lnTo>
                    <a:pt x="367411" y="88011"/>
                  </a:lnTo>
                  <a:close/>
                </a:path>
                <a:path w="9090025" h="247014">
                  <a:moveTo>
                    <a:pt x="403275" y="47498"/>
                  </a:moveTo>
                  <a:lnTo>
                    <a:pt x="396024" y="30416"/>
                  </a:lnTo>
                  <a:lnTo>
                    <a:pt x="396024" y="50038"/>
                  </a:lnTo>
                  <a:lnTo>
                    <a:pt x="395744" y="50800"/>
                  </a:lnTo>
                  <a:lnTo>
                    <a:pt x="384390" y="58928"/>
                  </a:lnTo>
                  <a:lnTo>
                    <a:pt x="382308" y="58928"/>
                  </a:lnTo>
                  <a:lnTo>
                    <a:pt x="379425" y="57912"/>
                  </a:lnTo>
                  <a:lnTo>
                    <a:pt x="377190" y="57023"/>
                  </a:lnTo>
                  <a:lnTo>
                    <a:pt x="374675" y="55499"/>
                  </a:lnTo>
                  <a:lnTo>
                    <a:pt x="372783" y="53594"/>
                  </a:lnTo>
                  <a:lnTo>
                    <a:pt x="369900" y="50800"/>
                  </a:lnTo>
                  <a:lnTo>
                    <a:pt x="368427" y="47498"/>
                  </a:lnTo>
                  <a:lnTo>
                    <a:pt x="368401" y="45847"/>
                  </a:lnTo>
                  <a:lnTo>
                    <a:pt x="368325" y="40513"/>
                  </a:lnTo>
                  <a:lnTo>
                    <a:pt x="369531" y="37465"/>
                  </a:lnTo>
                  <a:lnTo>
                    <a:pt x="372021" y="35052"/>
                  </a:lnTo>
                  <a:lnTo>
                    <a:pt x="374523" y="32512"/>
                  </a:lnTo>
                  <a:lnTo>
                    <a:pt x="376821" y="31623"/>
                  </a:lnTo>
                  <a:lnTo>
                    <a:pt x="384327" y="31623"/>
                  </a:lnTo>
                  <a:lnTo>
                    <a:pt x="395871" y="47498"/>
                  </a:lnTo>
                  <a:lnTo>
                    <a:pt x="395986" y="49530"/>
                  </a:lnTo>
                  <a:lnTo>
                    <a:pt x="396024" y="50038"/>
                  </a:lnTo>
                  <a:lnTo>
                    <a:pt x="396024" y="30416"/>
                  </a:lnTo>
                  <a:lnTo>
                    <a:pt x="391706" y="26162"/>
                  </a:lnTo>
                  <a:lnTo>
                    <a:pt x="386930" y="23876"/>
                  </a:lnTo>
                  <a:lnTo>
                    <a:pt x="377799" y="23660"/>
                  </a:lnTo>
                  <a:lnTo>
                    <a:pt x="377799" y="31242"/>
                  </a:lnTo>
                  <a:lnTo>
                    <a:pt x="377469" y="31381"/>
                  </a:lnTo>
                  <a:lnTo>
                    <a:pt x="374040" y="31242"/>
                  </a:lnTo>
                  <a:lnTo>
                    <a:pt x="377799" y="31242"/>
                  </a:lnTo>
                  <a:lnTo>
                    <a:pt x="377799" y="23660"/>
                  </a:lnTo>
                  <a:lnTo>
                    <a:pt x="362762" y="43053"/>
                  </a:lnTo>
                  <a:lnTo>
                    <a:pt x="363347" y="45847"/>
                  </a:lnTo>
                  <a:lnTo>
                    <a:pt x="358914" y="41402"/>
                  </a:lnTo>
                  <a:lnTo>
                    <a:pt x="355993" y="37465"/>
                  </a:lnTo>
                  <a:lnTo>
                    <a:pt x="353136" y="30607"/>
                  </a:lnTo>
                  <a:lnTo>
                    <a:pt x="352666" y="27432"/>
                  </a:lnTo>
                  <a:lnTo>
                    <a:pt x="353479" y="22098"/>
                  </a:lnTo>
                  <a:lnTo>
                    <a:pt x="354520" y="20066"/>
                  </a:lnTo>
                  <a:lnTo>
                    <a:pt x="356273" y="18288"/>
                  </a:lnTo>
                  <a:lnTo>
                    <a:pt x="358444" y="16129"/>
                  </a:lnTo>
                  <a:lnTo>
                    <a:pt x="360730" y="15240"/>
                  </a:lnTo>
                  <a:lnTo>
                    <a:pt x="365988" y="15240"/>
                  </a:lnTo>
                  <a:lnTo>
                    <a:pt x="368249" y="16129"/>
                  </a:lnTo>
                  <a:lnTo>
                    <a:pt x="370890" y="17780"/>
                  </a:lnTo>
                  <a:lnTo>
                    <a:pt x="373075" y="15240"/>
                  </a:lnTo>
                  <a:lnTo>
                    <a:pt x="375932" y="11938"/>
                  </a:lnTo>
                  <a:lnTo>
                    <a:pt x="371995" y="8890"/>
                  </a:lnTo>
                  <a:lnTo>
                    <a:pt x="367931" y="7493"/>
                  </a:lnTo>
                  <a:lnTo>
                    <a:pt x="359486" y="8001"/>
                  </a:lnTo>
                  <a:lnTo>
                    <a:pt x="355612" y="9906"/>
                  </a:lnTo>
                  <a:lnTo>
                    <a:pt x="352094" y="13462"/>
                  </a:lnTo>
                  <a:lnTo>
                    <a:pt x="347370" y="18161"/>
                  </a:lnTo>
                  <a:lnTo>
                    <a:pt x="345325" y="23622"/>
                  </a:lnTo>
                  <a:lnTo>
                    <a:pt x="345871" y="29083"/>
                  </a:lnTo>
                  <a:lnTo>
                    <a:pt x="345960" y="29845"/>
                  </a:lnTo>
                  <a:lnTo>
                    <a:pt x="347179" y="35052"/>
                  </a:lnTo>
                  <a:lnTo>
                    <a:pt x="347243" y="35331"/>
                  </a:lnTo>
                  <a:lnTo>
                    <a:pt x="374751" y="65405"/>
                  </a:lnTo>
                  <a:lnTo>
                    <a:pt x="381012" y="65786"/>
                  </a:lnTo>
                  <a:lnTo>
                    <a:pt x="387261" y="66294"/>
                  </a:lnTo>
                  <a:lnTo>
                    <a:pt x="392684" y="64262"/>
                  </a:lnTo>
                  <a:lnTo>
                    <a:pt x="398030" y="58928"/>
                  </a:lnTo>
                  <a:lnTo>
                    <a:pt x="399948" y="57023"/>
                  </a:lnTo>
                  <a:lnTo>
                    <a:pt x="401701" y="53975"/>
                  </a:lnTo>
                  <a:lnTo>
                    <a:pt x="403275" y="47498"/>
                  </a:lnTo>
                  <a:close/>
                </a:path>
                <a:path w="9090025" h="247014">
                  <a:moveTo>
                    <a:pt x="449059" y="203708"/>
                  </a:moveTo>
                  <a:lnTo>
                    <a:pt x="417410" y="172085"/>
                  </a:lnTo>
                  <a:lnTo>
                    <a:pt x="404329" y="159004"/>
                  </a:lnTo>
                  <a:lnTo>
                    <a:pt x="396354" y="167005"/>
                  </a:lnTo>
                  <a:lnTo>
                    <a:pt x="416775" y="208788"/>
                  </a:lnTo>
                  <a:lnTo>
                    <a:pt x="418846" y="213106"/>
                  </a:lnTo>
                  <a:lnTo>
                    <a:pt x="420446" y="216281"/>
                  </a:lnTo>
                  <a:lnTo>
                    <a:pt x="421563" y="218440"/>
                  </a:lnTo>
                  <a:lnTo>
                    <a:pt x="419658" y="217424"/>
                  </a:lnTo>
                  <a:lnTo>
                    <a:pt x="412813" y="213868"/>
                  </a:lnTo>
                  <a:lnTo>
                    <a:pt x="390398" y="202692"/>
                  </a:lnTo>
                  <a:lnTo>
                    <a:pt x="370535" y="192786"/>
                  </a:lnTo>
                  <a:lnTo>
                    <a:pt x="361632" y="201676"/>
                  </a:lnTo>
                  <a:lnTo>
                    <a:pt x="406374" y="246507"/>
                  </a:lnTo>
                  <a:lnTo>
                    <a:pt x="412076" y="240792"/>
                  </a:lnTo>
                  <a:lnTo>
                    <a:pt x="373989" y="202692"/>
                  </a:lnTo>
                  <a:lnTo>
                    <a:pt x="425005" y="227838"/>
                  </a:lnTo>
                  <a:lnTo>
                    <a:pt x="430352" y="222504"/>
                  </a:lnTo>
                  <a:lnTo>
                    <a:pt x="428371" y="218440"/>
                  </a:lnTo>
                  <a:lnTo>
                    <a:pt x="406095" y="172466"/>
                  </a:lnTo>
                  <a:lnTo>
                    <a:pt x="405968" y="172212"/>
                  </a:lnTo>
                  <a:lnTo>
                    <a:pt x="405917" y="172085"/>
                  </a:lnTo>
                  <a:lnTo>
                    <a:pt x="443357" y="209423"/>
                  </a:lnTo>
                  <a:lnTo>
                    <a:pt x="449059" y="203708"/>
                  </a:lnTo>
                  <a:close/>
                </a:path>
                <a:path w="9090025" h="247014">
                  <a:moveTo>
                    <a:pt x="505917" y="159385"/>
                  </a:moveTo>
                  <a:lnTo>
                    <a:pt x="476300" y="159385"/>
                  </a:lnTo>
                  <a:lnTo>
                    <a:pt x="475805" y="158902"/>
                  </a:lnTo>
                  <a:lnTo>
                    <a:pt x="475805" y="168910"/>
                  </a:lnTo>
                  <a:lnTo>
                    <a:pt x="475792" y="169037"/>
                  </a:lnTo>
                  <a:lnTo>
                    <a:pt x="475640" y="168910"/>
                  </a:lnTo>
                  <a:lnTo>
                    <a:pt x="475805" y="168910"/>
                  </a:lnTo>
                  <a:lnTo>
                    <a:pt x="475805" y="158902"/>
                  </a:lnTo>
                  <a:lnTo>
                    <a:pt x="474179" y="157226"/>
                  </a:lnTo>
                  <a:lnTo>
                    <a:pt x="471322" y="154305"/>
                  </a:lnTo>
                  <a:lnTo>
                    <a:pt x="470484" y="153479"/>
                  </a:lnTo>
                  <a:lnTo>
                    <a:pt x="470484" y="170815"/>
                  </a:lnTo>
                  <a:lnTo>
                    <a:pt x="469150" y="175641"/>
                  </a:lnTo>
                  <a:lnTo>
                    <a:pt x="468439" y="176784"/>
                  </a:lnTo>
                  <a:lnTo>
                    <a:pt x="467601" y="178054"/>
                  </a:lnTo>
                  <a:lnTo>
                    <a:pt x="463473" y="182245"/>
                  </a:lnTo>
                  <a:lnTo>
                    <a:pt x="460895" y="183642"/>
                  </a:lnTo>
                  <a:lnTo>
                    <a:pt x="457200" y="183642"/>
                  </a:lnTo>
                  <a:lnTo>
                    <a:pt x="452107" y="178054"/>
                  </a:lnTo>
                  <a:lnTo>
                    <a:pt x="451827" y="176784"/>
                  </a:lnTo>
                  <a:lnTo>
                    <a:pt x="456184" y="168275"/>
                  </a:lnTo>
                  <a:lnTo>
                    <a:pt x="459409" y="163957"/>
                  </a:lnTo>
                  <a:lnTo>
                    <a:pt x="460146" y="162814"/>
                  </a:lnTo>
                  <a:lnTo>
                    <a:pt x="461899" y="160020"/>
                  </a:lnTo>
                  <a:lnTo>
                    <a:pt x="463080" y="157226"/>
                  </a:lnTo>
                  <a:lnTo>
                    <a:pt x="467512" y="161671"/>
                  </a:lnTo>
                  <a:lnTo>
                    <a:pt x="469049" y="163830"/>
                  </a:lnTo>
                  <a:lnTo>
                    <a:pt x="470446" y="167767"/>
                  </a:lnTo>
                  <a:lnTo>
                    <a:pt x="470484" y="170815"/>
                  </a:lnTo>
                  <a:lnTo>
                    <a:pt x="470484" y="153479"/>
                  </a:lnTo>
                  <a:lnTo>
                    <a:pt x="465277" y="148336"/>
                  </a:lnTo>
                  <a:lnTo>
                    <a:pt x="463994" y="147066"/>
                  </a:lnTo>
                  <a:lnTo>
                    <a:pt x="461556" y="144526"/>
                  </a:lnTo>
                  <a:lnTo>
                    <a:pt x="459778" y="143002"/>
                  </a:lnTo>
                  <a:lnTo>
                    <a:pt x="458660" y="142240"/>
                  </a:lnTo>
                  <a:lnTo>
                    <a:pt x="456819" y="141097"/>
                  </a:lnTo>
                  <a:lnTo>
                    <a:pt x="455002" y="140335"/>
                  </a:lnTo>
                  <a:lnTo>
                    <a:pt x="450011" y="140335"/>
                  </a:lnTo>
                  <a:lnTo>
                    <a:pt x="449313" y="140462"/>
                  </a:lnTo>
                  <a:lnTo>
                    <a:pt x="446938" y="141605"/>
                  </a:lnTo>
                  <a:lnTo>
                    <a:pt x="444550" y="142621"/>
                  </a:lnTo>
                  <a:lnTo>
                    <a:pt x="441985" y="144526"/>
                  </a:lnTo>
                  <a:lnTo>
                    <a:pt x="436422" y="150114"/>
                  </a:lnTo>
                  <a:lnTo>
                    <a:pt x="434340" y="152908"/>
                  </a:lnTo>
                  <a:lnTo>
                    <a:pt x="431647" y="158750"/>
                  </a:lnTo>
                  <a:lnTo>
                    <a:pt x="431711" y="166497"/>
                  </a:lnTo>
                  <a:lnTo>
                    <a:pt x="432663" y="168910"/>
                  </a:lnTo>
                  <a:lnTo>
                    <a:pt x="432752" y="169164"/>
                  </a:lnTo>
                  <a:lnTo>
                    <a:pt x="434568" y="171970"/>
                  </a:lnTo>
                  <a:lnTo>
                    <a:pt x="440677" y="167259"/>
                  </a:lnTo>
                  <a:lnTo>
                    <a:pt x="438975" y="164338"/>
                  </a:lnTo>
                  <a:lnTo>
                    <a:pt x="438277" y="161925"/>
                  </a:lnTo>
                  <a:lnTo>
                    <a:pt x="451091" y="148336"/>
                  </a:lnTo>
                  <a:lnTo>
                    <a:pt x="453288" y="148336"/>
                  </a:lnTo>
                  <a:lnTo>
                    <a:pt x="455129" y="149225"/>
                  </a:lnTo>
                  <a:lnTo>
                    <a:pt x="457377" y="151511"/>
                  </a:lnTo>
                  <a:lnTo>
                    <a:pt x="457581" y="151638"/>
                  </a:lnTo>
                  <a:lnTo>
                    <a:pt x="458038" y="152146"/>
                  </a:lnTo>
                  <a:lnTo>
                    <a:pt x="458774" y="152908"/>
                  </a:lnTo>
                  <a:lnTo>
                    <a:pt x="457415" y="155702"/>
                  </a:lnTo>
                  <a:lnTo>
                    <a:pt x="454774" y="159639"/>
                  </a:lnTo>
                  <a:lnTo>
                    <a:pt x="448957" y="167005"/>
                  </a:lnTo>
                  <a:lnTo>
                    <a:pt x="447611" y="168910"/>
                  </a:lnTo>
                  <a:lnTo>
                    <a:pt x="445820" y="172085"/>
                  </a:lnTo>
                  <a:lnTo>
                    <a:pt x="445757" y="172212"/>
                  </a:lnTo>
                  <a:lnTo>
                    <a:pt x="445033" y="174117"/>
                  </a:lnTo>
                  <a:lnTo>
                    <a:pt x="444284" y="178054"/>
                  </a:lnTo>
                  <a:lnTo>
                    <a:pt x="444385" y="180086"/>
                  </a:lnTo>
                  <a:lnTo>
                    <a:pt x="445566" y="184150"/>
                  </a:lnTo>
                  <a:lnTo>
                    <a:pt x="446659" y="185928"/>
                  </a:lnTo>
                  <a:lnTo>
                    <a:pt x="448246" y="187452"/>
                  </a:lnTo>
                  <a:lnTo>
                    <a:pt x="450951" y="190246"/>
                  </a:lnTo>
                  <a:lnTo>
                    <a:pt x="454126" y="191516"/>
                  </a:lnTo>
                  <a:lnTo>
                    <a:pt x="457784" y="191262"/>
                  </a:lnTo>
                  <a:lnTo>
                    <a:pt x="461441" y="191135"/>
                  </a:lnTo>
                  <a:lnTo>
                    <a:pt x="465048" y="189230"/>
                  </a:lnTo>
                  <a:lnTo>
                    <a:pt x="470636" y="183642"/>
                  </a:lnTo>
                  <a:lnTo>
                    <a:pt x="475792" y="169164"/>
                  </a:lnTo>
                  <a:lnTo>
                    <a:pt x="475957" y="169164"/>
                  </a:lnTo>
                  <a:lnTo>
                    <a:pt x="476415" y="169545"/>
                  </a:lnTo>
                  <a:lnTo>
                    <a:pt x="477735" y="170561"/>
                  </a:lnTo>
                  <a:lnTo>
                    <a:pt x="479196" y="171323"/>
                  </a:lnTo>
                  <a:lnTo>
                    <a:pt x="480885" y="171958"/>
                  </a:lnTo>
                  <a:lnTo>
                    <a:pt x="483958" y="168910"/>
                  </a:lnTo>
                  <a:lnTo>
                    <a:pt x="486638" y="166243"/>
                  </a:lnTo>
                  <a:lnTo>
                    <a:pt x="484708" y="165608"/>
                  </a:lnTo>
                  <a:lnTo>
                    <a:pt x="482942" y="164846"/>
                  </a:lnTo>
                  <a:lnTo>
                    <a:pt x="479767" y="162560"/>
                  </a:lnTo>
                  <a:lnTo>
                    <a:pt x="476567" y="159639"/>
                  </a:lnTo>
                  <a:lnTo>
                    <a:pt x="505904" y="159639"/>
                  </a:lnTo>
                  <a:lnTo>
                    <a:pt x="505917" y="159385"/>
                  </a:lnTo>
                  <a:close/>
                </a:path>
                <a:path w="9090025" h="247014">
                  <a:moveTo>
                    <a:pt x="513067" y="159639"/>
                  </a:moveTo>
                  <a:lnTo>
                    <a:pt x="505904" y="159639"/>
                  </a:lnTo>
                  <a:lnTo>
                    <a:pt x="505879" y="160528"/>
                  </a:lnTo>
                  <a:lnTo>
                    <a:pt x="505294" y="162560"/>
                  </a:lnTo>
                  <a:lnTo>
                    <a:pt x="505231" y="162814"/>
                  </a:lnTo>
                  <a:lnTo>
                    <a:pt x="504532" y="163830"/>
                  </a:lnTo>
                  <a:lnTo>
                    <a:pt x="504456" y="163957"/>
                  </a:lnTo>
                  <a:lnTo>
                    <a:pt x="502589" y="165862"/>
                  </a:lnTo>
                  <a:lnTo>
                    <a:pt x="502170" y="166243"/>
                  </a:lnTo>
                  <a:lnTo>
                    <a:pt x="501129" y="167005"/>
                  </a:lnTo>
                  <a:lnTo>
                    <a:pt x="499376" y="168021"/>
                  </a:lnTo>
                  <a:lnTo>
                    <a:pt x="499757" y="168021"/>
                  </a:lnTo>
                  <a:lnTo>
                    <a:pt x="505371" y="172466"/>
                  </a:lnTo>
                  <a:lnTo>
                    <a:pt x="507123" y="171577"/>
                  </a:lnTo>
                  <a:lnTo>
                    <a:pt x="508533" y="170561"/>
                  </a:lnTo>
                  <a:lnTo>
                    <a:pt x="509587" y="169545"/>
                  </a:lnTo>
                  <a:lnTo>
                    <a:pt x="511340" y="167767"/>
                  </a:lnTo>
                  <a:lnTo>
                    <a:pt x="512419" y="165862"/>
                  </a:lnTo>
                  <a:lnTo>
                    <a:pt x="513029" y="162814"/>
                  </a:lnTo>
                  <a:lnTo>
                    <a:pt x="513067" y="159639"/>
                  </a:lnTo>
                  <a:close/>
                </a:path>
                <a:path w="9090025" h="247014">
                  <a:moveTo>
                    <a:pt x="513067" y="159385"/>
                  </a:moveTo>
                  <a:lnTo>
                    <a:pt x="511606" y="154305"/>
                  </a:lnTo>
                  <a:lnTo>
                    <a:pt x="510184" y="150876"/>
                  </a:lnTo>
                  <a:lnTo>
                    <a:pt x="507936" y="146050"/>
                  </a:lnTo>
                  <a:lnTo>
                    <a:pt x="505904" y="141605"/>
                  </a:lnTo>
                  <a:lnTo>
                    <a:pt x="487311" y="100711"/>
                  </a:lnTo>
                  <a:lnTo>
                    <a:pt x="481812" y="106172"/>
                  </a:lnTo>
                  <a:lnTo>
                    <a:pt x="495300" y="135255"/>
                  </a:lnTo>
                  <a:lnTo>
                    <a:pt x="497014" y="138557"/>
                  </a:lnTo>
                  <a:lnTo>
                    <a:pt x="498906" y="141605"/>
                  </a:lnTo>
                  <a:lnTo>
                    <a:pt x="495592" y="139700"/>
                  </a:lnTo>
                  <a:lnTo>
                    <a:pt x="492302" y="138049"/>
                  </a:lnTo>
                  <a:lnTo>
                    <a:pt x="463537" y="124460"/>
                  </a:lnTo>
                  <a:lnTo>
                    <a:pt x="457619" y="130429"/>
                  </a:lnTo>
                  <a:lnTo>
                    <a:pt x="502386" y="150622"/>
                  </a:lnTo>
                  <a:lnTo>
                    <a:pt x="504647" y="155321"/>
                  </a:lnTo>
                  <a:lnTo>
                    <a:pt x="505447" y="157226"/>
                  </a:lnTo>
                  <a:lnTo>
                    <a:pt x="505777" y="158750"/>
                  </a:lnTo>
                  <a:lnTo>
                    <a:pt x="505828" y="159004"/>
                  </a:lnTo>
                  <a:lnTo>
                    <a:pt x="505917" y="159385"/>
                  </a:lnTo>
                  <a:lnTo>
                    <a:pt x="513067" y="159385"/>
                  </a:lnTo>
                  <a:close/>
                </a:path>
                <a:path w="9090025" h="247014">
                  <a:moveTo>
                    <a:pt x="525703" y="100330"/>
                  </a:moveTo>
                  <a:lnTo>
                    <a:pt x="520179" y="94742"/>
                  </a:lnTo>
                  <a:lnTo>
                    <a:pt x="503301" y="111633"/>
                  </a:lnTo>
                  <a:lnTo>
                    <a:pt x="508825" y="117094"/>
                  </a:lnTo>
                  <a:lnTo>
                    <a:pt x="525703" y="100330"/>
                  </a:lnTo>
                  <a:close/>
                </a:path>
                <a:path w="9090025" h="247014">
                  <a:moveTo>
                    <a:pt x="565111" y="87757"/>
                  </a:moveTo>
                  <a:lnTo>
                    <a:pt x="535533" y="58166"/>
                  </a:lnTo>
                  <a:lnTo>
                    <a:pt x="520179" y="42799"/>
                  </a:lnTo>
                  <a:lnTo>
                    <a:pt x="516648" y="46355"/>
                  </a:lnTo>
                  <a:lnTo>
                    <a:pt x="517626" y="49276"/>
                  </a:lnTo>
                  <a:lnTo>
                    <a:pt x="517499" y="61595"/>
                  </a:lnTo>
                  <a:lnTo>
                    <a:pt x="516559" y="66040"/>
                  </a:lnTo>
                  <a:lnTo>
                    <a:pt x="514934" y="70485"/>
                  </a:lnTo>
                  <a:lnTo>
                    <a:pt x="520242" y="75819"/>
                  </a:lnTo>
                  <a:lnTo>
                    <a:pt x="521322" y="73533"/>
                  </a:lnTo>
                  <a:lnTo>
                    <a:pt x="522300" y="70612"/>
                  </a:lnTo>
                  <a:lnTo>
                    <a:pt x="524002" y="64008"/>
                  </a:lnTo>
                  <a:lnTo>
                    <a:pt x="524078" y="63754"/>
                  </a:lnTo>
                  <a:lnTo>
                    <a:pt x="524421" y="61595"/>
                  </a:lnTo>
                  <a:lnTo>
                    <a:pt x="524522" y="60960"/>
                  </a:lnTo>
                  <a:lnTo>
                    <a:pt x="524611" y="58166"/>
                  </a:lnTo>
                  <a:lnTo>
                    <a:pt x="559612" y="93218"/>
                  </a:lnTo>
                  <a:lnTo>
                    <a:pt x="565111" y="87757"/>
                  </a:lnTo>
                  <a:close/>
                </a:path>
                <a:path w="9090025" h="247014">
                  <a:moveTo>
                    <a:pt x="600964" y="47244"/>
                  </a:moveTo>
                  <a:lnTo>
                    <a:pt x="600887" y="43434"/>
                  </a:lnTo>
                  <a:lnTo>
                    <a:pt x="598487" y="36068"/>
                  </a:lnTo>
                  <a:lnTo>
                    <a:pt x="596557" y="33020"/>
                  </a:lnTo>
                  <a:lnTo>
                    <a:pt x="596480" y="32893"/>
                  </a:lnTo>
                  <a:lnTo>
                    <a:pt x="594817" y="31242"/>
                  </a:lnTo>
                  <a:lnTo>
                    <a:pt x="593725" y="30149"/>
                  </a:lnTo>
                  <a:lnTo>
                    <a:pt x="593725" y="49784"/>
                  </a:lnTo>
                  <a:lnTo>
                    <a:pt x="582091" y="58674"/>
                  </a:lnTo>
                  <a:lnTo>
                    <a:pt x="579958" y="58674"/>
                  </a:lnTo>
                  <a:lnTo>
                    <a:pt x="577418" y="57658"/>
                  </a:lnTo>
                  <a:lnTo>
                    <a:pt x="574586" y="56642"/>
                  </a:lnTo>
                  <a:lnTo>
                    <a:pt x="566013" y="40259"/>
                  </a:lnTo>
                  <a:lnTo>
                    <a:pt x="567232" y="37211"/>
                  </a:lnTo>
                  <a:lnTo>
                    <a:pt x="569709" y="34798"/>
                  </a:lnTo>
                  <a:lnTo>
                    <a:pt x="572211" y="32258"/>
                  </a:lnTo>
                  <a:lnTo>
                    <a:pt x="574852" y="31242"/>
                  </a:lnTo>
                  <a:lnTo>
                    <a:pt x="578612" y="31242"/>
                  </a:lnTo>
                  <a:lnTo>
                    <a:pt x="593572" y="47244"/>
                  </a:lnTo>
                  <a:lnTo>
                    <a:pt x="593686" y="49276"/>
                  </a:lnTo>
                  <a:lnTo>
                    <a:pt x="593725" y="49784"/>
                  </a:lnTo>
                  <a:lnTo>
                    <a:pt x="593725" y="30149"/>
                  </a:lnTo>
                  <a:lnTo>
                    <a:pt x="589394" y="25781"/>
                  </a:lnTo>
                  <a:lnTo>
                    <a:pt x="584631" y="23622"/>
                  </a:lnTo>
                  <a:lnTo>
                    <a:pt x="574090" y="23368"/>
                  </a:lnTo>
                  <a:lnTo>
                    <a:pt x="569620" y="25146"/>
                  </a:lnTo>
                  <a:lnTo>
                    <a:pt x="565962" y="28829"/>
                  </a:lnTo>
                  <a:lnTo>
                    <a:pt x="563867" y="30861"/>
                  </a:lnTo>
                  <a:lnTo>
                    <a:pt x="562343" y="33401"/>
                  </a:lnTo>
                  <a:lnTo>
                    <a:pt x="560476" y="39243"/>
                  </a:lnTo>
                  <a:lnTo>
                    <a:pt x="560451" y="42799"/>
                  </a:lnTo>
                  <a:lnTo>
                    <a:pt x="561047" y="45593"/>
                  </a:lnTo>
                  <a:lnTo>
                    <a:pt x="556615" y="41148"/>
                  </a:lnTo>
                  <a:lnTo>
                    <a:pt x="553681" y="37211"/>
                  </a:lnTo>
                  <a:lnTo>
                    <a:pt x="550837" y="30353"/>
                  </a:lnTo>
                  <a:lnTo>
                    <a:pt x="550354" y="27051"/>
                  </a:lnTo>
                  <a:lnTo>
                    <a:pt x="550824" y="24130"/>
                  </a:lnTo>
                  <a:lnTo>
                    <a:pt x="551167" y="21844"/>
                  </a:lnTo>
                  <a:lnTo>
                    <a:pt x="552221" y="19812"/>
                  </a:lnTo>
                  <a:lnTo>
                    <a:pt x="553961" y="18034"/>
                  </a:lnTo>
                  <a:lnTo>
                    <a:pt x="556145" y="15875"/>
                  </a:lnTo>
                  <a:lnTo>
                    <a:pt x="558431" y="14986"/>
                  </a:lnTo>
                  <a:lnTo>
                    <a:pt x="563676" y="14986"/>
                  </a:lnTo>
                  <a:lnTo>
                    <a:pt x="565937" y="15875"/>
                  </a:lnTo>
                  <a:lnTo>
                    <a:pt x="568591" y="17526"/>
                  </a:lnTo>
                  <a:lnTo>
                    <a:pt x="570776" y="14986"/>
                  </a:lnTo>
                  <a:lnTo>
                    <a:pt x="573620" y="11684"/>
                  </a:lnTo>
                  <a:lnTo>
                    <a:pt x="569696" y="8636"/>
                  </a:lnTo>
                  <a:lnTo>
                    <a:pt x="565619" y="7239"/>
                  </a:lnTo>
                  <a:lnTo>
                    <a:pt x="557174" y="7747"/>
                  </a:lnTo>
                  <a:lnTo>
                    <a:pt x="553300" y="9652"/>
                  </a:lnTo>
                  <a:lnTo>
                    <a:pt x="549783" y="13208"/>
                  </a:lnTo>
                  <a:lnTo>
                    <a:pt x="545452" y="17526"/>
                  </a:lnTo>
                  <a:lnTo>
                    <a:pt x="545020" y="18034"/>
                  </a:lnTo>
                  <a:lnTo>
                    <a:pt x="543026" y="23368"/>
                  </a:lnTo>
                  <a:lnTo>
                    <a:pt x="543572" y="28829"/>
                  </a:lnTo>
                  <a:lnTo>
                    <a:pt x="543648" y="29591"/>
                  </a:lnTo>
                  <a:lnTo>
                    <a:pt x="544868" y="34798"/>
                  </a:lnTo>
                  <a:lnTo>
                    <a:pt x="544931" y="35077"/>
                  </a:lnTo>
                  <a:lnTo>
                    <a:pt x="547712" y="40843"/>
                  </a:lnTo>
                  <a:lnTo>
                    <a:pt x="584962" y="66040"/>
                  </a:lnTo>
                  <a:lnTo>
                    <a:pt x="590372" y="64008"/>
                  </a:lnTo>
                  <a:lnTo>
                    <a:pt x="595718" y="58674"/>
                  </a:lnTo>
                  <a:lnTo>
                    <a:pt x="597636" y="56769"/>
                  </a:lnTo>
                  <a:lnTo>
                    <a:pt x="599401" y="53721"/>
                  </a:lnTo>
                  <a:lnTo>
                    <a:pt x="600964" y="47244"/>
                  </a:lnTo>
                  <a:close/>
                </a:path>
                <a:path w="9090025" h="247014">
                  <a:moveTo>
                    <a:pt x="658317" y="188087"/>
                  </a:moveTo>
                  <a:lnTo>
                    <a:pt x="658215" y="186055"/>
                  </a:lnTo>
                  <a:lnTo>
                    <a:pt x="658177" y="185039"/>
                  </a:lnTo>
                  <a:lnTo>
                    <a:pt x="655878" y="179197"/>
                  </a:lnTo>
                  <a:lnTo>
                    <a:pt x="653427" y="175768"/>
                  </a:lnTo>
                  <a:lnTo>
                    <a:pt x="649693" y="172085"/>
                  </a:lnTo>
                  <a:lnTo>
                    <a:pt x="619201" y="141605"/>
                  </a:lnTo>
                  <a:lnTo>
                    <a:pt x="613283" y="147447"/>
                  </a:lnTo>
                  <a:lnTo>
                    <a:pt x="644105" y="178308"/>
                  </a:lnTo>
                  <a:lnTo>
                    <a:pt x="646671" y="180848"/>
                  </a:lnTo>
                  <a:lnTo>
                    <a:pt x="648335" y="183007"/>
                  </a:lnTo>
                  <a:lnTo>
                    <a:pt x="649859" y="186055"/>
                  </a:lnTo>
                  <a:lnTo>
                    <a:pt x="649973" y="188087"/>
                  </a:lnTo>
                  <a:lnTo>
                    <a:pt x="649643" y="189484"/>
                  </a:lnTo>
                  <a:lnTo>
                    <a:pt x="649249" y="191262"/>
                  </a:lnTo>
                  <a:lnTo>
                    <a:pt x="648309" y="192913"/>
                  </a:lnTo>
                  <a:lnTo>
                    <a:pt x="644804" y="196469"/>
                  </a:lnTo>
                  <a:lnTo>
                    <a:pt x="642594" y="197358"/>
                  </a:lnTo>
                  <a:lnTo>
                    <a:pt x="637794" y="197104"/>
                  </a:lnTo>
                  <a:lnTo>
                    <a:pt x="634822" y="195453"/>
                  </a:lnTo>
                  <a:lnTo>
                    <a:pt x="631253" y="192151"/>
                  </a:lnTo>
                  <a:lnTo>
                    <a:pt x="626643" y="198247"/>
                  </a:lnTo>
                  <a:lnTo>
                    <a:pt x="631024" y="202692"/>
                  </a:lnTo>
                  <a:lnTo>
                    <a:pt x="635381" y="205105"/>
                  </a:lnTo>
                  <a:lnTo>
                    <a:pt x="639724" y="205232"/>
                  </a:lnTo>
                  <a:lnTo>
                    <a:pt x="644067" y="205486"/>
                  </a:lnTo>
                  <a:lnTo>
                    <a:pt x="648208" y="203581"/>
                  </a:lnTo>
                  <a:lnTo>
                    <a:pt x="654392" y="197358"/>
                  </a:lnTo>
                  <a:lnTo>
                    <a:pt x="654646" y="197104"/>
                  </a:lnTo>
                  <a:lnTo>
                    <a:pt x="655091" y="196469"/>
                  </a:lnTo>
                  <a:lnTo>
                    <a:pt x="656539" y="194183"/>
                  </a:lnTo>
                  <a:lnTo>
                    <a:pt x="658317" y="188087"/>
                  </a:lnTo>
                  <a:close/>
                </a:path>
                <a:path w="9090025" h="247014">
                  <a:moveTo>
                    <a:pt x="699071" y="151130"/>
                  </a:moveTo>
                  <a:lnTo>
                    <a:pt x="666661" y="118745"/>
                  </a:lnTo>
                  <a:lnTo>
                    <a:pt x="661162" y="124206"/>
                  </a:lnTo>
                  <a:lnTo>
                    <a:pt x="678535" y="141605"/>
                  </a:lnTo>
                  <a:lnTo>
                    <a:pt x="681291" y="144399"/>
                  </a:lnTo>
                  <a:lnTo>
                    <a:pt x="683107" y="146812"/>
                  </a:lnTo>
                  <a:lnTo>
                    <a:pt x="684822" y="150876"/>
                  </a:lnTo>
                  <a:lnTo>
                    <a:pt x="684949" y="153035"/>
                  </a:lnTo>
                  <a:lnTo>
                    <a:pt x="684339" y="155321"/>
                  </a:lnTo>
                  <a:lnTo>
                    <a:pt x="683793" y="157480"/>
                  </a:lnTo>
                  <a:lnTo>
                    <a:pt x="683742" y="157734"/>
                  </a:lnTo>
                  <a:lnTo>
                    <a:pt x="682625" y="159639"/>
                  </a:lnTo>
                  <a:lnTo>
                    <a:pt x="679323" y="162941"/>
                  </a:lnTo>
                  <a:lnTo>
                    <a:pt x="677303" y="164084"/>
                  </a:lnTo>
                  <a:lnTo>
                    <a:pt x="676554" y="164084"/>
                  </a:lnTo>
                  <a:lnTo>
                    <a:pt x="673646" y="164465"/>
                  </a:lnTo>
                  <a:lnTo>
                    <a:pt x="671779" y="164084"/>
                  </a:lnTo>
                  <a:lnTo>
                    <a:pt x="668769" y="162179"/>
                  </a:lnTo>
                  <a:lnTo>
                    <a:pt x="666724" y="160401"/>
                  </a:lnTo>
                  <a:lnTo>
                    <a:pt x="663854" y="157480"/>
                  </a:lnTo>
                  <a:lnTo>
                    <a:pt x="645871" y="139573"/>
                  </a:lnTo>
                  <a:lnTo>
                    <a:pt x="640384" y="145034"/>
                  </a:lnTo>
                  <a:lnTo>
                    <a:pt x="660463" y="165100"/>
                  </a:lnTo>
                  <a:lnTo>
                    <a:pt x="662800" y="167513"/>
                  </a:lnTo>
                  <a:lnTo>
                    <a:pt x="664629" y="169037"/>
                  </a:lnTo>
                  <a:lnTo>
                    <a:pt x="665924" y="169926"/>
                  </a:lnTo>
                  <a:lnTo>
                    <a:pt x="668045" y="171323"/>
                  </a:lnTo>
                  <a:lnTo>
                    <a:pt x="668172" y="171323"/>
                  </a:lnTo>
                  <a:lnTo>
                    <a:pt x="670102" y="172085"/>
                  </a:lnTo>
                  <a:lnTo>
                    <a:pt x="670407" y="172085"/>
                  </a:lnTo>
                  <a:lnTo>
                    <a:pt x="671690" y="172339"/>
                  </a:lnTo>
                  <a:lnTo>
                    <a:pt x="673608" y="172593"/>
                  </a:lnTo>
                  <a:lnTo>
                    <a:pt x="675754" y="172339"/>
                  </a:lnTo>
                  <a:lnTo>
                    <a:pt x="678154" y="171323"/>
                  </a:lnTo>
                  <a:lnTo>
                    <a:pt x="680542" y="170434"/>
                  </a:lnTo>
                  <a:lnTo>
                    <a:pt x="690460" y="157734"/>
                  </a:lnTo>
                  <a:lnTo>
                    <a:pt x="690537" y="157480"/>
                  </a:lnTo>
                  <a:lnTo>
                    <a:pt x="689394" y="151384"/>
                  </a:lnTo>
                  <a:lnTo>
                    <a:pt x="694156" y="156083"/>
                  </a:lnTo>
                  <a:lnTo>
                    <a:pt x="698817" y="151384"/>
                  </a:lnTo>
                  <a:lnTo>
                    <a:pt x="699071" y="151130"/>
                  </a:lnTo>
                  <a:close/>
                </a:path>
                <a:path w="9090025" h="247014">
                  <a:moveTo>
                    <a:pt x="713841" y="136398"/>
                  </a:moveTo>
                  <a:lnTo>
                    <a:pt x="669112" y="91694"/>
                  </a:lnTo>
                  <a:lnTo>
                    <a:pt x="663613" y="97155"/>
                  </a:lnTo>
                  <a:lnTo>
                    <a:pt x="708355" y="141859"/>
                  </a:lnTo>
                  <a:lnTo>
                    <a:pt x="713841" y="136398"/>
                  </a:lnTo>
                  <a:close/>
                </a:path>
                <a:path w="9090025" h="247014">
                  <a:moveTo>
                    <a:pt x="723798" y="99568"/>
                  </a:moveTo>
                  <a:lnTo>
                    <a:pt x="718273" y="94107"/>
                  </a:lnTo>
                  <a:lnTo>
                    <a:pt x="701395" y="110998"/>
                  </a:lnTo>
                  <a:lnTo>
                    <a:pt x="706920" y="116459"/>
                  </a:lnTo>
                  <a:lnTo>
                    <a:pt x="723798" y="99568"/>
                  </a:lnTo>
                  <a:close/>
                </a:path>
                <a:path w="9090025" h="247014">
                  <a:moveTo>
                    <a:pt x="762127" y="88138"/>
                  </a:moveTo>
                  <a:lnTo>
                    <a:pt x="732675" y="58674"/>
                  </a:lnTo>
                  <a:lnTo>
                    <a:pt x="717207" y="43180"/>
                  </a:lnTo>
                  <a:lnTo>
                    <a:pt x="713663" y="46736"/>
                  </a:lnTo>
                  <a:lnTo>
                    <a:pt x="714641" y="49657"/>
                  </a:lnTo>
                  <a:lnTo>
                    <a:pt x="714679" y="59055"/>
                  </a:lnTo>
                  <a:lnTo>
                    <a:pt x="714540" y="61341"/>
                  </a:lnTo>
                  <a:lnTo>
                    <a:pt x="714514" y="61976"/>
                  </a:lnTo>
                  <a:lnTo>
                    <a:pt x="713765" y="65532"/>
                  </a:lnTo>
                  <a:lnTo>
                    <a:pt x="713689" y="65913"/>
                  </a:lnTo>
                  <a:lnTo>
                    <a:pt x="713587" y="66421"/>
                  </a:lnTo>
                  <a:lnTo>
                    <a:pt x="711898" y="70993"/>
                  </a:lnTo>
                  <a:lnTo>
                    <a:pt x="712063" y="70993"/>
                  </a:lnTo>
                  <a:lnTo>
                    <a:pt x="717257" y="76200"/>
                  </a:lnTo>
                  <a:lnTo>
                    <a:pt x="718337" y="73914"/>
                  </a:lnTo>
                  <a:lnTo>
                    <a:pt x="719328" y="70993"/>
                  </a:lnTo>
                  <a:lnTo>
                    <a:pt x="721017" y="64389"/>
                  </a:lnTo>
                  <a:lnTo>
                    <a:pt x="721093" y="64135"/>
                  </a:lnTo>
                  <a:lnTo>
                    <a:pt x="721436" y="61976"/>
                  </a:lnTo>
                  <a:lnTo>
                    <a:pt x="721537" y="61341"/>
                  </a:lnTo>
                  <a:lnTo>
                    <a:pt x="721626" y="58674"/>
                  </a:lnTo>
                  <a:lnTo>
                    <a:pt x="756627" y="93599"/>
                  </a:lnTo>
                  <a:lnTo>
                    <a:pt x="762127" y="88138"/>
                  </a:lnTo>
                  <a:close/>
                </a:path>
                <a:path w="9090025" h="247014">
                  <a:moveTo>
                    <a:pt x="797979" y="47625"/>
                  </a:moveTo>
                  <a:lnTo>
                    <a:pt x="797902" y="43815"/>
                  </a:lnTo>
                  <a:lnTo>
                    <a:pt x="795502" y="36576"/>
                  </a:lnTo>
                  <a:lnTo>
                    <a:pt x="793572" y="33401"/>
                  </a:lnTo>
                  <a:lnTo>
                    <a:pt x="793496" y="33274"/>
                  </a:lnTo>
                  <a:lnTo>
                    <a:pt x="791832" y="31623"/>
                  </a:lnTo>
                  <a:lnTo>
                    <a:pt x="790740" y="30556"/>
                  </a:lnTo>
                  <a:lnTo>
                    <a:pt x="790740" y="50165"/>
                  </a:lnTo>
                  <a:lnTo>
                    <a:pt x="789686" y="53086"/>
                  </a:lnTo>
                  <a:lnTo>
                    <a:pt x="787361" y="55372"/>
                  </a:lnTo>
                  <a:lnTo>
                    <a:pt x="785774" y="57023"/>
                  </a:lnTo>
                  <a:lnTo>
                    <a:pt x="783805" y="58039"/>
                  </a:lnTo>
                  <a:lnTo>
                    <a:pt x="779106" y="59055"/>
                  </a:lnTo>
                  <a:lnTo>
                    <a:pt x="777024" y="59055"/>
                  </a:lnTo>
                  <a:lnTo>
                    <a:pt x="774128" y="58039"/>
                  </a:lnTo>
                  <a:lnTo>
                    <a:pt x="771601" y="57023"/>
                  </a:lnTo>
                  <a:lnTo>
                    <a:pt x="769391" y="55626"/>
                  </a:lnTo>
                  <a:lnTo>
                    <a:pt x="767499" y="53721"/>
                  </a:lnTo>
                  <a:lnTo>
                    <a:pt x="764603" y="50927"/>
                  </a:lnTo>
                  <a:lnTo>
                    <a:pt x="763143" y="47625"/>
                  </a:lnTo>
                  <a:lnTo>
                    <a:pt x="763117" y="46101"/>
                  </a:lnTo>
                  <a:lnTo>
                    <a:pt x="763028" y="40640"/>
                  </a:lnTo>
                  <a:lnTo>
                    <a:pt x="764247" y="37719"/>
                  </a:lnTo>
                  <a:lnTo>
                    <a:pt x="769239" y="32639"/>
                  </a:lnTo>
                  <a:lnTo>
                    <a:pt x="771867" y="31623"/>
                  </a:lnTo>
                  <a:lnTo>
                    <a:pt x="775627" y="31623"/>
                  </a:lnTo>
                  <a:lnTo>
                    <a:pt x="790498" y="46101"/>
                  </a:lnTo>
                  <a:lnTo>
                    <a:pt x="790587" y="47625"/>
                  </a:lnTo>
                  <a:lnTo>
                    <a:pt x="790702" y="49657"/>
                  </a:lnTo>
                  <a:lnTo>
                    <a:pt x="790740" y="50165"/>
                  </a:lnTo>
                  <a:lnTo>
                    <a:pt x="790740" y="30556"/>
                  </a:lnTo>
                  <a:lnTo>
                    <a:pt x="786422" y="26289"/>
                  </a:lnTo>
                  <a:lnTo>
                    <a:pt x="781646" y="24003"/>
                  </a:lnTo>
                  <a:lnTo>
                    <a:pt x="771105" y="23749"/>
                  </a:lnTo>
                  <a:lnTo>
                    <a:pt x="766635" y="25527"/>
                  </a:lnTo>
                  <a:lnTo>
                    <a:pt x="757478" y="43180"/>
                  </a:lnTo>
                  <a:lnTo>
                    <a:pt x="758063" y="46101"/>
                  </a:lnTo>
                  <a:lnTo>
                    <a:pt x="753630" y="41529"/>
                  </a:lnTo>
                  <a:lnTo>
                    <a:pt x="750785" y="37719"/>
                  </a:lnTo>
                  <a:lnTo>
                    <a:pt x="750697" y="37592"/>
                  </a:lnTo>
                  <a:lnTo>
                    <a:pt x="747852" y="30734"/>
                  </a:lnTo>
                  <a:lnTo>
                    <a:pt x="747369" y="27559"/>
                  </a:lnTo>
                  <a:lnTo>
                    <a:pt x="748182" y="22225"/>
                  </a:lnTo>
                  <a:lnTo>
                    <a:pt x="749236" y="20193"/>
                  </a:lnTo>
                  <a:lnTo>
                    <a:pt x="750989" y="18415"/>
                  </a:lnTo>
                  <a:lnTo>
                    <a:pt x="753160" y="16256"/>
                  </a:lnTo>
                  <a:lnTo>
                    <a:pt x="755446" y="15367"/>
                  </a:lnTo>
                  <a:lnTo>
                    <a:pt x="760704" y="15367"/>
                  </a:lnTo>
                  <a:lnTo>
                    <a:pt x="762952" y="16256"/>
                  </a:lnTo>
                  <a:lnTo>
                    <a:pt x="765606" y="17907"/>
                  </a:lnTo>
                  <a:lnTo>
                    <a:pt x="767791" y="15367"/>
                  </a:lnTo>
                  <a:lnTo>
                    <a:pt x="770636" y="12065"/>
                  </a:lnTo>
                  <a:lnTo>
                    <a:pt x="766711" y="9017"/>
                  </a:lnTo>
                  <a:lnTo>
                    <a:pt x="762635" y="7620"/>
                  </a:lnTo>
                  <a:lnTo>
                    <a:pt x="754189" y="8128"/>
                  </a:lnTo>
                  <a:lnTo>
                    <a:pt x="750328" y="10033"/>
                  </a:lnTo>
                  <a:lnTo>
                    <a:pt x="742467" y="17907"/>
                  </a:lnTo>
                  <a:lnTo>
                    <a:pt x="742035" y="18415"/>
                  </a:lnTo>
                  <a:lnTo>
                    <a:pt x="740041" y="23749"/>
                  </a:lnTo>
                  <a:lnTo>
                    <a:pt x="740587" y="29210"/>
                  </a:lnTo>
                  <a:lnTo>
                    <a:pt x="740664" y="29972"/>
                  </a:lnTo>
                  <a:lnTo>
                    <a:pt x="762469" y="61341"/>
                  </a:lnTo>
                  <a:lnTo>
                    <a:pt x="775716" y="65913"/>
                  </a:lnTo>
                  <a:lnTo>
                    <a:pt x="781977" y="66421"/>
                  </a:lnTo>
                  <a:lnTo>
                    <a:pt x="787400" y="64389"/>
                  </a:lnTo>
                  <a:lnTo>
                    <a:pt x="792734" y="59055"/>
                  </a:lnTo>
                  <a:lnTo>
                    <a:pt x="794651" y="57150"/>
                  </a:lnTo>
                  <a:lnTo>
                    <a:pt x="796417" y="54102"/>
                  </a:lnTo>
                  <a:lnTo>
                    <a:pt x="797979" y="47625"/>
                  </a:lnTo>
                  <a:close/>
                </a:path>
                <a:path w="9090025" h="247014">
                  <a:moveTo>
                    <a:pt x="870940" y="168402"/>
                  </a:moveTo>
                  <a:lnTo>
                    <a:pt x="870140" y="164719"/>
                  </a:lnTo>
                  <a:lnTo>
                    <a:pt x="867727" y="160528"/>
                  </a:lnTo>
                  <a:lnTo>
                    <a:pt x="861339" y="165481"/>
                  </a:lnTo>
                  <a:lnTo>
                    <a:pt x="862698" y="168402"/>
                  </a:lnTo>
                  <a:lnTo>
                    <a:pt x="862825" y="168656"/>
                  </a:lnTo>
                  <a:lnTo>
                    <a:pt x="862863" y="168910"/>
                  </a:lnTo>
                  <a:lnTo>
                    <a:pt x="862977" y="169418"/>
                  </a:lnTo>
                  <a:lnTo>
                    <a:pt x="863053" y="169799"/>
                  </a:lnTo>
                  <a:lnTo>
                    <a:pt x="863130" y="170180"/>
                  </a:lnTo>
                  <a:lnTo>
                    <a:pt x="863206" y="170561"/>
                  </a:lnTo>
                  <a:lnTo>
                    <a:pt x="863257" y="170815"/>
                  </a:lnTo>
                  <a:lnTo>
                    <a:pt x="863358" y="171577"/>
                  </a:lnTo>
                  <a:lnTo>
                    <a:pt x="862711" y="176022"/>
                  </a:lnTo>
                  <a:lnTo>
                    <a:pt x="862660" y="176403"/>
                  </a:lnTo>
                  <a:lnTo>
                    <a:pt x="861593" y="178435"/>
                  </a:lnTo>
                  <a:lnTo>
                    <a:pt x="861466" y="178435"/>
                  </a:lnTo>
                  <a:lnTo>
                    <a:pt x="861466" y="178689"/>
                  </a:lnTo>
                  <a:lnTo>
                    <a:pt x="859447" y="180594"/>
                  </a:lnTo>
                  <a:lnTo>
                    <a:pt x="856742" y="183388"/>
                  </a:lnTo>
                  <a:lnTo>
                    <a:pt x="853541" y="184658"/>
                  </a:lnTo>
                  <a:lnTo>
                    <a:pt x="846391" y="184658"/>
                  </a:lnTo>
                  <a:lnTo>
                    <a:pt x="842403" y="182753"/>
                  </a:lnTo>
                  <a:lnTo>
                    <a:pt x="838644" y="179451"/>
                  </a:lnTo>
                  <a:lnTo>
                    <a:pt x="839406" y="178689"/>
                  </a:lnTo>
                  <a:lnTo>
                    <a:pt x="861466" y="178689"/>
                  </a:lnTo>
                  <a:lnTo>
                    <a:pt x="861466" y="178435"/>
                  </a:lnTo>
                  <a:lnTo>
                    <a:pt x="839660" y="178435"/>
                  </a:lnTo>
                  <a:lnTo>
                    <a:pt x="843470" y="174625"/>
                  </a:lnTo>
                  <a:lnTo>
                    <a:pt x="862812" y="155321"/>
                  </a:lnTo>
                  <a:lnTo>
                    <a:pt x="862279" y="154686"/>
                  </a:lnTo>
                  <a:lnTo>
                    <a:pt x="861695" y="154051"/>
                  </a:lnTo>
                  <a:lnTo>
                    <a:pt x="861377" y="153797"/>
                  </a:lnTo>
                  <a:lnTo>
                    <a:pt x="859713" y="152146"/>
                  </a:lnTo>
                  <a:lnTo>
                    <a:pt x="856145" y="148590"/>
                  </a:lnTo>
                  <a:lnTo>
                    <a:pt x="854760" y="147828"/>
                  </a:lnTo>
                  <a:lnTo>
                    <a:pt x="852525" y="146697"/>
                  </a:lnTo>
                  <a:lnTo>
                    <a:pt x="852525" y="156464"/>
                  </a:lnTo>
                  <a:lnTo>
                    <a:pt x="834428" y="174625"/>
                  </a:lnTo>
                  <a:lnTo>
                    <a:pt x="831786" y="171577"/>
                  </a:lnTo>
                  <a:lnTo>
                    <a:pt x="830681" y="168910"/>
                  </a:lnTo>
                  <a:lnTo>
                    <a:pt x="830643" y="161290"/>
                  </a:lnTo>
                  <a:lnTo>
                    <a:pt x="831811" y="158623"/>
                  </a:lnTo>
                  <a:lnTo>
                    <a:pt x="836993" y="153416"/>
                  </a:lnTo>
                  <a:lnTo>
                    <a:pt x="836739" y="153416"/>
                  </a:lnTo>
                  <a:lnTo>
                    <a:pt x="840447" y="152146"/>
                  </a:lnTo>
                  <a:lnTo>
                    <a:pt x="844321" y="152400"/>
                  </a:lnTo>
                  <a:lnTo>
                    <a:pt x="846823" y="152654"/>
                  </a:lnTo>
                  <a:lnTo>
                    <a:pt x="849553" y="154051"/>
                  </a:lnTo>
                  <a:lnTo>
                    <a:pt x="852525" y="156464"/>
                  </a:lnTo>
                  <a:lnTo>
                    <a:pt x="852525" y="146697"/>
                  </a:lnTo>
                  <a:lnTo>
                    <a:pt x="850506" y="145669"/>
                  </a:lnTo>
                  <a:lnTo>
                    <a:pt x="844804" y="145415"/>
                  </a:lnTo>
                  <a:lnTo>
                    <a:pt x="838784" y="145415"/>
                  </a:lnTo>
                  <a:lnTo>
                    <a:pt x="834085" y="147320"/>
                  </a:lnTo>
                  <a:lnTo>
                    <a:pt x="825284" y="156083"/>
                  </a:lnTo>
                  <a:lnTo>
                    <a:pt x="823150" y="161290"/>
                  </a:lnTo>
                  <a:lnTo>
                    <a:pt x="823264" y="164719"/>
                  </a:lnTo>
                  <a:lnTo>
                    <a:pt x="823290" y="165481"/>
                  </a:lnTo>
                  <a:lnTo>
                    <a:pt x="823391" y="168402"/>
                  </a:lnTo>
                  <a:lnTo>
                    <a:pt x="823429" y="169418"/>
                  </a:lnTo>
                  <a:lnTo>
                    <a:pt x="823556" y="172847"/>
                  </a:lnTo>
                  <a:lnTo>
                    <a:pt x="826185" y="178181"/>
                  </a:lnTo>
                  <a:lnTo>
                    <a:pt x="826236" y="178435"/>
                  </a:lnTo>
                  <a:lnTo>
                    <a:pt x="805434" y="178435"/>
                  </a:lnTo>
                  <a:lnTo>
                    <a:pt x="806196" y="177546"/>
                  </a:lnTo>
                  <a:lnTo>
                    <a:pt x="808278" y="175133"/>
                  </a:lnTo>
                  <a:lnTo>
                    <a:pt x="808520" y="175133"/>
                  </a:lnTo>
                  <a:lnTo>
                    <a:pt x="805662" y="172466"/>
                  </a:lnTo>
                  <a:lnTo>
                    <a:pt x="802576" y="170815"/>
                  </a:lnTo>
                  <a:lnTo>
                    <a:pt x="799147" y="170180"/>
                  </a:lnTo>
                  <a:lnTo>
                    <a:pt x="795705" y="169418"/>
                  </a:lnTo>
                  <a:lnTo>
                    <a:pt x="792187" y="169799"/>
                  </a:lnTo>
                  <a:lnTo>
                    <a:pt x="788581" y="171323"/>
                  </a:lnTo>
                  <a:lnTo>
                    <a:pt x="784656" y="172847"/>
                  </a:lnTo>
                  <a:lnTo>
                    <a:pt x="784796" y="172847"/>
                  </a:lnTo>
                  <a:lnTo>
                    <a:pt x="781519" y="175133"/>
                  </a:lnTo>
                  <a:lnTo>
                    <a:pt x="778205" y="178435"/>
                  </a:lnTo>
                  <a:lnTo>
                    <a:pt x="775195" y="181483"/>
                  </a:lnTo>
                  <a:lnTo>
                    <a:pt x="772972" y="184658"/>
                  </a:lnTo>
                  <a:lnTo>
                    <a:pt x="771525" y="188214"/>
                  </a:lnTo>
                  <a:lnTo>
                    <a:pt x="770077" y="191643"/>
                  </a:lnTo>
                  <a:lnTo>
                    <a:pt x="770001" y="192278"/>
                  </a:lnTo>
                  <a:lnTo>
                    <a:pt x="769899" y="193167"/>
                  </a:lnTo>
                  <a:lnTo>
                    <a:pt x="769797" y="195580"/>
                  </a:lnTo>
                  <a:lnTo>
                    <a:pt x="771067" y="201549"/>
                  </a:lnTo>
                  <a:lnTo>
                    <a:pt x="772528" y="204343"/>
                  </a:lnTo>
                  <a:lnTo>
                    <a:pt x="774788" y="206502"/>
                  </a:lnTo>
                  <a:lnTo>
                    <a:pt x="775550" y="207264"/>
                  </a:lnTo>
                  <a:lnTo>
                    <a:pt x="777049" y="208661"/>
                  </a:lnTo>
                  <a:lnTo>
                    <a:pt x="779221" y="209931"/>
                  </a:lnTo>
                  <a:lnTo>
                    <a:pt x="784631" y="211201"/>
                  </a:lnTo>
                  <a:lnTo>
                    <a:pt x="787615" y="210947"/>
                  </a:lnTo>
                  <a:lnTo>
                    <a:pt x="793394" y="209169"/>
                  </a:lnTo>
                  <a:lnTo>
                    <a:pt x="797204" y="207264"/>
                  </a:lnTo>
                  <a:lnTo>
                    <a:pt x="804341" y="202819"/>
                  </a:lnTo>
                  <a:lnTo>
                    <a:pt x="807402" y="200914"/>
                  </a:lnTo>
                  <a:lnTo>
                    <a:pt x="810780" y="199009"/>
                  </a:lnTo>
                  <a:lnTo>
                    <a:pt x="812444" y="198247"/>
                  </a:lnTo>
                  <a:lnTo>
                    <a:pt x="815035" y="197104"/>
                  </a:lnTo>
                  <a:lnTo>
                    <a:pt x="817257" y="196723"/>
                  </a:lnTo>
                  <a:lnTo>
                    <a:pt x="818184" y="196723"/>
                  </a:lnTo>
                  <a:lnTo>
                    <a:pt x="826909" y="206502"/>
                  </a:lnTo>
                  <a:lnTo>
                    <a:pt x="826541" y="208661"/>
                  </a:lnTo>
                  <a:lnTo>
                    <a:pt x="806729" y="225044"/>
                  </a:lnTo>
                  <a:lnTo>
                    <a:pt x="805116" y="224790"/>
                  </a:lnTo>
                  <a:lnTo>
                    <a:pt x="804926" y="224790"/>
                  </a:lnTo>
                  <a:lnTo>
                    <a:pt x="801928" y="224155"/>
                  </a:lnTo>
                  <a:lnTo>
                    <a:pt x="799477" y="223012"/>
                  </a:lnTo>
                  <a:lnTo>
                    <a:pt x="796975" y="220980"/>
                  </a:lnTo>
                  <a:lnTo>
                    <a:pt x="791768" y="227203"/>
                  </a:lnTo>
                  <a:lnTo>
                    <a:pt x="792010" y="227203"/>
                  </a:lnTo>
                  <a:lnTo>
                    <a:pt x="794956" y="229997"/>
                  </a:lnTo>
                  <a:lnTo>
                    <a:pt x="798449" y="231775"/>
                  </a:lnTo>
                  <a:lnTo>
                    <a:pt x="802373" y="232664"/>
                  </a:lnTo>
                  <a:lnTo>
                    <a:pt x="806310" y="233426"/>
                  </a:lnTo>
                  <a:lnTo>
                    <a:pt x="810221" y="233045"/>
                  </a:lnTo>
                  <a:lnTo>
                    <a:pt x="818057" y="229997"/>
                  </a:lnTo>
                  <a:lnTo>
                    <a:pt x="822045" y="227203"/>
                  </a:lnTo>
                  <a:lnTo>
                    <a:pt x="824191" y="225044"/>
                  </a:lnTo>
                  <a:lnTo>
                    <a:pt x="829284" y="219964"/>
                  </a:lnTo>
                  <a:lnTo>
                    <a:pt x="834555" y="206502"/>
                  </a:lnTo>
                  <a:lnTo>
                    <a:pt x="834669" y="205359"/>
                  </a:lnTo>
                  <a:lnTo>
                    <a:pt x="833285" y="199009"/>
                  </a:lnTo>
                  <a:lnTo>
                    <a:pt x="833208" y="198628"/>
                  </a:lnTo>
                  <a:lnTo>
                    <a:pt x="833043" y="198247"/>
                  </a:lnTo>
                  <a:lnTo>
                    <a:pt x="832231" y="196723"/>
                  </a:lnTo>
                  <a:lnTo>
                    <a:pt x="831621" y="195580"/>
                  </a:lnTo>
                  <a:lnTo>
                    <a:pt x="826947" y="190881"/>
                  </a:lnTo>
                  <a:lnTo>
                    <a:pt x="826833" y="190754"/>
                  </a:lnTo>
                  <a:lnTo>
                    <a:pt x="824090" y="189230"/>
                  </a:lnTo>
                  <a:lnTo>
                    <a:pt x="821016" y="188722"/>
                  </a:lnTo>
                  <a:lnTo>
                    <a:pt x="818540" y="188214"/>
                  </a:lnTo>
                  <a:lnTo>
                    <a:pt x="816775" y="188214"/>
                  </a:lnTo>
                  <a:lnTo>
                    <a:pt x="814489" y="188468"/>
                  </a:lnTo>
                  <a:lnTo>
                    <a:pt x="810348" y="189992"/>
                  </a:lnTo>
                  <a:lnTo>
                    <a:pt x="808075" y="190881"/>
                  </a:lnTo>
                  <a:lnTo>
                    <a:pt x="803821" y="193167"/>
                  </a:lnTo>
                  <a:lnTo>
                    <a:pt x="797712" y="197104"/>
                  </a:lnTo>
                  <a:lnTo>
                    <a:pt x="792022" y="200660"/>
                  </a:lnTo>
                  <a:lnTo>
                    <a:pt x="787704" y="202692"/>
                  </a:lnTo>
                  <a:lnTo>
                    <a:pt x="785812" y="202692"/>
                  </a:lnTo>
                  <a:lnTo>
                    <a:pt x="783615" y="202819"/>
                  </a:lnTo>
                  <a:lnTo>
                    <a:pt x="781710" y="202057"/>
                  </a:lnTo>
                  <a:lnTo>
                    <a:pt x="780097" y="200406"/>
                  </a:lnTo>
                  <a:lnTo>
                    <a:pt x="778243" y="198628"/>
                  </a:lnTo>
                  <a:lnTo>
                    <a:pt x="777760" y="197104"/>
                  </a:lnTo>
                  <a:lnTo>
                    <a:pt x="777633" y="196723"/>
                  </a:lnTo>
                  <a:lnTo>
                    <a:pt x="777595" y="195072"/>
                  </a:lnTo>
                  <a:lnTo>
                    <a:pt x="777811" y="193167"/>
                  </a:lnTo>
                  <a:lnTo>
                    <a:pt x="777913" y="192278"/>
                  </a:lnTo>
                  <a:lnTo>
                    <a:pt x="777976" y="191643"/>
                  </a:lnTo>
                  <a:lnTo>
                    <a:pt x="796836" y="177546"/>
                  </a:lnTo>
                  <a:lnTo>
                    <a:pt x="799998" y="178562"/>
                  </a:lnTo>
                  <a:lnTo>
                    <a:pt x="800404" y="178689"/>
                  </a:lnTo>
                  <a:lnTo>
                    <a:pt x="800163" y="178689"/>
                  </a:lnTo>
                  <a:lnTo>
                    <a:pt x="799998" y="178562"/>
                  </a:lnTo>
                  <a:lnTo>
                    <a:pt x="803148" y="181102"/>
                  </a:lnTo>
                  <a:lnTo>
                    <a:pt x="805218" y="178689"/>
                  </a:lnTo>
                  <a:lnTo>
                    <a:pt x="826427" y="178689"/>
                  </a:lnTo>
                  <a:lnTo>
                    <a:pt x="831837" y="184023"/>
                  </a:lnTo>
                  <a:lnTo>
                    <a:pt x="837107" y="189230"/>
                  </a:lnTo>
                  <a:lnTo>
                    <a:pt x="842581" y="191897"/>
                  </a:lnTo>
                  <a:lnTo>
                    <a:pt x="851128" y="192278"/>
                  </a:lnTo>
                  <a:lnTo>
                    <a:pt x="853973" y="192278"/>
                  </a:lnTo>
                  <a:lnTo>
                    <a:pt x="859193" y="189992"/>
                  </a:lnTo>
                  <a:lnTo>
                    <a:pt x="864450" y="184658"/>
                  </a:lnTo>
                  <a:lnTo>
                    <a:pt x="867702" y="181483"/>
                  </a:lnTo>
                  <a:lnTo>
                    <a:pt x="870686" y="171577"/>
                  </a:lnTo>
                  <a:lnTo>
                    <a:pt x="870788" y="170815"/>
                  </a:lnTo>
                  <a:lnTo>
                    <a:pt x="870877" y="170180"/>
                  </a:lnTo>
                  <a:lnTo>
                    <a:pt x="870940" y="168402"/>
                  </a:lnTo>
                  <a:close/>
                </a:path>
                <a:path w="9090025" h="247014">
                  <a:moveTo>
                    <a:pt x="904646" y="137414"/>
                  </a:moveTo>
                  <a:lnTo>
                    <a:pt x="904443" y="134366"/>
                  </a:lnTo>
                  <a:lnTo>
                    <a:pt x="904392" y="133604"/>
                  </a:lnTo>
                  <a:lnTo>
                    <a:pt x="902995" y="129794"/>
                  </a:lnTo>
                  <a:lnTo>
                    <a:pt x="901471" y="125857"/>
                  </a:lnTo>
                  <a:lnTo>
                    <a:pt x="899058" y="122301"/>
                  </a:lnTo>
                  <a:lnTo>
                    <a:pt x="897407" y="120650"/>
                  </a:lnTo>
                  <a:lnTo>
                    <a:pt x="897407" y="140589"/>
                  </a:lnTo>
                  <a:lnTo>
                    <a:pt x="896391" y="143764"/>
                  </a:lnTo>
                  <a:lnTo>
                    <a:pt x="891565" y="148590"/>
                  </a:lnTo>
                  <a:lnTo>
                    <a:pt x="888517" y="149606"/>
                  </a:lnTo>
                  <a:lnTo>
                    <a:pt x="884834" y="149352"/>
                  </a:lnTo>
                  <a:lnTo>
                    <a:pt x="866267" y="131191"/>
                  </a:lnTo>
                  <a:lnTo>
                    <a:pt x="866190" y="130429"/>
                  </a:lnTo>
                  <a:lnTo>
                    <a:pt x="865911" y="127508"/>
                  </a:lnTo>
                  <a:lnTo>
                    <a:pt x="865809" y="126365"/>
                  </a:lnTo>
                  <a:lnTo>
                    <a:pt x="866787" y="123190"/>
                  </a:lnTo>
                  <a:lnTo>
                    <a:pt x="869124" y="120904"/>
                  </a:lnTo>
                  <a:lnTo>
                    <a:pt x="871486" y="118491"/>
                  </a:lnTo>
                  <a:lnTo>
                    <a:pt x="874547" y="117475"/>
                  </a:lnTo>
                  <a:lnTo>
                    <a:pt x="882040" y="118237"/>
                  </a:lnTo>
                  <a:lnTo>
                    <a:pt x="885977" y="120523"/>
                  </a:lnTo>
                  <a:lnTo>
                    <a:pt x="897407" y="140589"/>
                  </a:lnTo>
                  <a:lnTo>
                    <a:pt x="897407" y="120650"/>
                  </a:lnTo>
                  <a:lnTo>
                    <a:pt x="894232" y="117475"/>
                  </a:lnTo>
                  <a:lnTo>
                    <a:pt x="892835" y="116078"/>
                  </a:lnTo>
                  <a:lnTo>
                    <a:pt x="889279" y="113665"/>
                  </a:lnTo>
                  <a:lnTo>
                    <a:pt x="881913" y="110617"/>
                  </a:lnTo>
                  <a:lnTo>
                    <a:pt x="878344" y="110109"/>
                  </a:lnTo>
                  <a:lnTo>
                    <a:pt x="874801" y="110871"/>
                  </a:lnTo>
                  <a:lnTo>
                    <a:pt x="871258" y="111506"/>
                  </a:lnTo>
                  <a:lnTo>
                    <a:pt x="868108" y="113284"/>
                  </a:lnTo>
                  <a:lnTo>
                    <a:pt x="865339" y="116078"/>
                  </a:lnTo>
                  <a:lnTo>
                    <a:pt x="863219" y="118110"/>
                  </a:lnTo>
                  <a:lnTo>
                    <a:pt x="861796" y="120523"/>
                  </a:lnTo>
                  <a:lnTo>
                    <a:pt x="860615" y="124587"/>
                  </a:lnTo>
                  <a:lnTo>
                    <a:pt x="860513" y="124968"/>
                  </a:lnTo>
                  <a:lnTo>
                    <a:pt x="860412" y="127508"/>
                  </a:lnTo>
                  <a:lnTo>
                    <a:pt x="860767" y="129794"/>
                  </a:lnTo>
                  <a:lnTo>
                    <a:pt x="860882" y="130429"/>
                  </a:lnTo>
                  <a:lnTo>
                    <a:pt x="856805" y="126365"/>
                  </a:lnTo>
                  <a:lnTo>
                    <a:pt x="856538" y="126365"/>
                  </a:lnTo>
                  <a:lnTo>
                    <a:pt x="851662" y="131191"/>
                  </a:lnTo>
                  <a:lnTo>
                    <a:pt x="891806" y="171323"/>
                  </a:lnTo>
                  <a:lnTo>
                    <a:pt x="870724" y="171323"/>
                  </a:lnTo>
                  <a:lnTo>
                    <a:pt x="870686" y="171577"/>
                  </a:lnTo>
                  <a:lnTo>
                    <a:pt x="892060" y="171577"/>
                  </a:lnTo>
                  <a:lnTo>
                    <a:pt x="896518" y="176022"/>
                  </a:lnTo>
                  <a:lnTo>
                    <a:pt x="901979" y="170561"/>
                  </a:lnTo>
                  <a:lnTo>
                    <a:pt x="886231" y="154686"/>
                  </a:lnTo>
                  <a:lnTo>
                    <a:pt x="888390" y="154940"/>
                  </a:lnTo>
                  <a:lnTo>
                    <a:pt x="890181" y="154940"/>
                  </a:lnTo>
                  <a:lnTo>
                    <a:pt x="890905" y="154686"/>
                  </a:lnTo>
                  <a:lnTo>
                    <a:pt x="892708" y="154051"/>
                  </a:lnTo>
                  <a:lnTo>
                    <a:pt x="894994" y="153416"/>
                  </a:lnTo>
                  <a:lnTo>
                    <a:pt x="897026" y="152146"/>
                  </a:lnTo>
                  <a:lnTo>
                    <a:pt x="899553" y="149606"/>
                  </a:lnTo>
                  <a:lnTo>
                    <a:pt x="901344" y="147828"/>
                  </a:lnTo>
                  <a:lnTo>
                    <a:pt x="902995" y="144780"/>
                  </a:lnTo>
                  <a:lnTo>
                    <a:pt x="903884" y="141097"/>
                  </a:lnTo>
                  <a:lnTo>
                    <a:pt x="904646" y="137414"/>
                  </a:lnTo>
                  <a:close/>
                </a:path>
                <a:path w="9090025" h="247014">
                  <a:moveTo>
                    <a:pt x="920902" y="99822"/>
                  </a:moveTo>
                  <a:lnTo>
                    <a:pt x="915441" y="94361"/>
                  </a:lnTo>
                  <a:lnTo>
                    <a:pt x="898550" y="111252"/>
                  </a:lnTo>
                  <a:lnTo>
                    <a:pt x="904138" y="116713"/>
                  </a:lnTo>
                  <a:lnTo>
                    <a:pt x="920902" y="99822"/>
                  </a:lnTo>
                  <a:close/>
                </a:path>
                <a:path w="9090025" h="247014">
                  <a:moveTo>
                    <a:pt x="959256" y="88392"/>
                  </a:moveTo>
                  <a:lnTo>
                    <a:pt x="929919" y="59055"/>
                  </a:lnTo>
                  <a:lnTo>
                    <a:pt x="914298" y="43434"/>
                  </a:lnTo>
                  <a:lnTo>
                    <a:pt x="910869" y="46990"/>
                  </a:lnTo>
                  <a:lnTo>
                    <a:pt x="911758" y="49911"/>
                  </a:lnTo>
                  <a:lnTo>
                    <a:pt x="911999" y="52197"/>
                  </a:lnTo>
                  <a:lnTo>
                    <a:pt x="911910" y="57277"/>
                  </a:lnTo>
                  <a:lnTo>
                    <a:pt x="911809" y="59055"/>
                  </a:lnTo>
                  <a:lnTo>
                    <a:pt x="911720" y="60579"/>
                  </a:lnTo>
                  <a:lnTo>
                    <a:pt x="911631" y="62230"/>
                  </a:lnTo>
                  <a:lnTo>
                    <a:pt x="910742" y="66675"/>
                  </a:lnTo>
                  <a:lnTo>
                    <a:pt x="909040" y="71247"/>
                  </a:lnTo>
                  <a:lnTo>
                    <a:pt x="909205" y="71247"/>
                  </a:lnTo>
                  <a:lnTo>
                    <a:pt x="914425" y="76454"/>
                  </a:lnTo>
                  <a:lnTo>
                    <a:pt x="915441" y="74168"/>
                  </a:lnTo>
                  <a:lnTo>
                    <a:pt x="916457" y="71247"/>
                  </a:lnTo>
                  <a:lnTo>
                    <a:pt x="917346" y="67818"/>
                  </a:lnTo>
                  <a:lnTo>
                    <a:pt x="918197" y="64643"/>
                  </a:lnTo>
                  <a:lnTo>
                    <a:pt x="918743" y="61468"/>
                  </a:lnTo>
                  <a:lnTo>
                    <a:pt x="918743" y="59055"/>
                  </a:lnTo>
                  <a:lnTo>
                    <a:pt x="918870" y="59055"/>
                  </a:lnTo>
                  <a:lnTo>
                    <a:pt x="953795" y="93853"/>
                  </a:lnTo>
                  <a:lnTo>
                    <a:pt x="959256" y="88392"/>
                  </a:lnTo>
                  <a:close/>
                </a:path>
                <a:path w="9090025" h="247014">
                  <a:moveTo>
                    <a:pt x="996327" y="46507"/>
                  </a:moveTo>
                  <a:lnTo>
                    <a:pt x="996111" y="43434"/>
                  </a:lnTo>
                  <a:lnTo>
                    <a:pt x="996086" y="42926"/>
                  </a:lnTo>
                  <a:lnTo>
                    <a:pt x="994765" y="38862"/>
                  </a:lnTo>
                  <a:lnTo>
                    <a:pt x="993749" y="35941"/>
                  </a:lnTo>
                  <a:lnTo>
                    <a:pt x="993673" y="35687"/>
                  </a:lnTo>
                  <a:lnTo>
                    <a:pt x="991768" y="32512"/>
                  </a:lnTo>
                  <a:lnTo>
                    <a:pt x="990104" y="30861"/>
                  </a:lnTo>
                  <a:lnTo>
                    <a:pt x="988974" y="29730"/>
                  </a:lnTo>
                  <a:lnTo>
                    <a:pt x="988974" y="49276"/>
                  </a:lnTo>
                  <a:lnTo>
                    <a:pt x="977290" y="58293"/>
                  </a:lnTo>
                  <a:lnTo>
                    <a:pt x="975182" y="58293"/>
                  </a:lnTo>
                  <a:lnTo>
                    <a:pt x="972642" y="57277"/>
                  </a:lnTo>
                  <a:lnTo>
                    <a:pt x="969797" y="56261"/>
                  </a:lnTo>
                  <a:lnTo>
                    <a:pt x="961288" y="39878"/>
                  </a:lnTo>
                  <a:lnTo>
                    <a:pt x="962431" y="36830"/>
                  </a:lnTo>
                  <a:lnTo>
                    <a:pt x="964971" y="34417"/>
                  </a:lnTo>
                  <a:lnTo>
                    <a:pt x="967511" y="31877"/>
                  </a:lnTo>
                  <a:lnTo>
                    <a:pt x="970102" y="30861"/>
                  </a:lnTo>
                  <a:lnTo>
                    <a:pt x="973861" y="30861"/>
                  </a:lnTo>
                  <a:lnTo>
                    <a:pt x="977290" y="30988"/>
                  </a:lnTo>
                  <a:lnTo>
                    <a:pt x="980592" y="32512"/>
                  </a:lnTo>
                  <a:lnTo>
                    <a:pt x="983640" y="35687"/>
                  </a:lnTo>
                  <a:lnTo>
                    <a:pt x="986815" y="38862"/>
                  </a:lnTo>
                  <a:lnTo>
                    <a:pt x="988593" y="42291"/>
                  </a:lnTo>
                  <a:lnTo>
                    <a:pt x="988695" y="45212"/>
                  </a:lnTo>
                  <a:lnTo>
                    <a:pt x="988796" y="46990"/>
                  </a:lnTo>
                  <a:lnTo>
                    <a:pt x="988974" y="49276"/>
                  </a:lnTo>
                  <a:lnTo>
                    <a:pt x="988974" y="29730"/>
                  </a:lnTo>
                  <a:lnTo>
                    <a:pt x="984656" y="25400"/>
                  </a:lnTo>
                  <a:lnTo>
                    <a:pt x="979830" y="23241"/>
                  </a:lnTo>
                  <a:lnTo>
                    <a:pt x="968654" y="23241"/>
                  </a:lnTo>
                  <a:lnTo>
                    <a:pt x="956716" y="35941"/>
                  </a:lnTo>
                  <a:lnTo>
                    <a:pt x="955700" y="38735"/>
                  </a:lnTo>
                  <a:lnTo>
                    <a:pt x="955649" y="42291"/>
                  </a:lnTo>
                  <a:lnTo>
                    <a:pt x="956335" y="45212"/>
                  </a:lnTo>
                  <a:lnTo>
                    <a:pt x="951890" y="40767"/>
                  </a:lnTo>
                  <a:lnTo>
                    <a:pt x="945667" y="26670"/>
                  </a:lnTo>
                  <a:lnTo>
                    <a:pt x="946048" y="23749"/>
                  </a:lnTo>
                  <a:lnTo>
                    <a:pt x="946429" y="21463"/>
                  </a:lnTo>
                  <a:lnTo>
                    <a:pt x="947445" y="19431"/>
                  </a:lnTo>
                  <a:lnTo>
                    <a:pt x="951382" y="15494"/>
                  </a:lnTo>
                  <a:lnTo>
                    <a:pt x="953706" y="14605"/>
                  </a:lnTo>
                  <a:lnTo>
                    <a:pt x="958875" y="14605"/>
                  </a:lnTo>
                  <a:lnTo>
                    <a:pt x="961161" y="15494"/>
                  </a:lnTo>
                  <a:lnTo>
                    <a:pt x="963828" y="17145"/>
                  </a:lnTo>
                  <a:lnTo>
                    <a:pt x="965987" y="14605"/>
                  </a:lnTo>
                  <a:lnTo>
                    <a:pt x="968908" y="11176"/>
                  </a:lnTo>
                  <a:lnTo>
                    <a:pt x="964971" y="8255"/>
                  </a:lnTo>
                  <a:lnTo>
                    <a:pt x="960907" y="6858"/>
                  </a:lnTo>
                  <a:lnTo>
                    <a:pt x="952398" y="7366"/>
                  </a:lnTo>
                  <a:lnTo>
                    <a:pt x="948588" y="9271"/>
                  </a:lnTo>
                  <a:lnTo>
                    <a:pt x="940333" y="17526"/>
                  </a:lnTo>
                  <a:lnTo>
                    <a:pt x="938860" y="21463"/>
                  </a:lnTo>
                  <a:lnTo>
                    <a:pt x="938326" y="23241"/>
                  </a:lnTo>
                  <a:lnTo>
                    <a:pt x="938936" y="29210"/>
                  </a:lnTo>
                  <a:lnTo>
                    <a:pt x="940155" y="34417"/>
                  </a:lnTo>
                  <a:lnTo>
                    <a:pt x="940219" y="34696"/>
                  </a:lnTo>
                  <a:lnTo>
                    <a:pt x="967638" y="64643"/>
                  </a:lnTo>
                  <a:lnTo>
                    <a:pt x="980211" y="65659"/>
                  </a:lnTo>
                  <a:lnTo>
                    <a:pt x="985672" y="63627"/>
                  </a:lnTo>
                  <a:lnTo>
                    <a:pt x="990244" y="59055"/>
                  </a:lnTo>
                  <a:lnTo>
                    <a:pt x="990968" y="58293"/>
                  </a:lnTo>
                  <a:lnTo>
                    <a:pt x="992911" y="56261"/>
                  </a:lnTo>
                  <a:lnTo>
                    <a:pt x="994689" y="53213"/>
                  </a:lnTo>
                  <a:lnTo>
                    <a:pt x="995413" y="50038"/>
                  </a:lnTo>
                  <a:lnTo>
                    <a:pt x="996327" y="46507"/>
                  </a:lnTo>
                  <a:close/>
                </a:path>
                <a:path w="9090025" h="247014">
                  <a:moveTo>
                    <a:pt x="1040917" y="204089"/>
                  </a:moveTo>
                  <a:lnTo>
                    <a:pt x="1036980" y="200152"/>
                  </a:lnTo>
                  <a:lnTo>
                    <a:pt x="996213" y="159385"/>
                  </a:lnTo>
                  <a:lnTo>
                    <a:pt x="990498" y="165100"/>
                  </a:lnTo>
                  <a:lnTo>
                    <a:pt x="1025677" y="200152"/>
                  </a:lnTo>
                  <a:lnTo>
                    <a:pt x="1017295" y="198501"/>
                  </a:lnTo>
                  <a:lnTo>
                    <a:pt x="967003" y="188595"/>
                  </a:lnTo>
                  <a:lnTo>
                    <a:pt x="961034" y="194691"/>
                  </a:lnTo>
                  <a:lnTo>
                    <a:pt x="1005738" y="239395"/>
                  </a:lnTo>
                  <a:lnTo>
                    <a:pt x="1011453" y="233680"/>
                  </a:lnTo>
                  <a:lnTo>
                    <a:pt x="976274" y="198501"/>
                  </a:lnTo>
                  <a:lnTo>
                    <a:pt x="1034948" y="210185"/>
                  </a:lnTo>
                  <a:lnTo>
                    <a:pt x="1040917" y="204089"/>
                  </a:lnTo>
                  <a:close/>
                </a:path>
                <a:path w="9090025" h="247014">
                  <a:moveTo>
                    <a:pt x="1071143" y="165100"/>
                  </a:moveTo>
                  <a:lnTo>
                    <a:pt x="1070000" y="161544"/>
                  </a:lnTo>
                  <a:lnTo>
                    <a:pt x="1068857" y="157861"/>
                  </a:lnTo>
                  <a:lnTo>
                    <a:pt x="1066190" y="153924"/>
                  </a:lnTo>
                  <a:lnTo>
                    <a:pt x="1063650" y="151409"/>
                  </a:lnTo>
                  <a:lnTo>
                    <a:pt x="1063650" y="171831"/>
                  </a:lnTo>
                  <a:lnTo>
                    <a:pt x="1062380" y="175133"/>
                  </a:lnTo>
                  <a:lnTo>
                    <a:pt x="1056919" y="180594"/>
                  </a:lnTo>
                  <a:lnTo>
                    <a:pt x="1053617" y="181864"/>
                  </a:lnTo>
                  <a:lnTo>
                    <a:pt x="1045870" y="181356"/>
                  </a:lnTo>
                  <a:lnTo>
                    <a:pt x="1031100" y="162306"/>
                  </a:lnTo>
                  <a:lnTo>
                    <a:pt x="1031049" y="161544"/>
                  </a:lnTo>
                  <a:lnTo>
                    <a:pt x="1030935" y="159893"/>
                  </a:lnTo>
                  <a:lnTo>
                    <a:pt x="1030884" y="159004"/>
                  </a:lnTo>
                  <a:lnTo>
                    <a:pt x="1032154" y="155702"/>
                  </a:lnTo>
                  <a:lnTo>
                    <a:pt x="1034948" y="153035"/>
                  </a:lnTo>
                  <a:lnTo>
                    <a:pt x="1037615" y="150368"/>
                  </a:lnTo>
                  <a:lnTo>
                    <a:pt x="1040917" y="149098"/>
                  </a:lnTo>
                  <a:lnTo>
                    <a:pt x="1050594" y="149733"/>
                  </a:lnTo>
                  <a:lnTo>
                    <a:pt x="1048905" y="149733"/>
                  </a:lnTo>
                  <a:lnTo>
                    <a:pt x="1052601" y="151638"/>
                  </a:lnTo>
                  <a:lnTo>
                    <a:pt x="1060856" y="159893"/>
                  </a:lnTo>
                  <a:lnTo>
                    <a:pt x="1063142" y="163957"/>
                  </a:lnTo>
                  <a:lnTo>
                    <a:pt x="1063574" y="170815"/>
                  </a:lnTo>
                  <a:lnTo>
                    <a:pt x="1063650" y="171831"/>
                  </a:lnTo>
                  <a:lnTo>
                    <a:pt x="1063650" y="151409"/>
                  </a:lnTo>
                  <a:lnTo>
                    <a:pt x="1061339" y="149098"/>
                  </a:lnTo>
                  <a:lnTo>
                    <a:pt x="1056792" y="144653"/>
                  </a:lnTo>
                  <a:lnTo>
                    <a:pt x="1051458" y="141986"/>
                  </a:lnTo>
                  <a:lnTo>
                    <a:pt x="1039596" y="141986"/>
                  </a:lnTo>
                  <a:lnTo>
                    <a:pt x="1034821" y="144018"/>
                  </a:lnTo>
                  <a:lnTo>
                    <a:pt x="1026312" y="152527"/>
                  </a:lnTo>
                  <a:lnTo>
                    <a:pt x="1024153" y="157099"/>
                  </a:lnTo>
                  <a:lnTo>
                    <a:pt x="1023632" y="163957"/>
                  </a:lnTo>
                  <a:lnTo>
                    <a:pt x="1023404" y="166751"/>
                  </a:lnTo>
                  <a:lnTo>
                    <a:pt x="1054506" y="189103"/>
                  </a:lnTo>
                  <a:lnTo>
                    <a:pt x="1059713" y="186817"/>
                  </a:lnTo>
                  <a:lnTo>
                    <a:pt x="1064285" y="182372"/>
                  </a:lnTo>
                  <a:lnTo>
                    <a:pt x="1064768" y="181864"/>
                  </a:lnTo>
                  <a:lnTo>
                    <a:pt x="1067079" y="179451"/>
                  </a:lnTo>
                  <a:lnTo>
                    <a:pt x="1068984" y="176276"/>
                  </a:lnTo>
                  <a:lnTo>
                    <a:pt x="1070127" y="172466"/>
                  </a:lnTo>
                  <a:lnTo>
                    <a:pt x="1071143" y="168783"/>
                  </a:lnTo>
                  <a:lnTo>
                    <a:pt x="1071143" y="165100"/>
                  </a:lnTo>
                  <a:close/>
                </a:path>
                <a:path w="9090025" h="247014">
                  <a:moveTo>
                    <a:pt x="1099972" y="145034"/>
                  </a:moveTo>
                  <a:lnTo>
                    <a:pt x="1098257" y="141224"/>
                  </a:lnTo>
                  <a:lnTo>
                    <a:pt x="1079906" y="100330"/>
                  </a:lnTo>
                  <a:lnTo>
                    <a:pt x="1074191" y="106045"/>
                  </a:lnTo>
                  <a:lnTo>
                    <a:pt x="1086764" y="132969"/>
                  </a:lnTo>
                  <a:lnTo>
                    <a:pt x="1088288" y="136271"/>
                  </a:lnTo>
                  <a:lnTo>
                    <a:pt x="1089685" y="139065"/>
                  </a:lnTo>
                  <a:lnTo>
                    <a:pt x="1090955" y="141224"/>
                  </a:lnTo>
                  <a:lnTo>
                    <a:pt x="1088034" y="139573"/>
                  </a:lnTo>
                  <a:lnTo>
                    <a:pt x="1085240" y="138049"/>
                  </a:lnTo>
                  <a:lnTo>
                    <a:pt x="1082319" y="136779"/>
                  </a:lnTo>
                  <a:lnTo>
                    <a:pt x="1055903" y="124333"/>
                  </a:lnTo>
                  <a:lnTo>
                    <a:pt x="1050188" y="130175"/>
                  </a:lnTo>
                  <a:lnTo>
                    <a:pt x="1094879" y="150253"/>
                  </a:lnTo>
                  <a:lnTo>
                    <a:pt x="1099972" y="145034"/>
                  </a:lnTo>
                  <a:close/>
                </a:path>
                <a:path w="9090025" h="247014">
                  <a:moveTo>
                    <a:pt x="1118514" y="99822"/>
                  </a:moveTo>
                  <a:lnTo>
                    <a:pt x="1112926" y="94234"/>
                  </a:lnTo>
                  <a:lnTo>
                    <a:pt x="1096035" y="111125"/>
                  </a:lnTo>
                  <a:lnTo>
                    <a:pt x="1101623" y="116713"/>
                  </a:lnTo>
                  <a:lnTo>
                    <a:pt x="1118514" y="99822"/>
                  </a:lnTo>
                  <a:close/>
                </a:path>
                <a:path w="9090025" h="247014">
                  <a:moveTo>
                    <a:pt x="1156741" y="88265"/>
                  </a:moveTo>
                  <a:lnTo>
                    <a:pt x="1127277" y="58801"/>
                  </a:lnTo>
                  <a:lnTo>
                    <a:pt x="1111910" y="43434"/>
                  </a:lnTo>
                  <a:lnTo>
                    <a:pt x="1108354" y="46863"/>
                  </a:lnTo>
                  <a:lnTo>
                    <a:pt x="1109243" y="49784"/>
                  </a:lnTo>
                  <a:lnTo>
                    <a:pt x="1109484" y="52197"/>
                  </a:lnTo>
                  <a:lnTo>
                    <a:pt x="1109459" y="56261"/>
                  </a:lnTo>
                  <a:lnTo>
                    <a:pt x="1109357" y="58166"/>
                  </a:lnTo>
                  <a:lnTo>
                    <a:pt x="1109243" y="62103"/>
                  </a:lnTo>
                  <a:lnTo>
                    <a:pt x="1108227" y="66548"/>
                  </a:lnTo>
                  <a:lnTo>
                    <a:pt x="1106525" y="71247"/>
                  </a:lnTo>
                  <a:lnTo>
                    <a:pt x="1106703" y="71247"/>
                  </a:lnTo>
                  <a:lnTo>
                    <a:pt x="1111910" y="76454"/>
                  </a:lnTo>
                  <a:lnTo>
                    <a:pt x="1113053" y="74041"/>
                  </a:lnTo>
                  <a:lnTo>
                    <a:pt x="1113942" y="71247"/>
                  </a:lnTo>
                  <a:lnTo>
                    <a:pt x="1115555" y="65024"/>
                  </a:lnTo>
                  <a:lnTo>
                    <a:pt x="1115644" y="64643"/>
                  </a:lnTo>
                  <a:lnTo>
                    <a:pt x="1115720" y="64389"/>
                  </a:lnTo>
                  <a:lnTo>
                    <a:pt x="1116101" y="62103"/>
                  </a:lnTo>
                  <a:lnTo>
                    <a:pt x="1116228" y="61341"/>
                  </a:lnTo>
                  <a:lnTo>
                    <a:pt x="1116266" y="60452"/>
                  </a:lnTo>
                  <a:lnTo>
                    <a:pt x="1116355" y="58801"/>
                  </a:lnTo>
                  <a:lnTo>
                    <a:pt x="1151280" y="93853"/>
                  </a:lnTo>
                  <a:lnTo>
                    <a:pt x="1156741" y="88265"/>
                  </a:lnTo>
                  <a:close/>
                </a:path>
                <a:path w="9090025" h="247014">
                  <a:moveTo>
                    <a:pt x="1193698" y="42926"/>
                  </a:moveTo>
                  <a:lnTo>
                    <a:pt x="1192428" y="39243"/>
                  </a:lnTo>
                  <a:lnTo>
                    <a:pt x="1191323" y="35814"/>
                  </a:lnTo>
                  <a:lnTo>
                    <a:pt x="1191234" y="35560"/>
                  </a:lnTo>
                  <a:lnTo>
                    <a:pt x="1190586" y="34569"/>
                  </a:lnTo>
                  <a:lnTo>
                    <a:pt x="1189329" y="32512"/>
                  </a:lnTo>
                  <a:lnTo>
                    <a:pt x="1189253" y="32385"/>
                  </a:lnTo>
                  <a:lnTo>
                    <a:pt x="1187335" y="30480"/>
                  </a:lnTo>
                  <a:lnTo>
                    <a:pt x="1186459" y="29591"/>
                  </a:lnTo>
                  <a:lnTo>
                    <a:pt x="1186459" y="49276"/>
                  </a:lnTo>
                  <a:lnTo>
                    <a:pt x="1185443" y="52197"/>
                  </a:lnTo>
                  <a:lnTo>
                    <a:pt x="1182890" y="54737"/>
                  </a:lnTo>
                  <a:lnTo>
                    <a:pt x="1181265" y="56261"/>
                  </a:lnTo>
                  <a:lnTo>
                    <a:pt x="1179601" y="57150"/>
                  </a:lnTo>
                  <a:lnTo>
                    <a:pt x="1174902" y="58166"/>
                  </a:lnTo>
                  <a:lnTo>
                    <a:pt x="1172718" y="58166"/>
                  </a:lnTo>
                  <a:lnTo>
                    <a:pt x="1169822" y="57150"/>
                  </a:lnTo>
                  <a:lnTo>
                    <a:pt x="1167587" y="56261"/>
                  </a:lnTo>
                  <a:lnTo>
                    <a:pt x="1165123" y="54737"/>
                  </a:lnTo>
                  <a:lnTo>
                    <a:pt x="1163218" y="52832"/>
                  </a:lnTo>
                  <a:lnTo>
                    <a:pt x="1160297" y="50038"/>
                  </a:lnTo>
                  <a:lnTo>
                    <a:pt x="1158951" y="46863"/>
                  </a:lnTo>
                  <a:lnTo>
                    <a:pt x="1158862" y="45085"/>
                  </a:lnTo>
                  <a:lnTo>
                    <a:pt x="1158773" y="39751"/>
                  </a:lnTo>
                  <a:lnTo>
                    <a:pt x="1160043" y="36703"/>
                  </a:lnTo>
                  <a:lnTo>
                    <a:pt x="1164996" y="31750"/>
                  </a:lnTo>
                  <a:lnTo>
                    <a:pt x="1167257" y="30861"/>
                  </a:lnTo>
                  <a:lnTo>
                    <a:pt x="1174775" y="30861"/>
                  </a:lnTo>
                  <a:lnTo>
                    <a:pt x="1178077" y="32512"/>
                  </a:lnTo>
                  <a:lnTo>
                    <a:pt x="1181125" y="35560"/>
                  </a:lnTo>
                  <a:lnTo>
                    <a:pt x="1184427" y="38735"/>
                  </a:lnTo>
                  <a:lnTo>
                    <a:pt x="1186459" y="49276"/>
                  </a:lnTo>
                  <a:lnTo>
                    <a:pt x="1186459" y="29591"/>
                  </a:lnTo>
                  <a:lnTo>
                    <a:pt x="1182141" y="25400"/>
                  </a:lnTo>
                  <a:lnTo>
                    <a:pt x="1177442" y="23114"/>
                  </a:lnTo>
                  <a:lnTo>
                    <a:pt x="1168234" y="22910"/>
                  </a:lnTo>
                  <a:lnTo>
                    <a:pt x="1168234" y="30480"/>
                  </a:lnTo>
                  <a:lnTo>
                    <a:pt x="1167904" y="30607"/>
                  </a:lnTo>
                  <a:lnTo>
                    <a:pt x="1164475" y="30480"/>
                  </a:lnTo>
                  <a:lnTo>
                    <a:pt x="1168234" y="30480"/>
                  </a:lnTo>
                  <a:lnTo>
                    <a:pt x="1168234" y="22910"/>
                  </a:lnTo>
                  <a:lnTo>
                    <a:pt x="1166888" y="22872"/>
                  </a:lnTo>
                  <a:lnTo>
                    <a:pt x="1166241" y="23114"/>
                  </a:lnTo>
                  <a:lnTo>
                    <a:pt x="1162329" y="24638"/>
                  </a:lnTo>
                  <a:lnTo>
                    <a:pt x="1158773" y="28321"/>
                  </a:lnTo>
                  <a:lnTo>
                    <a:pt x="1156614" y="30480"/>
                  </a:lnTo>
                  <a:lnTo>
                    <a:pt x="1155090" y="32893"/>
                  </a:lnTo>
                  <a:lnTo>
                    <a:pt x="1154277" y="35560"/>
                  </a:lnTo>
                  <a:lnTo>
                    <a:pt x="1153185" y="38735"/>
                  </a:lnTo>
                  <a:lnTo>
                    <a:pt x="1153134" y="42164"/>
                  </a:lnTo>
                  <a:lnTo>
                    <a:pt x="1153820" y="45085"/>
                  </a:lnTo>
                  <a:lnTo>
                    <a:pt x="1149375" y="40640"/>
                  </a:lnTo>
                  <a:lnTo>
                    <a:pt x="1146454" y="36703"/>
                  </a:lnTo>
                  <a:lnTo>
                    <a:pt x="1145057" y="33274"/>
                  </a:lnTo>
                  <a:lnTo>
                    <a:pt x="1143533" y="29845"/>
                  </a:lnTo>
                  <a:lnTo>
                    <a:pt x="1143152" y="26670"/>
                  </a:lnTo>
                  <a:lnTo>
                    <a:pt x="1143533" y="23622"/>
                  </a:lnTo>
                  <a:lnTo>
                    <a:pt x="1143914" y="21336"/>
                  </a:lnTo>
                  <a:lnTo>
                    <a:pt x="1144930" y="19304"/>
                  </a:lnTo>
                  <a:lnTo>
                    <a:pt x="1148867" y="15367"/>
                  </a:lnTo>
                  <a:lnTo>
                    <a:pt x="1151191" y="14478"/>
                  </a:lnTo>
                  <a:lnTo>
                    <a:pt x="1156487" y="14478"/>
                  </a:lnTo>
                  <a:lnTo>
                    <a:pt x="1158646" y="15367"/>
                  </a:lnTo>
                  <a:lnTo>
                    <a:pt x="1161313" y="17018"/>
                  </a:lnTo>
                  <a:lnTo>
                    <a:pt x="1163510" y="14478"/>
                  </a:lnTo>
                  <a:lnTo>
                    <a:pt x="1166393" y="11176"/>
                  </a:lnTo>
                  <a:lnTo>
                    <a:pt x="1162456" y="8128"/>
                  </a:lnTo>
                  <a:lnTo>
                    <a:pt x="1158392" y="6731"/>
                  </a:lnTo>
                  <a:lnTo>
                    <a:pt x="1149883" y="7239"/>
                  </a:lnTo>
                  <a:lnTo>
                    <a:pt x="1146073" y="9144"/>
                  </a:lnTo>
                  <a:lnTo>
                    <a:pt x="1137818" y="17399"/>
                  </a:lnTo>
                  <a:lnTo>
                    <a:pt x="1135786" y="22860"/>
                  </a:lnTo>
                  <a:lnTo>
                    <a:pt x="1136332" y="28321"/>
                  </a:lnTo>
                  <a:lnTo>
                    <a:pt x="1158265" y="60452"/>
                  </a:lnTo>
                  <a:lnTo>
                    <a:pt x="1171473" y="65024"/>
                  </a:lnTo>
                  <a:lnTo>
                    <a:pt x="1177696" y="65532"/>
                  </a:lnTo>
                  <a:lnTo>
                    <a:pt x="1183157" y="63500"/>
                  </a:lnTo>
                  <a:lnTo>
                    <a:pt x="1188491" y="58166"/>
                  </a:lnTo>
                  <a:lnTo>
                    <a:pt x="1190396" y="56261"/>
                  </a:lnTo>
                  <a:lnTo>
                    <a:pt x="1192174" y="53213"/>
                  </a:lnTo>
                  <a:lnTo>
                    <a:pt x="1192872" y="50038"/>
                  </a:lnTo>
                  <a:lnTo>
                    <a:pt x="1193685" y="46863"/>
                  </a:lnTo>
                  <a:lnTo>
                    <a:pt x="1193698" y="42926"/>
                  </a:lnTo>
                  <a:close/>
                </a:path>
                <a:path w="9090025" h="247014">
                  <a:moveTo>
                    <a:pt x="1229512" y="209042"/>
                  </a:moveTo>
                  <a:lnTo>
                    <a:pt x="1229423" y="207137"/>
                  </a:lnTo>
                  <a:lnTo>
                    <a:pt x="1229385" y="206121"/>
                  </a:lnTo>
                  <a:lnTo>
                    <a:pt x="1228242" y="203073"/>
                  </a:lnTo>
                  <a:lnTo>
                    <a:pt x="1227099" y="200152"/>
                  </a:lnTo>
                  <a:lnTo>
                    <a:pt x="1224686" y="196850"/>
                  </a:lnTo>
                  <a:lnTo>
                    <a:pt x="1221003" y="193040"/>
                  </a:lnTo>
                  <a:lnTo>
                    <a:pt x="1190396" y="162560"/>
                  </a:lnTo>
                  <a:lnTo>
                    <a:pt x="1184554" y="168529"/>
                  </a:lnTo>
                  <a:lnTo>
                    <a:pt x="1217955" y="201930"/>
                  </a:lnTo>
                  <a:lnTo>
                    <a:pt x="1219606" y="203962"/>
                  </a:lnTo>
                  <a:lnTo>
                    <a:pt x="1220368" y="205486"/>
                  </a:lnTo>
                  <a:lnTo>
                    <a:pt x="1221130" y="207137"/>
                  </a:lnTo>
                  <a:lnTo>
                    <a:pt x="1221193" y="209042"/>
                  </a:lnTo>
                  <a:lnTo>
                    <a:pt x="1220546" y="212090"/>
                  </a:lnTo>
                  <a:lnTo>
                    <a:pt x="1220495" y="212344"/>
                  </a:lnTo>
                  <a:lnTo>
                    <a:pt x="1219606" y="213868"/>
                  </a:lnTo>
                  <a:lnTo>
                    <a:pt x="1216050" y="217424"/>
                  </a:lnTo>
                  <a:lnTo>
                    <a:pt x="1213891" y="218313"/>
                  </a:lnTo>
                  <a:lnTo>
                    <a:pt x="1211478" y="218313"/>
                  </a:lnTo>
                  <a:lnTo>
                    <a:pt x="1209065" y="218186"/>
                  </a:lnTo>
                  <a:lnTo>
                    <a:pt x="1206017" y="216408"/>
                  </a:lnTo>
                  <a:lnTo>
                    <a:pt x="1202461" y="213106"/>
                  </a:lnTo>
                  <a:lnTo>
                    <a:pt x="1197889" y="219202"/>
                  </a:lnTo>
                  <a:lnTo>
                    <a:pt x="1202334" y="223774"/>
                  </a:lnTo>
                  <a:lnTo>
                    <a:pt x="1206652" y="226060"/>
                  </a:lnTo>
                  <a:lnTo>
                    <a:pt x="1213116" y="226441"/>
                  </a:lnTo>
                  <a:lnTo>
                    <a:pt x="1215288" y="226441"/>
                  </a:lnTo>
                  <a:lnTo>
                    <a:pt x="1219479" y="224536"/>
                  </a:lnTo>
                  <a:lnTo>
                    <a:pt x="1223416" y="220726"/>
                  </a:lnTo>
                  <a:lnTo>
                    <a:pt x="1225829" y="218313"/>
                  </a:lnTo>
                  <a:lnTo>
                    <a:pt x="1225956" y="218186"/>
                  </a:lnTo>
                  <a:lnTo>
                    <a:pt x="1226464" y="217424"/>
                  </a:lnTo>
                  <a:lnTo>
                    <a:pt x="1227861" y="215138"/>
                  </a:lnTo>
                  <a:lnTo>
                    <a:pt x="1228559" y="212344"/>
                  </a:lnTo>
                  <a:lnTo>
                    <a:pt x="1229512" y="209042"/>
                  </a:lnTo>
                  <a:close/>
                </a:path>
                <a:path w="9090025" h="247014">
                  <a:moveTo>
                    <a:pt x="1272184" y="170307"/>
                  </a:moveTo>
                  <a:lnTo>
                    <a:pt x="1256804" y="158496"/>
                  </a:lnTo>
                  <a:lnTo>
                    <a:pt x="1250480" y="152273"/>
                  </a:lnTo>
                  <a:lnTo>
                    <a:pt x="1249451" y="151257"/>
                  </a:lnTo>
                  <a:lnTo>
                    <a:pt x="1247038" y="148717"/>
                  </a:lnTo>
                  <a:lnTo>
                    <a:pt x="1245260" y="147193"/>
                  </a:lnTo>
                  <a:lnTo>
                    <a:pt x="1244104" y="146431"/>
                  </a:lnTo>
                  <a:lnTo>
                    <a:pt x="1242339" y="145288"/>
                  </a:lnTo>
                  <a:lnTo>
                    <a:pt x="1240853" y="144653"/>
                  </a:lnTo>
                  <a:lnTo>
                    <a:pt x="1242326" y="144653"/>
                  </a:lnTo>
                  <a:lnTo>
                    <a:pt x="1261516" y="144653"/>
                  </a:lnTo>
                  <a:lnTo>
                    <a:pt x="1261249" y="144399"/>
                  </a:lnTo>
                  <a:lnTo>
                    <a:pt x="1240256" y="144399"/>
                  </a:lnTo>
                  <a:lnTo>
                    <a:pt x="1240548" y="144526"/>
                  </a:lnTo>
                  <a:lnTo>
                    <a:pt x="1238783" y="144399"/>
                  </a:lnTo>
                  <a:lnTo>
                    <a:pt x="1236878" y="144145"/>
                  </a:lnTo>
                  <a:lnTo>
                    <a:pt x="1234846" y="144653"/>
                  </a:lnTo>
                  <a:lnTo>
                    <a:pt x="1232433" y="145796"/>
                  </a:lnTo>
                  <a:lnTo>
                    <a:pt x="1230020" y="146812"/>
                  </a:lnTo>
                  <a:lnTo>
                    <a:pt x="1216685" y="165608"/>
                  </a:lnTo>
                  <a:lnTo>
                    <a:pt x="1216799" y="166751"/>
                  </a:lnTo>
                  <a:lnTo>
                    <a:pt x="1216914" y="167894"/>
                  </a:lnTo>
                  <a:lnTo>
                    <a:pt x="1217028" y="169037"/>
                  </a:lnTo>
                  <a:lnTo>
                    <a:pt x="1217104" y="169799"/>
                  </a:lnTo>
                  <a:lnTo>
                    <a:pt x="1217193" y="170688"/>
                  </a:lnTo>
                  <a:lnTo>
                    <a:pt x="1218336" y="173355"/>
                  </a:lnTo>
                  <a:lnTo>
                    <a:pt x="1220114" y="176149"/>
                  </a:lnTo>
                  <a:lnTo>
                    <a:pt x="1226210" y="171450"/>
                  </a:lnTo>
                  <a:lnTo>
                    <a:pt x="1224432" y="168529"/>
                  </a:lnTo>
                  <a:lnTo>
                    <a:pt x="1223797" y="166116"/>
                  </a:lnTo>
                  <a:lnTo>
                    <a:pt x="1224127" y="164211"/>
                  </a:lnTo>
                  <a:lnTo>
                    <a:pt x="1224216" y="163576"/>
                  </a:lnTo>
                  <a:lnTo>
                    <a:pt x="1224330" y="162560"/>
                  </a:lnTo>
                  <a:lnTo>
                    <a:pt x="1224432" y="161798"/>
                  </a:lnTo>
                  <a:lnTo>
                    <a:pt x="1238529" y="152273"/>
                  </a:lnTo>
                  <a:lnTo>
                    <a:pt x="1240688" y="153416"/>
                  </a:lnTo>
                  <a:lnTo>
                    <a:pt x="1243609" y="156337"/>
                  </a:lnTo>
                  <a:lnTo>
                    <a:pt x="1244244" y="157099"/>
                  </a:lnTo>
                  <a:lnTo>
                    <a:pt x="1242961" y="159893"/>
                  </a:lnTo>
                  <a:lnTo>
                    <a:pt x="1240307" y="163830"/>
                  </a:lnTo>
                  <a:lnTo>
                    <a:pt x="1234465" y="171196"/>
                  </a:lnTo>
                  <a:lnTo>
                    <a:pt x="1233716" y="172212"/>
                  </a:lnTo>
                  <a:lnTo>
                    <a:pt x="1232928" y="173355"/>
                  </a:lnTo>
                  <a:lnTo>
                    <a:pt x="1231290" y="176403"/>
                  </a:lnTo>
                  <a:lnTo>
                    <a:pt x="1230528" y="178308"/>
                  </a:lnTo>
                  <a:lnTo>
                    <a:pt x="1229779" y="182118"/>
                  </a:lnTo>
                  <a:lnTo>
                    <a:pt x="1229893" y="184150"/>
                  </a:lnTo>
                  <a:lnTo>
                    <a:pt x="1230528" y="186182"/>
                  </a:lnTo>
                  <a:lnTo>
                    <a:pt x="1230871" y="187579"/>
                  </a:lnTo>
                  <a:lnTo>
                    <a:pt x="1239672" y="195580"/>
                  </a:lnTo>
                  <a:lnTo>
                    <a:pt x="1246416" y="195580"/>
                  </a:lnTo>
                  <a:lnTo>
                    <a:pt x="1250594" y="193421"/>
                  </a:lnTo>
                  <a:lnTo>
                    <a:pt x="1256182" y="187833"/>
                  </a:lnTo>
                  <a:lnTo>
                    <a:pt x="1257960" y="185293"/>
                  </a:lnTo>
                  <a:lnTo>
                    <a:pt x="1259319" y="182245"/>
                  </a:lnTo>
                  <a:lnTo>
                    <a:pt x="1260246" y="180086"/>
                  </a:lnTo>
                  <a:lnTo>
                    <a:pt x="1260944" y="177165"/>
                  </a:lnTo>
                  <a:lnTo>
                    <a:pt x="1255420" y="177165"/>
                  </a:lnTo>
                  <a:lnTo>
                    <a:pt x="1254683" y="179705"/>
                  </a:lnTo>
                  <a:lnTo>
                    <a:pt x="1254658" y="179832"/>
                  </a:lnTo>
                  <a:lnTo>
                    <a:pt x="1253248" y="182118"/>
                  </a:lnTo>
                  <a:lnTo>
                    <a:pt x="1248930" y="186436"/>
                  </a:lnTo>
                  <a:lnTo>
                    <a:pt x="1246898" y="187579"/>
                  </a:lnTo>
                  <a:lnTo>
                    <a:pt x="1242720" y="187833"/>
                  </a:lnTo>
                  <a:lnTo>
                    <a:pt x="1240929" y="187071"/>
                  </a:lnTo>
                  <a:lnTo>
                    <a:pt x="1239405" y="185674"/>
                  </a:lnTo>
                  <a:lnTo>
                    <a:pt x="1238529" y="184658"/>
                  </a:lnTo>
                  <a:lnTo>
                    <a:pt x="1237894" y="183515"/>
                  </a:lnTo>
                  <a:lnTo>
                    <a:pt x="1237373" y="180975"/>
                  </a:lnTo>
                  <a:lnTo>
                    <a:pt x="1237500" y="179832"/>
                  </a:lnTo>
                  <a:lnTo>
                    <a:pt x="1237513" y="179705"/>
                  </a:lnTo>
                  <a:lnTo>
                    <a:pt x="1238021" y="178308"/>
                  </a:lnTo>
                  <a:lnTo>
                    <a:pt x="1238478" y="177165"/>
                  </a:lnTo>
                  <a:lnTo>
                    <a:pt x="1255420" y="177165"/>
                  </a:lnTo>
                  <a:lnTo>
                    <a:pt x="1255483" y="176911"/>
                  </a:lnTo>
                  <a:lnTo>
                    <a:pt x="1238605" y="176911"/>
                  </a:lnTo>
                  <a:lnTo>
                    <a:pt x="1239786" y="175006"/>
                  </a:lnTo>
                  <a:lnTo>
                    <a:pt x="1245133" y="167894"/>
                  </a:lnTo>
                  <a:lnTo>
                    <a:pt x="1247419" y="164211"/>
                  </a:lnTo>
                  <a:lnTo>
                    <a:pt x="1248562" y="161417"/>
                  </a:lnTo>
                  <a:lnTo>
                    <a:pt x="1253007" y="165862"/>
                  </a:lnTo>
                  <a:lnTo>
                    <a:pt x="1254531" y="167894"/>
                  </a:lnTo>
                  <a:lnTo>
                    <a:pt x="1255166" y="169799"/>
                  </a:lnTo>
                  <a:lnTo>
                    <a:pt x="1256042" y="172212"/>
                  </a:lnTo>
                  <a:lnTo>
                    <a:pt x="1255953" y="175006"/>
                  </a:lnTo>
                  <a:lnTo>
                    <a:pt x="1255674" y="176149"/>
                  </a:lnTo>
                  <a:lnTo>
                    <a:pt x="1255598" y="176403"/>
                  </a:lnTo>
                  <a:lnTo>
                    <a:pt x="1255483" y="176911"/>
                  </a:lnTo>
                  <a:lnTo>
                    <a:pt x="1261008" y="176911"/>
                  </a:lnTo>
                  <a:lnTo>
                    <a:pt x="1261097" y="175514"/>
                  </a:lnTo>
                  <a:lnTo>
                    <a:pt x="1261160" y="174625"/>
                  </a:lnTo>
                  <a:lnTo>
                    <a:pt x="1261249" y="173355"/>
                  </a:lnTo>
                  <a:lnTo>
                    <a:pt x="1261414" y="173355"/>
                  </a:lnTo>
                  <a:lnTo>
                    <a:pt x="1263040" y="174625"/>
                  </a:lnTo>
                  <a:lnTo>
                    <a:pt x="1264691" y="175514"/>
                  </a:lnTo>
                  <a:lnTo>
                    <a:pt x="1266469" y="176149"/>
                  </a:lnTo>
                  <a:lnTo>
                    <a:pt x="1269199" y="173355"/>
                  </a:lnTo>
                  <a:lnTo>
                    <a:pt x="1272184" y="170307"/>
                  </a:lnTo>
                  <a:close/>
                </a:path>
                <a:path w="9090025" h="247014">
                  <a:moveTo>
                    <a:pt x="1285265" y="157353"/>
                  </a:moveTo>
                  <a:lnTo>
                    <a:pt x="1272565" y="144653"/>
                  </a:lnTo>
                  <a:lnTo>
                    <a:pt x="1261516" y="144653"/>
                  </a:lnTo>
                  <a:lnTo>
                    <a:pt x="1279664" y="162814"/>
                  </a:lnTo>
                  <a:lnTo>
                    <a:pt x="1285265" y="157353"/>
                  </a:lnTo>
                  <a:close/>
                </a:path>
                <a:path w="9090025" h="247014">
                  <a:moveTo>
                    <a:pt x="1306093" y="136398"/>
                  </a:moveTo>
                  <a:lnTo>
                    <a:pt x="1286789" y="117221"/>
                  </a:lnTo>
                  <a:lnTo>
                    <a:pt x="1286154" y="116586"/>
                  </a:lnTo>
                  <a:lnTo>
                    <a:pt x="1283614" y="113919"/>
                  </a:lnTo>
                  <a:lnTo>
                    <a:pt x="1281709" y="112268"/>
                  </a:lnTo>
                  <a:lnTo>
                    <a:pt x="1280439" y="111506"/>
                  </a:lnTo>
                  <a:lnTo>
                    <a:pt x="1278661" y="110236"/>
                  </a:lnTo>
                  <a:lnTo>
                    <a:pt x="1276629" y="109474"/>
                  </a:lnTo>
                  <a:lnTo>
                    <a:pt x="1274724" y="109093"/>
                  </a:lnTo>
                  <a:lnTo>
                    <a:pt x="1272819" y="108839"/>
                  </a:lnTo>
                  <a:lnTo>
                    <a:pt x="1270660" y="109093"/>
                  </a:lnTo>
                  <a:lnTo>
                    <a:pt x="1267917" y="110236"/>
                  </a:lnTo>
                  <a:lnTo>
                    <a:pt x="1265948" y="110998"/>
                  </a:lnTo>
                  <a:lnTo>
                    <a:pt x="1263802" y="112395"/>
                  </a:lnTo>
                  <a:lnTo>
                    <a:pt x="1261897" y="114427"/>
                  </a:lnTo>
                  <a:lnTo>
                    <a:pt x="1257325" y="118872"/>
                  </a:lnTo>
                  <a:lnTo>
                    <a:pt x="1255661" y="124079"/>
                  </a:lnTo>
                  <a:lnTo>
                    <a:pt x="1256804" y="130048"/>
                  </a:lnTo>
                  <a:lnTo>
                    <a:pt x="1252245" y="125476"/>
                  </a:lnTo>
                  <a:lnTo>
                    <a:pt x="1247279" y="130429"/>
                  </a:lnTo>
                  <a:lnTo>
                    <a:pt x="1261249" y="144399"/>
                  </a:lnTo>
                  <a:lnTo>
                    <a:pt x="1272298" y="144399"/>
                  </a:lnTo>
                  <a:lnTo>
                    <a:pt x="1263421" y="135509"/>
                  </a:lnTo>
                  <a:lnTo>
                    <a:pt x="1261389" y="131826"/>
                  </a:lnTo>
                  <a:lnTo>
                    <a:pt x="1261491" y="130429"/>
                  </a:lnTo>
                  <a:lnTo>
                    <a:pt x="1261516" y="130048"/>
                  </a:lnTo>
                  <a:lnTo>
                    <a:pt x="1261884" y="125476"/>
                  </a:lnTo>
                  <a:lnTo>
                    <a:pt x="1271460" y="117221"/>
                  </a:lnTo>
                  <a:lnTo>
                    <a:pt x="1273708" y="117221"/>
                  </a:lnTo>
                  <a:lnTo>
                    <a:pt x="1276756" y="118491"/>
                  </a:lnTo>
                  <a:lnTo>
                    <a:pt x="1278661" y="120015"/>
                  </a:lnTo>
                  <a:lnTo>
                    <a:pt x="1300632" y="141986"/>
                  </a:lnTo>
                  <a:lnTo>
                    <a:pt x="1306093" y="136398"/>
                  </a:lnTo>
                  <a:close/>
                </a:path>
                <a:path w="9090025" h="247014">
                  <a:moveTo>
                    <a:pt x="1315491" y="100076"/>
                  </a:moveTo>
                  <a:lnTo>
                    <a:pt x="1310030" y="94615"/>
                  </a:lnTo>
                  <a:lnTo>
                    <a:pt x="1293139" y="111506"/>
                  </a:lnTo>
                  <a:lnTo>
                    <a:pt x="1298600" y="116967"/>
                  </a:lnTo>
                  <a:lnTo>
                    <a:pt x="1315491" y="100076"/>
                  </a:lnTo>
                  <a:close/>
                </a:path>
                <a:path w="9090025" h="247014">
                  <a:moveTo>
                    <a:pt x="1354988" y="87630"/>
                  </a:moveTo>
                  <a:lnTo>
                    <a:pt x="1325397" y="58039"/>
                  </a:lnTo>
                  <a:lnTo>
                    <a:pt x="1310030" y="42672"/>
                  </a:lnTo>
                  <a:lnTo>
                    <a:pt x="1306474" y="46228"/>
                  </a:lnTo>
                  <a:lnTo>
                    <a:pt x="1307490" y="49149"/>
                  </a:lnTo>
                  <a:lnTo>
                    <a:pt x="1307782" y="51943"/>
                  </a:lnTo>
                  <a:lnTo>
                    <a:pt x="1307871" y="52705"/>
                  </a:lnTo>
                  <a:lnTo>
                    <a:pt x="1307630" y="56769"/>
                  </a:lnTo>
                  <a:lnTo>
                    <a:pt x="1307515" y="58674"/>
                  </a:lnTo>
                  <a:lnTo>
                    <a:pt x="1307401" y="60706"/>
                  </a:lnTo>
                  <a:lnTo>
                    <a:pt x="1307363" y="61468"/>
                  </a:lnTo>
                  <a:lnTo>
                    <a:pt x="1306347" y="65913"/>
                  </a:lnTo>
                  <a:lnTo>
                    <a:pt x="1304772" y="70485"/>
                  </a:lnTo>
                  <a:lnTo>
                    <a:pt x="1304937" y="70485"/>
                  </a:lnTo>
                  <a:lnTo>
                    <a:pt x="1310030" y="75692"/>
                  </a:lnTo>
                  <a:lnTo>
                    <a:pt x="1311173" y="73406"/>
                  </a:lnTo>
                  <a:lnTo>
                    <a:pt x="1312189" y="70485"/>
                  </a:lnTo>
                  <a:lnTo>
                    <a:pt x="1313967" y="63627"/>
                  </a:lnTo>
                  <a:lnTo>
                    <a:pt x="1314246" y="61468"/>
                  </a:lnTo>
                  <a:lnTo>
                    <a:pt x="1314348" y="60706"/>
                  </a:lnTo>
                  <a:lnTo>
                    <a:pt x="1314437" y="58674"/>
                  </a:lnTo>
                  <a:lnTo>
                    <a:pt x="1314475" y="58039"/>
                  </a:lnTo>
                  <a:lnTo>
                    <a:pt x="1349400" y="93091"/>
                  </a:lnTo>
                  <a:lnTo>
                    <a:pt x="1354988" y="87630"/>
                  </a:lnTo>
                  <a:close/>
                </a:path>
                <a:path w="9090025" h="247014">
                  <a:moveTo>
                    <a:pt x="1381023" y="61468"/>
                  </a:moveTo>
                  <a:lnTo>
                    <a:pt x="1376832" y="56769"/>
                  </a:lnTo>
                  <a:lnTo>
                    <a:pt x="1373403" y="51943"/>
                  </a:lnTo>
                  <a:lnTo>
                    <a:pt x="1370863" y="47117"/>
                  </a:lnTo>
                  <a:lnTo>
                    <a:pt x="1367053" y="40259"/>
                  </a:lnTo>
                  <a:lnTo>
                    <a:pt x="1364005" y="33020"/>
                  </a:lnTo>
                  <a:lnTo>
                    <a:pt x="1361846" y="25146"/>
                  </a:lnTo>
                  <a:lnTo>
                    <a:pt x="1359560" y="17272"/>
                  </a:lnTo>
                  <a:lnTo>
                    <a:pt x="1358709" y="12700"/>
                  </a:lnTo>
                  <a:lnTo>
                    <a:pt x="1358290" y="10414"/>
                  </a:lnTo>
                  <a:lnTo>
                    <a:pt x="1358163" y="4572"/>
                  </a:lnTo>
                  <a:lnTo>
                    <a:pt x="1353845" y="254"/>
                  </a:lnTo>
                  <a:lnTo>
                    <a:pt x="1324889" y="29210"/>
                  </a:lnTo>
                  <a:lnTo>
                    <a:pt x="1330223" y="34544"/>
                  </a:lnTo>
                  <a:lnTo>
                    <a:pt x="1352067" y="12700"/>
                  </a:lnTo>
                  <a:lnTo>
                    <a:pt x="1352461" y="17272"/>
                  </a:lnTo>
                  <a:lnTo>
                    <a:pt x="1352575" y="18542"/>
                  </a:lnTo>
                  <a:lnTo>
                    <a:pt x="1353845" y="25146"/>
                  </a:lnTo>
                  <a:lnTo>
                    <a:pt x="1356004" y="32258"/>
                  </a:lnTo>
                  <a:lnTo>
                    <a:pt x="1358036" y="39370"/>
                  </a:lnTo>
                  <a:lnTo>
                    <a:pt x="1360957" y="45974"/>
                  </a:lnTo>
                  <a:lnTo>
                    <a:pt x="1368323" y="58674"/>
                  </a:lnTo>
                  <a:lnTo>
                    <a:pt x="1371879" y="63627"/>
                  </a:lnTo>
                  <a:lnTo>
                    <a:pt x="1375308" y="67183"/>
                  </a:lnTo>
                  <a:lnTo>
                    <a:pt x="1381023" y="61468"/>
                  </a:lnTo>
                  <a:close/>
                </a:path>
                <a:path w="9090025" h="247014">
                  <a:moveTo>
                    <a:pt x="1446682" y="193294"/>
                  </a:moveTo>
                  <a:lnTo>
                    <a:pt x="1415148" y="161671"/>
                  </a:lnTo>
                  <a:lnTo>
                    <a:pt x="1401978" y="148463"/>
                  </a:lnTo>
                  <a:lnTo>
                    <a:pt x="1393850" y="156591"/>
                  </a:lnTo>
                  <a:lnTo>
                    <a:pt x="1394028" y="156591"/>
                  </a:lnTo>
                  <a:lnTo>
                    <a:pt x="1416456" y="202565"/>
                  </a:lnTo>
                  <a:lnTo>
                    <a:pt x="1419250" y="207899"/>
                  </a:lnTo>
                  <a:lnTo>
                    <a:pt x="1417218" y="206883"/>
                  </a:lnTo>
                  <a:lnTo>
                    <a:pt x="1414297" y="205359"/>
                  </a:lnTo>
                  <a:lnTo>
                    <a:pt x="1387944" y="192151"/>
                  </a:lnTo>
                  <a:lnTo>
                    <a:pt x="1368196" y="182245"/>
                  </a:lnTo>
                  <a:lnTo>
                    <a:pt x="1359306" y="191262"/>
                  </a:lnTo>
                  <a:lnTo>
                    <a:pt x="1404010" y="235966"/>
                  </a:lnTo>
                  <a:lnTo>
                    <a:pt x="1409725" y="230251"/>
                  </a:lnTo>
                  <a:lnTo>
                    <a:pt x="1371625" y="192151"/>
                  </a:lnTo>
                  <a:lnTo>
                    <a:pt x="1422679" y="217297"/>
                  </a:lnTo>
                  <a:lnTo>
                    <a:pt x="1428013" y="211963"/>
                  </a:lnTo>
                  <a:lnTo>
                    <a:pt x="1426032" y="207899"/>
                  </a:lnTo>
                  <a:lnTo>
                    <a:pt x="1403553" y="161671"/>
                  </a:lnTo>
                  <a:lnTo>
                    <a:pt x="1440967" y="199009"/>
                  </a:lnTo>
                  <a:lnTo>
                    <a:pt x="1446682" y="193294"/>
                  </a:lnTo>
                  <a:close/>
                </a:path>
                <a:path w="9090025" h="247014">
                  <a:moveTo>
                    <a:pt x="1484274" y="155702"/>
                  </a:moveTo>
                  <a:lnTo>
                    <a:pt x="1468145" y="143129"/>
                  </a:lnTo>
                  <a:lnTo>
                    <a:pt x="1468145" y="157480"/>
                  </a:lnTo>
                  <a:lnTo>
                    <a:pt x="1468145" y="160401"/>
                  </a:lnTo>
                  <a:lnTo>
                    <a:pt x="1466786" y="164973"/>
                  </a:lnTo>
                  <a:lnTo>
                    <a:pt x="1466748" y="165100"/>
                  </a:lnTo>
                  <a:lnTo>
                    <a:pt x="1465351" y="167513"/>
                  </a:lnTo>
                  <a:lnTo>
                    <a:pt x="1463192" y="169545"/>
                  </a:lnTo>
                  <a:lnTo>
                    <a:pt x="1461160" y="171704"/>
                  </a:lnTo>
                  <a:lnTo>
                    <a:pt x="1458760" y="172974"/>
                  </a:lnTo>
                  <a:lnTo>
                    <a:pt x="1456842" y="172974"/>
                  </a:lnTo>
                  <a:lnTo>
                    <a:pt x="1454810" y="173101"/>
                  </a:lnTo>
                  <a:lnTo>
                    <a:pt x="1453032" y="172466"/>
                  </a:lnTo>
                  <a:lnTo>
                    <a:pt x="1451635" y="170942"/>
                  </a:lnTo>
                  <a:lnTo>
                    <a:pt x="1450619" y="170053"/>
                  </a:lnTo>
                  <a:lnTo>
                    <a:pt x="1449984" y="168910"/>
                  </a:lnTo>
                  <a:lnTo>
                    <a:pt x="1449476" y="166370"/>
                  </a:lnTo>
                  <a:lnTo>
                    <a:pt x="1449603" y="164973"/>
                  </a:lnTo>
                  <a:lnTo>
                    <a:pt x="1450111" y="163703"/>
                  </a:lnTo>
                  <a:lnTo>
                    <a:pt x="1450619" y="162306"/>
                  </a:lnTo>
                  <a:lnTo>
                    <a:pt x="1452156" y="160020"/>
                  </a:lnTo>
                  <a:lnTo>
                    <a:pt x="1453794" y="157734"/>
                  </a:lnTo>
                  <a:lnTo>
                    <a:pt x="1457121" y="153289"/>
                  </a:lnTo>
                  <a:lnTo>
                    <a:pt x="1459509" y="149479"/>
                  </a:lnTo>
                  <a:lnTo>
                    <a:pt x="1468145" y="157480"/>
                  </a:lnTo>
                  <a:lnTo>
                    <a:pt x="1468145" y="143129"/>
                  </a:lnTo>
                  <a:lnTo>
                    <a:pt x="1462786" y="137668"/>
                  </a:lnTo>
                  <a:lnTo>
                    <a:pt x="1461668" y="136525"/>
                  </a:lnTo>
                  <a:lnTo>
                    <a:pt x="1459128" y="134112"/>
                  </a:lnTo>
                  <a:lnTo>
                    <a:pt x="1450873" y="129667"/>
                  </a:lnTo>
                  <a:lnTo>
                    <a:pt x="1448282" y="129667"/>
                  </a:lnTo>
                  <a:lnTo>
                    <a:pt x="1446936" y="129921"/>
                  </a:lnTo>
                  <a:lnTo>
                    <a:pt x="1444523" y="131064"/>
                  </a:lnTo>
                  <a:lnTo>
                    <a:pt x="1442237" y="132080"/>
                  </a:lnTo>
                  <a:lnTo>
                    <a:pt x="1430680" y="145288"/>
                  </a:lnTo>
                  <a:lnTo>
                    <a:pt x="1429283" y="148209"/>
                  </a:lnTo>
                  <a:lnTo>
                    <a:pt x="1428775" y="150876"/>
                  </a:lnTo>
                  <a:lnTo>
                    <a:pt x="1429016" y="153289"/>
                  </a:lnTo>
                  <a:lnTo>
                    <a:pt x="1429080" y="153924"/>
                  </a:lnTo>
                  <a:lnTo>
                    <a:pt x="1429194" y="155067"/>
                  </a:lnTo>
                  <a:lnTo>
                    <a:pt x="1429283" y="155956"/>
                  </a:lnTo>
                  <a:lnTo>
                    <a:pt x="1430426" y="158623"/>
                  </a:lnTo>
                  <a:lnTo>
                    <a:pt x="1432204" y="161417"/>
                  </a:lnTo>
                  <a:lnTo>
                    <a:pt x="1438300" y="156845"/>
                  </a:lnTo>
                  <a:lnTo>
                    <a:pt x="1436712" y="154051"/>
                  </a:lnTo>
                  <a:lnTo>
                    <a:pt x="1436649" y="153924"/>
                  </a:lnTo>
                  <a:lnTo>
                    <a:pt x="1435887" y="151384"/>
                  </a:lnTo>
                  <a:lnTo>
                    <a:pt x="1436217" y="149479"/>
                  </a:lnTo>
                  <a:lnTo>
                    <a:pt x="1436522" y="147066"/>
                  </a:lnTo>
                  <a:lnTo>
                    <a:pt x="1446047" y="137922"/>
                  </a:lnTo>
                  <a:lnTo>
                    <a:pt x="1446809" y="137922"/>
                  </a:lnTo>
                  <a:lnTo>
                    <a:pt x="1450619" y="137668"/>
                  </a:lnTo>
                  <a:lnTo>
                    <a:pt x="1452778" y="138684"/>
                  </a:lnTo>
                  <a:lnTo>
                    <a:pt x="1455051" y="141097"/>
                  </a:lnTo>
                  <a:lnTo>
                    <a:pt x="1455191" y="141097"/>
                  </a:lnTo>
                  <a:lnTo>
                    <a:pt x="1456461" y="142367"/>
                  </a:lnTo>
                  <a:lnTo>
                    <a:pt x="1455064" y="145288"/>
                  </a:lnTo>
                  <a:lnTo>
                    <a:pt x="1452397" y="149098"/>
                  </a:lnTo>
                  <a:lnTo>
                    <a:pt x="1448549" y="153924"/>
                  </a:lnTo>
                  <a:lnTo>
                    <a:pt x="1446555" y="156591"/>
                  </a:lnTo>
                  <a:lnTo>
                    <a:pt x="1441983" y="169545"/>
                  </a:lnTo>
                  <a:lnTo>
                    <a:pt x="1443253" y="173609"/>
                  </a:lnTo>
                  <a:lnTo>
                    <a:pt x="1444269" y="175387"/>
                  </a:lnTo>
                  <a:lnTo>
                    <a:pt x="1448587" y="179705"/>
                  </a:lnTo>
                  <a:lnTo>
                    <a:pt x="1451762" y="180975"/>
                  </a:lnTo>
                  <a:lnTo>
                    <a:pt x="1455445" y="180848"/>
                  </a:lnTo>
                  <a:lnTo>
                    <a:pt x="1459001" y="180594"/>
                  </a:lnTo>
                  <a:lnTo>
                    <a:pt x="1462684" y="178689"/>
                  </a:lnTo>
                  <a:lnTo>
                    <a:pt x="1468259" y="173101"/>
                  </a:lnTo>
                  <a:lnTo>
                    <a:pt x="1468399" y="172974"/>
                  </a:lnTo>
                  <a:lnTo>
                    <a:pt x="1470050" y="170688"/>
                  </a:lnTo>
                  <a:lnTo>
                    <a:pt x="1471193" y="168021"/>
                  </a:lnTo>
                  <a:lnTo>
                    <a:pt x="1472336" y="165481"/>
                  </a:lnTo>
                  <a:lnTo>
                    <a:pt x="1473098" y="162306"/>
                  </a:lnTo>
                  <a:lnTo>
                    <a:pt x="1473187" y="161417"/>
                  </a:lnTo>
                  <a:lnTo>
                    <a:pt x="1473288" y="160401"/>
                  </a:lnTo>
                  <a:lnTo>
                    <a:pt x="1473339" y="159893"/>
                  </a:lnTo>
                  <a:lnTo>
                    <a:pt x="1473466" y="158623"/>
                  </a:lnTo>
                  <a:lnTo>
                    <a:pt x="1473619" y="158623"/>
                  </a:lnTo>
                  <a:lnTo>
                    <a:pt x="1475130" y="159893"/>
                  </a:lnTo>
                  <a:lnTo>
                    <a:pt x="1476781" y="160909"/>
                  </a:lnTo>
                  <a:lnTo>
                    <a:pt x="1478559" y="161417"/>
                  </a:lnTo>
                  <a:lnTo>
                    <a:pt x="1481353" y="158623"/>
                  </a:lnTo>
                  <a:lnTo>
                    <a:pt x="1484274" y="155702"/>
                  </a:lnTo>
                  <a:close/>
                </a:path>
                <a:path w="9090025" h="247014">
                  <a:moveTo>
                    <a:pt x="1496339" y="143891"/>
                  </a:moveTo>
                  <a:lnTo>
                    <a:pt x="1472704" y="116840"/>
                  </a:lnTo>
                  <a:lnTo>
                    <a:pt x="1472717" y="114427"/>
                  </a:lnTo>
                  <a:lnTo>
                    <a:pt x="1480083" y="107315"/>
                  </a:lnTo>
                  <a:lnTo>
                    <a:pt x="1476908" y="100203"/>
                  </a:lnTo>
                  <a:lnTo>
                    <a:pt x="1473860" y="100965"/>
                  </a:lnTo>
                  <a:lnTo>
                    <a:pt x="1471320" y="102235"/>
                  </a:lnTo>
                  <a:lnTo>
                    <a:pt x="1469542" y="104140"/>
                  </a:lnTo>
                  <a:lnTo>
                    <a:pt x="1468272" y="105410"/>
                  </a:lnTo>
                  <a:lnTo>
                    <a:pt x="1467383" y="106934"/>
                  </a:lnTo>
                  <a:lnTo>
                    <a:pt x="1467129" y="108712"/>
                  </a:lnTo>
                  <a:lnTo>
                    <a:pt x="1466748" y="110617"/>
                  </a:lnTo>
                  <a:lnTo>
                    <a:pt x="1467053" y="112776"/>
                  </a:lnTo>
                  <a:lnTo>
                    <a:pt x="1467129" y="113284"/>
                  </a:lnTo>
                  <a:lnTo>
                    <a:pt x="1468145" y="116840"/>
                  </a:lnTo>
                  <a:lnTo>
                    <a:pt x="1463192" y="111887"/>
                  </a:lnTo>
                  <a:lnTo>
                    <a:pt x="1458239" y="116840"/>
                  </a:lnTo>
                  <a:lnTo>
                    <a:pt x="1490751" y="149225"/>
                  </a:lnTo>
                  <a:lnTo>
                    <a:pt x="1496085" y="143891"/>
                  </a:lnTo>
                  <a:lnTo>
                    <a:pt x="1496339" y="143891"/>
                  </a:lnTo>
                  <a:close/>
                </a:path>
                <a:path w="9090025" h="247014">
                  <a:moveTo>
                    <a:pt x="1512595" y="100584"/>
                  </a:moveTo>
                  <a:lnTo>
                    <a:pt x="1507007" y="94996"/>
                  </a:lnTo>
                  <a:lnTo>
                    <a:pt x="1490116" y="111887"/>
                  </a:lnTo>
                  <a:lnTo>
                    <a:pt x="1495704" y="117475"/>
                  </a:lnTo>
                  <a:lnTo>
                    <a:pt x="1512595" y="100584"/>
                  </a:lnTo>
                  <a:close/>
                </a:path>
                <a:path w="9090025" h="247014">
                  <a:moveTo>
                    <a:pt x="1551965" y="88011"/>
                  </a:moveTo>
                  <a:lnTo>
                    <a:pt x="1522374" y="58420"/>
                  </a:lnTo>
                  <a:lnTo>
                    <a:pt x="1507007" y="43053"/>
                  </a:lnTo>
                  <a:lnTo>
                    <a:pt x="1503451" y="46609"/>
                  </a:lnTo>
                  <a:lnTo>
                    <a:pt x="1504467" y="49530"/>
                  </a:lnTo>
                  <a:lnTo>
                    <a:pt x="1504759" y="52324"/>
                  </a:lnTo>
                  <a:lnTo>
                    <a:pt x="1504848" y="53086"/>
                  </a:lnTo>
                  <a:lnTo>
                    <a:pt x="1504607" y="57150"/>
                  </a:lnTo>
                  <a:lnTo>
                    <a:pt x="1504492" y="59055"/>
                  </a:lnTo>
                  <a:lnTo>
                    <a:pt x="1504378" y="61087"/>
                  </a:lnTo>
                  <a:lnTo>
                    <a:pt x="1504315" y="61976"/>
                  </a:lnTo>
                  <a:lnTo>
                    <a:pt x="1503451" y="66294"/>
                  </a:lnTo>
                  <a:lnTo>
                    <a:pt x="1501749" y="70866"/>
                  </a:lnTo>
                  <a:lnTo>
                    <a:pt x="1501927" y="70866"/>
                  </a:lnTo>
                  <a:lnTo>
                    <a:pt x="1507134" y="76073"/>
                  </a:lnTo>
                  <a:lnTo>
                    <a:pt x="1508150" y="73787"/>
                  </a:lnTo>
                  <a:lnTo>
                    <a:pt x="1509166" y="70866"/>
                  </a:lnTo>
                  <a:lnTo>
                    <a:pt x="1510944" y="64008"/>
                  </a:lnTo>
                  <a:lnTo>
                    <a:pt x="1511452" y="61087"/>
                  </a:lnTo>
                  <a:lnTo>
                    <a:pt x="1511452" y="58420"/>
                  </a:lnTo>
                  <a:lnTo>
                    <a:pt x="1546504" y="93472"/>
                  </a:lnTo>
                  <a:lnTo>
                    <a:pt x="1551965" y="88011"/>
                  </a:lnTo>
                  <a:close/>
                </a:path>
                <a:path w="9090025" h="247014">
                  <a:moveTo>
                    <a:pt x="1578000" y="61976"/>
                  </a:moveTo>
                  <a:lnTo>
                    <a:pt x="1558823" y="25527"/>
                  </a:lnTo>
                  <a:lnTo>
                    <a:pt x="1556537" y="17653"/>
                  </a:lnTo>
                  <a:lnTo>
                    <a:pt x="1555750" y="13081"/>
                  </a:lnTo>
                  <a:lnTo>
                    <a:pt x="1555394" y="10922"/>
                  </a:lnTo>
                  <a:lnTo>
                    <a:pt x="1555140" y="4953"/>
                  </a:lnTo>
                  <a:lnTo>
                    <a:pt x="1550949" y="762"/>
                  </a:lnTo>
                  <a:lnTo>
                    <a:pt x="1521993" y="29718"/>
                  </a:lnTo>
                  <a:lnTo>
                    <a:pt x="1527200" y="34925"/>
                  </a:lnTo>
                  <a:lnTo>
                    <a:pt x="1549171" y="13081"/>
                  </a:lnTo>
                  <a:lnTo>
                    <a:pt x="1549450" y="17653"/>
                  </a:lnTo>
                  <a:lnTo>
                    <a:pt x="1561744" y="52705"/>
                  </a:lnTo>
                  <a:lnTo>
                    <a:pt x="1565300" y="59055"/>
                  </a:lnTo>
                  <a:lnTo>
                    <a:pt x="1568856" y="64008"/>
                  </a:lnTo>
                  <a:lnTo>
                    <a:pt x="1572412" y="67564"/>
                  </a:lnTo>
                  <a:lnTo>
                    <a:pt x="1578000" y="61976"/>
                  </a:lnTo>
                  <a:close/>
                </a:path>
                <a:path w="9090025" h="247014">
                  <a:moveTo>
                    <a:pt x="1633626" y="203708"/>
                  </a:moveTo>
                  <a:lnTo>
                    <a:pt x="1602003" y="172085"/>
                  </a:lnTo>
                  <a:lnTo>
                    <a:pt x="1588922" y="159004"/>
                  </a:lnTo>
                  <a:lnTo>
                    <a:pt x="1580921" y="167005"/>
                  </a:lnTo>
                  <a:lnTo>
                    <a:pt x="1601368" y="208788"/>
                  </a:lnTo>
                  <a:lnTo>
                    <a:pt x="1603400" y="213106"/>
                  </a:lnTo>
                  <a:lnTo>
                    <a:pt x="1605051" y="216281"/>
                  </a:lnTo>
                  <a:lnTo>
                    <a:pt x="1606067" y="218440"/>
                  </a:lnTo>
                  <a:lnTo>
                    <a:pt x="1604162" y="217424"/>
                  </a:lnTo>
                  <a:lnTo>
                    <a:pt x="1597304" y="213868"/>
                  </a:lnTo>
                  <a:lnTo>
                    <a:pt x="1574952" y="202692"/>
                  </a:lnTo>
                  <a:lnTo>
                    <a:pt x="1555140" y="192786"/>
                  </a:lnTo>
                  <a:lnTo>
                    <a:pt x="1546123" y="201676"/>
                  </a:lnTo>
                  <a:lnTo>
                    <a:pt x="1590954" y="246507"/>
                  </a:lnTo>
                  <a:lnTo>
                    <a:pt x="1596669" y="240792"/>
                  </a:lnTo>
                  <a:lnTo>
                    <a:pt x="1558569" y="202692"/>
                  </a:lnTo>
                  <a:lnTo>
                    <a:pt x="1609496" y="227838"/>
                  </a:lnTo>
                  <a:lnTo>
                    <a:pt x="1614957" y="222504"/>
                  </a:lnTo>
                  <a:lnTo>
                    <a:pt x="1612976" y="218440"/>
                  </a:lnTo>
                  <a:lnTo>
                    <a:pt x="1590624" y="172466"/>
                  </a:lnTo>
                  <a:lnTo>
                    <a:pt x="1590497" y="172212"/>
                  </a:lnTo>
                  <a:lnTo>
                    <a:pt x="1590446" y="172085"/>
                  </a:lnTo>
                  <a:lnTo>
                    <a:pt x="1627911" y="209423"/>
                  </a:lnTo>
                  <a:lnTo>
                    <a:pt x="1633626" y="203708"/>
                  </a:lnTo>
                  <a:close/>
                </a:path>
                <a:path w="9090025" h="247014">
                  <a:moveTo>
                    <a:pt x="1671218" y="166243"/>
                  </a:moveTo>
                  <a:lnTo>
                    <a:pt x="1660296" y="158889"/>
                  </a:lnTo>
                  <a:lnTo>
                    <a:pt x="1660296" y="168910"/>
                  </a:lnTo>
                  <a:lnTo>
                    <a:pt x="1660283" y="169037"/>
                  </a:lnTo>
                  <a:lnTo>
                    <a:pt x="1660131" y="168910"/>
                  </a:lnTo>
                  <a:lnTo>
                    <a:pt x="1660296" y="168910"/>
                  </a:lnTo>
                  <a:lnTo>
                    <a:pt x="1660296" y="158889"/>
                  </a:lnTo>
                  <a:lnTo>
                    <a:pt x="1658696" y="157226"/>
                  </a:lnTo>
                  <a:lnTo>
                    <a:pt x="1655851" y="154305"/>
                  </a:lnTo>
                  <a:lnTo>
                    <a:pt x="1654987" y="153466"/>
                  </a:lnTo>
                  <a:lnTo>
                    <a:pt x="1654987" y="167767"/>
                  </a:lnTo>
                  <a:lnTo>
                    <a:pt x="1654873" y="171323"/>
                  </a:lnTo>
                  <a:lnTo>
                    <a:pt x="1654810" y="171577"/>
                  </a:lnTo>
                  <a:lnTo>
                    <a:pt x="1654695" y="172085"/>
                  </a:lnTo>
                  <a:lnTo>
                    <a:pt x="1654594" y="172466"/>
                  </a:lnTo>
                  <a:lnTo>
                    <a:pt x="1654505" y="172847"/>
                  </a:lnTo>
                  <a:lnTo>
                    <a:pt x="1654454" y="173101"/>
                  </a:lnTo>
                  <a:lnTo>
                    <a:pt x="1653692" y="175641"/>
                  </a:lnTo>
                  <a:lnTo>
                    <a:pt x="1652981" y="176784"/>
                  </a:lnTo>
                  <a:lnTo>
                    <a:pt x="1652168" y="178054"/>
                  </a:lnTo>
                  <a:lnTo>
                    <a:pt x="1647977" y="182245"/>
                  </a:lnTo>
                  <a:lnTo>
                    <a:pt x="1645488" y="183642"/>
                  </a:lnTo>
                  <a:lnTo>
                    <a:pt x="1641754" y="183642"/>
                  </a:lnTo>
                  <a:lnTo>
                    <a:pt x="1636420" y="176784"/>
                  </a:lnTo>
                  <a:lnTo>
                    <a:pt x="1636534" y="175641"/>
                  </a:lnTo>
                  <a:lnTo>
                    <a:pt x="1637055" y="174117"/>
                  </a:lnTo>
                  <a:lnTo>
                    <a:pt x="1637461" y="173101"/>
                  </a:lnTo>
                  <a:lnTo>
                    <a:pt x="1637563" y="172847"/>
                  </a:lnTo>
                  <a:lnTo>
                    <a:pt x="1638833" y="170815"/>
                  </a:lnTo>
                  <a:lnTo>
                    <a:pt x="1643964" y="163957"/>
                  </a:lnTo>
                  <a:lnTo>
                    <a:pt x="1644713" y="162814"/>
                  </a:lnTo>
                  <a:lnTo>
                    <a:pt x="1646453" y="160020"/>
                  </a:lnTo>
                  <a:lnTo>
                    <a:pt x="1647596" y="157226"/>
                  </a:lnTo>
                  <a:lnTo>
                    <a:pt x="1652041" y="161671"/>
                  </a:lnTo>
                  <a:lnTo>
                    <a:pt x="1653565" y="163830"/>
                  </a:lnTo>
                  <a:lnTo>
                    <a:pt x="1654987" y="167767"/>
                  </a:lnTo>
                  <a:lnTo>
                    <a:pt x="1654987" y="153466"/>
                  </a:lnTo>
                  <a:lnTo>
                    <a:pt x="1649768" y="148336"/>
                  </a:lnTo>
                  <a:lnTo>
                    <a:pt x="1648485" y="147066"/>
                  </a:lnTo>
                  <a:lnTo>
                    <a:pt x="1646072" y="144526"/>
                  </a:lnTo>
                  <a:lnTo>
                    <a:pt x="1644294" y="143002"/>
                  </a:lnTo>
                  <a:lnTo>
                    <a:pt x="1643151" y="142240"/>
                  </a:lnTo>
                  <a:lnTo>
                    <a:pt x="1641373" y="141097"/>
                  </a:lnTo>
                  <a:lnTo>
                    <a:pt x="1639595" y="140335"/>
                  </a:lnTo>
                  <a:lnTo>
                    <a:pt x="1634553" y="140335"/>
                  </a:lnTo>
                  <a:lnTo>
                    <a:pt x="1633880" y="140462"/>
                  </a:lnTo>
                  <a:lnTo>
                    <a:pt x="1631467" y="141605"/>
                  </a:lnTo>
                  <a:lnTo>
                    <a:pt x="1629054" y="142621"/>
                  </a:lnTo>
                  <a:lnTo>
                    <a:pt x="1615719" y="161417"/>
                  </a:lnTo>
                  <a:lnTo>
                    <a:pt x="1615744" y="161671"/>
                  </a:lnTo>
                  <a:lnTo>
                    <a:pt x="1615859" y="162814"/>
                  </a:lnTo>
                  <a:lnTo>
                    <a:pt x="1615960" y="163830"/>
                  </a:lnTo>
                  <a:lnTo>
                    <a:pt x="1616011" y="164338"/>
                  </a:lnTo>
                  <a:lnTo>
                    <a:pt x="1616138" y="165608"/>
                  </a:lnTo>
                  <a:lnTo>
                    <a:pt x="1616227" y="166497"/>
                  </a:lnTo>
                  <a:lnTo>
                    <a:pt x="1617141" y="168910"/>
                  </a:lnTo>
                  <a:lnTo>
                    <a:pt x="1617243" y="169164"/>
                  </a:lnTo>
                  <a:lnTo>
                    <a:pt x="1619135" y="171970"/>
                  </a:lnTo>
                  <a:lnTo>
                    <a:pt x="1625244" y="167259"/>
                  </a:lnTo>
                  <a:lnTo>
                    <a:pt x="1623466" y="164338"/>
                  </a:lnTo>
                  <a:lnTo>
                    <a:pt x="1622831" y="161925"/>
                  </a:lnTo>
                  <a:lnTo>
                    <a:pt x="1623263" y="158750"/>
                  </a:lnTo>
                  <a:lnTo>
                    <a:pt x="1623364" y="158115"/>
                  </a:lnTo>
                  <a:lnTo>
                    <a:pt x="1623466" y="157607"/>
                  </a:lnTo>
                  <a:lnTo>
                    <a:pt x="1624863" y="155194"/>
                  </a:lnTo>
                  <a:lnTo>
                    <a:pt x="1627530" y="152654"/>
                  </a:lnTo>
                  <a:lnTo>
                    <a:pt x="1630324" y="149860"/>
                  </a:lnTo>
                  <a:lnTo>
                    <a:pt x="1632991" y="148463"/>
                  </a:lnTo>
                  <a:lnTo>
                    <a:pt x="1635658" y="148336"/>
                  </a:lnTo>
                  <a:lnTo>
                    <a:pt x="1637830" y="148336"/>
                  </a:lnTo>
                  <a:lnTo>
                    <a:pt x="1639722" y="149225"/>
                  </a:lnTo>
                  <a:lnTo>
                    <a:pt x="1641881" y="151511"/>
                  </a:lnTo>
                  <a:lnTo>
                    <a:pt x="1642135" y="151638"/>
                  </a:lnTo>
                  <a:lnTo>
                    <a:pt x="1642643" y="152146"/>
                  </a:lnTo>
                  <a:lnTo>
                    <a:pt x="1643278" y="152908"/>
                  </a:lnTo>
                  <a:lnTo>
                    <a:pt x="1642237" y="155194"/>
                  </a:lnTo>
                  <a:lnTo>
                    <a:pt x="1641919" y="155829"/>
                  </a:lnTo>
                  <a:lnTo>
                    <a:pt x="1639239" y="159766"/>
                  </a:lnTo>
                  <a:lnTo>
                    <a:pt x="1633499" y="167005"/>
                  </a:lnTo>
                  <a:lnTo>
                    <a:pt x="1632102" y="168910"/>
                  </a:lnTo>
                  <a:lnTo>
                    <a:pt x="1630387" y="172085"/>
                  </a:lnTo>
                  <a:lnTo>
                    <a:pt x="1630324" y="172212"/>
                  </a:lnTo>
                  <a:lnTo>
                    <a:pt x="1629562" y="174117"/>
                  </a:lnTo>
                  <a:lnTo>
                    <a:pt x="1629041" y="176784"/>
                  </a:lnTo>
                  <a:lnTo>
                    <a:pt x="1629041" y="180467"/>
                  </a:lnTo>
                  <a:lnTo>
                    <a:pt x="1629562" y="182118"/>
                  </a:lnTo>
                  <a:lnTo>
                    <a:pt x="1629943" y="183642"/>
                  </a:lnTo>
                  <a:lnTo>
                    <a:pt x="1630070" y="184150"/>
                  </a:lnTo>
                  <a:lnTo>
                    <a:pt x="1631213" y="185928"/>
                  </a:lnTo>
                  <a:lnTo>
                    <a:pt x="1635531" y="190246"/>
                  </a:lnTo>
                  <a:lnTo>
                    <a:pt x="1638706" y="191516"/>
                  </a:lnTo>
                  <a:lnTo>
                    <a:pt x="1642389" y="191262"/>
                  </a:lnTo>
                  <a:lnTo>
                    <a:pt x="1645945" y="191135"/>
                  </a:lnTo>
                  <a:lnTo>
                    <a:pt x="1649628" y="189230"/>
                  </a:lnTo>
                  <a:lnTo>
                    <a:pt x="1655216" y="183642"/>
                  </a:lnTo>
                  <a:lnTo>
                    <a:pt x="1660283" y="169164"/>
                  </a:lnTo>
                  <a:lnTo>
                    <a:pt x="1660448" y="169164"/>
                  </a:lnTo>
                  <a:lnTo>
                    <a:pt x="1662303" y="170561"/>
                  </a:lnTo>
                  <a:lnTo>
                    <a:pt x="1663725" y="171323"/>
                  </a:lnTo>
                  <a:lnTo>
                    <a:pt x="1665490" y="171970"/>
                  </a:lnTo>
                  <a:lnTo>
                    <a:pt x="1668538" y="168910"/>
                  </a:lnTo>
                  <a:lnTo>
                    <a:pt x="1671218" y="166243"/>
                  </a:lnTo>
                  <a:close/>
                </a:path>
                <a:path w="9090025" h="247014">
                  <a:moveTo>
                    <a:pt x="1697545" y="162814"/>
                  </a:moveTo>
                  <a:lnTo>
                    <a:pt x="1697469" y="158750"/>
                  </a:lnTo>
                  <a:lnTo>
                    <a:pt x="1696745" y="156464"/>
                  </a:lnTo>
                  <a:lnTo>
                    <a:pt x="1696110" y="154305"/>
                  </a:lnTo>
                  <a:lnTo>
                    <a:pt x="1694713" y="150876"/>
                  </a:lnTo>
                  <a:lnTo>
                    <a:pt x="1692427" y="146050"/>
                  </a:lnTo>
                  <a:lnTo>
                    <a:pt x="1690408" y="141605"/>
                  </a:lnTo>
                  <a:lnTo>
                    <a:pt x="1671853" y="100711"/>
                  </a:lnTo>
                  <a:lnTo>
                    <a:pt x="1666392" y="106172"/>
                  </a:lnTo>
                  <a:lnTo>
                    <a:pt x="1679854" y="135255"/>
                  </a:lnTo>
                  <a:lnTo>
                    <a:pt x="1681505" y="138557"/>
                  </a:lnTo>
                  <a:lnTo>
                    <a:pt x="1683410" y="141605"/>
                  </a:lnTo>
                  <a:lnTo>
                    <a:pt x="1680108" y="139700"/>
                  </a:lnTo>
                  <a:lnTo>
                    <a:pt x="1676806" y="138049"/>
                  </a:lnTo>
                  <a:lnTo>
                    <a:pt x="1648104" y="124460"/>
                  </a:lnTo>
                  <a:lnTo>
                    <a:pt x="1642135" y="130429"/>
                  </a:lnTo>
                  <a:lnTo>
                    <a:pt x="1686966" y="150622"/>
                  </a:lnTo>
                  <a:lnTo>
                    <a:pt x="1687398" y="151511"/>
                  </a:lnTo>
                  <a:lnTo>
                    <a:pt x="1687639" y="152146"/>
                  </a:lnTo>
                  <a:lnTo>
                    <a:pt x="1687728" y="152400"/>
                  </a:lnTo>
                  <a:lnTo>
                    <a:pt x="1690014" y="157226"/>
                  </a:lnTo>
                  <a:lnTo>
                    <a:pt x="1690141" y="158115"/>
                  </a:lnTo>
                  <a:lnTo>
                    <a:pt x="1690268" y="158750"/>
                  </a:lnTo>
                  <a:lnTo>
                    <a:pt x="1690395" y="160528"/>
                  </a:lnTo>
                  <a:lnTo>
                    <a:pt x="1690192" y="161417"/>
                  </a:lnTo>
                  <a:lnTo>
                    <a:pt x="1690141" y="161671"/>
                  </a:lnTo>
                  <a:lnTo>
                    <a:pt x="1689836" y="162560"/>
                  </a:lnTo>
                  <a:lnTo>
                    <a:pt x="1689760" y="162814"/>
                  </a:lnTo>
                  <a:lnTo>
                    <a:pt x="1689074" y="163830"/>
                  </a:lnTo>
                  <a:lnTo>
                    <a:pt x="1688998" y="163957"/>
                  </a:lnTo>
                  <a:lnTo>
                    <a:pt x="1687093" y="165862"/>
                  </a:lnTo>
                  <a:lnTo>
                    <a:pt x="1686674" y="166243"/>
                  </a:lnTo>
                  <a:lnTo>
                    <a:pt x="1685696" y="167005"/>
                  </a:lnTo>
                  <a:lnTo>
                    <a:pt x="1683943" y="168021"/>
                  </a:lnTo>
                  <a:lnTo>
                    <a:pt x="1684324" y="168021"/>
                  </a:lnTo>
                  <a:lnTo>
                    <a:pt x="1689887" y="172466"/>
                  </a:lnTo>
                  <a:lnTo>
                    <a:pt x="1691665" y="171577"/>
                  </a:lnTo>
                  <a:lnTo>
                    <a:pt x="1693062" y="170561"/>
                  </a:lnTo>
                  <a:lnTo>
                    <a:pt x="1695856" y="167767"/>
                  </a:lnTo>
                  <a:lnTo>
                    <a:pt x="1696999" y="165862"/>
                  </a:lnTo>
                  <a:lnTo>
                    <a:pt x="1697545" y="162814"/>
                  </a:lnTo>
                  <a:close/>
                </a:path>
                <a:path w="9090025" h="247014">
                  <a:moveTo>
                    <a:pt x="1710207" y="100330"/>
                  </a:moveTo>
                  <a:lnTo>
                    <a:pt x="1704746" y="94742"/>
                  </a:lnTo>
                  <a:lnTo>
                    <a:pt x="1687855" y="111633"/>
                  </a:lnTo>
                  <a:lnTo>
                    <a:pt x="1693316" y="117094"/>
                  </a:lnTo>
                  <a:lnTo>
                    <a:pt x="1710207" y="100330"/>
                  </a:lnTo>
                  <a:close/>
                </a:path>
                <a:path w="9090025" h="247014">
                  <a:moveTo>
                    <a:pt x="1749704" y="87757"/>
                  </a:moveTo>
                  <a:lnTo>
                    <a:pt x="1720113" y="58166"/>
                  </a:lnTo>
                  <a:lnTo>
                    <a:pt x="1704746" y="42799"/>
                  </a:lnTo>
                  <a:lnTo>
                    <a:pt x="1701190" y="46355"/>
                  </a:lnTo>
                  <a:lnTo>
                    <a:pt x="1702206" y="49276"/>
                  </a:lnTo>
                  <a:lnTo>
                    <a:pt x="1702498" y="52070"/>
                  </a:lnTo>
                  <a:lnTo>
                    <a:pt x="1702587" y="52832"/>
                  </a:lnTo>
                  <a:lnTo>
                    <a:pt x="1702346" y="56896"/>
                  </a:lnTo>
                  <a:lnTo>
                    <a:pt x="1702231" y="58801"/>
                  </a:lnTo>
                  <a:lnTo>
                    <a:pt x="1702117" y="60833"/>
                  </a:lnTo>
                  <a:lnTo>
                    <a:pt x="1702041" y="61722"/>
                  </a:lnTo>
                  <a:lnTo>
                    <a:pt x="1701063" y="66040"/>
                  </a:lnTo>
                  <a:lnTo>
                    <a:pt x="1699539" y="70485"/>
                  </a:lnTo>
                  <a:lnTo>
                    <a:pt x="1704746" y="75819"/>
                  </a:lnTo>
                  <a:lnTo>
                    <a:pt x="1709191" y="58166"/>
                  </a:lnTo>
                  <a:lnTo>
                    <a:pt x="1744116" y="93218"/>
                  </a:lnTo>
                  <a:lnTo>
                    <a:pt x="1749704" y="87757"/>
                  </a:lnTo>
                  <a:close/>
                </a:path>
                <a:path w="9090025" h="247014">
                  <a:moveTo>
                    <a:pt x="1775739" y="61722"/>
                  </a:moveTo>
                  <a:lnTo>
                    <a:pt x="1771548" y="56896"/>
                  </a:lnTo>
                  <a:lnTo>
                    <a:pt x="1768119" y="52070"/>
                  </a:lnTo>
                  <a:lnTo>
                    <a:pt x="1765579" y="47244"/>
                  </a:lnTo>
                  <a:lnTo>
                    <a:pt x="1761769" y="40386"/>
                  </a:lnTo>
                  <a:lnTo>
                    <a:pt x="1758721" y="33147"/>
                  </a:lnTo>
                  <a:lnTo>
                    <a:pt x="1756562" y="25273"/>
                  </a:lnTo>
                  <a:lnTo>
                    <a:pt x="1754276" y="17399"/>
                  </a:lnTo>
                  <a:lnTo>
                    <a:pt x="1753425" y="12827"/>
                  </a:lnTo>
                  <a:lnTo>
                    <a:pt x="1753006" y="10541"/>
                  </a:lnTo>
                  <a:lnTo>
                    <a:pt x="1752879" y="4699"/>
                  </a:lnTo>
                  <a:lnTo>
                    <a:pt x="1748561" y="381"/>
                  </a:lnTo>
                  <a:lnTo>
                    <a:pt x="1719605" y="29464"/>
                  </a:lnTo>
                  <a:lnTo>
                    <a:pt x="1724939" y="34671"/>
                  </a:lnTo>
                  <a:lnTo>
                    <a:pt x="1746783" y="12827"/>
                  </a:lnTo>
                  <a:lnTo>
                    <a:pt x="1747075" y="17399"/>
                  </a:lnTo>
                  <a:lnTo>
                    <a:pt x="1759356" y="52451"/>
                  </a:lnTo>
                  <a:lnTo>
                    <a:pt x="1763039" y="58801"/>
                  </a:lnTo>
                  <a:lnTo>
                    <a:pt x="1766595" y="63754"/>
                  </a:lnTo>
                  <a:lnTo>
                    <a:pt x="1770024" y="67310"/>
                  </a:lnTo>
                  <a:lnTo>
                    <a:pt x="1775739" y="61722"/>
                  </a:lnTo>
                  <a:close/>
                </a:path>
                <a:path w="9090025" h="247014">
                  <a:moveTo>
                    <a:pt x="1842795" y="188087"/>
                  </a:moveTo>
                  <a:lnTo>
                    <a:pt x="1842706" y="186055"/>
                  </a:lnTo>
                  <a:lnTo>
                    <a:pt x="1842668" y="185039"/>
                  </a:lnTo>
                  <a:lnTo>
                    <a:pt x="1840382" y="179197"/>
                  </a:lnTo>
                  <a:lnTo>
                    <a:pt x="1837969" y="175768"/>
                  </a:lnTo>
                  <a:lnTo>
                    <a:pt x="1803806" y="141605"/>
                  </a:lnTo>
                  <a:lnTo>
                    <a:pt x="1797837" y="147447"/>
                  </a:lnTo>
                  <a:lnTo>
                    <a:pt x="1831238" y="180848"/>
                  </a:lnTo>
                  <a:lnTo>
                    <a:pt x="1832889" y="183007"/>
                  </a:lnTo>
                  <a:lnTo>
                    <a:pt x="1834413" y="186055"/>
                  </a:lnTo>
                  <a:lnTo>
                    <a:pt x="1834476" y="188087"/>
                  </a:lnTo>
                  <a:lnTo>
                    <a:pt x="1833803" y="191135"/>
                  </a:lnTo>
                  <a:lnTo>
                    <a:pt x="1833778" y="191262"/>
                  </a:lnTo>
                  <a:lnTo>
                    <a:pt x="1832889" y="192913"/>
                  </a:lnTo>
                  <a:lnTo>
                    <a:pt x="1829333" y="196469"/>
                  </a:lnTo>
                  <a:lnTo>
                    <a:pt x="1827174" y="197358"/>
                  </a:lnTo>
                  <a:lnTo>
                    <a:pt x="1822348" y="197104"/>
                  </a:lnTo>
                  <a:lnTo>
                    <a:pt x="1819300" y="195453"/>
                  </a:lnTo>
                  <a:lnTo>
                    <a:pt x="1815744" y="192151"/>
                  </a:lnTo>
                  <a:lnTo>
                    <a:pt x="1811172" y="198247"/>
                  </a:lnTo>
                  <a:lnTo>
                    <a:pt x="1815617" y="202692"/>
                  </a:lnTo>
                  <a:lnTo>
                    <a:pt x="1819935" y="205105"/>
                  </a:lnTo>
                  <a:lnTo>
                    <a:pt x="1824253" y="205232"/>
                  </a:lnTo>
                  <a:lnTo>
                    <a:pt x="1828571" y="205486"/>
                  </a:lnTo>
                  <a:lnTo>
                    <a:pt x="1832762" y="203581"/>
                  </a:lnTo>
                  <a:lnTo>
                    <a:pt x="1838985" y="197358"/>
                  </a:lnTo>
                  <a:lnTo>
                    <a:pt x="1839239" y="197104"/>
                  </a:lnTo>
                  <a:lnTo>
                    <a:pt x="1839683" y="196469"/>
                  </a:lnTo>
                  <a:lnTo>
                    <a:pt x="1841144" y="194183"/>
                  </a:lnTo>
                  <a:lnTo>
                    <a:pt x="1841868" y="191262"/>
                  </a:lnTo>
                  <a:lnTo>
                    <a:pt x="1842795" y="188087"/>
                  </a:lnTo>
                  <a:close/>
                </a:path>
                <a:path w="9090025" h="247014">
                  <a:moveTo>
                    <a:pt x="1883562" y="151130"/>
                  </a:moveTo>
                  <a:lnTo>
                    <a:pt x="1851177" y="118745"/>
                  </a:lnTo>
                  <a:lnTo>
                    <a:pt x="1845716" y="124206"/>
                  </a:lnTo>
                  <a:lnTo>
                    <a:pt x="1863115" y="141605"/>
                  </a:lnTo>
                  <a:lnTo>
                    <a:pt x="1865782" y="144399"/>
                  </a:lnTo>
                  <a:lnTo>
                    <a:pt x="1867687" y="146812"/>
                  </a:lnTo>
                  <a:lnTo>
                    <a:pt x="1868449" y="148844"/>
                  </a:lnTo>
                  <a:lnTo>
                    <a:pt x="1869338" y="150876"/>
                  </a:lnTo>
                  <a:lnTo>
                    <a:pt x="1869465" y="153035"/>
                  </a:lnTo>
                  <a:lnTo>
                    <a:pt x="1868830" y="155321"/>
                  </a:lnTo>
                  <a:lnTo>
                    <a:pt x="1868373" y="157480"/>
                  </a:lnTo>
                  <a:lnTo>
                    <a:pt x="1868322" y="157734"/>
                  </a:lnTo>
                  <a:lnTo>
                    <a:pt x="1867179" y="159639"/>
                  </a:lnTo>
                  <a:lnTo>
                    <a:pt x="1863877" y="162941"/>
                  </a:lnTo>
                  <a:lnTo>
                    <a:pt x="1861870" y="164084"/>
                  </a:lnTo>
                  <a:lnTo>
                    <a:pt x="1861108" y="164084"/>
                  </a:lnTo>
                  <a:lnTo>
                    <a:pt x="1858162" y="164465"/>
                  </a:lnTo>
                  <a:lnTo>
                    <a:pt x="1830476" y="139573"/>
                  </a:lnTo>
                  <a:lnTo>
                    <a:pt x="1824888" y="145034"/>
                  </a:lnTo>
                  <a:lnTo>
                    <a:pt x="1852752" y="171323"/>
                  </a:lnTo>
                  <a:lnTo>
                    <a:pt x="1858162" y="172593"/>
                  </a:lnTo>
                  <a:lnTo>
                    <a:pt x="1860321" y="172339"/>
                  </a:lnTo>
                  <a:lnTo>
                    <a:pt x="1862734" y="171323"/>
                  </a:lnTo>
                  <a:lnTo>
                    <a:pt x="1865020" y="170434"/>
                  </a:lnTo>
                  <a:lnTo>
                    <a:pt x="1867179" y="169037"/>
                  </a:lnTo>
                  <a:lnTo>
                    <a:pt x="1869084" y="167132"/>
                  </a:lnTo>
                  <a:lnTo>
                    <a:pt x="1871827" y="164465"/>
                  </a:lnTo>
                  <a:lnTo>
                    <a:pt x="1873389" y="162941"/>
                  </a:lnTo>
                  <a:lnTo>
                    <a:pt x="1873707" y="162179"/>
                  </a:lnTo>
                  <a:lnTo>
                    <a:pt x="1874977" y="157734"/>
                  </a:lnTo>
                  <a:lnTo>
                    <a:pt x="1875053" y="157480"/>
                  </a:lnTo>
                  <a:lnTo>
                    <a:pt x="1873910" y="151384"/>
                  </a:lnTo>
                  <a:lnTo>
                    <a:pt x="1878736" y="156083"/>
                  </a:lnTo>
                  <a:lnTo>
                    <a:pt x="1883308" y="151384"/>
                  </a:lnTo>
                  <a:lnTo>
                    <a:pt x="1883562" y="151130"/>
                  </a:lnTo>
                  <a:close/>
                </a:path>
                <a:path w="9090025" h="247014">
                  <a:moveTo>
                    <a:pt x="1898421" y="136398"/>
                  </a:moveTo>
                  <a:lnTo>
                    <a:pt x="1853590" y="91694"/>
                  </a:lnTo>
                  <a:lnTo>
                    <a:pt x="1848129" y="97155"/>
                  </a:lnTo>
                  <a:lnTo>
                    <a:pt x="1892960" y="141859"/>
                  </a:lnTo>
                  <a:lnTo>
                    <a:pt x="1898421" y="136398"/>
                  </a:lnTo>
                  <a:close/>
                </a:path>
                <a:path w="9090025" h="247014">
                  <a:moveTo>
                    <a:pt x="1908327" y="99568"/>
                  </a:moveTo>
                  <a:lnTo>
                    <a:pt x="1902866" y="94107"/>
                  </a:lnTo>
                  <a:lnTo>
                    <a:pt x="1885975" y="110998"/>
                  </a:lnTo>
                  <a:lnTo>
                    <a:pt x="1891436" y="116459"/>
                  </a:lnTo>
                  <a:lnTo>
                    <a:pt x="1908327" y="99568"/>
                  </a:lnTo>
                  <a:close/>
                </a:path>
                <a:path w="9090025" h="247014">
                  <a:moveTo>
                    <a:pt x="1946681" y="88138"/>
                  </a:moveTo>
                  <a:lnTo>
                    <a:pt x="1917217" y="58674"/>
                  </a:lnTo>
                  <a:lnTo>
                    <a:pt x="1901723" y="43180"/>
                  </a:lnTo>
                  <a:lnTo>
                    <a:pt x="1898167" y="46736"/>
                  </a:lnTo>
                  <a:lnTo>
                    <a:pt x="1899183" y="49657"/>
                  </a:lnTo>
                  <a:lnTo>
                    <a:pt x="1899475" y="52451"/>
                  </a:lnTo>
                  <a:lnTo>
                    <a:pt x="1899564" y="53213"/>
                  </a:lnTo>
                  <a:lnTo>
                    <a:pt x="1899323" y="57277"/>
                  </a:lnTo>
                  <a:lnTo>
                    <a:pt x="1899208" y="59182"/>
                  </a:lnTo>
                  <a:lnTo>
                    <a:pt x="1899094" y="61214"/>
                  </a:lnTo>
                  <a:lnTo>
                    <a:pt x="1899031" y="62103"/>
                  </a:lnTo>
                  <a:lnTo>
                    <a:pt x="1898167" y="66421"/>
                  </a:lnTo>
                  <a:lnTo>
                    <a:pt x="1896465" y="70993"/>
                  </a:lnTo>
                  <a:lnTo>
                    <a:pt x="1896643" y="70993"/>
                  </a:lnTo>
                  <a:lnTo>
                    <a:pt x="1901850" y="76200"/>
                  </a:lnTo>
                  <a:lnTo>
                    <a:pt x="1902866" y="73914"/>
                  </a:lnTo>
                  <a:lnTo>
                    <a:pt x="1903882" y="70993"/>
                  </a:lnTo>
                  <a:lnTo>
                    <a:pt x="1905660" y="64135"/>
                  </a:lnTo>
                  <a:lnTo>
                    <a:pt x="1906168" y="61214"/>
                  </a:lnTo>
                  <a:lnTo>
                    <a:pt x="1906168" y="58674"/>
                  </a:lnTo>
                  <a:lnTo>
                    <a:pt x="1941220" y="93599"/>
                  </a:lnTo>
                  <a:lnTo>
                    <a:pt x="1946681" y="88138"/>
                  </a:lnTo>
                  <a:close/>
                </a:path>
                <a:path w="9090025" h="247014">
                  <a:moveTo>
                    <a:pt x="1972716" y="62103"/>
                  </a:moveTo>
                  <a:lnTo>
                    <a:pt x="1953539" y="25654"/>
                  </a:lnTo>
                  <a:lnTo>
                    <a:pt x="1951253" y="17907"/>
                  </a:lnTo>
                  <a:lnTo>
                    <a:pt x="1950466" y="13208"/>
                  </a:lnTo>
                  <a:lnTo>
                    <a:pt x="1950110" y="11049"/>
                  </a:lnTo>
                  <a:lnTo>
                    <a:pt x="1949856" y="5080"/>
                  </a:lnTo>
                  <a:lnTo>
                    <a:pt x="1945665" y="889"/>
                  </a:lnTo>
                  <a:lnTo>
                    <a:pt x="1916709" y="29845"/>
                  </a:lnTo>
                  <a:lnTo>
                    <a:pt x="1921916" y="35052"/>
                  </a:lnTo>
                  <a:lnTo>
                    <a:pt x="1943887" y="13208"/>
                  </a:lnTo>
                  <a:lnTo>
                    <a:pt x="1944179" y="17907"/>
                  </a:lnTo>
                  <a:lnTo>
                    <a:pt x="1956460" y="52832"/>
                  </a:lnTo>
                  <a:lnTo>
                    <a:pt x="1960016" y="59182"/>
                  </a:lnTo>
                  <a:lnTo>
                    <a:pt x="1963572" y="64135"/>
                  </a:lnTo>
                  <a:lnTo>
                    <a:pt x="1967128" y="67691"/>
                  </a:lnTo>
                  <a:lnTo>
                    <a:pt x="1972716" y="62103"/>
                  </a:lnTo>
                  <a:close/>
                </a:path>
                <a:path w="9090025" h="247014">
                  <a:moveTo>
                    <a:pt x="2019198" y="205359"/>
                  </a:moveTo>
                  <a:lnTo>
                    <a:pt x="2017776" y="199009"/>
                  </a:lnTo>
                  <a:lnTo>
                    <a:pt x="2017699" y="198628"/>
                  </a:lnTo>
                  <a:lnTo>
                    <a:pt x="2017534" y="198247"/>
                  </a:lnTo>
                  <a:lnTo>
                    <a:pt x="2016734" y="196723"/>
                  </a:lnTo>
                  <a:lnTo>
                    <a:pt x="2016150" y="195580"/>
                  </a:lnTo>
                  <a:lnTo>
                    <a:pt x="2011324" y="190754"/>
                  </a:lnTo>
                  <a:lnTo>
                    <a:pt x="2008657" y="189230"/>
                  </a:lnTo>
                  <a:lnTo>
                    <a:pt x="2005609" y="188722"/>
                  </a:lnTo>
                  <a:lnTo>
                    <a:pt x="2003056" y="188214"/>
                  </a:lnTo>
                  <a:lnTo>
                    <a:pt x="2001291" y="188214"/>
                  </a:lnTo>
                  <a:lnTo>
                    <a:pt x="1999005" y="188468"/>
                  </a:lnTo>
                  <a:lnTo>
                    <a:pt x="1994877" y="189992"/>
                  </a:lnTo>
                  <a:lnTo>
                    <a:pt x="1992655" y="190881"/>
                  </a:lnTo>
                  <a:lnTo>
                    <a:pt x="1988337" y="193167"/>
                  </a:lnTo>
                  <a:lnTo>
                    <a:pt x="1982279" y="197104"/>
                  </a:lnTo>
                  <a:lnTo>
                    <a:pt x="1976526" y="200660"/>
                  </a:lnTo>
                  <a:lnTo>
                    <a:pt x="1972322" y="202692"/>
                  </a:lnTo>
                  <a:lnTo>
                    <a:pt x="1970303" y="202692"/>
                  </a:lnTo>
                  <a:lnTo>
                    <a:pt x="1968144" y="202819"/>
                  </a:lnTo>
                  <a:lnTo>
                    <a:pt x="1966239" y="202057"/>
                  </a:lnTo>
                  <a:lnTo>
                    <a:pt x="1962810" y="198628"/>
                  </a:lnTo>
                  <a:lnTo>
                    <a:pt x="1962327" y="197104"/>
                  </a:lnTo>
                  <a:lnTo>
                    <a:pt x="1962200" y="196723"/>
                  </a:lnTo>
                  <a:lnTo>
                    <a:pt x="1962137" y="195072"/>
                  </a:lnTo>
                  <a:lnTo>
                    <a:pt x="1962302" y="193294"/>
                  </a:lnTo>
                  <a:lnTo>
                    <a:pt x="1962429" y="192278"/>
                  </a:lnTo>
                  <a:lnTo>
                    <a:pt x="1962505" y="191643"/>
                  </a:lnTo>
                  <a:lnTo>
                    <a:pt x="1962619" y="190754"/>
                  </a:lnTo>
                  <a:lnTo>
                    <a:pt x="1962683" y="190246"/>
                  </a:lnTo>
                  <a:lnTo>
                    <a:pt x="1964588" y="187071"/>
                  </a:lnTo>
                  <a:lnTo>
                    <a:pt x="1971700" y="179959"/>
                  </a:lnTo>
                  <a:lnTo>
                    <a:pt x="1975002" y="178181"/>
                  </a:lnTo>
                  <a:lnTo>
                    <a:pt x="1978177" y="177800"/>
                  </a:lnTo>
                  <a:lnTo>
                    <a:pt x="1981352" y="177546"/>
                  </a:lnTo>
                  <a:lnTo>
                    <a:pt x="1984921" y="178689"/>
                  </a:lnTo>
                  <a:lnTo>
                    <a:pt x="1984679" y="178689"/>
                  </a:lnTo>
                  <a:lnTo>
                    <a:pt x="1987702" y="181102"/>
                  </a:lnTo>
                  <a:lnTo>
                    <a:pt x="1990737" y="177546"/>
                  </a:lnTo>
                  <a:lnTo>
                    <a:pt x="1992795" y="175133"/>
                  </a:lnTo>
                  <a:lnTo>
                    <a:pt x="1993036" y="175133"/>
                  </a:lnTo>
                  <a:lnTo>
                    <a:pt x="1990242" y="172466"/>
                  </a:lnTo>
                  <a:lnTo>
                    <a:pt x="1987067" y="170815"/>
                  </a:lnTo>
                  <a:lnTo>
                    <a:pt x="1983638" y="170180"/>
                  </a:lnTo>
                  <a:lnTo>
                    <a:pt x="1980209" y="169418"/>
                  </a:lnTo>
                  <a:lnTo>
                    <a:pt x="1976780" y="169799"/>
                  </a:lnTo>
                  <a:lnTo>
                    <a:pt x="1973097" y="171323"/>
                  </a:lnTo>
                  <a:lnTo>
                    <a:pt x="1969211" y="172847"/>
                  </a:lnTo>
                  <a:lnTo>
                    <a:pt x="1969350" y="172847"/>
                  </a:lnTo>
                  <a:lnTo>
                    <a:pt x="1966112" y="175133"/>
                  </a:lnTo>
                  <a:lnTo>
                    <a:pt x="1959762" y="181483"/>
                  </a:lnTo>
                  <a:lnTo>
                    <a:pt x="1957476" y="184658"/>
                  </a:lnTo>
                  <a:lnTo>
                    <a:pt x="1956079" y="188214"/>
                  </a:lnTo>
                  <a:lnTo>
                    <a:pt x="1954682" y="191643"/>
                  </a:lnTo>
                  <a:lnTo>
                    <a:pt x="1954695" y="197104"/>
                  </a:lnTo>
                  <a:lnTo>
                    <a:pt x="1955393" y="200660"/>
                  </a:lnTo>
                  <a:lnTo>
                    <a:pt x="1955444" y="200914"/>
                  </a:lnTo>
                  <a:lnTo>
                    <a:pt x="1955571" y="201549"/>
                  </a:lnTo>
                  <a:lnTo>
                    <a:pt x="1957095" y="204343"/>
                  </a:lnTo>
                  <a:lnTo>
                    <a:pt x="1959381" y="206502"/>
                  </a:lnTo>
                  <a:lnTo>
                    <a:pt x="1960143" y="207264"/>
                  </a:lnTo>
                  <a:lnTo>
                    <a:pt x="1961629" y="208661"/>
                  </a:lnTo>
                  <a:lnTo>
                    <a:pt x="1963826" y="209931"/>
                  </a:lnTo>
                  <a:lnTo>
                    <a:pt x="1969160" y="211201"/>
                  </a:lnTo>
                  <a:lnTo>
                    <a:pt x="1970684" y="211074"/>
                  </a:lnTo>
                  <a:lnTo>
                    <a:pt x="1971802" y="211074"/>
                  </a:lnTo>
                  <a:lnTo>
                    <a:pt x="1975383" y="209931"/>
                  </a:lnTo>
                  <a:lnTo>
                    <a:pt x="1977923" y="209169"/>
                  </a:lnTo>
                  <a:lnTo>
                    <a:pt x="1981733" y="207264"/>
                  </a:lnTo>
                  <a:lnTo>
                    <a:pt x="2001799" y="196723"/>
                  </a:lnTo>
                  <a:lnTo>
                    <a:pt x="2002802" y="196723"/>
                  </a:lnTo>
                  <a:lnTo>
                    <a:pt x="2011045" y="204343"/>
                  </a:lnTo>
                  <a:lnTo>
                    <a:pt x="2011451" y="206502"/>
                  </a:lnTo>
                  <a:lnTo>
                    <a:pt x="1991258" y="225044"/>
                  </a:lnTo>
                  <a:lnTo>
                    <a:pt x="1989645" y="224790"/>
                  </a:lnTo>
                  <a:lnTo>
                    <a:pt x="1989442" y="224790"/>
                  </a:lnTo>
                  <a:lnTo>
                    <a:pt x="1986432" y="224155"/>
                  </a:lnTo>
                  <a:lnTo>
                    <a:pt x="1984019" y="223012"/>
                  </a:lnTo>
                  <a:lnTo>
                    <a:pt x="1981479" y="220980"/>
                  </a:lnTo>
                  <a:lnTo>
                    <a:pt x="1976285" y="227203"/>
                  </a:lnTo>
                  <a:lnTo>
                    <a:pt x="1976526" y="227203"/>
                  </a:lnTo>
                  <a:lnTo>
                    <a:pt x="1979447" y="229997"/>
                  </a:lnTo>
                  <a:lnTo>
                    <a:pt x="1983003" y="231775"/>
                  </a:lnTo>
                  <a:lnTo>
                    <a:pt x="1986940" y="232664"/>
                  </a:lnTo>
                  <a:lnTo>
                    <a:pt x="1990877" y="233426"/>
                  </a:lnTo>
                  <a:lnTo>
                    <a:pt x="1994814" y="233045"/>
                  </a:lnTo>
                  <a:lnTo>
                    <a:pt x="1998624" y="231521"/>
                  </a:lnTo>
                  <a:lnTo>
                    <a:pt x="2002561" y="229997"/>
                  </a:lnTo>
                  <a:lnTo>
                    <a:pt x="2006625" y="227203"/>
                  </a:lnTo>
                  <a:lnTo>
                    <a:pt x="2008784" y="225044"/>
                  </a:lnTo>
                  <a:lnTo>
                    <a:pt x="2013864" y="219964"/>
                  </a:lnTo>
                  <a:lnTo>
                    <a:pt x="2016150" y="216408"/>
                  </a:lnTo>
                  <a:lnTo>
                    <a:pt x="2018893" y="209169"/>
                  </a:lnTo>
                  <a:lnTo>
                    <a:pt x="2018969" y="208661"/>
                  </a:lnTo>
                  <a:lnTo>
                    <a:pt x="2019058" y="207264"/>
                  </a:lnTo>
                  <a:lnTo>
                    <a:pt x="2019109" y="206502"/>
                  </a:lnTo>
                  <a:lnTo>
                    <a:pt x="2019198" y="205359"/>
                  </a:lnTo>
                  <a:close/>
                </a:path>
                <a:path w="9090025" h="247014">
                  <a:moveTo>
                    <a:pt x="2089302" y="137414"/>
                  </a:moveTo>
                  <a:lnTo>
                    <a:pt x="2088997" y="134366"/>
                  </a:lnTo>
                  <a:lnTo>
                    <a:pt x="2088921" y="133604"/>
                  </a:lnTo>
                  <a:lnTo>
                    <a:pt x="2087524" y="129794"/>
                  </a:lnTo>
                  <a:lnTo>
                    <a:pt x="2086000" y="125857"/>
                  </a:lnTo>
                  <a:lnTo>
                    <a:pt x="2083587" y="122301"/>
                  </a:lnTo>
                  <a:lnTo>
                    <a:pt x="2081936" y="120650"/>
                  </a:lnTo>
                  <a:lnTo>
                    <a:pt x="2081936" y="140589"/>
                  </a:lnTo>
                  <a:lnTo>
                    <a:pt x="2080920" y="143764"/>
                  </a:lnTo>
                  <a:lnTo>
                    <a:pt x="2076094" y="148590"/>
                  </a:lnTo>
                  <a:lnTo>
                    <a:pt x="2073046" y="149606"/>
                  </a:lnTo>
                  <a:lnTo>
                    <a:pt x="2069363" y="149352"/>
                  </a:lnTo>
                  <a:lnTo>
                    <a:pt x="2050770" y="131191"/>
                  </a:lnTo>
                  <a:lnTo>
                    <a:pt x="2050694" y="130429"/>
                  </a:lnTo>
                  <a:lnTo>
                    <a:pt x="2050415" y="127508"/>
                  </a:lnTo>
                  <a:lnTo>
                    <a:pt x="2050313" y="126365"/>
                  </a:lnTo>
                  <a:lnTo>
                    <a:pt x="2051329" y="123190"/>
                  </a:lnTo>
                  <a:lnTo>
                    <a:pt x="2056028" y="118491"/>
                  </a:lnTo>
                  <a:lnTo>
                    <a:pt x="2059076" y="117475"/>
                  </a:lnTo>
                  <a:lnTo>
                    <a:pt x="2066569" y="118237"/>
                  </a:lnTo>
                  <a:lnTo>
                    <a:pt x="2081936" y="140589"/>
                  </a:lnTo>
                  <a:lnTo>
                    <a:pt x="2081936" y="120650"/>
                  </a:lnTo>
                  <a:lnTo>
                    <a:pt x="2078761" y="117475"/>
                  </a:lnTo>
                  <a:lnTo>
                    <a:pt x="2077364" y="116078"/>
                  </a:lnTo>
                  <a:lnTo>
                    <a:pt x="2073808" y="113665"/>
                  </a:lnTo>
                  <a:lnTo>
                    <a:pt x="2066442" y="110617"/>
                  </a:lnTo>
                  <a:lnTo>
                    <a:pt x="2062886" y="110109"/>
                  </a:lnTo>
                  <a:lnTo>
                    <a:pt x="2059330" y="110871"/>
                  </a:lnTo>
                  <a:lnTo>
                    <a:pt x="2055774" y="111506"/>
                  </a:lnTo>
                  <a:lnTo>
                    <a:pt x="2052599" y="113284"/>
                  </a:lnTo>
                  <a:lnTo>
                    <a:pt x="2049932" y="116078"/>
                  </a:lnTo>
                  <a:lnTo>
                    <a:pt x="2047773" y="118110"/>
                  </a:lnTo>
                  <a:lnTo>
                    <a:pt x="2044979" y="127508"/>
                  </a:lnTo>
                  <a:lnTo>
                    <a:pt x="2045373" y="129794"/>
                  </a:lnTo>
                  <a:lnTo>
                    <a:pt x="2045487" y="130429"/>
                  </a:lnTo>
                  <a:lnTo>
                    <a:pt x="2041296" y="126365"/>
                  </a:lnTo>
                  <a:lnTo>
                    <a:pt x="2041042" y="126365"/>
                  </a:lnTo>
                  <a:lnTo>
                    <a:pt x="2036216" y="131191"/>
                  </a:lnTo>
                  <a:lnTo>
                    <a:pt x="2076348" y="171323"/>
                  </a:lnTo>
                  <a:lnTo>
                    <a:pt x="2055279" y="171323"/>
                  </a:lnTo>
                  <a:lnTo>
                    <a:pt x="2055355" y="170815"/>
                  </a:lnTo>
                  <a:lnTo>
                    <a:pt x="2055456" y="170180"/>
                  </a:lnTo>
                  <a:lnTo>
                    <a:pt x="2055520" y="168402"/>
                  </a:lnTo>
                  <a:lnTo>
                    <a:pt x="2054631" y="164719"/>
                  </a:lnTo>
                  <a:lnTo>
                    <a:pt x="2052218" y="160528"/>
                  </a:lnTo>
                  <a:lnTo>
                    <a:pt x="2045868" y="165481"/>
                  </a:lnTo>
                  <a:lnTo>
                    <a:pt x="2047265" y="168402"/>
                  </a:lnTo>
                  <a:lnTo>
                    <a:pt x="2047392" y="168656"/>
                  </a:lnTo>
                  <a:lnTo>
                    <a:pt x="2047430" y="168910"/>
                  </a:lnTo>
                  <a:lnTo>
                    <a:pt x="2047519" y="169418"/>
                  </a:lnTo>
                  <a:lnTo>
                    <a:pt x="2047595" y="169799"/>
                  </a:lnTo>
                  <a:lnTo>
                    <a:pt x="2047659" y="170180"/>
                  </a:lnTo>
                  <a:lnTo>
                    <a:pt x="2047773" y="170815"/>
                  </a:lnTo>
                  <a:lnTo>
                    <a:pt x="2047875" y="171577"/>
                  </a:lnTo>
                  <a:lnTo>
                    <a:pt x="2047189" y="176022"/>
                  </a:lnTo>
                  <a:lnTo>
                    <a:pt x="2047138" y="176403"/>
                  </a:lnTo>
                  <a:lnTo>
                    <a:pt x="2045995" y="178689"/>
                  </a:lnTo>
                  <a:lnTo>
                    <a:pt x="2043963" y="180594"/>
                  </a:lnTo>
                  <a:lnTo>
                    <a:pt x="2041296" y="183388"/>
                  </a:lnTo>
                  <a:lnTo>
                    <a:pt x="2038121" y="184658"/>
                  </a:lnTo>
                  <a:lnTo>
                    <a:pt x="2030882" y="184658"/>
                  </a:lnTo>
                  <a:lnTo>
                    <a:pt x="2026945" y="182753"/>
                  </a:lnTo>
                  <a:lnTo>
                    <a:pt x="2023135" y="179451"/>
                  </a:lnTo>
                  <a:lnTo>
                    <a:pt x="2027986" y="174625"/>
                  </a:lnTo>
                  <a:lnTo>
                    <a:pt x="2047392" y="155321"/>
                  </a:lnTo>
                  <a:lnTo>
                    <a:pt x="2046859" y="154686"/>
                  </a:lnTo>
                  <a:lnTo>
                    <a:pt x="2046249" y="154051"/>
                  </a:lnTo>
                  <a:lnTo>
                    <a:pt x="2045868" y="153797"/>
                  </a:lnTo>
                  <a:lnTo>
                    <a:pt x="2044217" y="152146"/>
                  </a:lnTo>
                  <a:lnTo>
                    <a:pt x="2040661" y="148590"/>
                  </a:lnTo>
                  <a:lnTo>
                    <a:pt x="2039289" y="147828"/>
                  </a:lnTo>
                  <a:lnTo>
                    <a:pt x="2037105" y="146710"/>
                  </a:lnTo>
                  <a:lnTo>
                    <a:pt x="2037105" y="156464"/>
                  </a:lnTo>
                  <a:lnTo>
                    <a:pt x="2018944" y="174625"/>
                  </a:lnTo>
                  <a:lnTo>
                    <a:pt x="2016277" y="171577"/>
                  </a:lnTo>
                  <a:lnTo>
                    <a:pt x="2015210" y="168910"/>
                  </a:lnTo>
                  <a:lnTo>
                    <a:pt x="2015236" y="161290"/>
                  </a:lnTo>
                  <a:lnTo>
                    <a:pt x="2016404" y="158623"/>
                  </a:lnTo>
                  <a:lnTo>
                    <a:pt x="2018817" y="156083"/>
                  </a:lnTo>
                  <a:lnTo>
                    <a:pt x="2021484" y="153416"/>
                  </a:lnTo>
                  <a:lnTo>
                    <a:pt x="2021230" y="153416"/>
                  </a:lnTo>
                  <a:lnTo>
                    <a:pt x="2025040" y="152146"/>
                  </a:lnTo>
                  <a:lnTo>
                    <a:pt x="2028850" y="152400"/>
                  </a:lnTo>
                  <a:lnTo>
                    <a:pt x="2031390" y="152654"/>
                  </a:lnTo>
                  <a:lnTo>
                    <a:pt x="2034057" y="154051"/>
                  </a:lnTo>
                  <a:lnTo>
                    <a:pt x="2037105" y="156464"/>
                  </a:lnTo>
                  <a:lnTo>
                    <a:pt x="2037105" y="146710"/>
                  </a:lnTo>
                  <a:lnTo>
                    <a:pt x="2035073" y="145669"/>
                  </a:lnTo>
                  <a:lnTo>
                    <a:pt x="2029358" y="145415"/>
                  </a:lnTo>
                  <a:lnTo>
                    <a:pt x="2023325" y="145415"/>
                  </a:lnTo>
                  <a:lnTo>
                    <a:pt x="2018690" y="147320"/>
                  </a:lnTo>
                  <a:lnTo>
                    <a:pt x="2014245" y="151638"/>
                  </a:lnTo>
                  <a:lnTo>
                    <a:pt x="2009800" y="156083"/>
                  </a:lnTo>
                  <a:lnTo>
                    <a:pt x="2007641" y="161290"/>
                  </a:lnTo>
                  <a:lnTo>
                    <a:pt x="2007946" y="168402"/>
                  </a:lnTo>
                  <a:lnTo>
                    <a:pt x="2008022" y="170180"/>
                  </a:lnTo>
                  <a:lnTo>
                    <a:pt x="2035632" y="192278"/>
                  </a:lnTo>
                  <a:lnTo>
                    <a:pt x="2038502" y="192278"/>
                  </a:lnTo>
                  <a:lnTo>
                    <a:pt x="2043709" y="189992"/>
                  </a:lnTo>
                  <a:lnTo>
                    <a:pt x="2049043" y="184658"/>
                  </a:lnTo>
                  <a:lnTo>
                    <a:pt x="2052218" y="181483"/>
                  </a:lnTo>
                  <a:lnTo>
                    <a:pt x="2054301" y="177546"/>
                  </a:lnTo>
                  <a:lnTo>
                    <a:pt x="2054517" y="176403"/>
                  </a:lnTo>
                  <a:lnTo>
                    <a:pt x="2055241" y="171577"/>
                  </a:lnTo>
                  <a:lnTo>
                    <a:pt x="2076602" y="171577"/>
                  </a:lnTo>
                  <a:lnTo>
                    <a:pt x="2081047" y="176022"/>
                  </a:lnTo>
                  <a:lnTo>
                    <a:pt x="2086508" y="170561"/>
                  </a:lnTo>
                  <a:lnTo>
                    <a:pt x="2070760" y="154686"/>
                  </a:lnTo>
                  <a:lnTo>
                    <a:pt x="2072919" y="154940"/>
                  </a:lnTo>
                  <a:lnTo>
                    <a:pt x="2074710" y="154940"/>
                  </a:lnTo>
                  <a:lnTo>
                    <a:pt x="2075434" y="154686"/>
                  </a:lnTo>
                  <a:lnTo>
                    <a:pt x="2077237" y="154051"/>
                  </a:lnTo>
                  <a:lnTo>
                    <a:pt x="2079523" y="153416"/>
                  </a:lnTo>
                  <a:lnTo>
                    <a:pt x="2081555" y="152146"/>
                  </a:lnTo>
                  <a:lnTo>
                    <a:pt x="2084082" y="149606"/>
                  </a:lnTo>
                  <a:lnTo>
                    <a:pt x="2085873" y="147828"/>
                  </a:lnTo>
                  <a:lnTo>
                    <a:pt x="2087524" y="144780"/>
                  </a:lnTo>
                  <a:lnTo>
                    <a:pt x="2089302" y="137414"/>
                  </a:lnTo>
                  <a:close/>
                </a:path>
                <a:path w="9090025" h="247014">
                  <a:moveTo>
                    <a:pt x="2105558" y="99822"/>
                  </a:moveTo>
                  <a:lnTo>
                    <a:pt x="2099970" y="94361"/>
                  </a:lnTo>
                  <a:lnTo>
                    <a:pt x="2083079" y="111252"/>
                  </a:lnTo>
                  <a:lnTo>
                    <a:pt x="2088667" y="116713"/>
                  </a:lnTo>
                  <a:lnTo>
                    <a:pt x="2105558" y="99822"/>
                  </a:lnTo>
                  <a:close/>
                </a:path>
                <a:path w="9090025" h="247014">
                  <a:moveTo>
                    <a:pt x="2143785" y="88392"/>
                  </a:moveTo>
                  <a:lnTo>
                    <a:pt x="2114397" y="58928"/>
                  </a:lnTo>
                  <a:lnTo>
                    <a:pt x="2098954" y="43434"/>
                  </a:lnTo>
                  <a:lnTo>
                    <a:pt x="2095398" y="46990"/>
                  </a:lnTo>
                  <a:lnTo>
                    <a:pt x="2096287" y="49911"/>
                  </a:lnTo>
                  <a:lnTo>
                    <a:pt x="2096668" y="53467"/>
                  </a:lnTo>
                  <a:lnTo>
                    <a:pt x="2096211" y="61214"/>
                  </a:lnTo>
                  <a:lnTo>
                    <a:pt x="2096160" y="62230"/>
                  </a:lnTo>
                  <a:lnTo>
                    <a:pt x="2095271" y="66675"/>
                  </a:lnTo>
                  <a:lnTo>
                    <a:pt x="2093569" y="71247"/>
                  </a:lnTo>
                  <a:lnTo>
                    <a:pt x="2093747" y="71247"/>
                  </a:lnTo>
                  <a:lnTo>
                    <a:pt x="2098954" y="76454"/>
                  </a:lnTo>
                  <a:lnTo>
                    <a:pt x="2100097" y="74168"/>
                  </a:lnTo>
                  <a:lnTo>
                    <a:pt x="2100986" y="71247"/>
                  </a:lnTo>
                  <a:lnTo>
                    <a:pt x="2102764" y="64516"/>
                  </a:lnTo>
                  <a:lnTo>
                    <a:pt x="2103145" y="62230"/>
                  </a:lnTo>
                  <a:lnTo>
                    <a:pt x="2103272" y="58928"/>
                  </a:lnTo>
                  <a:lnTo>
                    <a:pt x="2138324" y="93853"/>
                  </a:lnTo>
                  <a:lnTo>
                    <a:pt x="2143785" y="88392"/>
                  </a:lnTo>
                  <a:close/>
                </a:path>
                <a:path w="9090025" h="247014">
                  <a:moveTo>
                    <a:pt x="2170963" y="61214"/>
                  </a:moveTo>
                  <a:lnTo>
                    <a:pt x="2151786" y="24892"/>
                  </a:lnTo>
                  <a:lnTo>
                    <a:pt x="2149500" y="17018"/>
                  </a:lnTo>
                  <a:lnTo>
                    <a:pt x="2148713" y="12319"/>
                  </a:lnTo>
                  <a:lnTo>
                    <a:pt x="2148357" y="10160"/>
                  </a:lnTo>
                  <a:lnTo>
                    <a:pt x="2148103" y="4318"/>
                  </a:lnTo>
                  <a:lnTo>
                    <a:pt x="2143912" y="0"/>
                  </a:lnTo>
                  <a:lnTo>
                    <a:pt x="2114956" y="28956"/>
                  </a:lnTo>
                  <a:lnTo>
                    <a:pt x="2120163" y="34290"/>
                  </a:lnTo>
                  <a:lnTo>
                    <a:pt x="2142134" y="12319"/>
                  </a:lnTo>
                  <a:lnTo>
                    <a:pt x="2142426" y="17018"/>
                  </a:lnTo>
                  <a:lnTo>
                    <a:pt x="2158263" y="58420"/>
                  </a:lnTo>
                  <a:lnTo>
                    <a:pt x="2165375" y="66929"/>
                  </a:lnTo>
                  <a:lnTo>
                    <a:pt x="2170963" y="61214"/>
                  </a:lnTo>
                  <a:close/>
                </a:path>
                <a:path w="9090025" h="247014">
                  <a:moveTo>
                    <a:pt x="2225573" y="204089"/>
                  </a:moveTo>
                  <a:lnTo>
                    <a:pt x="2221623" y="200152"/>
                  </a:lnTo>
                  <a:lnTo>
                    <a:pt x="2180742" y="159385"/>
                  </a:lnTo>
                  <a:lnTo>
                    <a:pt x="2175154" y="165100"/>
                  </a:lnTo>
                  <a:lnTo>
                    <a:pt x="2210206" y="200152"/>
                  </a:lnTo>
                  <a:lnTo>
                    <a:pt x="2201824" y="198501"/>
                  </a:lnTo>
                  <a:lnTo>
                    <a:pt x="2151532" y="188595"/>
                  </a:lnTo>
                  <a:lnTo>
                    <a:pt x="2145563" y="194691"/>
                  </a:lnTo>
                  <a:lnTo>
                    <a:pt x="2190267" y="239395"/>
                  </a:lnTo>
                  <a:lnTo>
                    <a:pt x="2195982" y="233680"/>
                  </a:lnTo>
                  <a:lnTo>
                    <a:pt x="2160803" y="198501"/>
                  </a:lnTo>
                  <a:lnTo>
                    <a:pt x="2219477" y="210185"/>
                  </a:lnTo>
                  <a:lnTo>
                    <a:pt x="2225573" y="204089"/>
                  </a:lnTo>
                  <a:close/>
                </a:path>
                <a:path w="9090025" h="247014">
                  <a:moveTo>
                    <a:pt x="2255672" y="165100"/>
                  </a:moveTo>
                  <a:lnTo>
                    <a:pt x="2254529" y="161544"/>
                  </a:lnTo>
                  <a:lnTo>
                    <a:pt x="2253386" y="157861"/>
                  </a:lnTo>
                  <a:lnTo>
                    <a:pt x="2250719" y="153924"/>
                  </a:lnTo>
                  <a:lnTo>
                    <a:pt x="2248179" y="151384"/>
                  </a:lnTo>
                  <a:lnTo>
                    <a:pt x="2248179" y="171831"/>
                  </a:lnTo>
                  <a:lnTo>
                    <a:pt x="2247036" y="175133"/>
                  </a:lnTo>
                  <a:lnTo>
                    <a:pt x="2244242" y="177800"/>
                  </a:lnTo>
                  <a:lnTo>
                    <a:pt x="2241448" y="180594"/>
                  </a:lnTo>
                  <a:lnTo>
                    <a:pt x="2238146" y="181864"/>
                  </a:lnTo>
                  <a:lnTo>
                    <a:pt x="2215629" y="162306"/>
                  </a:lnTo>
                  <a:lnTo>
                    <a:pt x="2215578" y="161544"/>
                  </a:lnTo>
                  <a:lnTo>
                    <a:pt x="2215464" y="159893"/>
                  </a:lnTo>
                  <a:lnTo>
                    <a:pt x="2215413" y="159004"/>
                  </a:lnTo>
                  <a:lnTo>
                    <a:pt x="2216683" y="155702"/>
                  </a:lnTo>
                  <a:lnTo>
                    <a:pt x="2219477" y="153035"/>
                  </a:lnTo>
                  <a:lnTo>
                    <a:pt x="2222144" y="150368"/>
                  </a:lnTo>
                  <a:lnTo>
                    <a:pt x="2225446" y="149098"/>
                  </a:lnTo>
                  <a:lnTo>
                    <a:pt x="2233193" y="149606"/>
                  </a:lnTo>
                  <a:lnTo>
                    <a:pt x="2237130" y="151638"/>
                  </a:lnTo>
                  <a:lnTo>
                    <a:pt x="2245385" y="159893"/>
                  </a:lnTo>
                  <a:lnTo>
                    <a:pt x="2247671" y="163957"/>
                  </a:lnTo>
                  <a:lnTo>
                    <a:pt x="2248103" y="170815"/>
                  </a:lnTo>
                  <a:lnTo>
                    <a:pt x="2248179" y="171831"/>
                  </a:lnTo>
                  <a:lnTo>
                    <a:pt x="2248179" y="151384"/>
                  </a:lnTo>
                  <a:lnTo>
                    <a:pt x="2245893" y="149098"/>
                  </a:lnTo>
                  <a:lnTo>
                    <a:pt x="2241448" y="144653"/>
                  </a:lnTo>
                  <a:lnTo>
                    <a:pt x="2235987" y="141986"/>
                  </a:lnTo>
                  <a:lnTo>
                    <a:pt x="2224125" y="141986"/>
                  </a:lnTo>
                  <a:lnTo>
                    <a:pt x="2219350" y="144018"/>
                  </a:lnTo>
                  <a:lnTo>
                    <a:pt x="2210841" y="152527"/>
                  </a:lnTo>
                  <a:lnTo>
                    <a:pt x="2208682" y="157099"/>
                  </a:lnTo>
                  <a:lnTo>
                    <a:pt x="2208161" y="163957"/>
                  </a:lnTo>
                  <a:lnTo>
                    <a:pt x="2207933" y="166751"/>
                  </a:lnTo>
                  <a:lnTo>
                    <a:pt x="2207907" y="168783"/>
                  </a:lnTo>
                  <a:lnTo>
                    <a:pt x="2210587" y="174625"/>
                  </a:lnTo>
                  <a:lnTo>
                    <a:pt x="2216683" y="180594"/>
                  </a:lnTo>
                  <a:lnTo>
                    <a:pt x="2222144" y="186055"/>
                  </a:lnTo>
                  <a:lnTo>
                    <a:pt x="2227732" y="188849"/>
                  </a:lnTo>
                  <a:lnTo>
                    <a:pt x="2239162" y="189103"/>
                  </a:lnTo>
                  <a:lnTo>
                    <a:pt x="2244242" y="186817"/>
                  </a:lnTo>
                  <a:lnTo>
                    <a:pt x="2248814" y="182372"/>
                  </a:lnTo>
                  <a:lnTo>
                    <a:pt x="2249297" y="181864"/>
                  </a:lnTo>
                  <a:lnTo>
                    <a:pt x="2251608" y="179451"/>
                  </a:lnTo>
                  <a:lnTo>
                    <a:pt x="2253513" y="176276"/>
                  </a:lnTo>
                  <a:lnTo>
                    <a:pt x="2254656" y="172466"/>
                  </a:lnTo>
                  <a:lnTo>
                    <a:pt x="2255672" y="168783"/>
                  </a:lnTo>
                  <a:lnTo>
                    <a:pt x="2255672" y="165100"/>
                  </a:lnTo>
                  <a:close/>
                </a:path>
                <a:path w="9090025" h="247014">
                  <a:moveTo>
                    <a:pt x="2284628" y="145034"/>
                  </a:moveTo>
                  <a:lnTo>
                    <a:pt x="2282901" y="141224"/>
                  </a:lnTo>
                  <a:lnTo>
                    <a:pt x="2264435" y="100330"/>
                  </a:lnTo>
                  <a:lnTo>
                    <a:pt x="2258847" y="106045"/>
                  </a:lnTo>
                  <a:lnTo>
                    <a:pt x="2271420" y="132969"/>
                  </a:lnTo>
                  <a:lnTo>
                    <a:pt x="2274214" y="139065"/>
                  </a:lnTo>
                  <a:lnTo>
                    <a:pt x="2275484" y="141224"/>
                  </a:lnTo>
                  <a:lnTo>
                    <a:pt x="2272563" y="139573"/>
                  </a:lnTo>
                  <a:lnTo>
                    <a:pt x="2269769" y="138049"/>
                  </a:lnTo>
                  <a:lnTo>
                    <a:pt x="2266848" y="136779"/>
                  </a:lnTo>
                  <a:lnTo>
                    <a:pt x="2240559" y="124333"/>
                  </a:lnTo>
                  <a:lnTo>
                    <a:pt x="2234717" y="130175"/>
                  </a:lnTo>
                  <a:lnTo>
                    <a:pt x="2279408" y="150253"/>
                  </a:lnTo>
                  <a:lnTo>
                    <a:pt x="2284628" y="145034"/>
                  </a:lnTo>
                  <a:close/>
                </a:path>
                <a:path w="9090025" h="247014">
                  <a:moveTo>
                    <a:pt x="2303043" y="99822"/>
                  </a:moveTo>
                  <a:lnTo>
                    <a:pt x="2297455" y="94234"/>
                  </a:lnTo>
                  <a:lnTo>
                    <a:pt x="2280564" y="111125"/>
                  </a:lnTo>
                  <a:lnTo>
                    <a:pt x="2286152" y="116713"/>
                  </a:lnTo>
                  <a:lnTo>
                    <a:pt x="2303043" y="99822"/>
                  </a:lnTo>
                  <a:close/>
                </a:path>
                <a:path w="9090025" h="247014">
                  <a:moveTo>
                    <a:pt x="2341397" y="88265"/>
                  </a:moveTo>
                  <a:lnTo>
                    <a:pt x="2311844" y="58801"/>
                  </a:lnTo>
                  <a:lnTo>
                    <a:pt x="2296439" y="43434"/>
                  </a:lnTo>
                  <a:lnTo>
                    <a:pt x="2292883" y="46863"/>
                  </a:lnTo>
                  <a:lnTo>
                    <a:pt x="2293899" y="49784"/>
                  </a:lnTo>
                  <a:lnTo>
                    <a:pt x="2293963" y="58801"/>
                  </a:lnTo>
                  <a:lnTo>
                    <a:pt x="2293810" y="61341"/>
                  </a:lnTo>
                  <a:lnTo>
                    <a:pt x="2293772" y="62103"/>
                  </a:lnTo>
                  <a:lnTo>
                    <a:pt x="2292756" y="66548"/>
                  </a:lnTo>
                  <a:lnTo>
                    <a:pt x="2291054" y="71247"/>
                  </a:lnTo>
                  <a:lnTo>
                    <a:pt x="2291219" y="71247"/>
                  </a:lnTo>
                  <a:lnTo>
                    <a:pt x="2296439" y="76454"/>
                  </a:lnTo>
                  <a:lnTo>
                    <a:pt x="2297582" y="74041"/>
                  </a:lnTo>
                  <a:lnTo>
                    <a:pt x="2298471" y="71247"/>
                  </a:lnTo>
                  <a:lnTo>
                    <a:pt x="2300249" y="64389"/>
                  </a:lnTo>
                  <a:lnTo>
                    <a:pt x="2300757" y="61341"/>
                  </a:lnTo>
                  <a:lnTo>
                    <a:pt x="2300884" y="58801"/>
                  </a:lnTo>
                  <a:lnTo>
                    <a:pt x="2335809" y="93853"/>
                  </a:lnTo>
                  <a:lnTo>
                    <a:pt x="2341397" y="88265"/>
                  </a:lnTo>
                  <a:close/>
                </a:path>
                <a:path w="9090025" h="247014">
                  <a:moveTo>
                    <a:pt x="2368550" y="61341"/>
                  </a:moveTo>
                  <a:lnTo>
                    <a:pt x="2349271" y="24765"/>
                  </a:lnTo>
                  <a:lnTo>
                    <a:pt x="2346985" y="16891"/>
                  </a:lnTo>
                  <a:lnTo>
                    <a:pt x="2346198" y="12319"/>
                  </a:lnTo>
                  <a:lnTo>
                    <a:pt x="2345842" y="10160"/>
                  </a:lnTo>
                  <a:lnTo>
                    <a:pt x="2345588" y="4191"/>
                  </a:lnTo>
                  <a:lnTo>
                    <a:pt x="2341397" y="0"/>
                  </a:lnTo>
                  <a:lnTo>
                    <a:pt x="2312441" y="28956"/>
                  </a:lnTo>
                  <a:lnTo>
                    <a:pt x="2317648" y="34163"/>
                  </a:lnTo>
                  <a:lnTo>
                    <a:pt x="2339619" y="12319"/>
                  </a:lnTo>
                  <a:lnTo>
                    <a:pt x="2339898" y="16891"/>
                  </a:lnTo>
                  <a:lnTo>
                    <a:pt x="2352192" y="51943"/>
                  </a:lnTo>
                  <a:lnTo>
                    <a:pt x="2355748" y="58293"/>
                  </a:lnTo>
                  <a:lnTo>
                    <a:pt x="2359431" y="63246"/>
                  </a:lnTo>
                  <a:lnTo>
                    <a:pt x="2362860" y="66802"/>
                  </a:lnTo>
                  <a:lnTo>
                    <a:pt x="2368321" y="61341"/>
                  </a:lnTo>
                  <a:lnTo>
                    <a:pt x="2368550" y="61341"/>
                  </a:lnTo>
                  <a:close/>
                </a:path>
                <a:path w="9090025" h="247014">
                  <a:moveTo>
                    <a:pt x="2414168" y="209042"/>
                  </a:moveTo>
                  <a:lnTo>
                    <a:pt x="2414041" y="206121"/>
                  </a:lnTo>
                  <a:lnTo>
                    <a:pt x="2412771" y="203073"/>
                  </a:lnTo>
                  <a:lnTo>
                    <a:pt x="2411628" y="200152"/>
                  </a:lnTo>
                  <a:lnTo>
                    <a:pt x="2409215" y="196850"/>
                  </a:lnTo>
                  <a:lnTo>
                    <a:pt x="2405532" y="193040"/>
                  </a:lnTo>
                  <a:lnTo>
                    <a:pt x="2375052" y="162560"/>
                  </a:lnTo>
                  <a:lnTo>
                    <a:pt x="2369083" y="168529"/>
                  </a:lnTo>
                  <a:lnTo>
                    <a:pt x="2402484" y="201930"/>
                  </a:lnTo>
                  <a:lnTo>
                    <a:pt x="2404135" y="203962"/>
                  </a:lnTo>
                  <a:lnTo>
                    <a:pt x="2404897" y="205486"/>
                  </a:lnTo>
                  <a:lnTo>
                    <a:pt x="2405659" y="207137"/>
                  </a:lnTo>
                  <a:lnTo>
                    <a:pt x="2405723" y="209042"/>
                  </a:lnTo>
                  <a:lnTo>
                    <a:pt x="2405024" y="212344"/>
                  </a:lnTo>
                  <a:lnTo>
                    <a:pt x="2404135" y="213868"/>
                  </a:lnTo>
                  <a:lnTo>
                    <a:pt x="2400579" y="217424"/>
                  </a:lnTo>
                  <a:lnTo>
                    <a:pt x="2398420" y="218313"/>
                  </a:lnTo>
                  <a:lnTo>
                    <a:pt x="2396007" y="218313"/>
                  </a:lnTo>
                  <a:lnTo>
                    <a:pt x="2393594" y="218186"/>
                  </a:lnTo>
                  <a:lnTo>
                    <a:pt x="2390673" y="216408"/>
                  </a:lnTo>
                  <a:lnTo>
                    <a:pt x="2387117" y="213106"/>
                  </a:lnTo>
                  <a:lnTo>
                    <a:pt x="2382418" y="219202"/>
                  </a:lnTo>
                  <a:lnTo>
                    <a:pt x="2386863" y="223774"/>
                  </a:lnTo>
                  <a:lnTo>
                    <a:pt x="2391181" y="226060"/>
                  </a:lnTo>
                  <a:lnTo>
                    <a:pt x="2397645" y="226441"/>
                  </a:lnTo>
                  <a:lnTo>
                    <a:pt x="2399817" y="226441"/>
                  </a:lnTo>
                  <a:lnTo>
                    <a:pt x="2404008" y="224536"/>
                  </a:lnTo>
                  <a:lnTo>
                    <a:pt x="2407945" y="220726"/>
                  </a:lnTo>
                  <a:lnTo>
                    <a:pt x="2410358" y="218313"/>
                  </a:lnTo>
                  <a:lnTo>
                    <a:pt x="2410485" y="218186"/>
                  </a:lnTo>
                  <a:lnTo>
                    <a:pt x="2410993" y="217424"/>
                  </a:lnTo>
                  <a:lnTo>
                    <a:pt x="2412390" y="215138"/>
                  </a:lnTo>
                  <a:lnTo>
                    <a:pt x="2414168" y="209042"/>
                  </a:lnTo>
                  <a:close/>
                </a:path>
                <a:path w="9090025" h="247014">
                  <a:moveTo>
                    <a:pt x="2456713" y="170307"/>
                  </a:moveTo>
                  <a:lnTo>
                    <a:pt x="2444267" y="161417"/>
                  </a:lnTo>
                  <a:lnTo>
                    <a:pt x="2435123" y="152273"/>
                  </a:lnTo>
                  <a:lnTo>
                    <a:pt x="2425382" y="144653"/>
                  </a:lnTo>
                  <a:lnTo>
                    <a:pt x="2426855" y="144653"/>
                  </a:lnTo>
                  <a:lnTo>
                    <a:pt x="2446096" y="144653"/>
                  </a:lnTo>
                  <a:lnTo>
                    <a:pt x="2445842" y="144399"/>
                  </a:lnTo>
                  <a:lnTo>
                    <a:pt x="2424785" y="144399"/>
                  </a:lnTo>
                  <a:lnTo>
                    <a:pt x="2425077" y="144526"/>
                  </a:lnTo>
                  <a:lnTo>
                    <a:pt x="2423312" y="144399"/>
                  </a:lnTo>
                  <a:lnTo>
                    <a:pt x="2421407" y="144145"/>
                  </a:lnTo>
                  <a:lnTo>
                    <a:pt x="2419375" y="144653"/>
                  </a:lnTo>
                  <a:lnTo>
                    <a:pt x="2416962" y="145796"/>
                  </a:lnTo>
                  <a:lnTo>
                    <a:pt x="2414676" y="146812"/>
                  </a:lnTo>
                  <a:lnTo>
                    <a:pt x="2403170" y="159893"/>
                  </a:lnTo>
                  <a:lnTo>
                    <a:pt x="2401722" y="162941"/>
                  </a:lnTo>
                  <a:lnTo>
                    <a:pt x="2401214" y="165608"/>
                  </a:lnTo>
                  <a:lnTo>
                    <a:pt x="2401328" y="166751"/>
                  </a:lnTo>
                  <a:lnTo>
                    <a:pt x="2401443" y="167894"/>
                  </a:lnTo>
                  <a:lnTo>
                    <a:pt x="2401506" y="168529"/>
                  </a:lnTo>
                  <a:lnTo>
                    <a:pt x="2401633" y="169799"/>
                  </a:lnTo>
                  <a:lnTo>
                    <a:pt x="2401722" y="170688"/>
                  </a:lnTo>
                  <a:lnTo>
                    <a:pt x="2402865" y="173355"/>
                  </a:lnTo>
                  <a:lnTo>
                    <a:pt x="2404643" y="176149"/>
                  </a:lnTo>
                  <a:lnTo>
                    <a:pt x="2410739" y="171450"/>
                  </a:lnTo>
                  <a:lnTo>
                    <a:pt x="2409088" y="168529"/>
                  </a:lnTo>
                  <a:lnTo>
                    <a:pt x="2408326" y="166116"/>
                  </a:lnTo>
                  <a:lnTo>
                    <a:pt x="2408656" y="164211"/>
                  </a:lnTo>
                  <a:lnTo>
                    <a:pt x="2408745" y="163576"/>
                  </a:lnTo>
                  <a:lnTo>
                    <a:pt x="2408859" y="162560"/>
                  </a:lnTo>
                  <a:lnTo>
                    <a:pt x="2408961" y="161798"/>
                  </a:lnTo>
                  <a:lnTo>
                    <a:pt x="2423058" y="152273"/>
                  </a:lnTo>
                  <a:lnTo>
                    <a:pt x="2425217" y="153416"/>
                  </a:lnTo>
                  <a:lnTo>
                    <a:pt x="2428900" y="157099"/>
                  </a:lnTo>
                  <a:lnTo>
                    <a:pt x="2427503" y="159893"/>
                  </a:lnTo>
                  <a:lnTo>
                    <a:pt x="2424836" y="163830"/>
                  </a:lnTo>
                  <a:lnTo>
                    <a:pt x="2418994" y="171196"/>
                  </a:lnTo>
                  <a:lnTo>
                    <a:pt x="2417559" y="173355"/>
                  </a:lnTo>
                  <a:lnTo>
                    <a:pt x="2416835" y="174498"/>
                  </a:lnTo>
                  <a:lnTo>
                    <a:pt x="2415819" y="176403"/>
                  </a:lnTo>
                  <a:lnTo>
                    <a:pt x="2415057" y="178308"/>
                  </a:lnTo>
                  <a:lnTo>
                    <a:pt x="2414308" y="182118"/>
                  </a:lnTo>
                  <a:lnTo>
                    <a:pt x="2414371" y="183515"/>
                  </a:lnTo>
                  <a:lnTo>
                    <a:pt x="2414460" y="184277"/>
                  </a:lnTo>
                  <a:lnTo>
                    <a:pt x="2415489" y="187579"/>
                  </a:lnTo>
                  <a:lnTo>
                    <a:pt x="2415565" y="187833"/>
                  </a:lnTo>
                  <a:lnTo>
                    <a:pt x="2415692" y="188214"/>
                  </a:lnTo>
                  <a:lnTo>
                    <a:pt x="2416708" y="190119"/>
                  </a:lnTo>
                  <a:lnTo>
                    <a:pt x="2418359" y="191643"/>
                  </a:lnTo>
                  <a:lnTo>
                    <a:pt x="2421026" y="194437"/>
                  </a:lnTo>
                  <a:lnTo>
                    <a:pt x="2424201" y="195580"/>
                  </a:lnTo>
                  <a:lnTo>
                    <a:pt x="2430945" y="195580"/>
                  </a:lnTo>
                  <a:lnTo>
                    <a:pt x="2435123" y="193421"/>
                  </a:lnTo>
                  <a:lnTo>
                    <a:pt x="2440711" y="187833"/>
                  </a:lnTo>
                  <a:lnTo>
                    <a:pt x="2442489" y="185293"/>
                  </a:lnTo>
                  <a:lnTo>
                    <a:pt x="2443848" y="182245"/>
                  </a:lnTo>
                  <a:lnTo>
                    <a:pt x="2444775" y="180086"/>
                  </a:lnTo>
                  <a:lnTo>
                    <a:pt x="2445474" y="177165"/>
                  </a:lnTo>
                  <a:lnTo>
                    <a:pt x="2439949" y="177165"/>
                  </a:lnTo>
                  <a:lnTo>
                    <a:pt x="2439212" y="179705"/>
                  </a:lnTo>
                  <a:lnTo>
                    <a:pt x="2439187" y="179832"/>
                  </a:lnTo>
                  <a:lnTo>
                    <a:pt x="2437790" y="182118"/>
                  </a:lnTo>
                  <a:lnTo>
                    <a:pt x="2435631" y="184277"/>
                  </a:lnTo>
                  <a:lnTo>
                    <a:pt x="2433599" y="186436"/>
                  </a:lnTo>
                  <a:lnTo>
                    <a:pt x="2431440" y="187579"/>
                  </a:lnTo>
                  <a:lnTo>
                    <a:pt x="2421915" y="180975"/>
                  </a:lnTo>
                  <a:lnTo>
                    <a:pt x="2422042" y="179705"/>
                  </a:lnTo>
                  <a:lnTo>
                    <a:pt x="2422550" y="178308"/>
                  </a:lnTo>
                  <a:lnTo>
                    <a:pt x="2423007" y="177165"/>
                  </a:lnTo>
                  <a:lnTo>
                    <a:pt x="2439949" y="177165"/>
                  </a:lnTo>
                  <a:lnTo>
                    <a:pt x="2440025" y="176911"/>
                  </a:lnTo>
                  <a:lnTo>
                    <a:pt x="2423134" y="176911"/>
                  </a:lnTo>
                  <a:lnTo>
                    <a:pt x="2424328" y="175006"/>
                  </a:lnTo>
                  <a:lnTo>
                    <a:pt x="2429662" y="167894"/>
                  </a:lnTo>
                  <a:lnTo>
                    <a:pt x="2431948" y="164211"/>
                  </a:lnTo>
                  <a:lnTo>
                    <a:pt x="2440584" y="172212"/>
                  </a:lnTo>
                  <a:lnTo>
                    <a:pt x="2440584" y="175006"/>
                  </a:lnTo>
                  <a:lnTo>
                    <a:pt x="2440025" y="176911"/>
                  </a:lnTo>
                  <a:lnTo>
                    <a:pt x="2445537" y="176911"/>
                  </a:lnTo>
                  <a:lnTo>
                    <a:pt x="2445613" y="176149"/>
                  </a:lnTo>
                  <a:lnTo>
                    <a:pt x="2445728" y="175006"/>
                  </a:lnTo>
                  <a:lnTo>
                    <a:pt x="2445778" y="174498"/>
                  </a:lnTo>
                  <a:lnTo>
                    <a:pt x="2445893" y="173355"/>
                  </a:lnTo>
                  <a:lnTo>
                    <a:pt x="2446058" y="173355"/>
                  </a:lnTo>
                  <a:lnTo>
                    <a:pt x="2447569" y="174625"/>
                  </a:lnTo>
                  <a:lnTo>
                    <a:pt x="2449220" y="175514"/>
                  </a:lnTo>
                  <a:lnTo>
                    <a:pt x="2450998" y="176149"/>
                  </a:lnTo>
                  <a:lnTo>
                    <a:pt x="2453729" y="173355"/>
                  </a:lnTo>
                  <a:lnTo>
                    <a:pt x="2456713" y="170307"/>
                  </a:lnTo>
                  <a:close/>
                </a:path>
                <a:path w="9090025" h="247014">
                  <a:moveTo>
                    <a:pt x="2469794" y="157353"/>
                  </a:moveTo>
                  <a:lnTo>
                    <a:pt x="2457094" y="144653"/>
                  </a:lnTo>
                  <a:lnTo>
                    <a:pt x="2446096" y="144653"/>
                  </a:lnTo>
                  <a:lnTo>
                    <a:pt x="2464320" y="162826"/>
                  </a:lnTo>
                  <a:lnTo>
                    <a:pt x="2469794" y="157353"/>
                  </a:lnTo>
                  <a:close/>
                </a:path>
                <a:path w="9090025" h="247014">
                  <a:moveTo>
                    <a:pt x="2490622" y="136398"/>
                  </a:moveTo>
                  <a:lnTo>
                    <a:pt x="2471318" y="117221"/>
                  </a:lnTo>
                  <a:lnTo>
                    <a:pt x="2470683" y="116586"/>
                  </a:lnTo>
                  <a:lnTo>
                    <a:pt x="2468143" y="113919"/>
                  </a:lnTo>
                  <a:lnTo>
                    <a:pt x="2466238" y="112268"/>
                  </a:lnTo>
                  <a:lnTo>
                    <a:pt x="2463190" y="110236"/>
                  </a:lnTo>
                  <a:lnTo>
                    <a:pt x="2461285" y="109474"/>
                  </a:lnTo>
                  <a:lnTo>
                    <a:pt x="2459253" y="109093"/>
                  </a:lnTo>
                  <a:lnTo>
                    <a:pt x="2457348" y="108839"/>
                  </a:lnTo>
                  <a:lnTo>
                    <a:pt x="2455189" y="109093"/>
                  </a:lnTo>
                  <a:lnTo>
                    <a:pt x="2452446" y="110236"/>
                  </a:lnTo>
                  <a:lnTo>
                    <a:pt x="2450490" y="110998"/>
                  </a:lnTo>
                  <a:lnTo>
                    <a:pt x="2448331" y="112395"/>
                  </a:lnTo>
                  <a:lnTo>
                    <a:pt x="2446426" y="114427"/>
                  </a:lnTo>
                  <a:lnTo>
                    <a:pt x="2441854" y="118872"/>
                  </a:lnTo>
                  <a:lnTo>
                    <a:pt x="2440203" y="124079"/>
                  </a:lnTo>
                  <a:lnTo>
                    <a:pt x="2441473" y="130048"/>
                  </a:lnTo>
                  <a:lnTo>
                    <a:pt x="2436774" y="125476"/>
                  </a:lnTo>
                  <a:lnTo>
                    <a:pt x="2431821" y="130429"/>
                  </a:lnTo>
                  <a:lnTo>
                    <a:pt x="2445842" y="144399"/>
                  </a:lnTo>
                  <a:lnTo>
                    <a:pt x="2456840" y="144399"/>
                  </a:lnTo>
                  <a:lnTo>
                    <a:pt x="2447950" y="135509"/>
                  </a:lnTo>
                  <a:lnTo>
                    <a:pt x="2445918" y="131826"/>
                  </a:lnTo>
                  <a:lnTo>
                    <a:pt x="2446020" y="130429"/>
                  </a:lnTo>
                  <a:lnTo>
                    <a:pt x="2446045" y="130048"/>
                  </a:lnTo>
                  <a:lnTo>
                    <a:pt x="2446413" y="125476"/>
                  </a:lnTo>
                  <a:lnTo>
                    <a:pt x="2455989" y="117221"/>
                  </a:lnTo>
                  <a:lnTo>
                    <a:pt x="2458237" y="117221"/>
                  </a:lnTo>
                  <a:lnTo>
                    <a:pt x="2461285" y="118491"/>
                  </a:lnTo>
                  <a:lnTo>
                    <a:pt x="2463190" y="120015"/>
                  </a:lnTo>
                  <a:lnTo>
                    <a:pt x="2485161" y="141986"/>
                  </a:lnTo>
                  <a:lnTo>
                    <a:pt x="2490622" y="136398"/>
                  </a:lnTo>
                  <a:close/>
                </a:path>
                <a:path w="9090025" h="247014">
                  <a:moveTo>
                    <a:pt x="2500020" y="100076"/>
                  </a:moveTo>
                  <a:lnTo>
                    <a:pt x="2494559" y="94615"/>
                  </a:lnTo>
                  <a:lnTo>
                    <a:pt x="2477668" y="111506"/>
                  </a:lnTo>
                  <a:lnTo>
                    <a:pt x="2483256" y="116967"/>
                  </a:lnTo>
                  <a:lnTo>
                    <a:pt x="2500020" y="100076"/>
                  </a:lnTo>
                  <a:close/>
                </a:path>
                <a:path w="9090025" h="247014">
                  <a:moveTo>
                    <a:pt x="2539517" y="87630"/>
                  </a:moveTo>
                  <a:lnTo>
                    <a:pt x="2510053" y="58166"/>
                  </a:lnTo>
                  <a:lnTo>
                    <a:pt x="2494559" y="42672"/>
                  </a:lnTo>
                  <a:lnTo>
                    <a:pt x="2491003" y="46228"/>
                  </a:lnTo>
                  <a:lnTo>
                    <a:pt x="2492019" y="49149"/>
                  </a:lnTo>
                  <a:lnTo>
                    <a:pt x="2492006" y="59436"/>
                  </a:lnTo>
                  <a:lnTo>
                    <a:pt x="2491892" y="61468"/>
                  </a:lnTo>
                  <a:lnTo>
                    <a:pt x="2490876" y="65913"/>
                  </a:lnTo>
                  <a:lnTo>
                    <a:pt x="2489301" y="70485"/>
                  </a:lnTo>
                  <a:lnTo>
                    <a:pt x="2489466" y="70485"/>
                  </a:lnTo>
                  <a:lnTo>
                    <a:pt x="2494559" y="75692"/>
                  </a:lnTo>
                  <a:lnTo>
                    <a:pt x="2495702" y="73406"/>
                  </a:lnTo>
                  <a:lnTo>
                    <a:pt x="2496718" y="70485"/>
                  </a:lnTo>
                  <a:lnTo>
                    <a:pt x="2498496" y="63627"/>
                  </a:lnTo>
                  <a:lnTo>
                    <a:pt x="2498775" y="61468"/>
                  </a:lnTo>
                  <a:lnTo>
                    <a:pt x="2498877" y="60706"/>
                  </a:lnTo>
                  <a:lnTo>
                    <a:pt x="2498991" y="58166"/>
                  </a:lnTo>
                  <a:lnTo>
                    <a:pt x="2499118" y="58166"/>
                  </a:lnTo>
                  <a:lnTo>
                    <a:pt x="2533929" y="93091"/>
                  </a:lnTo>
                  <a:lnTo>
                    <a:pt x="2539517" y="87630"/>
                  </a:lnTo>
                  <a:close/>
                </a:path>
                <a:path w="9090025" h="247014">
                  <a:moveTo>
                    <a:pt x="2575585" y="40005"/>
                  </a:moveTo>
                  <a:lnTo>
                    <a:pt x="2573680" y="35433"/>
                  </a:lnTo>
                  <a:lnTo>
                    <a:pt x="2571508" y="33274"/>
                  </a:lnTo>
                  <a:lnTo>
                    <a:pt x="2568156" y="29921"/>
                  </a:lnTo>
                  <a:lnTo>
                    <a:pt x="2568156" y="49784"/>
                  </a:lnTo>
                  <a:lnTo>
                    <a:pt x="2566822" y="52705"/>
                  </a:lnTo>
                  <a:lnTo>
                    <a:pt x="2564282" y="55245"/>
                  </a:lnTo>
                  <a:lnTo>
                    <a:pt x="2562631" y="57023"/>
                  </a:lnTo>
                  <a:lnTo>
                    <a:pt x="2560599" y="58166"/>
                  </a:lnTo>
                  <a:lnTo>
                    <a:pt x="2556027" y="59436"/>
                  </a:lnTo>
                  <a:lnTo>
                    <a:pt x="2553868" y="59436"/>
                  </a:lnTo>
                  <a:lnTo>
                    <a:pt x="2551582" y="58674"/>
                  </a:lnTo>
                  <a:lnTo>
                    <a:pt x="2549842" y="58166"/>
                  </a:lnTo>
                  <a:lnTo>
                    <a:pt x="2549626" y="58166"/>
                  </a:lnTo>
                  <a:lnTo>
                    <a:pt x="2547721" y="57023"/>
                  </a:lnTo>
                  <a:lnTo>
                    <a:pt x="2545994" y="55245"/>
                  </a:lnTo>
                  <a:lnTo>
                    <a:pt x="2543327" y="52705"/>
                  </a:lnTo>
                  <a:lnTo>
                    <a:pt x="2542057" y="49784"/>
                  </a:lnTo>
                  <a:lnTo>
                    <a:pt x="2542159" y="42672"/>
                  </a:lnTo>
                  <a:lnTo>
                    <a:pt x="2542844" y="41021"/>
                  </a:lnTo>
                  <a:lnTo>
                    <a:pt x="2543264" y="40005"/>
                  </a:lnTo>
                  <a:lnTo>
                    <a:pt x="2544661" y="38608"/>
                  </a:lnTo>
                  <a:lnTo>
                    <a:pt x="2545994" y="37338"/>
                  </a:lnTo>
                  <a:lnTo>
                    <a:pt x="2547201" y="36068"/>
                  </a:lnTo>
                  <a:lnTo>
                    <a:pt x="2548534" y="34671"/>
                  </a:lnTo>
                  <a:lnTo>
                    <a:pt x="2551709" y="33401"/>
                  </a:lnTo>
                  <a:lnTo>
                    <a:pt x="2555138" y="33401"/>
                  </a:lnTo>
                  <a:lnTo>
                    <a:pt x="2558694" y="33274"/>
                  </a:lnTo>
                  <a:lnTo>
                    <a:pt x="2568156" y="49784"/>
                  </a:lnTo>
                  <a:lnTo>
                    <a:pt x="2568156" y="29921"/>
                  </a:lnTo>
                  <a:lnTo>
                    <a:pt x="2567076" y="28829"/>
                  </a:lnTo>
                  <a:lnTo>
                    <a:pt x="2564028" y="27178"/>
                  </a:lnTo>
                  <a:lnTo>
                    <a:pt x="2560599" y="26543"/>
                  </a:lnTo>
                  <a:lnTo>
                    <a:pt x="2557170" y="26035"/>
                  </a:lnTo>
                  <a:lnTo>
                    <a:pt x="2553614" y="26670"/>
                  </a:lnTo>
                  <a:lnTo>
                    <a:pt x="2550045" y="28587"/>
                  </a:lnTo>
                  <a:lnTo>
                    <a:pt x="2551328" y="25527"/>
                  </a:lnTo>
                  <a:lnTo>
                    <a:pt x="2551722" y="23241"/>
                  </a:lnTo>
                  <a:lnTo>
                    <a:pt x="2551785" y="22352"/>
                  </a:lnTo>
                  <a:lnTo>
                    <a:pt x="2551557" y="20828"/>
                  </a:lnTo>
                  <a:lnTo>
                    <a:pt x="2551455" y="20066"/>
                  </a:lnTo>
                  <a:lnTo>
                    <a:pt x="2550947" y="17399"/>
                  </a:lnTo>
                  <a:lnTo>
                    <a:pt x="2550007" y="15621"/>
                  </a:lnTo>
                  <a:lnTo>
                    <a:pt x="2549677" y="14986"/>
                  </a:lnTo>
                  <a:lnTo>
                    <a:pt x="2547645" y="12954"/>
                  </a:lnTo>
                  <a:lnTo>
                    <a:pt x="2544851" y="10274"/>
                  </a:lnTo>
                  <a:lnTo>
                    <a:pt x="2544851" y="28194"/>
                  </a:lnTo>
                  <a:lnTo>
                    <a:pt x="2543708" y="30607"/>
                  </a:lnTo>
                  <a:lnTo>
                    <a:pt x="2541536" y="32893"/>
                  </a:lnTo>
                  <a:lnTo>
                    <a:pt x="2539390" y="34925"/>
                  </a:lnTo>
                  <a:lnTo>
                    <a:pt x="2536672" y="36068"/>
                  </a:lnTo>
                  <a:lnTo>
                    <a:pt x="2531643" y="36068"/>
                  </a:lnTo>
                  <a:lnTo>
                    <a:pt x="2529230" y="34925"/>
                  </a:lnTo>
                  <a:lnTo>
                    <a:pt x="2527071" y="32893"/>
                  </a:lnTo>
                  <a:lnTo>
                    <a:pt x="2525166" y="30988"/>
                  </a:lnTo>
                  <a:lnTo>
                    <a:pt x="2524315" y="28829"/>
                  </a:lnTo>
                  <a:lnTo>
                    <a:pt x="2524404" y="23241"/>
                  </a:lnTo>
                  <a:lnTo>
                    <a:pt x="2525420" y="20828"/>
                  </a:lnTo>
                  <a:lnTo>
                    <a:pt x="2529611" y="16637"/>
                  </a:lnTo>
                  <a:lnTo>
                    <a:pt x="2532024" y="15621"/>
                  </a:lnTo>
                  <a:lnTo>
                    <a:pt x="2537485" y="15621"/>
                  </a:lnTo>
                  <a:lnTo>
                    <a:pt x="2539898" y="16637"/>
                  </a:lnTo>
                  <a:lnTo>
                    <a:pt x="2541930" y="18542"/>
                  </a:lnTo>
                  <a:lnTo>
                    <a:pt x="2543835" y="20574"/>
                  </a:lnTo>
                  <a:lnTo>
                    <a:pt x="2544622" y="22352"/>
                  </a:lnTo>
                  <a:lnTo>
                    <a:pt x="2544737" y="22606"/>
                  </a:lnTo>
                  <a:lnTo>
                    <a:pt x="2544851" y="28194"/>
                  </a:lnTo>
                  <a:lnTo>
                    <a:pt x="2544851" y="10274"/>
                  </a:lnTo>
                  <a:lnTo>
                    <a:pt x="2544343" y="9779"/>
                  </a:lnTo>
                  <a:lnTo>
                    <a:pt x="2540698" y="8255"/>
                  </a:lnTo>
                  <a:lnTo>
                    <a:pt x="2535707" y="8255"/>
                  </a:lnTo>
                  <a:lnTo>
                    <a:pt x="2516784" y="31496"/>
                  </a:lnTo>
                  <a:lnTo>
                    <a:pt x="2518308" y="35433"/>
                  </a:lnTo>
                  <a:lnTo>
                    <a:pt x="2521610" y="38608"/>
                  </a:lnTo>
                  <a:lnTo>
                    <a:pt x="2523769" y="40767"/>
                  </a:lnTo>
                  <a:lnTo>
                    <a:pt x="2526182" y="42164"/>
                  </a:lnTo>
                  <a:lnTo>
                    <a:pt x="2529725" y="42672"/>
                  </a:lnTo>
                  <a:lnTo>
                    <a:pt x="2529509" y="42672"/>
                  </a:lnTo>
                  <a:lnTo>
                    <a:pt x="2531516" y="43053"/>
                  </a:lnTo>
                  <a:lnTo>
                    <a:pt x="2533612" y="42672"/>
                  </a:lnTo>
                  <a:lnTo>
                    <a:pt x="2534043" y="42672"/>
                  </a:lnTo>
                  <a:lnTo>
                    <a:pt x="2537485" y="41021"/>
                  </a:lnTo>
                  <a:lnTo>
                    <a:pt x="2535453" y="44577"/>
                  </a:lnTo>
                  <a:lnTo>
                    <a:pt x="2534691" y="48006"/>
                  </a:lnTo>
                  <a:lnTo>
                    <a:pt x="2548788" y="66675"/>
                  </a:lnTo>
                  <a:lnTo>
                    <a:pt x="2554122" y="66675"/>
                  </a:lnTo>
                  <a:lnTo>
                    <a:pt x="2559456" y="66548"/>
                  </a:lnTo>
                  <a:lnTo>
                    <a:pt x="2564282" y="64262"/>
                  </a:lnTo>
                  <a:lnTo>
                    <a:pt x="2569108" y="59436"/>
                  </a:lnTo>
                  <a:lnTo>
                    <a:pt x="2573172" y="55499"/>
                  </a:lnTo>
                  <a:lnTo>
                    <a:pt x="2575331" y="50546"/>
                  </a:lnTo>
                  <a:lnTo>
                    <a:pt x="2575458" y="45339"/>
                  </a:lnTo>
                  <a:lnTo>
                    <a:pt x="2575585" y="40005"/>
                  </a:lnTo>
                  <a:close/>
                </a:path>
                <a:path w="9090025" h="247014">
                  <a:moveTo>
                    <a:pt x="2631211" y="193294"/>
                  </a:moveTo>
                  <a:lnTo>
                    <a:pt x="2599677" y="161671"/>
                  </a:lnTo>
                  <a:lnTo>
                    <a:pt x="2586507" y="148463"/>
                  </a:lnTo>
                  <a:lnTo>
                    <a:pt x="2578379" y="156591"/>
                  </a:lnTo>
                  <a:lnTo>
                    <a:pt x="2578557" y="156591"/>
                  </a:lnTo>
                  <a:lnTo>
                    <a:pt x="2600985" y="202565"/>
                  </a:lnTo>
                  <a:lnTo>
                    <a:pt x="2603779" y="207899"/>
                  </a:lnTo>
                  <a:lnTo>
                    <a:pt x="2598953" y="205359"/>
                  </a:lnTo>
                  <a:lnTo>
                    <a:pt x="2595016" y="203454"/>
                  </a:lnTo>
                  <a:lnTo>
                    <a:pt x="2572474" y="192151"/>
                  </a:lnTo>
                  <a:lnTo>
                    <a:pt x="2552725" y="182245"/>
                  </a:lnTo>
                  <a:lnTo>
                    <a:pt x="2543835" y="191262"/>
                  </a:lnTo>
                  <a:lnTo>
                    <a:pt x="2588539" y="235966"/>
                  </a:lnTo>
                  <a:lnTo>
                    <a:pt x="2594254" y="230251"/>
                  </a:lnTo>
                  <a:lnTo>
                    <a:pt x="2556154" y="192151"/>
                  </a:lnTo>
                  <a:lnTo>
                    <a:pt x="2607208" y="217297"/>
                  </a:lnTo>
                  <a:lnTo>
                    <a:pt x="2612542" y="211963"/>
                  </a:lnTo>
                  <a:lnTo>
                    <a:pt x="2610561" y="207899"/>
                  </a:lnTo>
                  <a:lnTo>
                    <a:pt x="2588082" y="161671"/>
                  </a:lnTo>
                  <a:lnTo>
                    <a:pt x="2625496" y="199009"/>
                  </a:lnTo>
                  <a:lnTo>
                    <a:pt x="2631211" y="193294"/>
                  </a:lnTo>
                  <a:close/>
                </a:path>
                <a:path w="9090025" h="247014">
                  <a:moveTo>
                    <a:pt x="2668803" y="155702"/>
                  </a:moveTo>
                  <a:lnTo>
                    <a:pt x="2652687" y="143141"/>
                  </a:lnTo>
                  <a:lnTo>
                    <a:pt x="2652687" y="160401"/>
                  </a:lnTo>
                  <a:lnTo>
                    <a:pt x="2651315" y="164973"/>
                  </a:lnTo>
                  <a:lnTo>
                    <a:pt x="2651277" y="165100"/>
                  </a:lnTo>
                  <a:lnTo>
                    <a:pt x="2649880" y="167513"/>
                  </a:lnTo>
                  <a:lnTo>
                    <a:pt x="2647721" y="169545"/>
                  </a:lnTo>
                  <a:lnTo>
                    <a:pt x="2645689" y="171704"/>
                  </a:lnTo>
                  <a:lnTo>
                    <a:pt x="2643289" y="172974"/>
                  </a:lnTo>
                  <a:lnTo>
                    <a:pt x="2641498" y="172974"/>
                  </a:lnTo>
                  <a:lnTo>
                    <a:pt x="2639339" y="173101"/>
                  </a:lnTo>
                  <a:lnTo>
                    <a:pt x="2637561" y="172466"/>
                  </a:lnTo>
                  <a:lnTo>
                    <a:pt x="2636164" y="170942"/>
                  </a:lnTo>
                  <a:lnTo>
                    <a:pt x="2635148" y="170053"/>
                  </a:lnTo>
                  <a:lnTo>
                    <a:pt x="2634513" y="168910"/>
                  </a:lnTo>
                  <a:lnTo>
                    <a:pt x="2634005" y="166370"/>
                  </a:lnTo>
                  <a:lnTo>
                    <a:pt x="2634119" y="165100"/>
                  </a:lnTo>
                  <a:lnTo>
                    <a:pt x="2634132" y="164973"/>
                  </a:lnTo>
                  <a:lnTo>
                    <a:pt x="2634640" y="163703"/>
                  </a:lnTo>
                  <a:lnTo>
                    <a:pt x="2635148" y="162306"/>
                  </a:lnTo>
                  <a:lnTo>
                    <a:pt x="2636685" y="160020"/>
                  </a:lnTo>
                  <a:lnTo>
                    <a:pt x="2638323" y="157734"/>
                  </a:lnTo>
                  <a:lnTo>
                    <a:pt x="2641562" y="153416"/>
                  </a:lnTo>
                  <a:lnTo>
                    <a:pt x="2642451" y="152019"/>
                  </a:lnTo>
                  <a:lnTo>
                    <a:pt x="2644038" y="149479"/>
                  </a:lnTo>
                  <a:lnTo>
                    <a:pt x="2645308" y="146685"/>
                  </a:lnTo>
                  <a:lnTo>
                    <a:pt x="2647213" y="148717"/>
                  </a:lnTo>
                  <a:lnTo>
                    <a:pt x="2652687" y="160401"/>
                  </a:lnTo>
                  <a:lnTo>
                    <a:pt x="2652687" y="143141"/>
                  </a:lnTo>
                  <a:lnTo>
                    <a:pt x="2647315" y="137668"/>
                  </a:lnTo>
                  <a:lnTo>
                    <a:pt x="2646197" y="136525"/>
                  </a:lnTo>
                  <a:lnTo>
                    <a:pt x="2643657" y="134112"/>
                  </a:lnTo>
                  <a:lnTo>
                    <a:pt x="2635402" y="129667"/>
                  </a:lnTo>
                  <a:lnTo>
                    <a:pt x="2632900" y="129667"/>
                  </a:lnTo>
                  <a:lnTo>
                    <a:pt x="2631465" y="129921"/>
                  </a:lnTo>
                  <a:lnTo>
                    <a:pt x="2629052" y="131064"/>
                  </a:lnTo>
                  <a:lnTo>
                    <a:pt x="2626766" y="132080"/>
                  </a:lnTo>
                  <a:lnTo>
                    <a:pt x="2615209" y="145288"/>
                  </a:lnTo>
                  <a:lnTo>
                    <a:pt x="2613812" y="148209"/>
                  </a:lnTo>
                  <a:lnTo>
                    <a:pt x="2613304" y="150876"/>
                  </a:lnTo>
                  <a:lnTo>
                    <a:pt x="2613558" y="153416"/>
                  </a:lnTo>
                  <a:lnTo>
                    <a:pt x="2613634" y="153924"/>
                  </a:lnTo>
                  <a:lnTo>
                    <a:pt x="2613685" y="154305"/>
                  </a:lnTo>
                  <a:lnTo>
                    <a:pt x="2613799" y="155067"/>
                  </a:lnTo>
                  <a:lnTo>
                    <a:pt x="2613825" y="155194"/>
                  </a:lnTo>
                  <a:lnTo>
                    <a:pt x="2613939" y="155956"/>
                  </a:lnTo>
                  <a:lnTo>
                    <a:pt x="2614955" y="158623"/>
                  </a:lnTo>
                  <a:lnTo>
                    <a:pt x="2616733" y="161417"/>
                  </a:lnTo>
                  <a:lnTo>
                    <a:pt x="2622829" y="156845"/>
                  </a:lnTo>
                  <a:lnTo>
                    <a:pt x="2621242" y="154051"/>
                  </a:lnTo>
                  <a:lnTo>
                    <a:pt x="2621178" y="153924"/>
                  </a:lnTo>
                  <a:lnTo>
                    <a:pt x="2620416" y="151384"/>
                  </a:lnTo>
                  <a:lnTo>
                    <a:pt x="2620746" y="149479"/>
                  </a:lnTo>
                  <a:lnTo>
                    <a:pt x="2621051" y="147066"/>
                  </a:lnTo>
                  <a:lnTo>
                    <a:pt x="2630576" y="137922"/>
                  </a:lnTo>
                  <a:lnTo>
                    <a:pt x="2631338" y="137922"/>
                  </a:lnTo>
                  <a:lnTo>
                    <a:pt x="2635148" y="137668"/>
                  </a:lnTo>
                  <a:lnTo>
                    <a:pt x="2637307" y="138684"/>
                  </a:lnTo>
                  <a:lnTo>
                    <a:pt x="2640990" y="142367"/>
                  </a:lnTo>
                  <a:lnTo>
                    <a:pt x="2639593" y="145288"/>
                  </a:lnTo>
                  <a:lnTo>
                    <a:pt x="2636926" y="149098"/>
                  </a:lnTo>
                  <a:lnTo>
                    <a:pt x="2633078" y="153924"/>
                  </a:lnTo>
                  <a:lnTo>
                    <a:pt x="2631084" y="156591"/>
                  </a:lnTo>
                  <a:lnTo>
                    <a:pt x="2626512" y="167513"/>
                  </a:lnTo>
                  <a:lnTo>
                    <a:pt x="2626512" y="169545"/>
                  </a:lnTo>
                  <a:lnTo>
                    <a:pt x="2627782" y="173609"/>
                  </a:lnTo>
                  <a:lnTo>
                    <a:pt x="2628798" y="175387"/>
                  </a:lnTo>
                  <a:lnTo>
                    <a:pt x="2633116" y="179705"/>
                  </a:lnTo>
                  <a:lnTo>
                    <a:pt x="2636291" y="180975"/>
                  </a:lnTo>
                  <a:lnTo>
                    <a:pt x="2639974" y="180848"/>
                  </a:lnTo>
                  <a:lnTo>
                    <a:pt x="2643657" y="180594"/>
                  </a:lnTo>
                  <a:lnTo>
                    <a:pt x="2647213" y="178689"/>
                  </a:lnTo>
                  <a:lnTo>
                    <a:pt x="2652788" y="173101"/>
                  </a:lnTo>
                  <a:lnTo>
                    <a:pt x="2652928" y="172974"/>
                  </a:lnTo>
                  <a:lnTo>
                    <a:pt x="2654579" y="170688"/>
                  </a:lnTo>
                  <a:lnTo>
                    <a:pt x="2655722" y="168021"/>
                  </a:lnTo>
                  <a:lnTo>
                    <a:pt x="2656929" y="165608"/>
                  </a:lnTo>
                  <a:lnTo>
                    <a:pt x="2657068" y="165100"/>
                  </a:lnTo>
                  <a:lnTo>
                    <a:pt x="2657627" y="162306"/>
                  </a:lnTo>
                  <a:lnTo>
                    <a:pt x="2657716" y="161417"/>
                  </a:lnTo>
                  <a:lnTo>
                    <a:pt x="2657818" y="160401"/>
                  </a:lnTo>
                  <a:lnTo>
                    <a:pt x="2657868" y="159893"/>
                  </a:lnTo>
                  <a:lnTo>
                    <a:pt x="2657995" y="158623"/>
                  </a:lnTo>
                  <a:lnTo>
                    <a:pt x="2658148" y="158623"/>
                  </a:lnTo>
                  <a:lnTo>
                    <a:pt x="2659659" y="159893"/>
                  </a:lnTo>
                  <a:lnTo>
                    <a:pt x="2661310" y="160909"/>
                  </a:lnTo>
                  <a:lnTo>
                    <a:pt x="2663088" y="161417"/>
                  </a:lnTo>
                  <a:lnTo>
                    <a:pt x="2665882" y="158623"/>
                  </a:lnTo>
                  <a:lnTo>
                    <a:pt x="2668803" y="155702"/>
                  </a:lnTo>
                  <a:close/>
                </a:path>
                <a:path w="9090025" h="247014">
                  <a:moveTo>
                    <a:pt x="2680868" y="143891"/>
                  </a:moveTo>
                  <a:lnTo>
                    <a:pt x="2657233" y="116840"/>
                  </a:lnTo>
                  <a:lnTo>
                    <a:pt x="2657119" y="116078"/>
                  </a:lnTo>
                  <a:lnTo>
                    <a:pt x="2657373" y="114427"/>
                  </a:lnTo>
                  <a:lnTo>
                    <a:pt x="2657449" y="113284"/>
                  </a:lnTo>
                  <a:lnTo>
                    <a:pt x="2657500" y="112776"/>
                  </a:lnTo>
                  <a:lnTo>
                    <a:pt x="2658262" y="111252"/>
                  </a:lnTo>
                  <a:lnTo>
                    <a:pt x="2660802" y="108712"/>
                  </a:lnTo>
                  <a:lnTo>
                    <a:pt x="2662580" y="107823"/>
                  </a:lnTo>
                  <a:lnTo>
                    <a:pt x="2664739" y="107315"/>
                  </a:lnTo>
                  <a:lnTo>
                    <a:pt x="2661437" y="100203"/>
                  </a:lnTo>
                  <a:lnTo>
                    <a:pt x="2651658" y="108712"/>
                  </a:lnTo>
                  <a:lnTo>
                    <a:pt x="2651277" y="110617"/>
                  </a:lnTo>
                  <a:lnTo>
                    <a:pt x="2651582" y="112776"/>
                  </a:lnTo>
                  <a:lnTo>
                    <a:pt x="2651658" y="113284"/>
                  </a:lnTo>
                  <a:lnTo>
                    <a:pt x="2652674" y="116840"/>
                  </a:lnTo>
                  <a:lnTo>
                    <a:pt x="2647721" y="111887"/>
                  </a:lnTo>
                  <a:lnTo>
                    <a:pt x="2642895" y="116840"/>
                  </a:lnTo>
                  <a:lnTo>
                    <a:pt x="2675280" y="149225"/>
                  </a:lnTo>
                  <a:lnTo>
                    <a:pt x="2680614" y="143891"/>
                  </a:lnTo>
                  <a:lnTo>
                    <a:pt x="2680868" y="143891"/>
                  </a:lnTo>
                  <a:close/>
                </a:path>
                <a:path w="9090025" h="247014">
                  <a:moveTo>
                    <a:pt x="2697124" y="100584"/>
                  </a:moveTo>
                  <a:lnTo>
                    <a:pt x="2691536" y="94996"/>
                  </a:lnTo>
                  <a:lnTo>
                    <a:pt x="2674645" y="111887"/>
                  </a:lnTo>
                  <a:lnTo>
                    <a:pt x="2680233" y="117475"/>
                  </a:lnTo>
                  <a:lnTo>
                    <a:pt x="2697124" y="100584"/>
                  </a:lnTo>
                  <a:close/>
                </a:path>
                <a:path w="9090025" h="247014">
                  <a:moveTo>
                    <a:pt x="2736494" y="88011"/>
                  </a:moveTo>
                  <a:lnTo>
                    <a:pt x="2707030" y="58547"/>
                  </a:lnTo>
                  <a:lnTo>
                    <a:pt x="2691536" y="43053"/>
                  </a:lnTo>
                  <a:lnTo>
                    <a:pt x="2687980" y="46609"/>
                  </a:lnTo>
                  <a:lnTo>
                    <a:pt x="2688996" y="49530"/>
                  </a:lnTo>
                  <a:lnTo>
                    <a:pt x="2688869" y="61849"/>
                  </a:lnTo>
                  <a:lnTo>
                    <a:pt x="2687980" y="66294"/>
                  </a:lnTo>
                  <a:lnTo>
                    <a:pt x="2686278" y="70866"/>
                  </a:lnTo>
                  <a:lnTo>
                    <a:pt x="2686443" y="70866"/>
                  </a:lnTo>
                  <a:lnTo>
                    <a:pt x="2691663" y="76073"/>
                  </a:lnTo>
                  <a:lnTo>
                    <a:pt x="2692679" y="73787"/>
                  </a:lnTo>
                  <a:lnTo>
                    <a:pt x="2693695" y="70866"/>
                  </a:lnTo>
                  <a:lnTo>
                    <a:pt x="2695473" y="64008"/>
                  </a:lnTo>
                  <a:lnTo>
                    <a:pt x="2695981" y="61087"/>
                  </a:lnTo>
                  <a:lnTo>
                    <a:pt x="2695981" y="58547"/>
                  </a:lnTo>
                  <a:lnTo>
                    <a:pt x="2696108" y="58547"/>
                  </a:lnTo>
                  <a:lnTo>
                    <a:pt x="2731033" y="93472"/>
                  </a:lnTo>
                  <a:lnTo>
                    <a:pt x="2736494" y="88011"/>
                  </a:lnTo>
                  <a:close/>
                </a:path>
                <a:path w="9090025" h="247014">
                  <a:moveTo>
                    <a:pt x="2772562" y="40386"/>
                  </a:moveTo>
                  <a:lnTo>
                    <a:pt x="2770784" y="35814"/>
                  </a:lnTo>
                  <a:lnTo>
                    <a:pt x="2768612" y="33655"/>
                  </a:lnTo>
                  <a:lnTo>
                    <a:pt x="2765196" y="30238"/>
                  </a:lnTo>
                  <a:lnTo>
                    <a:pt x="2765196" y="43053"/>
                  </a:lnTo>
                  <a:lnTo>
                    <a:pt x="2765133" y="50165"/>
                  </a:lnTo>
                  <a:lnTo>
                    <a:pt x="2763926" y="53086"/>
                  </a:lnTo>
                  <a:lnTo>
                    <a:pt x="2759608" y="57404"/>
                  </a:lnTo>
                  <a:lnTo>
                    <a:pt x="2757576" y="58547"/>
                  </a:lnTo>
                  <a:lnTo>
                    <a:pt x="2755290" y="59182"/>
                  </a:lnTo>
                  <a:lnTo>
                    <a:pt x="2753131" y="59944"/>
                  </a:lnTo>
                  <a:lnTo>
                    <a:pt x="2750845" y="59817"/>
                  </a:lnTo>
                  <a:lnTo>
                    <a:pt x="2748686" y="59182"/>
                  </a:lnTo>
                  <a:lnTo>
                    <a:pt x="2746768" y="58547"/>
                  </a:lnTo>
                  <a:lnTo>
                    <a:pt x="2746603" y="58547"/>
                  </a:lnTo>
                  <a:lnTo>
                    <a:pt x="2739148" y="43053"/>
                  </a:lnTo>
                  <a:lnTo>
                    <a:pt x="2739872" y="41529"/>
                  </a:lnTo>
                  <a:lnTo>
                    <a:pt x="2740431" y="40386"/>
                  </a:lnTo>
                  <a:lnTo>
                    <a:pt x="2742971" y="37719"/>
                  </a:lnTo>
                  <a:lnTo>
                    <a:pt x="2744241" y="36449"/>
                  </a:lnTo>
                  <a:lnTo>
                    <a:pt x="2745638" y="35052"/>
                  </a:lnTo>
                  <a:lnTo>
                    <a:pt x="2748686" y="33782"/>
                  </a:lnTo>
                  <a:lnTo>
                    <a:pt x="2752115" y="33782"/>
                  </a:lnTo>
                  <a:lnTo>
                    <a:pt x="2755671" y="33655"/>
                  </a:lnTo>
                  <a:lnTo>
                    <a:pt x="2758719" y="35052"/>
                  </a:lnTo>
                  <a:lnTo>
                    <a:pt x="2762783" y="39116"/>
                  </a:lnTo>
                  <a:lnTo>
                    <a:pt x="2763977" y="40386"/>
                  </a:lnTo>
                  <a:lnTo>
                    <a:pt x="2765196" y="43053"/>
                  </a:lnTo>
                  <a:lnTo>
                    <a:pt x="2765196" y="30238"/>
                  </a:lnTo>
                  <a:lnTo>
                    <a:pt x="2764180" y="29210"/>
                  </a:lnTo>
                  <a:lnTo>
                    <a:pt x="2761005" y="27559"/>
                  </a:lnTo>
                  <a:lnTo>
                    <a:pt x="2757576" y="27051"/>
                  </a:lnTo>
                  <a:lnTo>
                    <a:pt x="2754147" y="26416"/>
                  </a:lnTo>
                  <a:lnTo>
                    <a:pt x="2750718" y="27051"/>
                  </a:lnTo>
                  <a:lnTo>
                    <a:pt x="2747022" y="28968"/>
                  </a:lnTo>
                  <a:lnTo>
                    <a:pt x="2748432" y="25908"/>
                  </a:lnTo>
                  <a:lnTo>
                    <a:pt x="2748826" y="23622"/>
                  </a:lnTo>
                  <a:lnTo>
                    <a:pt x="2748889" y="22733"/>
                  </a:lnTo>
                  <a:lnTo>
                    <a:pt x="2747924" y="17780"/>
                  </a:lnTo>
                  <a:lnTo>
                    <a:pt x="2747035" y="16002"/>
                  </a:lnTo>
                  <a:lnTo>
                    <a:pt x="2746781" y="15494"/>
                  </a:lnTo>
                  <a:lnTo>
                    <a:pt x="2741828" y="10541"/>
                  </a:lnTo>
                  <a:lnTo>
                    <a:pt x="2741828" y="28575"/>
                  </a:lnTo>
                  <a:lnTo>
                    <a:pt x="2740812" y="30988"/>
                  </a:lnTo>
                  <a:lnTo>
                    <a:pt x="2736367" y="35433"/>
                  </a:lnTo>
                  <a:lnTo>
                    <a:pt x="2736202" y="35433"/>
                  </a:lnTo>
                  <a:lnTo>
                    <a:pt x="2733954" y="36449"/>
                  </a:lnTo>
                  <a:lnTo>
                    <a:pt x="2728620" y="36449"/>
                  </a:lnTo>
                  <a:lnTo>
                    <a:pt x="2726207" y="35433"/>
                  </a:lnTo>
                  <a:lnTo>
                    <a:pt x="2722143" y="31369"/>
                  </a:lnTo>
                  <a:lnTo>
                    <a:pt x="2721292" y="29210"/>
                  </a:lnTo>
                  <a:lnTo>
                    <a:pt x="2721381" y="23622"/>
                  </a:lnTo>
                  <a:lnTo>
                    <a:pt x="2722397" y="21209"/>
                  </a:lnTo>
                  <a:lnTo>
                    <a:pt x="2724556" y="19177"/>
                  </a:lnTo>
                  <a:lnTo>
                    <a:pt x="2726588" y="17018"/>
                  </a:lnTo>
                  <a:lnTo>
                    <a:pt x="2729001" y="16002"/>
                  </a:lnTo>
                  <a:lnTo>
                    <a:pt x="2734589" y="16002"/>
                  </a:lnTo>
                  <a:lnTo>
                    <a:pt x="2737002" y="17018"/>
                  </a:lnTo>
                  <a:lnTo>
                    <a:pt x="2739034" y="19177"/>
                  </a:lnTo>
                  <a:lnTo>
                    <a:pt x="2740939" y="20955"/>
                  </a:lnTo>
                  <a:lnTo>
                    <a:pt x="2741625" y="22733"/>
                  </a:lnTo>
                  <a:lnTo>
                    <a:pt x="2741726" y="22987"/>
                  </a:lnTo>
                  <a:lnTo>
                    <a:pt x="2741828" y="28575"/>
                  </a:lnTo>
                  <a:lnTo>
                    <a:pt x="2741828" y="10541"/>
                  </a:lnTo>
                  <a:lnTo>
                    <a:pt x="2741447" y="10160"/>
                  </a:lnTo>
                  <a:lnTo>
                    <a:pt x="2737688" y="8636"/>
                  </a:lnTo>
                  <a:lnTo>
                    <a:pt x="2732811" y="8636"/>
                  </a:lnTo>
                  <a:lnTo>
                    <a:pt x="2728112" y="8763"/>
                  </a:lnTo>
                  <a:lnTo>
                    <a:pt x="2723921" y="10795"/>
                  </a:lnTo>
                  <a:lnTo>
                    <a:pt x="2719984" y="14732"/>
                  </a:lnTo>
                  <a:lnTo>
                    <a:pt x="2716047" y="18542"/>
                  </a:lnTo>
                  <a:lnTo>
                    <a:pt x="2714015" y="22733"/>
                  </a:lnTo>
                  <a:lnTo>
                    <a:pt x="2714002" y="22987"/>
                  </a:lnTo>
                  <a:lnTo>
                    <a:pt x="2713875" y="27559"/>
                  </a:lnTo>
                  <a:lnTo>
                    <a:pt x="2713761" y="31877"/>
                  </a:lnTo>
                  <a:lnTo>
                    <a:pt x="2715412" y="35814"/>
                  </a:lnTo>
                  <a:lnTo>
                    <a:pt x="2718587" y="39116"/>
                  </a:lnTo>
                  <a:lnTo>
                    <a:pt x="2720746" y="41275"/>
                  </a:lnTo>
                  <a:lnTo>
                    <a:pt x="2723159" y="42545"/>
                  </a:lnTo>
                  <a:lnTo>
                    <a:pt x="2726702" y="43053"/>
                  </a:lnTo>
                  <a:lnTo>
                    <a:pt x="2726486" y="43053"/>
                  </a:lnTo>
                  <a:lnTo>
                    <a:pt x="2728493" y="43434"/>
                  </a:lnTo>
                  <a:lnTo>
                    <a:pt x="2730677" y="43053"/>
                  </a:lnTo>
                  <a:lnTo>
                    <a:pt x="2731135" y="43053"/>
                  </a:lnTo>
                  <a:lnTo>
                    <a:pt x="2734462" y="41529"/>
                  </a:lnTo>
                  <a:lnTo>
                    <a:pt x="2732430" y="44958"/>
                  </a:lnTo>
                  <a:lnTo>
                    <a:pt x="2731668" y="48387"/>
                  </a:lnTo>
                  <a:lnTo>
                    <a:pt x="2745765" y="67183"/>
                  </a:lnTo>
                  <a:lnTo>
                    <a:pt x="2756433" y="66929"/>
                  </a:lnTo>
                  <a:lnTo>
                    <a:pt x="2772537" y="46609"/>
                  </a:lnTo>
                  <a:lnTo>
                    <a:pt x="2772562" y="40386"/>
                  </a:lnTo>
                  <a:close/>
                </a:path>
                <a:path w="9090025" h="247014">
                  <a:moveTo>
                    <a:pt x="2818155" y="203708"/>
                  </a:moveTo>
                  <a:lnTo>
                    <a:pt x="2786532" y="172085"/>
                  </a:lnTo>
                  <a:lnTo>
                    <a:pt x="2773451" y="159004"/>
                  </a:lnTo>
                  <a:lnTo>
                    <a:pt x="2765450" y="167005"/>
                  </a:lnTo>
                  <a:lnTo>
                    <a:pt x="2785897" y="208788"/>
                  </a:lnTo>
                  <a:lnTo>
                    <a:pt x="2787929" y="213106"/>
                  </a:lnTo>
                  <a:lnTo>
                    <a:pt x="2789580" y="216281"/>
                  </a:lnTo>
                  <a:lnTo>
                    <a:pt x="2790596" y="218440"/>
                  </a:lnTo>
                  <a:lnTo>
                    <a:pt x="2788691" y="217424"/>
                  </a:lnTo>
                  <a:lnTo>
                    <a:pt x="2781833" y="213868"/>
                  </a:lnTo>
                  <a:lnTo>
                    <a:pt x="2759481" y="202692"/>
                  </a:lnTo>
                  <a:lnTo>
                    <a:pt x="2739669" y="192786"/>
                  </a:lnTo>
                  <a:lnTo>
                    <a:pt x="2730652" y="201676"/>
                  </a:lnTo>
                  <a:lnTo>
                    <a:pt x="2775483" y="246507"/>
                  </a:lnTo>
                  <a:lnTo>
                    <a:pt x="2781198" y="240792"/>
                  </a:lnTo>
                  <a:lnTo>
                    <a:pt x="2743098" y="202692"/>
                  </a:lnTo>
                  <a:lnTo>
                    <a:pt x="2794152" y="227838"/>
                  </a:lnTo>
                  <a:lnTo>
                    <a:pt x="2799486" y="222504"/>
                  </a:lnTo>
                  <a:lnTo>
                    <a:pt x="2797505" y="218440"/>
                  </a:lnTo>
                  <a:lnTo>
                    <a:pt x="2775153" y="172466"/>
                  </a:lnTo>
                  <a:lnTo>
                    <a:pt x="2775026" y="172212"/>
                  </a:lnTo>
                  <a:lnTo>
                    <a:pt x="2774975" y="172085"/>
                  </a:lnTo>
                  <a:lnTo>
                    <a:pt x="2812440" y="209423"/>
                  </a:lnTo>
                  <a:lnTo>
                    <a:pt x="2818155" y="203708"/>
                  </a:lnTo>
                  <a:close/>
                </a:path>
                <a:path w="9090025" h="247014">
                  <a:moveTo>
                    <a:pt x="2855747" y="166243"/>
                  </a:moveTo>
                  <a:lnTo>
                    <a:pt x="2843225" y="157226"/>
                  </a:lnTo>
                  <a:lnTo>
                    <a:pt x="2840380" y="154305"/>
                  </a:lnTo>
                  <a:lnTo>
                    <a:pt x="2839516" y="153441"/>
                  </a:lnTo>
                  <a:lnTo>
                    <a:pt x="2839516" y="167767"/>
                  </a:lnTo>
                  <a:lnTo>
                    <a:pt x="2839402" y="171323"/>
                  </a:lnTo>
                  <a:lnTo>
                    <a:pt x="2839339" y="171577"/>
                  </a:lnTo>
                  <a:lnTo>
                    <a:pt x="2839224" y="172085"/>
                  </a:lnTo>
                  <a:lnTo>
                    <a:pt x="2839123" y="172466"/>
                  </a:lnTo>
                  <a:lnTo>
                    <a:pt x="2839034" y="172847"/>
                  </a:lnTo>
                  <a:lnTo>
                    <a:pt x="2838983" y="173101"/>
                  </a:lnTo>
                  <a:lnTo>
                    <a:pt x="2838221" y="175641"/>
                  </a:lnTo>
                  <a:lnTo>
                    <a:pt x="2837523" y="176784"/>
                  </a:lnTo>
                  <a:lnTo>
                    <a:pt x="2836697" y="178054"/>
                  </a:lnTo>
                  <a:lnTo>
                    <a:pt x="2832506" y="182245"/>
                  </a:lnTo>
                  <a:lnTo>
                    <a:pt x="2830017" y="183642"/>
                  </a:lnTo>
                  <a:lnTo>
                    <a:pt x="2826283" y="183642"/>
                  </a:lnTo>
                  <a:lnTo>
                    <a:pt x="2820949" y="176784"/>
                  </a:lnTo>
                  <a:lnTo>
                    <a:pt x="2821063" y="175641"/>
                  </a:lnTo>
                  <a:lnTo>
                    <a:pt x="2828506" y="163957"/>
                  </a:lnTo>
                  <a:lnTo>
                    <a:pt x="2829242" y="162814"/>
                  </a:lnTo>
                  <a:lnTo>
                    <a:pt x="2830982" y="160020"/>
                  </a:lnTo>
                  <a:lnTo>
                    <a:pt x="2832125" y="157226"/>
                  </a:lnTo>
                  <a:lnTo>
                    <a:pt x="2836570" y="161671"/>
                  </a:lnTo>
                  <a:lnTo>
                    <a:pt x="2838094" y="163830"/>
                  </a:lnTo>
                  <a:lnTo>
                    <a:pt x="2839516" y="167767"/>
                  </a:lnTo>
                  <a:lnTo>
                    <a:pt x="2839516" y="153441"/>
                  </a:lnTo>
                  <a:lnTo>
                    <a:pt x="2834411" y="148336"/>
                  </a:lnTo>
                  <a:lnTo>
                    <a:pt x="2830601" y="144526"/>
                  </a:lnTo>
                  <a:lnTo>
                    <a:pt x="2828823" y="143002"/>
                  </a:lnTo>
                  <a:lnTo>
                    <a:pt x="2827680" y="142240"/>
                  </a:lnTo>
                  <a:lnTo>
                    <a:pt x="2825902" y="141097"/>
                  </a:lnTo>
                  <a:lnTo>
                    <a:pt x="2824124" y="140335"/>
                  </a:lnTo>
                  <a:lnTo>
                    <a:pt x="2819082" y="140335"/>
                  </a:lnTo>
                  <a:lnTo>
                    <a:pt x="2818409" y="140462"/>
                  </a:lnTo>
                  <a:lnTo>
                    <a:pt x="2815996" y="141605"/>
                  </a:lnTo>
                  <a:lnTo>
                    <a:pt x="2813583" y="142621"/>
                  </a:lnTo>
                  <a:lnTo>
                    <a:pt x="2800756" y="158750"/>
                  </a:lnTo>
                  <a:lnTo>
                    <a:pt x="2800756" y="166497"/>
                  </a:lnTo>
                  <a:lnTo>
                    <a:pt x="2801785" y="168910"/>
                  </a:lnTo>
                  <a:lnTo>
                    <a:pt x="2801899" y="169164"/>
                  </a:lnTo>
                  <a:lnTo>
                    <a:pt x="2803664" y="171970"/>
                  </a:lnTo>
                  <a:lnTo>
                    <a:pt x="2809773" y="167259"/>
                  </a:lnTo>
                  <a:lnTo>
                    <a:pt x="2807995" y="164338"/>
                  </a:lnTo>
                  <a:lnTo>
                    <a:pt x="2807589" y="162814"/>
                  </a:lnTo>
                  <a:lnTo>
                    <a:pt x="2807525" y="162560"/>
                  </a:lnTo>
                  <a:lnTo>
                    <a:pt x="2807449" y="161417"/>
                  </a:lnTo>
                  <a:lnTo>
                    <a:pt x="2807601" y="160528"/>
                  </a:lnTo>
                  <a:lnTo>
                    <a:pt x="2807690" y="160020"/>
                  </a:lnTo>
                  <a:lnTo>
                    <a:pt x="2807779" y="159385"/>
                  </a:lnTo>
                  <a:lnTo>
                    <a:pt x="2807855" y="158750"/>
                  </a:lnTo>
                  <a:lnTo>
                    <a:pt x="2807932" y="158115"/>
                  </a:lnTo>
                  <a:lnTo>
                    <a:pt x="2807995" y="157607"/>
                  </a:lnTo>
                  <a:lnTo>
                    <a:pt x="2820187" y="148336"/>
                  </a:lnTo>
                  <a:lnTo>
                    <a:pt x="2822359" y="148336"/>
                  </a:lnTo>
                  <a:lnTo>
                    <a:pt x="2824251" y="149225"/>
                  </a:lnTo>
                  <a:lnTo>
                    <a:pt x="2826410" y="151511"/>
                  </a:lnTo>
                  <a:lnTo>
                    <a:pt x="2826664" y="151638"/>
                  </a:lnTo>
                  <a:lnTo>
                    <a:pt x="2827172" y="152146"/>
                  </a:lnTo>
                  <a:lnTo>
                    <a:pt x="2827807" y="152908"/>
                  </a:lnTo>
                  <a:lnTo>
                    <a:pt x="2826702" y="155321"/>
                  </a:lnTo>
                  <a:lnTo>
                    <a:pt x="2826448" y="155829"/>
                  </a:lnTo>
                  <a:lnTo>
                    <a:pt x="2823768" y="159766"/>
                  </a:lnTo>
                  <a:lnTo>
                    <a:pt x="2818028" y="167005"/>
                  </a:lnTo>
                  <a:lnTo>
                    <a:pt x="2816631" y="168910"/>
                  </a:lnTo>
                  <a:lnTo>
                    <a:pt x="2814917" y="172085"/>
                  </a:lnTo>
                  <a:lnTo>
                    <a:pt x="2814853" y="172212"/>
                  </a:lnTo>
                  <a:lnTo>
                    <a:pt x="2814091" y="174117"/>
                  </a:lnTo>
                  <a:lnTo>
                    <a:pt x="2813329" y="178054"/>
                  </a:lnTo>
                  <a:lnTo>
                    <a:pt x="2813405" y="179451"/>
                  </a:lnTo>
                  <a:lnTo>
                    <a:pt x="2813456" y="180086"/>
                  </a:lnTo>
                  <a:lnTo>
                    <a:pt x="2814091" y="182118"/>
                  </a:lnTo>
                  <a:lnTo>
                    <a:pt x="2814472" y="183642"/>
                  </a:lnTo>
                  <a:lnTo>
                    <a:pt x="2814599" y="184150"/>
                  </a:lnTo>
                  <a:lnTo>
                    <a:pt x="2815742" y="185928"/>
                  </a:lnTo>
                  <a:lnTo>
                    <a:pt x="2817393" y="187452"/>
                  </a:lnTo>
                  <a:lnTo>
                    <a:pt x="2820060" y="190246"/>
                  </a:lnTo>
                  <a:lnTo>
                    <a:pt x="2823235" y="191516"/>
                  </a:lnTo>
                  <a:lnTo>
                    <a:pt x="2826918" y="191262"/>
                  </a:lnTo>
                  <a:lnTo>
                    <a:pt x="2830474" y="191135"/>
                  </a:lnTo>
                  <a:lnTo>
                    <a:pt x="2834157" y="189230"/>
                  </a:lnTo>
                  <a:lnTo>
                    <a:pt x="2839745" y="183642"/>
                  </a:lnTo>
                  <a:lnTo>
                    <a:pt x="2844723" y="171323"/>
                  </a:lnTo>
                  <a:lnTo>
                    <a:pt x="2844800" y="170561"/>
                  </a:lnTo>
                  <a:lnTo>
                    <a:pt x="2844901" y="169545"/>
                  </a:lnTo>
                  <a:lnTo>
                    <a:pt x="2844939" y="169164"/>
                  </a:lnTo>
                  <a:lnTo>
                    <a:pt x="2845092" y="169164"/>
                  </a:lnTo>
                  <a:lnTo>
                    <a:pt x="2845549" y="169545"/>
                  </a:lnTo>
                  <a:lnTo>
                    <a:pt x="2846832" y="170561"/>
                  </a:lnTo>
                  <a:lnTo>
                    <a:pt x="2848254" y="171323"/>
                  </a:lnTo>
                  <a:lnTo>
                    <a:pt x="2850019" y="171970"/>
                  </a:lnTo>
                  <a:lnTo>
                    <a:pt x="2853080" y="168910"/>
                  </a:lnTo>
                  <a:lnTo>
                    <a:pt x="2855747" y="166243"/>
                  </a:lnTo>
                  <a:close/>
                </a:path>
                <a:path w="9090025" h="247014">
                  <a:moveTo>
                    <a:pt x="2882074" y="162814"/>
                  </a:moveTo>
                  <a:lnTo>
                    <a:pt x="2881998" y="158750"/>
                  </a:lnTo>
                  <a:lnTo>
                    <a:pt x="2881274" y="156464"/>
                  </a:lnTo>
                  <a:lnTo>
                    <a:pt x="2880639" y="154305"/>
                  </a:lnTo>
                  <a:lnTo>
                    <a:pt x="2879242" y="150876"/>
                  </a:lnTo>
                  <a:lnTo>
                    <a:pt x="2877070" y="146050"/>
                  </a:lnTo>
                  <a:lnTo>
                    <a:pt x="2875051" y="141605"/>
                  </a:lnTo>
                  <a:lnTo>
                    <a:pt x="2856382" y="100711"/>
                  </a:lnTo>
                  <a:lnTo>
                    <a:pt x="2850921" y="106172"/>
                  </a:lnTo>
                  <a:lnTo>
                    <a:pt x="2864370" y="135255"/>
                  </a:lnTo>
                  <a:lnTo>
                    <a:pt x="2866161" y="138557"/>
                  </a:lnTo>
                  <a:lnTo>
                    <a:pt x="2867939" y="141605"/>
                  </a:lnTo>
                  <a:lnTo>
                    <a:pt x="2864637" y="139700"/>
                  </a:lnTo>
                  <a:lnTo>
                    <a:pt x="2861335" y="138049"/>
                  </a:lnTo>
                  <a:lnTo>
                    <a:pt x="2832633" y="124460"/>
                  </a:lnTo>
                  <a:lnTo>
                    <a:pt x="2826664" y="130429"/>
                  </a:lnTo>
                  <a:lnTo>
                    <a:pt x="2871482" y="150622"/>
                  </a:lnTo>
                  <a:lnTo>
                    <a:pt x="2872206" y="152146"/>
                  </a:lnTo>
                  <a:lnTo>
                    <a:pt x="2874924" y="160528"/>
                  </a:lnTo>
                  <a:lnTo>
                    <a:pt x="2874721" y="161417"/>
                  </a:lnTo>
                  <a:lnTo>
                    <a:pt x="2874657" y="161671"/>
                  </a:lnTo>
                  <a:lnTo>
                    <a:pt x="2874365" y="162560"/>
                  </a:lnTo>
                  <a:lnTo>
                    <a:pt x="2874289" y="162814"/>
                  </a:lnTo>
                  <a:lnTo>
                    <a:pt x="2873603" y="163830"/>
                  </a:lnTo>
                  <a:lnTo>
                    <a:pt x="2873527" y="163957"/>
                  </a:lnTo>
                  <a:lnTo>
                    <a:pt x="2872384" y="165227"/>
                  </a:lnTo>
                  <a:lnTo>
                    <a:pt x="2871203" y="166243"/>
                  </a:lnTo>
                  <a:lnTo>
                    <a:pt x="2870225" y="167005"/>
                  </a:lnTo>
                  <a:lnTo>
                    <a:pt x="2868472" y="168021"/>
                  </a:lnTo>
                  <a:lnTo>
                    <a:pt x="2868853" y="168021"/>
                  </a:lnTo>
                  <a:lnTo>
                    <a:pt x="2874416" y="172466"/>
                  </a:lnTo>
                  <a:lnTo>
                    <a:pt x="2876181" y="171577"/>
                  </a:lnTo>
                  <a:lnTo>
                    <a:pt x="2877591" y="170561"/>
                  </a:lnTo>
                  <a:lnTo>
                    <a:pt x="2878734" y="169545"/>
                  </a:lnTo>
                  <a:lnTo>
                    <a:pt x="2880385" y="167767"/>
                  </a:lnTo>
                  <a:lnTo>
                    <a:pt x="2881528" y="165862"/>
                  </a:lnTo>
                  <a:lnTo>
                    <a:pt x="2882074" y="162814"/>
                  </a:lnTo>
                  <a:close/>
                </a:path>
                <a:path w="9090025" h="247014">
                  <a:moveTo>
                    <a:pt x="2894736" y="100330"/>
                  </a:moveTo>
                  <a:lnTo>
                    <a:pt x="2889275" y="94742"/>
                  </a:lnTo>
                  <a:lnTo>
                    <a:pt x="2872384" y="111633"/>
                  </a:lnTo>
                  <a:lnTo>
                    <a:pt x="2877972" y="117094"/>
                  </a:lnTo>
                  <a:lnTo>
                    <a:pt x="2894736" y="100330"/>
                  </a:lnTo>
                  <a:close/>
                </a:path>
                <a:path w="9090025" h="247014">
                  <a:moveTo>
                    <a:pt x="2934220" y="87757"/>
                  </a:moveTo>
                  <a:lnTo>
                    <a:pt x="2904756" y="58293"/>
                  </a:lnTo>
                  <a:lnTo>
                    <a:pt x="2889275" y="42799"/>
                  </a:lnTo>
                  <a:lnTo>
                    <a:pt x="2885706" y="46355"/>
                  </a:lnTo>
                  <a:lnTo>
                    <a:pt x="2886735" y="49276"/>
                  </a:lnTo>
                  <a:lnTo>
                    <a:pt x="2886722" y="59563"/>
                  </a:lnTo>
                  <a:lnTo>
                    <a:pt x="2886595" y="61595"/>
                  </a:lnTo>
                  <a:lnTo>
                    <a:pt x="2885592" y="66040"/>
                  </a:lnTo>
                  <a:lnTo>
                    <a:pt x="2884068" y="70485"/>
                  </a:lnTo>
                  <a:lnTo>
                    <a:pt x="2889275" y="75819"/>
                  </a:lnTo>
                  <a:lnTo>
                    <a:pt x="2890418" y="73533"/>
                  </a:lnTo>
                  <a:lnTo>
                    <a:pt x="2891434" y="70612"/>
                  </a:lnTo>
                  <a:lnTo>
                    <a:pt x="2893212" y="63754"/>
                  </a:lnTo>
                  <a:lnTo>
                    <a:pt x="2893491" y="61595"/>
                  </a:lnTo>
                  <a:lnTo>
                    <a:pt x="2893593" y="60833"/>
                  </a:lnTo>
                  <a:lnTo>
                    <a:pt x="2893707" y="58293"/>
                  </a:lnTo>
                  <a:lnTo>
                    <a:pt x="2893834" y="58293"/>
                  </a:lnTo>
                  <a:lnTo>
                    <a:pt x="2928632" y="93218"/>
                  </a:lnTo>
                  <a:lnTo>
                    <a:pt x="2934220" y="87757"/>
                  </a:lnTo>
                  <a:close/>
                </a:path>
                <a:path w="9090025" h="247014">
                  <a:moveTo>
                    <a:pt x="2970238" y="40005"/>
                  </a:moveTo>
                  <a:lnTo>
                    <a:pt x="2968396" y="35560"/>
                  </a:lnTo>
                  <a:lnTo>
                    <a:pt x="2966364" y="33528"/>
                  </a:lnTo>
                  <a:lnTo>
                    <a:pt x="2962872" y="30035"/>
                  </a:lnTo>
                  <a:lnTo>
                    <a:pt x="2962872" y="49911"/>
                  </a:lnTo>
                  <a:lnTo>
                    <a:pt x="2961538" y="52832"/>
                  </a:lnTo>
                  <a:lnTo>
                    <a:pt x="2958998" y="55499"/>
                  </a:lnTo>
                  <a:lnTo>
                    <a:pt x="2957220" y="57150"/>
                  </a:lnTo>
                  <a:lnTo>
                    <a:pt x="2955315" y="58293"/>
                  </a:lnTo>
                  <a:lnTo>
                    <a:pt x="2950743" y="59563"/>
                  </a:lnTo>
                  <a:lnTo>
                    <a:pt x="2948584" y="59563"/>
                  </a:lnTo>
                  <a:lnTo>
                    <a:pt x="2946298" y="58928"/>
                  </a:lnTo>
                  <a:lnTo>
                    <a:pt x="2944495" y="58293"/>
                  </a:lnTo>
                  <a:lnTo>
                    <a:pt x="2944342" y="58293"/>
                  </a:lnTo>
                  <a:lnTo>
                    <a:pt x="2942234" y="57023"/>
                  </a:lnTo>
                  <a:lnTo>
                    <a:pt x="2938043" y="52832"/>
                  </a:lnTo>
                  <a:lnTo>
                    <a:pt x="2936773" y="49911"/>
                  </a:lnTo>
                  <a:lnTo>
                    <a:pt x="2936875" y="42799"/>
                  </a:lnTo>
                  <a:lnTo>
                    <a:pt x="2937535" y="41275"/>
                  </a:lnTo>
                  <a:lnTo>
                    <a:pt x="2938043" y="40132"/>
                  </a:lnTo>
                  <a:lnTo>
                    <a:pt x="2940710" y="37465"/>
                  </a:lnTo>
                  <a:lnTo>
                    <a:pt x="2941917" y="36195"/>
                  </a:lnTo>
                  <a:lnTo>
                    <a:pt x="2943250" y="34798"/>
                  </a:lnTo>
                  <a:lnTo>
                    <a:pt x="2946425" y="33528"/>
                  </a:lnTo>
                  <a:lnTo>
                    <a:pt x="2953677" y="33528"/>
                  </a:lnTo>
                  <a:lnTo>
                    <a:pt x="2962872" y="49911"/>
                  </a:lnTo>
                  <a:lnTo>
                    <a:pt x="2962872" y="30035"/>
                  </a:lnTo>
                  <a:lnTo>
                    <a:pt x="2961792" y="28956"/>
                  </a:lnTo>
                  <a:lnTo>
                    <a:pt x="2961551" y="28829"/>
                  </a:lnTo>
                  <a:lnTo>
                    <a:pt x="2958744" y="27305"/>
                  </a:lnTo>
                  <a:lnTo>
                    <a:pt x="2956001" y="26797"/>
                  </a:lnTo>
                  <a:lnTo>
                    <a:pt x="2956166" y="26797"/>
                  </a:lnTo>
                  <a:lnTo>
                    <a:pt x="2951886" y="26162"/>
                  </a:lnTo>
                  <a:lnTo>
                    <a:pt x="2948330" y="26797"/>
                  </a:lnTo>
                  <a:lnTo>
                    <a:pt x="2944761" y="28714"/>
                  </a:lnTo>
                  <a:lnTo>
                    <a:pt x="2946044" y="25654"/>
                  </a:lnTo>
                  <a:lnTo>
                    <a:pt x="2946438" y="23368"/>
                  </a:lnTo>
                  <a:lnTo>
                    <a:pt x="2946514" y="22479"/>
                  </a:lnTo>
                  <a:lnTo>
                    <a:pt x="2946285" y="20955"/>
                  </a:lnTo>
                  <a:lnTo>
                    <a:pt x="2946171" y="20193"/>
                  </a:lnTo>
                  <a:lnTo>
                    <a:pt x="2945663" y="17526"/>
                  </a:lnTo>
                  <a:lnTo>
                    <a:pt x="2944672" y="15748"/>
                  </a:lnTo>
                  <a:lnTo>
                    <a:pt x="2944393" y="15240"/>
                  </a:lnTo>
                  <a:lnTo>
                    <a:pt x="2942361" y="13081"/>
                  </a:lnTo>
                  <a:lnTo>
                    <a:pt x="2939567" y="10401"/>
                  </a:lnTo>
                  <a:lnTo>
                    <a:pt x="2939567" y="28321"/>
                  </a:lnTo>
                  <a:lnTo>
                    <a:pt x="2938424" y="30734"/>
                  </a:lnTo>
                  <a:lnTo>
                    <a:pt x="2933979" y="35179"/>
                  </a:lnTo>
                  <a:lnTo>
                    <a:pt x="2933801" y="35179"/>
                  </a:lnTo>
                  <a:lnTo>
                    <a:pt x="2931693" y="36068"/>
                  </a:lnTo>
                  <a:lnTo>
                    <a:pt x="2929026" y="36195"/>
                  </a:lnTo>
                  <a:lnTo>
                    <a:pt x="2926359" y="36195"/>
                  </a:lnTo>
                  <a:lnTo>
                    <a:pt x="2923933" y="35179"/>
                  </a:lnTo>
                  <a:lnTo>
                    <a:pt x="2919869" y="31115"/>
                  </a:lnTo>
                  <a:lnTo>
                    <a:pt x="2919031" y="28956"/>
                  </a:lnTo>
                  <a:lnTo>
                    <a:pt x="2919107" y="23368"/>
                  </a:lnTo>
                  <a:lnTo>
                    <a:pt x="2920136" y="20955"/>
                  </a:lnTo>
                  <a:lnTo>
                    <a:pt x="2924327" y="16764"/>
                  </a:lnTo>
                  <a:lnTo>
                    <a:pt x="2926740" y="15748"/>
                  </a:lnTo>
                  <a:lnTo>
                    <a:pt x="2932201" y="15748"/>
                  </a:lnTo>
                  <a:lnTo>
                    <a:pt x="2934614" y="16764"/>
                  </a:lnTo>
                  <a:lnTo>
                    <a:pt x="2936633" y="18669"/>
                  </a:lnTo>
                  <a:lnTo>
                    <a:pt x="2938551" y="20701"/>
                  </a:lnTo>
                  <a:lnTo>
                    <a:pt x="2939338" y="22479"/>
                  </a:lnTo>
                  <a:lnTo>
                    <a:pt x="2939453" y="22733"/>
                  </a:lnTo>
                  <a:lnTo>
                    <a:pt x="2939567" y="28321"/>
                  </a:lnTo>
                  <a:lnTo>
                    <a:pt x="2939567" y="10401"/>
                  </a:lnTo>
                  <a:lnTo>
                    <a:pt x="2939059" y="9906"/>
                  </a:lnTo>
                  <a:lnTo>
                    <a:pt x="2935122" y="8255"/>
                  </a:lnTo>
                  <a:lnTo>
                    <a:pt x="2925851" y="8509"/>
                  </a:lnTo>
                  <a:lnTo>
                    <a:pt x="2921520" y="10541"/>
                  </a:lnTo>
                  <a:lnTo>
                    <a:pt x="2913786" y="18288"/>
                  </a:lnTo>
                  <a:lnTo>
                    <a:pt x="2911754" y="22479"/>
                  </a:lnTo>
                  <a:lnTo>
                    <a:pt x="2911627" y="27051"/>
                  </a:lnTo>
                  <a:lnTo>
                    <a:pt x="2911500" y="31623"/>
                  </a:lnTo>
                  <a:lnTo>
                    <a:pt x="2913024" y="35560"/>
                  </a:lnTo>
                  <a:lnTo>
                    <a:pt x="2918485" y="41021"/>
                  </a:lnTo>
                  <a:lnTo>
                    <a:pt x="2920898" y="42291"/>
                  </a:lnTo>
                  <a:lnTo>
                    <a:pt x="2924441" y="42799"/>
                  </a:lnTo>
                  <a:lnTo>
                    <a:pt x="2924225" y="42799"/>
                  </a:lnTo>
                  <a:lnTo>
                    <a:pt x="2926219" y="43180"/>
                  </a:lnTo>
                  <a:lnTo>
                    <a:pt x="2928328" y="42799"/>
                  </a:lnTo>
                  <a:lnTo>
                    <a:pt x="2928734" y="42799"/>
                  </a:lnTo>
                  <a:lnTo>
                    <a:pt x="2932201" y="41275"/>
                  </a:lnTo>
                  <a:lnTo>
                    <a:pt x="2930156" y="44704"/>
                  </a:lnTo>
                  <a:lnTo>
                    <a:pt x="2929394" y="48133"/>
                  </a:lnTo>
                  <a:lnTo>
                    <a:pt x="2943504" y="66802"/>
                  </a:lnTo>
                  <a:lnTo>
                    <a:pt x="2953893" y="66802"/>
                  </a:lnTo>
                  <a:lnTo>
                    <a:pt x="2970174" y="45466"/>
                  </a:lnTo>
                  <a:lnTo>
                    <a:pt x="2970238" y="40005"/>
                  </a:lnTo>
                  <a:close/>
                </a:path>
                <a:path w="9090025" h="247014">
                  <a:moveTo>
                    <a:pt x="3027451" y="188087"/>
                  </a:moveTo>
                  <a:lnTo>
                    <a:pt x="3027324" y="185039"/>
                  </a:lnTo>
                  <a:lnTo>
                    <a:pt x="3026054" y="182118"/>
                  </a:lnTo>
                  <a:lnTo>
                    <a:pt x="3024911" y="179197"/>
                  </a:lnTo>
                  <a:lnTo>
                    <a:pt x="3022498" y="175768"/>
                  </a:lnTo>
                  <a:lnTo>
                    <a:pt x="2988335" y="141605"/>
                  </a:lnTo>
                  <a:lnTo>
                    <a:pt x="2982366" y="147447"/>
                  </a:lnTo>
                  <a:lnTo>
                    <a:pt x="3015767" y="180848"/>
                  </a:lnTo>
                  <a:lnTo>
                    <a:pt x="3017418" y="183007"/>
                  </a:lnTo>
                  <a:lnTo>
                    <a:pt x="3018942" y="186055"/>
                  </a:lnTo>
                  <a:lnTo>
                    <a:pt x="3019006" y="188087"/>
                  </a:lnTo>
                  <a:lnTo>
                    <a:pt x="3018307" y="191262"/>
                  </a:lnTo>
                  <a:lnTo>
                    <a:pt x="3017418" y="192913"/>
                  </a:lnTo>
                  <a:lnTo>
                    <a:pt x="3013862" y="196469"/>
                  </a:lnTo>
                  <a:lnTo>
                    <a:pt x="3011703" y="197358"/>
                  </a:lnTo>
                  <a:lnTo>
                    <a:pt x="3006877" y="197104"/>
                  </a:lnTo>
                  <a:lnTo>
                    <a:pt x="3003956" y="195453"/>
                  </a:lnTo>
                  <a:lnTo>
                    <a:pt x="3000400" y="192151"/>
                  </a:lnTo>
                  <a:lnTo>
                    <a:pt x="2995701" y="198247"/>
                  </a:lnTo>
                  <a:lnTo>
                    <a:pt x="3000146" y="202692"/>
                  </a:lnTo>
                  <a:lnTo>
                    <a:pt x="3004464" y="205105"/>
                  </a:lnTo>
                  <a:lnTo>
                    <a:pt x="3008782" y="205232"/>
                  </a:lnTo>
                  <a:lnTo>
                    <a:pt x="3013100" y="205486"/>
                  </a:lnTo>
                  <a:lnTo>
                    <a:pt x="3017291" y="203581"/>
                  </a:lnTo>
                  <a:lnTo>
                    <a:pt x="3023514" y="197358"/>
                  </a:lnTo>
                  <a:lnTo>
                    <a:pt x="3023768" y="197104"/>
                  </a:lnTo>
                  <a:lnTo>
                    <a:pt x="3024213" y="196469"/>
                  </a:lnTo>
                  <a:lnTo>
                    <a:pt x="3025673" y="194183"/>
                  </a:lnTo>
                  <a:lnTo>
                    <a:pt x="3027451" y="188087"/>
                  </a:lnTo>
                  <a:close/>
                </a:path>
                <a:path w="9090025" h="247014">
                  <a:moveTo>
                    <a:pt x="3068218" y="151130"/>
                  </a:moveTo>
                  <a:lnTo>
                    <a:pt x="3035706" y="118745"/>
                  </a:lnTo>
                  <a:lnTo>
                    <a:pt x="3030245" y="124206"/>
                  </a:lnTo>
                  <a:lnTo>
                    <a:pt x="3050438" y="144399"/>
                  </a:lnTo>
                  <a:lnTo>
                    <a:pt x="3052216" y="146812"/>
                  </a:lnTo>
                  <a:lnTo>
                    <a:pt x="3053105" y="148844"/>
                  </a:lnTo>
                  <a:lnTo>
                    <a:pt x="3053867" y="150876"/>
                  </a:lnTo>
                  <a:lnTo>
                    <a:pt x="3053994" y="153035"/>
                  </a:lnTo>
                  <a:lnTo>
                    <a:pt x="3053486" y="155321"/>
                  </a:lnTo>
                  <a:lnTo>
                    <a:pt x="3052915" y="157480"/>
                  </a:lnTo>
                  <a:lnTo>
                    <a:pt x="3052851" y="157734"/>
                  </a:lnTo>
                  <a:lnTo>
                    <a:pt x="3051708" y="159639"/>
                  </a:lnTo>
                  <a:lnTo>
                    <a:pt x="3048406" y="162941"/>
                  </a:lnTo>
                  <a:lnTo>
                    <a:pt x="3046399" y="164084"/>
                  </a:lnTo>
                  <a:lnTo>
                    <a:pt x="3045637" y="164084"/>
                  </a:lnTo>
                  <a:lnTo>
                    <a:pt x="3042691" y="164465"/>
                  </a:lnTo>
                  <a:lnTo>
                    <a:pt x="3015005" y="139573"/>
                  </a:lnTo>
                  <a:lnTo>
                    <a:pt x="3009417" y="145034"/>
                  </a:lnTo>
                  <a:lnTo>
                    <a:pt x="3029610" y="165100"/>
                  </a:lnTo>
                  <a:lnTo>
                    <a:pt x="3031896" y="167513"/>
                  </a:lnTo>
                  <a:lnTo>
                    <a:pt x="3033674" y="169037"/>
                  </a:lnTo>
                  <a:lnTo>
                    <a:pt x="3042691" y="172593"/>
                  </a:lnTo>
                  <a:lnTo>
                    <a:pt x="3044850" y="172339"/>
                  </a:lnTo>
                  <a:lnTo>
                    <a:pt x="3047263" y="171323"/>
                  </a:lnTo>
                  <a:lnTo>
                    <a:pt x="3049676" y="170434"/>
                  </a:lnTo>
                  <a:lnTo>
                    <a:pt x="3051835" y="169037"/>
                  </a:lnTo>
                  <a:lnTo>
                    <a:pt x="3056407" y="164465"/>
                  </a:lnTo>
                  <a:lnTo>
                    <a:pt x="3057931" y="162941"/>
                  </a:lnTo>
                  <a:lnTo>
                    <a:pt x="3058236" y="162179"/>
                  </a:lnTo>
                  <a:lnTo>
                    <a:pt x="3059506" y="157734"/>
                  </a:lnTo>
                  <a:lnTo>
                    <a:pt x="3059582" y="157480"/>
                  </a:lnTo>
                  <a:lnTo>
                    <a:pt x="3058439" y="151384"/>
                  </a:lnTo>
                  <a:lnTo>
                    <a:pt x="3063265" y="156083"/>
                  </a:lnTo>
                  <a:lnTo>
                    <a:pt x="3067964" y="151384"/>
                  </a:lnTo>
                  <a:lnTo>
                    <a:pt x="3068218" y="151130"/>
                  </a:lnTo>
                  <a:close/>
                </a:path>
                <a:path w="9090025" h="247014">
                  <a:moveTo>
                    <a:pt x="3082950" y="136398"/>
                  </a:moveTo>
                  <a:lnTo>
                    <a:pt x="3038246" y="91694"/>
                  </a:lnTo>
                  <a:lnTo>
                    <a:pt x="3032658" y="97155"/>
                  </a:lnTo>
                  <a:lnTo>
                    <a:pt x="3077489" y="141859"/>
                  </a:lnTo>
                  <a:lnTo>
                    <a:pt x="3082950" y="136398"/>
                  </a:lnTo>
                  <a:close/>
                </a:path>
                <a:path w="9090025" h="247014">
                  <a:moveTo>
                    <a:pt x="3092856" y="99568"/>
                  </a:moveTo>
                  <a:lnTo>
                    <a:pt x="3087395" y="94107"/>
                  </a:lnTo>
                  <a:lnTo>
                    <a:pt x="3070504" y="110998"/>
                  </a:lnTo>
                  <a:lnTo>
                    <a:pt x="3075965" y="116459"/>
                  </a:lnTo>
                  <a:lnTo>
                    <a:pt x="3092856" y="99568"/>
                  </a:lnTo>
                  <a:close/>
                </a:path>
                <a:path w="9090025" h="247014">
                  <a:moveTo>
                    <a:pt x="3131210" y="88138"/>
                  </a:moveTo>
                  <a:lnTo>
                    <a:pt x="3101746" y="58674"/>
                  </a:lnTo>
                  <a:lnTo>
                    <a:pt x="3086252" y="43180"/>
                  </a:lnTo>
                  <a:lnTo>
                    <a:pt x="3082696" y="46736"/>
                  </a:lnTo>
                  <a:lnTo>
                    <a:pt x="3083712" y="49657"/>
                  </a:lnTo>
                  <a:lnTo>
                    <a:pt x="3083585" y="61976"/>
                  </a:lnTo>
                  <a:lnTo>
                    <a:pt x="3082696" y="66421"/>
                  </a:lnTo>
                  <a:lnTo>
                    <a:pt x="3080994" y="70993"/>
                  </a:lnTo>
                  <a:lnTo>
                    <a:pt x="3081159" y="70993"/>
                  </a:lnTo>
                  <a:lnTo>
                    <a:pt x="3086379" y="76200"/>
                  </a:lnTo>
                  <a:lnTo>
                    <a:pt x="3087395" y="73914"/>
                  </a:lnTo>
                  <a:lnTo>
                    <a:pt x="3088411" y="70993"/>
                  </a:lnTo>
                  <a:lnTo>
                    <a:pt x="3090189" y="64135"/>
                  </a:lnTo>
                  <a:lnTo>
                    <a:pt x="3090697" y="61214"/>
                  </a:lnTo>
                  <a:lnTo>
                    <a:pt x="3090697" y="58674"/>
                  </a:lnTo>
                  <a:lnTo>
                    <a:pt x="3125749" y="93599"/>
                  </a:lnTo>
                  <a:lnTo>
                    <a:pt x="3131210" y="88138"/>
                  </a:lnTo>
                  <a:close/>
                </a:path>
                <a:path w="9090025" h="247014">
                  <a:moveTo>
                    <a:pt x="3167227" y="40386"/>
                  </a:moveTo>
                  <a:lnTo>
                    <a:pt x="3165500" y="35941"/>
                  </a:lnTo>
                  <a:lnTo>
                    <a:pt x="3163468" y="33909"/>
                  </a:lnTo>
                  <a:lnTo>
                    <a:pt x="3159912" y="30353"/>
                  </a:lnTo>
                  <a:lnTo>
                    <a:pt x="3159912" y="43180"/>
                  </a:lnTo>
                  <a:lnTo>
                    <a:pt x="3159849" y="50292"/>
                  </a:lnTo>
                  <a:lnTo>
                    <a:pt x="3159480" y="51181"/>
                  </a:lnTo>
                  <a:lnTo>
                    <a:pt x="3158515" y="53340"/>
                  </a:lnTo>
                  <a:lnTo>
                    <a:pt x="3154451" y="57404"/>
                  </a:lnTo>
                  <a:lnTo>
                    <a:pt x="3154324" y="57531"/>
                  </a:lnTo>
                  <a:lnTo>
                    <a:pt x="3152292" y="58674"/>
                  </a:lnTo>
                  <a:lnTo>
                    <a:pt x="3150006" y="59309"/>
                  </a:lnTo>
                  <a:lnTo>
                    <a:pt x="3147847" y="60071"/>
                  </a:lnTo>
                  <a:lnTo>
                    <a:pt x="3145993" y="60071"/>
                  </a:lnTo>
                  <a:lnTo>
                    <a:pt x="3143402" y="59309"/>
                  </a:lnTo>
                  <a:lnTo>
                    <a:pt x="3141484" y="58674"/>
                  </a:lnTo>
                  <a:lnTo>
                    <a:pt x="3141319" y="58674"/>
                  </a:lnTo>
                  <a:lnTo>
                    <a:pt x="3139211" y="57404"/>
                  </a:lnTo>
                  <a:lnTo>
                    <a:pt x="3135147" y="53340"/>
                  </a:lnTo>
                  <a:lnTo>
                    <a:pt x="3133877" y="50292"/>
                  </a:lnTo>
                  <a:lnTo>
                    <a:pt x="3133864" y="43180"/>
                  </a:lnTo>
                  <a:lnTo>
                    <a:pt x="3134588" y="41656"/>
                  </a:lnTo>
                  <a:lnTo>
                    <a:pt x="3135147" y="40513"/>
                  </a:lnTo>
                  <a:lnTo>
                    <a:pt x="3137687" y="37846"/>
                  </a:lnTo>
                  <a:lnTo>
                    <a:pt x="3139021" y="36576"/>
                  </a:lnTo>
                  <a:lnTo>
                    <a:pt x="3140481" y="35179"/>
                  </a:lnTo>
                  <a:lnTo>
                    <a:pt x="3140621" y="35179"/>
                  </a:lnTo>
                  <a:lnTo>
                    <a:pt x="3143402" y="33909"/>
                  </a:lnTo>
                  <a:lnTo>
                    <a:pt x="3150387" y="33909"/>
                  </a:lnTo>
                  <a:lnTo>
                    <a:pt x="3153435" y="35179"/>
                  </a:lnTo>
                  <a:lnTo>
                    <a:pt x="3158642" y="40386"/>
                  </a:lnTo>
                  <a:lnTo>
                    <a:pt x="3159912" y="43180"/>
                  </a:lnTo>
                  <a:lnTo>
                    <a:pt x="3159912" y="30353"/>
                  </a:lnTo>
                  <a:lnTo>
                    <a:pt x="3158896" y="29337"/>
                  </a:lnTo>
                  <a:lnTo>
                    <a:pt x="3158642" y="29210"/>
                  </a:lnTo>
                  <a:lnTo>
                    <a:pt x="3155721" y="27686"/>
                  </a:lnTo>
                  <a:lnTo>
                    <a:pt x="3152292" y="27178"/>
                  </a:lnTo>
                  <a:lnTo>
                    <a:pt x="3148863" y="26543"/>
                  </a:lnTo>
                  <a:lnTo>
                    <a:pt x="3145434" y="27178"/>
                  </a:lnTo>
                  <a:lnTo>
                    <a:pt x="3141738" y="29083"/>
                  </a:lnTo>
                  <a:lnTo>
                    <a:pt x="3143148" y="26035"/>
                  </a:lnTo>
                  <a:lnTo>
                    <a:pt x="3143453" y="23749"/>
                  </a:lnTo>
                  <a:lnTo>
                    <a:pt x="3143491" y="22987"/>
                  </a:lnTo>
                  <a:lnTo>
                    <a:pt x="3143250" y="21336"/>
                  </a:lnTo>
                  <a:lnTo>
                    <a:pt x="3143148" y="20574"/>
                  </a:lnTo>
                  <a:lnTo>
                    <a:pt x="3142640" y="17907"/>
                  </a:lnTo>
                  <a:lnTo>
                    <a:pt x="3141751" y="16129"/>
                  </a:lnTo>
                  <a:lnTo>
                    <a:pt x="3141497" y="15621"/>
                  </a:lnTo>
                  <a:lnTo>
                    <a:pt x="3136544" y="10668"/>
                  </a:lnTo>
                  <a:lnTo>
                    <a:pt x="3136544" y="23368"/>
                  </a:lnTo>
                  <a:lnTo>
                    <a:pt x="3136544" y="28702"/>
                  </a:lnTo>
                  <a:lnTo>
                    <a:pt x="3135401" y="31115"/>
                  </a:lnTo>
                  <a:lnTo>
                    <a:pt x="3133369" y="33274"/>
                  </a:lnTo>
                  <a:lnTo>
                    <a:pt x="3131083" y="35560"/>
                  </a:lnTo>
                  <a:lnTo>
                    <a:pt x="3130918" y="35560"/>
                  </a:lnTo>
                  <a:lnTo>
                    <a:pt x="3128670" y="36576"/>
                  </a:lnTo>
                  <a:lnTo>
                    <a:pt x="3123336" y="36576"/>
                  </a:lnTo>
                  <a:lnTo>
                    <a:pt x="3120923" y="35560"/>
                  </a:lnTo>
                  <a:lnTo>
                    <a:pt x="3116859" y="31496"/>
                  </a:lnTo>
                  <a:lnTo>
                    <a:pt x="3116008" y="29337"/>
                  </a:lnTo>
                  <a:lnTo>
                    <a:pt x="3116097" y="23749"/>
                  </a:lnTo>
                  <a:lnTo>
                    <a:pt x="3117113" y="21336"/>
                  </a:lnTo>
                  <a:lnTo>
                    <a:pt x="3119272" y="19304"/>
                  </a:lnTo>
                  <a:lnTo>
                    <a:pt x="3121304" y="17145"/>
                  </a:lnTo>
                  <a:lnTo>
                    <a:pt x="3123717" y="16129"/>
                  </a:lnTo>
                  <a:lnTo>
                    <a:pt x="3129305" y="16129"/>
                  </a:lnTo>
                  <a:lnTo>
                    <a:pt x="3131718" y="17145"/>
                  </a:lnTo>
                  <a:lnTo>
                    <a:pt x="3133750" y="19304"/>
                  </a:lnTo>
                  <a:lnTo>
                    <a:pt x="3135655" y="21082"/>
                  </a:lnTo>
                  <a:lnTo>
                    <a:pt x="3136544" y="23368"/>
                  </a:lnTo>
                  <a:lnTo>
                    <a:pt x="3136544" y="10668"/>
                  </a:lnTo>
                  <a:lnTo>
                    <a:pt x="3136163" y="10287"/>
                  </a:lnTo>
                  <a:lnTo>
                    <a:pt x="3132099" y="8636"/>
                  </a:lnTo>
                  <a:lnTo>
                    <a:pt x="3122828" y="8890"/>
                  </a:lnTo>
                  <a:lnTo>
                    <a:pt x="3118637" y="10922"/>
                  </a:lnTo>
                  <a:lnTo>
                    <a:pt x="3114700" y="14859"/>
                  </a:lnTo>
                  <a:lnTo>
                    <a:pt x="3110763" y="18669"/>
                  </a:lnTo>
                  <a:lnTo>
                    <a:pt x="3108731" y="22987"/>
                  </a:lnTo>
                  <a:lnTo>
                    <a:pt x="3108604" y="27432"/>
                  </a:lnTo>
                  <a:lnTo>
                    <a:pt x="3108477" y="32004"/>
                  </a:lnTo>
                  <a:lnTo>
                    <a:pt x="3110128" y="35941"/>
                  </a:lnTo>
                  <a:lnTo>
                    <a:pt x="3113303" y="39243"/>
                  </a:lnTo>
                  <a:lnTo>
                    <a:pt x="3115462" y="41402"/>
                  </a:lnTo>
                  <a:lnTo>
                    <a:pt x="3117875" y="42672"/>
                  </a:lnTo>
                  <a:lnTo>
                    <a:pt x="3121418" y="43180"/>
                  </a:lnTo>
                  <a:lnTo>
                    <a:pt x="3121202" y="43180"/>
                  </a:lnTo>
                  <a:lnTo>
                    <a:pt x="3123209" y="43561"/>
                  </a:lnTo>
                  <a:lnTo>
                    <a:pt x="3125393" y="43180"/>
                  </a:lnTo>
                  <a:lnTo>
                    <a:pt x="3125851" y="43180"/>
                  </a:lnTo>
                  <a:lnTo>
                    <a:pt x="3129178" y="41656"/>
                  </a:lnTo>
                  <a:lnTo>
                    <a:pt x="3127146" y="45085"/>
                  </a:lnTo>
                  <a:lnTo>
                    <a:pt x="3126384" y="48514"/>
                  </a:lnTo>
                  <a:lnTo>
                    <a:pt x="3140481" y="67310"/>
                  </a:lnTo>
                  <a:lnTo>
                    <a:pt x="3150578" y="67310"/>
                  </a:lnTo>
                  <a:lnTo>
                    <a:pt x="3155975" y="64897"/>
                  </a:lnTo>
                  <a:lnTo>
                    <a:pt x="3160801" y="60071"/>
                  </a:lnTo>
                  <a:lnTo>
                    <a:pt x="3164865" y="56007"/>
                  </a:lnTo>
                  <a:lnTo>
                    <a:pt x="3167151" y="51181"/>
                  </a:lnTo>
                  <a:lnTo>
                    <a:pt x="3167227" y="40386"/>
                  </a:lnTo>
                  <a:close/>
                </a:path>
                <a:path w="9090025" h="247014">
                  <a:moveTo>
                    <a:pt x="3203727" y="205359"/>
                  </a:moveTo>
                  <a:lnTo>
                    <a:pt x="3202305" y="199009"/>
                  </a:lnTo>
                  <a:lnTo>
                    <a:pt x="3202228" y="198628"/>
                  </a:lnTo>
                  <a:lnTo>
                    <a:pt x="3202063" y="198247"/>
                  </a:lnTo>
                  <a:lnTo>
                    <a:pt x="3201263" y="196723"/>
                  </a:lnTo>
                  <a:lnTo>
                    <a:pt x="3200679" y="195580"/>
                  </a:lnTo>
                  <a:lnTo>
                    <a:pt x="3198393" y="193294"/>
                  </a:lnTo>
                  <a:lnTo>
                    <a:pt x="3196094" y="190881"/>
                  </a:lnTo>
                  <a:lnTo>
                    <a:pt x="3195980" y="190754"/>
                  </a:lnTo>
                  <a:lnTo>
                    <a:pt x="3193186" y="189230"/>
                  </a:lnTo>
                  <a:lnTo>
                    <a:pt x="3190138" y="188722"/>
                  </a:lnTo>
                  <a:lnTo>
                    <a:pt x="3187585" y="188214"/>
                  </a:lnTo>
                  <a:lnTo>
                    <a:pt x="3185820" y="188214"/>
                  </a:lnTo>
                  <a:lnTo>
                    <a:pt x="3166808" y="197104"/>
                  </a:lnTo>
                  <a:lnTo>
                    <a:pt x="3161055" y="200660"/>
                  </a:lnTo>
                  <a:lnTo>
                    <a:pt x="3156851" y="202692"/>
                  </a:lnTo>
                  <a:lnTo>
                    <a:pt x="3154832" y="202692"/>
                  </a:lnTo>
                  <a:lnTo>
                    <a:pt x="3152673" y="202819"/>
                  </a:lnTo>
                  <a:lnTo>
                    <a:pt x="3150768" y="202057"/>
                  </a:lnTo>
                  <a:lnTo>
                    <a:pt x="3149244" y="200406"/>
                  </a:lnTo>
                  <a:lnTo>
                    <a:pt x="3147339" y="198628"/>
                  </a:lnTo>
                  <a:lnTo>
                    <a:pt x="3146856" y="197104"/>
                  </a:lnTo>
                  <a:lnTo>
                    <a:pt x="3146729" y="196723"/>
                  </a:lnTo>
                  <a:lnTo>
                    <a:pt x="3146717" y="195072"/>
                  </a:lnTo>
                  <a:lnTo>
                    <a:pt x="3146958" y="193294"/>
                  </a:lnTo>
                  <a:lnTo>
                    <a:pt x="3147072" y="191897"/>
                  </a:lnTo>
                  <a:lnTo>
                    <a:pt x="3147161" y="190754"/>
                  </a:lnTo>
                  <a:lnTo>
                    <a:pt x="3147212" y="190246"/>
                  </a:lnTo>
                  <a:lnTo>
                    <a:pt x="3165881" y="177546"/>
                  </a:lnTo>
                  <a:lnTo>
                    <a:pt x="3169450" y="178689"/>
                  </a:lnTo>
                  <a:lnTo>
                    <a:pt x="3169208" y="178689"/>
                  </a:lnTo>
                  <a:lnTo>
                    <a:pt x="3172231" y="181102"/>
                  </a:lnTo>
                  <a:lnTo>
                    <a:pt x="3175266" y="177546"/>
                  </a:lnTo>
                  <a:lnTo>
                    <a:pt x="3177324" y="175133"/>
                  </a:lnTo>
                  <a:lnTo>
                    <a:pt x="3177565" y="175133"/>
                  </a:lnTo>
                  <a:lnTo>
                    <a:pt x="3174771" y="172466"/>
                  </a:lnTo>
                  <a:lnTo>
                    <a:pt x="3171723" y="170815"/>
                  </a:lnTo>
                  <a:lnTo>
                    <a:pt x="3168167" y="170180"/>
                  </a:lnTo>
                  <a:lnTo>
                    <a:pt x="3164738" y="169418"/>
                  </a:lnTo>
                  <a:lnTo>
                    <a:pt x="3161309" y="169799"/>
                  </a:lnTo>
                  <a:lnTo>
                    <a:pt x="3157626" y="171323"/>
                  </a:lnTo>
                  <a:lnTo>
                    <a:pt x="3153740" y="172847"/>
                  </a:lnTo>
                  <a:lnTo>
                    <a:pt x="3153880" y="172847"/>
                  </a:lnTo>
                  <a:lnTo>
                    <a:pt x="3150641" y="175133"/>
                  </a:lnTo>
                  <a:lnTo>
                    <a:pt x="3144291" y="181483"/>
                  </a:lnTo>
                  <a:lnTo>
                    <a:pt x="3142005" y="184658"/>
                  </a:lnTo>
                  <a:lnTo>
                    <a:pt x="3140608" y="188214"/>
                  </a:lnTo>
                  <a:lnTo>
                    <a:pt x="3139211" y="191643"/>
                  </a:lnTo>
                  <a:lnTo>
                    <a:pt x="3139224" y="197104"/>
                  </a:lnTo>
                  <a:lnTo>
                    <a:pt x="3139871" y="200406"/>
                  </a:lnTo>
                  <a:lnTo>
                    <a:pt x="3139973" y="200914"/>
                  </a:lnTo>
                  <a:lnTo>
                    <a:pt x="3140100" y="201549"/>
                  </a:lnTo>
                  <a:lnTo>
                    <a:pt x="3141624" y="204343"/>
                  </a:lnTo>
                  <a:lnTo>
                    <a:pt x="3143910" y="206502"/>
                  </a:lnTo>
                  <a:lnTo>
                    <a:pt x="3144672" y="207264"/>
                  </a:lnTo>
                  <a:lnTo>
                    <a:pt x="3146158" y="208661"/>
                  </a:lnTo>
                  <a:lnTo>
                    <a:pt x="3148355" y="209931"/>
                  </a:lnTo>
                  <a:lnTo>
                    <a:pt x="3153689" y="211201"/>
                  </a:lnTo>
                  <a:lnTo>
                    <a:pt x="3156737" y="210947"/>
                  </a:lnTo>
                  <a:lnTo>
                    <a:pt x="3159912" y="209931"/>
                  </a:lnTo>
                  <a:lnTo>
                    <a:pt x="3162452" y="209169"/>
                  </a:lnTo>
                  <a:lnTo>
                    <a:pt x="3166262" y="207264"/>
                  </a:lnTo>
                  <a:lnTo>
                    <a:pt x="3173374" y="202819"/>
                  </a:lnTo>
                  <a:lnTo>
                    <a:pt x="3176422" y="200914"/>
                  </a:lnTo>
                  <a:lnTo>
                    <a:pt x="3179851" y="199009"/>
                  </a:lnTo>
                  <a:lnTo>
                    <a:pt x="3181502" y="198247"/>
                  </a:lnTo>
                  <a:lnTo>
                    <a:pt x="3184169" y="197104"/>
                  </a:lnTo>
                  <a:lnTo>
                    <a:pt x="3186328" y="196723"/>
                  </a:lnTo>
                  <a:lnTo>
                    <a:pt x="3187331" y="196723"/>
                  </a:lnTo>
                  <a:lnTo>
                    <a:pt x="3195980" y="206502"/>
                  </a:lnTo>
                  <a:lnTo>
                    <a:pt x="3195599" y="208661"/>
                  </a:lnTo>
                  <a:lnTo>
                    <a:pt x="3175787" y="225044"/>
                  </a:lnTo>
                  <a:lnTo>
                    <a:pt x="3174174" y="224790"/>
                  </a:lnTo>
                  <a:lnTo>
                    <a:pt x="3173971" y="224790"/>
                  </a:lnTo>
                  <a:lnTo>
                    <a:pt x="3170961" y="224155"/>
                  </a:lnTo>
                  <a:lnTo>
                    <a:pt x="3168548" y="223012"/>
                  </a:lnTo>
                  <a:lnTo>
                    <a:pt x="3166008" y="220980"/>
                  </a:lnTo>
                  <a:lnTo>
                    <a:pt x="3160814" y="227203"/>
                  </a:lnTo>
                  <a:lnTo>
                    <a:pt x="3161055" y="227203"/>
                  </a:lnTo>
                  <a:lnTo>
                    <a:pt x="3163976" y="229997"/>
                  </a:lnTo>
                  <a:lnTo>
                    <a:pt x="3167532" y="231775"/>
                  </a:lnTo>
                  <a:lnTo>
                    <a:pt x="3171469" y="232664"/>
                  </a:lnTo>
                  <a:lnTo>
                    <a:pt x="3175406" y="233426"/>
                  </a:lnTo>
                  <a:lnTo>
                    <a:pt x="3179343" y="233045"/>
                  </a:lnTo>
                  <a:lnTo>
                    <a:pt x="3183280" y="231521"/>
                  </a:lnTo>
                  <a:lnTo>
                    <a:pt x="3187090" y="229997"/>
                  </a:lnTo>
                  <a:lnTo>
                    <a:pt x="3191154" y="227203"/>
                  </a:lnTo>
                  <a:lnTo>
                    <a:pt x="3193313" y="225044"/>
                  </a:lnTo>
                  <a:lnTo>
                    <a:pt x="3198393" y="219964"/>
                  </a:lnTo>
                  <a:lnTo>
                    <a:pt x="3200679" y="216408"/>
                  </a:lnTo>
                  <a:lnTo>
                    <a:pt x="3203422" y="209169"/>
                  </a:lnTo>
                  <a:lnTo>
                    <a:pt x="3203498" y="208661"/>
                  </a:lnTo>
                  <a:lnTo>
                    <a:pt x="3203587" y="207264"/>
                  </a:lnTo>
                  <a:lnTo>
                    <a:pt x="3203638" y="206502"/>
                  </a:lnTo>
                  <a:lnTo>
                    <a:pt x="3203727" y="205359"/>
                  </a:lnTo>
                  <a:close/>
                </a:path>
                <a:path w="9090025" h="247014">
                  <a:moveTo>
                    <a:pt x="3273831" y="137414"/>
                  </a:moveTo>
                  <a:lnTo>
                    <a:pt x="3273526" y="134366"/>
                  </a:lnTo>
                  <a:lnTo>
                    <a:pt x="3273450" y="133604"/>
                  </a:lnTo>
                  <a:lnTo>
                    <a:pt x="3272053" y="129794"/>
                  </a:lnTo>
                  <a:lnTo>
                    <a:pt x="3270529" y="125857"/>
                  </a:lnTo>
                  <a:lnTo>
                    <a:pt x="3268116" y="122301"/>
                  </a:lnTo>
                  <a:lnTo>
                    <a:pt x="3266465" y="120650"/>
                  </a:lnTo>
                  <a:lnTo>
                    <a:pt x="3266465" y="140589"/>
                  </a:lnTo>
                  <a:lnTo>
                    <a:pt x="3265449" y="143764"/>
                  </a:lnTo>
                  <a:lnTo>
                    <a:pt x="3260623" y="148590"/>
                  </a:lnTo>
                  <a:lnTo>
                    <a:pt x="3257575" y="149606"/>
                  </a:lnTo>
                  <a:lnTo>
                    <a:pt x="3253892" y="149352"/>
                  </a:lnTo>
                  <a:lnTo>
                    <a:pt x="3235299" y="131191"/>
                  </a:lnTo>
                  <a:lnTo>
                    <a:pt x="3235223" y="130429"/>
                  </a:lnTo>
                  <a:lnTo>
                    <a:pt x="3234944" y="127508"/>
                  </a:lnTo>
                  <a:lnTo>
                    <a:pt x="3234842" y="126365"/>
                  </a:lnTo>
                  <a:lnTo>
                    <a:pt x="3235858" y="123190"/>
                  </a:lnTo>
                  <a:lnTo>
                    <a:pt x="3238271" y="120904"/>
                  </a:lnTo>
                  <a:lnTo>
                    <a:pt x="3240557" y="118491"/>
                  </a:lnTo>
                  <a:lnTo>
                    <a:pt x="3243605" y="117475"/>
                  </a:lnTo>
                  <a:lnTo>
                    <a:pt x="3251098" y="118237"/>
                  </a:lnTo>
                  <a:lnTo>
                    <a:pt x="3255035" y="120523"/>
                  </a:lnTo>
                  <a:lnTo>
                    <a:pt x="3266465" y="140589"/>
                  </a:lnTo>
                  <a:lnTo>
                    <a:pt x="3266465" y="120650"/>
                  </a:lnTo>
                  <a:lnTo>
                    <a:pt x="3263290" y="117475"/>
                  </a:lnTo>
                  <a:lnTo>
                    <a:pt x="3261893" y="116078"/>
                  </a:lnTo>
                  <a:lnTo>
                    <a:pt x="3258337" y="113665"/>
                  </a:lnTo>
                  <a:lnTo>
                    <a:pt x="3250971" y="110617"/>
                  </a:lnTo>
                  <a:lnTo>
                    <a:pt x="3247415" y="110109"/>
                  </a:lnTo>
                  <a:lnTo>
                    <a:pt x="3243859" y="110871"/>
                  </a:lnTo>
                  <a:lnTo>
                    <a:pt x="3240303" y="111506"/>
                  </a:lnTo>
                  <a:lnTo>
                    <a:pt x="3237255" y="113284"/>
                  </a:lnTo>
                  <a:lnTo>
                    <a:pt x="3234461" y="116078"/>
                  </a:lnTo>
                  <a:lnTo>
                    <a:pt x="3232302" y="118110"/>
                  </a:lnTo>
                  <a:lnTo>
                    <a:pt x="3229508" y="127508"/>
                  </a:lnTo>
                  <a:lnTo>
                    <a:pt x="3229902" y="129794"/>
                  </a:lnTo>
                  <a:lnTo>
                    <a:pt x="3230016" y="130429"/>
                  </a:lnTo>
                  <a:lnTo>
                    <a:pt x="3225825" y="126365"/>
                  </a:lnTo>
                  <a:lnTo>
                    <a:pt x="3225571" y="126365"/>
                  </a:lnTo>
                  <a:lnTo>
                    <a:pt x="3220745" y="131191"/>
                  </a:lnTo>
                  <a:lnTo>
                    <a:pt x="3260877" y="171323"/>
                  </a:lnTo>
                  <a:lnTo>
                    <a:pt x="3239808" y="171323"/>
                  </a:lnTo>
                  <a:lnTo>
                    <a:pt x="3239884" y="170815"/>
                  </a:lnTo>
                  <a:lnTo>
                    <a:pt x="3239986" y="170180"/>
                  </a:lnTo>
                  <a:lnTo>
                    <a:pt x="3240062" y="168402"/>
                  </a:lnTo>
                  <a:lnTo>
                    <a:pt x="3239287" y="164719"/>
                  </a:lnTo>
                  <a:lnTo>
                    <a:pt x="3236747" y="160528"/>
                  </a:lnTo>
                  <a:lnTo>
                    <a:pt x="3230397" y="165481"/>
                  </a:lnTo>
                  <a:lnTo>
                    <a:pt x="3231794" y="168402"/>
                  </a:lnTo>
                  <a:lnTo>
                    <a:pt x="3231921" y="168656"/>
                  </a:lnTo>
                  <a:lnTo>
                    <a:pt x="3231959" y="168910"/>
                  </a:lnTo>
                  <a:lnTo>
                    <a:pt x="3232048" y="169418"/>
                  </a:lnTo>
                  <a:lnTo>
                    <a:pt x="3232124" y="169799"/>
                  </a:lnTo>
                  <a:lnTo>
                    <a:pt x="3232188" y="170180"/>
                  </a:lnTo>
                  <a:lnTo>
                    <a:pt x="3232302" y="170815"/>
                  </a:lnTo>
                  <a:lnTo>
                    <a:pt x="3232404" y="171577"/>
                  </a:lnTo>
                  <a:lnTo>
                    <a:pt x="3232048" y="173863"/>
                  </a:lnTo>
                  <a:lnTo>
                    <a:pt x="3231972" y="174625"/>
                  </a:lnTo>
                  <a:lnTo>
                    <a:pt x="3231921" y="175133"/>
                  </a:lnTo>
                  <a:lnTo>
                    <a:pt x="3231794" y="176403"/>
                  </a:lnTo>
                  <a:lnTo>
                    <a:pt x="3230524" y="178689"/>
                  </a:lnTo>
                  <a:lnTo>
                    <a:pt x="3228492" y="180594"/>
                  </a:lnTo>
                  <a:lnTo>
                    <a:pt x="3225825" y="183388"/>
                  </a:lnTo>
                  <a:lnTo>
                    <a:pt x="3222650" y="184658"/>
                  </a:lnTo>
                  <a:lnTo>
                    <a:pt x="3215551" y="184658"/>
                  </a:lnTo>
                  <a:lnTo>
                    <a:pt x="3211474" y="182753"/>
                  </a:lnTo>
                  <a:lnTo>
                    <a:pt x="3207664" y="179451"/>
                  </a:lnTo>
                  <a:lnTo>
                    <a:pt x="3212515" y="174625"/>
                  </a:lnTo>
                  <a:lnTo>
                    <a:pt x="3231921" y="155321"/>
                  </a:lnTo>
                  <a:lnTo>
                    <a:pt x="3221634" y="146710"/>
                  </a:lnTo>
                  <a:lnTo>
                    <a:pt x="3221634" y="156464"/>
                  </a:lnTo>
                  <a:lnTo>
                    <a:pt x="3203473" y="174625"/>
                  </a:lnTo>
                  <a:lnTo>
                    <a:pt x="3200806" y="171577"/>
                  </a:lnTo>
                  <a:lnTo>
                    <a:pt x="3199739" y="168910"/>
                  </a:lnTo>
                  <a:lnTo>
                    <a:pt x="3199765" y="161290"/>
                  </a:lnTo>
                  <a:lnTo>
                    <a:pt x="3200933" y="158623"/>
                  </a:lnTo>
                  <a:lnTo>
                    <a:pt x="3206140" y="153416"/>
                  </a:lnTo>
                  <a:lnTo>
                    <a:pt x="3205899" y="153416"/>
                  </a:lnTo>
                  <a:lnTo>
                    <a:pt x="3209569" y="152146"/>
                  </a:lnTo>
                  <a:lnTo>
                    <a:pt x="3213379" y="152400"/>
                  </a:lnTo>
                  <a:lnTo>
                    <a:pt x="3215919" y="152654"/>
                  </a:lnTo>
                  <a:lnTo>
                    <a:pt x="3218586" y="154051"/>
                  </a:lnTo>
                  <a:lnTo>
                    <a:pt x="3221634" y="156464"/>
                  </a:lnTo>
                  <a:lnTo>
                    <a:pt x="3221634" y="146710"/>
                  </a:lnTo>
                  <a:lnTo>
                    <a:pt x="3219602" y="145669"/>
                  </a:lnTo>
                  <a:lnTo>
                    <a:pt x="3213887" y="145415"/>
                  </a:lnTo>
                  <a:lnTo>
                    <a:pt x="3207855" y="145415"/>
                  </a:lnTo>
                  <a:lnTo>
                    <a:pt x="3203219" y="147320"/>
                  </a:lnTo>
                  <a:lnTo>
                    <a:pt x="3198901" y="151638"/>
                  </a:lnTo>
                  <a:lnTo>
                    <a:pt x="3194329" y="156083"/>
                  </a:lnTo>
                  <a:lnTo>
                    <a:pt x="3192170" y="161290"/>
                  </a:lnTo>
                  <a:lnTo>
                    <a:pt x="3192475" y="168402"/>
                  </a:lnTo>
                  <a:lnTo>
                    <a:pt x="3192551" y="170180"/>
                  </a:lnTo>
                  <a:lnTo>
                    <a:pt x="3220097" y="192278"/>
                  </a:lnTo>
                  <a:lnTo>
                    <a:pt x="3223031" y="192278"/>
                  </a:lnTo>
                  <a:lnTo>
                    <a:pt x="3228238" y="189992"/>
                  </a:lnTo>
                  <a:lnTo>
                    <a:pt x="3233572" y="184658"/>
                  </a:lnTo>
                  <a:lnTo>
                    <a:pt x="3236747" y="181483"/>
                  </a:lnTo>
                  <a:lnTo>
                    <a:pt x="3238830" y="177546"/>
                  </a:lnTo>
                  <a:lnTo>
                    <a:pt x="3239046" y="176403"/>
                  </a:lnTo>
                  <a:lnTo>
                    <a:pt x="3239770" y="171577"/>
                  </a:lnTo>
                  <a:lnTo>
                    <a:pt x="3261131" y="171577"/>
                  </a:lnTo>
                  <a:lnTo>
                    <a:pt x="3265576" y="176022"/>
                  </a:lnTo>
                  <a:lnTo>
                    <a:pt x="3271037" y="170561"/>
                  </a:lnTo>
                  <a:lnTo>
                    <a:pt x="3255289" y="154686"/>
                  </a:lnTo>
                  <a:lnTo>
                    <a:pt x="3257448" y="154940"/>
                  </a:lnTo>
                  <a:lnTo>
                    <a:pt x="3259239" y="154940"/>
                  </a:lnTo>
                  <a:lnTo>
                    <a:pt x="3259963" y="154686"/>
                  </a:lnTo>
                  <a:lnTo>
                    <a:pt x="3261766" y="154051"/>
                  </a:lnTo>
                  <a:lnTo>
                    <a:pt x="3264052" y="153416"/>
                  </a:lnTo>
                  <a:lnTo>
                    <a:pt x="3266084" y="152146"/>
                  </a:lnTo>
                  <a:lnTo>
                    <a:pt x="3268624" y="149606"/>
                  </a:lnTo>
                  <a:lnTo>
                    <a:pt x="3270402" y="147828"/>
                  </a:lnTo>
                  <a:lnTo>
                    <a:pt x="3272053" y="144780"/>
                  </a:lnTo>
                  <a:lnTo>
                    <a:pt x="3273831" y="137414"/>
                  </a:lnTo>
                  <a:close/>
                </a:path>
                <a:path w="9090025" h="247014">
                  <a:moveTo>
                    <a:pt x="3290087" y="99822"/>
                  </a:moveTo>
                  <a:lnTo>
                    <a:pt x="3284499" y="94361"/>
                  </a:lnTo>
                  <a:lnTo>
                    <a:pt x="3267608" y="111252"/>
                  </a:lnTo>
                  <a:lnTo>
                    <a:pt x="3273196" y="116713"/>
                  </a:lnTo>
                  <a:lnTo>
                    <a:pt x="3290087" y="99822"/>
                  </a:lnTo>
                  <a:close/>
                </a:path>
                <a:path w="9090025" h="247014">
                  <a:moveTo>
                    <a:pt x="3328314" y="88392"/>
                  </a:moveTo>
                  <a:lnTo>
                    <a:pt x="3298926" y="58928"/>
                  </a:lnTo>
                  <a:lnTo>
                    <a:pt x="3283483" y="43434"/>
                  </a:lnTo>
                  <a:lnTo>
                    <a:pt x="3279927" y="46990"/>
                  </a:lnTo>
                  <a:lnTo>
                    <a:pt x="3280943" y="49911"/>
                  </a:lnTo>
                  <a:lnTo>
                    <a:pt x="3280816" y="62230"/>
                  </a:lnTo>
                  <a:lnTo>
                    <a:pt x="3279851" y="66421"/>
                  </a:lnTo>
                  <a:lnTo>
                    <a:pt x="3279800" y="66675"/>
                  </a:lnTo>
                  <a:lnTo>
                    <a:pt x="3278098" y="71247"/>
                  </a:lnTo>
                  <a:lnTo>
                    <a:pt x="3278276" y="71247"/>
                  </a:lnTo>
                  <a:lnTo>
                    <a:pt x="3283483" y="76454"/>
                  </a:lnTo>
                  <a:lnTo>
                    <a:pt x="3284626" y="74168"/>
                  </a:lnTo>
                  <a:lnTo>
                    <a:pt x="3285515" y="71247"/>
                  </a:lnTo>
                  <a:lnTo>
                    <a:pt x="3287293" y="64516"/>
                  </a:lnTo>
                  <a:lnTo>
                    <a:pt x="3287674" y="62230"/>
                  </a:lnTo>
                  <a:lnTo>
                    <a:pt x="3287801" y="61468"/>
                  </a:lnTo>
                  <a:lnTo>
                    <a:pt x="3287928" y="58928"/>
                  </a:lnTo>
                  <a:lnTo>
                    <a:pt x="3322853" y="93853"/>
                  </a:lnTo>
                  <a:lnTo>
                    <a:pt x="3328314" y="88392"/>
                  </a:lnTo>
                  <a:close/>
                </a:path>
                <a:path w="9090025" h="247014">
                  <a:moveTo>
                    <a:pt x="3365474" y="39624"/>
                  </a:moveTo>
                  <a:lnTo>
                    <a:pt x="3363747" y="35179"/>
                  </a:lnTo>
                  <a:lnTo>
                    <a:pt x="3361639" y="33147"/>
                  </a:lnTo>
                  <a:lnTo>
                    <a:pt x="3359810" y="31369"/>
                  </a:lnTo>
                  <a:lnTo>
                    <a:pt x="3358096" y="29578"/>
                  </a:lnTo>
                  <a:lnTo>
                    <a:pt x="3358096" y="49530"/>
                  </a:lnTo>
                  <a:lnTo>
                    <a:pt x="3356889" y="52451"/>
                  </a:lnTo>
                  <a:lnTo>
                    <a:pt x="3354222" y="54991"/>
                  </a:lnTo>
                  <a:lnTo>
                    <a:pt x="3352685" y="56642"/>
                  </a:lnTo>
                  <a:lnTo>
                    <a:pt x="3352571" y="56769"/>
                  </a:lnTo>
                  <a:lnTo>
                    <a:pt x="3350539" y="57912"/>
                  </a:lnTo>
                  <a:lnTo>
                    <a:pt x="3345967" y="59182"/>
                  </a:lnTo>
                  <a:lnTo>
                    <a:pt x="3343808" y="59182"/>
                  </a:lnTo>
                  <a:lnTo>
                    <a:pt x="3341522" y="58420"/>
                  </a:lnTo>
                  <a:lnTo>
                    <a:pt x="3339363" y="57785"/>
                  </a:lnTo>
                  <a:lnTo>
                    <a:pt x="3337458" y="56642"/>
                  </a:lnTo>
                  <a:lnTo>
                    <a:pt x="3335934" y="54991"/>
                  </a:lnTo>
                  <a:lnTo>
                    <a:pt x="3333394" y="52451"/>
                  </a:lnTo>
                  <a:lnTo>
                    <a:pt x="3332124" y="49530"/>
                  </a:lnTo>
                  <a:lnTo>
                    <a:pt x="3331997" y="42799"/>
                  </a:lnTo>
                  <a:lnTo>
                    <a:pt x="3332149" y="42291"/>
                  </a:lnTo>
                  <a:lnTo>
                    <a:pt x="3332784" y="40767"/>
                  </a:lnTo>
                  <a:lnTo>
                    <a:pt x="3333204" y="39751"/>
                  </a:lnTo>
                  <a:lnTo>
                    <a:pt x="3333267" y="39624"/>
                  </a:lnTo>
                  <a:lnTo>
                    <a:pt x="3335934" y="37084"/>
                  </a:lnTo>
                  <a:lnTo>
                    <a:pt x="3337204" y="35814"/>
                  </a:lnTo>
                  <a:lnTo>
                    <a:pt x="3338601" y="34417"/>
                  </a:lnTo>
                  <a:lnTo>
                    <a:pt x="3341649" y="33147"/>
                  </a:lnTo>
                  <a:lnTo>
                    <a:pt x="3348939" y="33147"/>
                  </a:lnTo>
                  <a:lnTo>
                    <a:pt x="3351987" y="34417"/>
                  </a:lnTo>
                  <a:lnTo>
                    <a:pt x="3351796" y="34417"/>
                  </a:lnTo>
                  <a:lnTo>
                    <a:pt x="3354463" y="37084"/>
                  </a:lnTo>
                  <a:lnTo>
                    <a:pt x="3356889" y="39624"/>
                  </a:lnTo>
                  <a:lnTo>
                    <a:pt x="3358045" y="42291"/>
                  </a:lnTo>
                  <a:lnTo>
                    <a:pt x="3358096" y="49530"/>
                  </a:lnTo>
                  <a:lnTo>
                    <a:pt x="3358096" y="29578"/>
                  </a:lnTo>
                  <a:lnTo>
                    <a:pt x="3357143" y="28575"/>
                  </a:lnTo>
                  <a:lnTo>
                    <a:pt x="3356889" y="28448"/>
                  </a:lnTo>
                  <a:lnTo>
                    <a:pt x="3353968" y="26924"/>
                  </a:lnTo>
                  <a:lnTo>
                    <a:pt x="3351225" y="26416"/>
                  </a:lnTo>
                  <a:lnTo>
                    <a:pt x="3351390" y="26416"/>
                  </a:lnTo>
                  <a:lnTo>
                    <a:pt x="3347110" y="25781"/>
                  </a:lnTo>
                  <a:lnTo>
                    <a:pt x="3343554" y="26416"/>
                  </a:lnTo>
                  <a:lnTo>
                    <a:pt x="3339985" y="28333"/>
                  </a:lnTo>
                  <a:lnTo>
                    <a:pt x="3341395" y="25273"/>
                  </a:lnTo>
                  <a:lnTo>
                    <a:pt x="3341687" y="22987"/>
                  </a:lnTo>
                  <a:lnTo>
                    <a:pt x="3341738" y="22098"/>
                  </a:lnTo>
                  <a:lnTo>
                    <a:pt x="3341509" y="20574"/>
                  </a:lnTo>
                  <a:lnTo>
                    <a:pt x="3341395" y="19812"/>
                  </a:lnTo>
                  <a:lnTo>
                    <a:pt x="3340887" y="17145"/>
                  </a:lnTo>
                  <a:lnTo>
                    <a:pt x="3339947" y="15367"/>
                  </a:lnTo>
                  <a:lnTo>
                    <a:pt x="3339617" y="14732"/>
                  </a:lnTo>
                  <a:lnTo>
                    <a:pt x="3334791" y="9906"/>
                  </a:lnTo>
                  <a:lnTo>
                    <a:pt x="3334791" y="27940"/>
                  </a:lnTo>
                  <a:lnTo>
                    <a:pt x="3333648" y="30353"/>
                  </a:lnTo>
                  <a:lnTo>
                    <a:pt x="3331616" y="32385"/>
                  </a:lnTo>
                  <a:lnTo>
                    <a:pt x="3329457" y="34671"/>
                  </a:lnTo>
                  <a:lnTo>
                    <a:pt x="3326600" y="35814"/>
                  </a:lnTo>
                  <a:lnTo>
                    <a:pt x="3321583" y="35814"/>
                  </a:lnTo>
                  <a:lnTo>
                    <a:pt x="3319170" y="34671"/>
                  </a:lnTo>
                  <a:lnTo>
                    <a:pt x="3317011" y="32639"/>
                  </a:lnTo>
                  <a:lnTo>
                    <a:pt x="3315106" y="30734"/>
                  </a:lnTo>
                  <a:lnTo>
                    <a:pt x="3314255" y="28575"/>
                  </a:lnTo>
                  <a:lnTo>
                    <a:pt x="3314344" y="22987"/>
                  </a:lnTo>
                  <a:lnTo>
                    <a:pt x="3315360" y="20574"/>
                  </a:lnTo>
                  <a:lnTo>
                    <a:pt x="3319551" y="16383"/>
                  </a:lnTo>
                  <a:lnTo>
                    <a:pt x="3321964" y="15367"/>
                  </a:lnTo>
                  <a:lnTo>
                    <a:pt x="3327552" y="15367"/>
                  </a:lnTo>
                  <a:lnTo>
                    <a:pt x="3330156" y="16383"/>
                  </a:lnTo>
                  <a:lnTo>
                    <a:pt x="3329965" y="16383"/>
                  </a:lnTo>
                  <a:lnTo>
                    <a:pt x="3331870" y="18288"/>
                  </a:lnTo>
                  <a:lnTo>
                    <a:pt x="3333902" y="20193"/>
                  </a:lnTo>
                  <a:lnTo>
                    <a:pt x="3334601" y="22098"/>
                  </a:lnTo>
                  <a:lnTo>
                    <a:pt x="3334689" y="22352"/>
                  </a:lnTo>
                  <a:lnTo>
                    <a:pt x="3334791" y="27940"/>
                  </a:lnTo>
                  <a:lnTo>
                    <a:pt x="3334791" y="9906"/>
                  </a:lnTo>
                  <a:lnTo>
                    <a:pt x="3334283" y="9398"/>
                  </a:lnTo>
                  <a:lnTo>
                    <a:pt x="3330346" y="7874"/>
                  </a:lnTo>
                  <a:lnTo>
                    <a:pt x="3321075" y="8128"/>
                  </a:lnTo>
                  <a:lnTo>
                    <a:pt x="3306775" y="31369"/>
                  </a:lnTo>
                  <a:lnTo>
                    <a:pt x="3308375" y="35179"/>
                  </a:lnTo>
                  <a:lnTo>
                    <a:pt x="3313709" y="40513"/>
                  </a:lnTo>
                  <a:lnTo>
                    <a:pt x="3316122" y="41910"/>
                  </a:lnTo>
                  <a:lnTo>
                    <a:pt x="3318789" y="42291"/>
                  </a:lnTo>
                  <a:lnTo>
                    <a:pt x="3321456" y="42799"/>
                  </a:lnTo>
                  <a:lnTo>
                    <a:pt x="3324377" y="42291"/>
                  </a:lnTo>
                  <a:lnTo>
                    <a:pt x="3327425" y="40767"/>
                  </a:lnTo>
                  <a:lnTo>
                    <a:pt x="3325393" y="44196"/>
                  </a:lnTo>
                  <a:lnTo>
                    <a:pt x="3338728" y="66421"/>
                  </a:lnTo>
                  <a:lnTo>
                    <a:pt x="3349117" y="66421"/>
                  </a:lnTo>
                  <a:lnTo>
                    <a:pt x="3354222" y="64008"/>
                  </a:lnTo>
                  <a:lnTo>
                    <a:pt x="3359048" y="59182"/>
                  </a:lnTo>
                  <a:lnTo>
                    <a:pt x="3363112" y="55245"/>
                  </a:lnTo>
                  <a:lnTo>
                    <a:pt x="3365398" y="50292"/>
                  </a:lnTo>
                  <a:lnTo>
                    <a:pt x="3365474" y="39624"/>
                  </a:lnTo>
                  <a:close/>
                </a:path>
                <a:path w="9090025" h="247014">
                  <a:moveTo>
                    <a:pt x="3410102" y="204089"/>
                  </a:moveTo>
                  <a:lnTo>
                    <a:pt x="3406152" y="200152"/>
                  </a:lnTo>
                  <a:lnTo>
                    <a:pt x="3365271" y="159385"/>
                  </a:lnTo>
                  <a:lnTo>
                    <a:pt x="3359683" y="165100"/>
                  </a:lnTo>
                  <a:lnTo>
                    <a:pt x="3394735" y="200152"/>
                  </a:lnTo>
                  <a:lnTo>
                    <a:pt x="3386366" y="198501"/>
                  </a:lnTo>
                  <a:lnTo>
                    <a:pt x="3336188" y="188595"/>
                  </a:lnTo>
                  <a:lnTo>
                    <a:pt x="3330092" y="194691"/>
                  </a:lnTo>
                  <a:lnTo>
                    <a:pt x="3374796" y="239395"/>
                  </a:lnTo>
                  <a:lnTo>
                    <a:pt x="3380511" y="233680"/>
                  </a:lnTo>
                  <a:lnTo>
                    <a:pt x="3345332" y="198501"/>
                  </a:lnTo>
                  <a:lnTo>
                    <a:pt x="3404006" y="210185"/>
                  </a:lnTo>
                  <a:lnTo>
                    <a:pt x="3410102" y="204089"/>
                  </a:lnTo>
                  <a:close/>
                </a:path>
                <a:path w="9090025" h="247014">
                  <a:moveTo>
                    <a:pt x="3440201" y="165100"/>
                  </a:moveTo>
                  <a:lnTo>
                    <a:pt x="3439058" y="161544"/>
                  </a:lnTo>
                  <a:lnTo>
                    <a:pt x="3437915" y="157861"/>
                  </a:lnTo>
                  <a:lnTo>
                    <a:pt x="3435248" y="153924"/>
                  </a:lnTo>
                  <a:lnTo>
                    <a:pt x="3432708" y="151384"/>
                  </a:lnTo>
                  <a:lnTo>
                    <a:pt x="3432708" y="171831"/>
                  </a:lnTo>
                  <a:lnTo>
                    <a:pt x="3431565" y="175133"/>
                  </a:lnTo>
                  <a:lnTo>
                    <a:pt x="3428771" y="177800"/>
                  </a:lnTo>
                  <a:lnTo>
                    <a:pt x="3426104" y="180594"/>
                  </a:lnTo>
                  <a:lnTo>
                    <a:pt x="3422675" y="181864"/>
                  </a:lnTo>
                  <a:lnTo>
                    <a:pt x="3400158" y="162306"/>
                  </a:lnTo>
                  <a:lnTo>
                    <a:pt x="3400107" y="161544"/>
                  </a:lnTo>
                  <a:lnTo>
                    <a:pt x="3399993" y="159893"/>
                  </a:lnTo>
                  <a:lnTo>
                    <a:pt x="3399942" y="159004"/>
                  </a:lnTo>
                  <a:lnTo>
                    <a:pt x="3401212" y="155702"/>
                  </a:lnTo>
                  <a:lnTo>
                    <a:pt x="3404006" y="153035"/>
                  </a:lnTo>
                  <a:lnTo>
                    <a:pt x="3406673" y="150368"/>
                  </a:lnTo>
                  <a:lnTo>
                    <a:pt x="3409975" y="149098"/>
                  </a:lnTo>
                  <a:lnTo>
                    <a:pt x="3417722" y="149606"/>
                  </a:lnTo>
                  <a:lnTo>
                    <a:pt x="3421659" y="151638"/>
                  </a:lnTo>
                  <a:lnTo>
                    <a:pt x="3429914" y="159893"/>
                  </a:lnTo>
                  <a:lnTo>
                    <a:pt x="3432200" y="163957"/>
                  </a:lnTo>
                  <a:lnTo>
                    <a:pt x="3432632" y="170815"/>
                  </a:lnTo>
                  <a:lnTo>
                    <a:pt x="3432708" y="171831"/>
                  </a:lnTo>
                  <a:lnTo>
                    <a:pt x="3432708" y="151384"/>
                  </a:lnTo>
                  <a:lnTo>
                    <a:pt x="3430422" y="149098"/>
                  </a:lnTo>
                  <a:lnTo>
                    <a:pt x="3425977" y="144653"/>
                  </a:lnTo>
                  <a:lnTo>
                    <a:pt x="3420516" y="141986"/>
                  </a:lnTo>
                  <a:lnTo>
                    <a:pt x="3408654" y="141986"/>
                  </a:lnTo>
                  <a:lnTo>
                    <a:pt x="3393071" y="159004"/>
                  </a:lnTo>
                  <a:lnTo>
                    <a:pt x="3392995" y="159893"/>
                  </a:lnTo>
                  <a:lnTo>
                    <a:pt x="3392881" y="161544"/>
                  </a:lnTo>
                  <a:lnTo>
                    <a:pt x="3392830" y="162306"/>
                  </a:lnTo>
                  <a:lnTo>
                    <a:pt x="3392728" y="163957"/>
                  </a:lnTo>
                  <a:lnTo>
                    <a:pt x="3392652" y="165100"/>
                  </a:lnTo>
                  <a:lnTo>
                    <a:pt x="3392551" y="168783"/>
                  </a:lnTo>
                  <a:lnTo>
                    <a:pt x="3395116" y="174625"/>
                  </a:lnTo>
                  <a:lnTo>
                    <a:pt x="3401212" y="180594"/>
                  </a:lnTo>
                  <a:lnTo>
                    <a:pt x="3406673" y="186055"/>
                  </a:lnTo>
                  <a:lnTo>
                    <a:pt x="3412261" y="188849"/>
                  </a:lnTo>
                  <a:lnTo>
                    <a:pt x="3423691" y="189103"/>
                  </a:lnTo>
                  <a:lnTo>
                    <a:pt x="3428771" y="186817"/>
                  </a:lnTo>
                  <a:lnTo>
                    <a:pt x="3433343" y="182372"/>
                  </a:lnTo>
                  <a:lnTo>
                    <a:pt x="3433826" y="181864"/>
                  </a:lnTo>
                  <a:lnTo>
                    <a:pt x="3436137" y="179451"/>
                  </a:lnTo>
                  <a:lnTo>
                    <a:pt x="3438042" y="176276"/>
                  </a:lnTo>
                  <a:lnTo>
                    <a:pt x="3439185" y="172466"/>
                  </a:lnTo>
                  <a:lnTo>
                    <a:pt x="3440201" y="168783"/>
                  </a:lnTo>
                  <a:lnTo>
                    <a:pt x="3440201" y="165100"/>
                  </a:lnTo>
                  <a:close/>
                </a:path>
                <a:path w="9090025" h="247014">
                  <a:moveTo>
                    <a:pt x="3469157" y="145034"/>
                  </a:moveTo>
                  <a:lnTo>
                    <a:pt x="3467430" y="141224"/>
                  </a:lnTo>
                  <a:lnTo>
                    <a:pt x="3448964" y="100330"/>
                  </a:lnTo>
                  <a:lnTo>
                    <a:pt x="3443376" y="106045"/>
                  </a:lnTo>
                  <a:lnTo>
                    <a:pt x="3455949" y="132969"/>
                  </a:lnTo>
                  <a:lnTo>
                    <a:pt x="3458743" y="139065"/>
                  </a:lnTo>
                  <a:lnTo>
                    <a:pt x="3460013" y="141224"/>
                  </a:lnTo>
                  <a:lnTo>
                    <a:pt x="3457092" y="139573"/>
                  </a:lnTo>
                  <a:lnTo>
                    <a:pt x="3454298" y="138049"/>
                  </a:lnTo>
                  <a:lnTo>
                    <a:pt x="3451377" y="136779"/>
                  </a:lnTo>
                  <a:lnTo>
                    <a:pt x="3425088" y="124333"/>
                  </a:lnTo>
                  <a:lnTo>
                    <a:pt x="3419246" y="130175"/>
                  </a:lnTo>
                  <a:lnTo>
                    <a:pt x="3463937" y="150253"/>
                  </a:lnTo>
                  <a:lnTo>
                    <a:pt x="3469157" y="145034"/>
                  </a:lnTo>
                  <a:close/>
                </a:path>
                <a:path w="9090025" h="247014">
                  <a:moveTo>
                    <a:pt x="3487572" y="99822"/>
                  </a:moveTo>
                  <a:lnTo>
                    <a:pt x="3481984" y="94234"/>
                  </a:lnTo>
                  <a:lnTo>
                    <a:pt x="3465093" y="111125"/>
                  </a:lnTo>
                  <a:lnTo>
                    <a:pt x="3470681" y="116713"/>
                  </a:lnTo>
                  <a:lnTo>
                    <a:pt x="3487572" y="99822"/>
                  </a:lnTo>
                  <a:close/>
                </a:path>
                <a:path w="9090025" h="247014">
                  <a:moveTo>
                    <a:pt x="3525926" y="88265"/>
                  </a:moveTo>
                  <a:lnTo>
                    <a:pt x="3496373" y="58801"/>
                  </a:lnTo>
                  <a:lnTo>
                    <a:pt x="3480968" y="43434"/>
                  </a:lnTo>
                  <a:lnTo>
                    <a:pt x="3477412" y="46863"/>
                  </a:lnTo>
                  <a:lnTo>
                    <a:pt x="3478428" y="49784"/>
                  </a:lnTo>
                  <a:lnTo>
                    <a:pt x="3478682" y="52324"/>
                  </a:lnTo>
                  <a:lnTo>
                    <a:pt x="3478619" y="56642"/>
                  </a:lnTo>
                  <a:lnTo>
                    <a:pt x="3478555" y="57785"/>
                  </a:lnTo>
                  <a:lnTo>
                    <a:pt x="3478466" y="59182"/>
                  </a:lnTo>
                  <a:lnTo>
                    <a:pt x="3478339" y="61341"/>
                  </a:lnTo>
                  <a:lnTo>
                    <a:pt x="3478301" y="62103"/>
                  </a:lnTo>
                  <a:lnTo>
                    <a:pt x="3477361" y="66167"/>
                  </a:lnTo>
                  <a:lnTo>
                    <a:pt x="3477285" y="66548"/>
                  </a:lnTo>
                  <a:lnTo>
                    <a:pt x="3475710" y="71247"/>
                  </a:lnTo>
                  <a:lnTo>
                    <a:pt x="3475875" y="71247"/>
                  </a:lnTo>
                  <a:lnTo>
                    <a:pt x="3480968" y="76454"/>
                  </a:lnTo>
                  <a:lnTo>
                    <a:pt x="3482111" y="74041"/>
                  </a:lnTo>
                  <a:lnTo>
                    <a:pt x="3483127" y="71247"/>
                  </a:lnTo>
                  <a:lnTo>
                    <a:pt x="3484867" y="64516"/>
                  </a:lnTo>
                  <a:lnTo>
                    <a:pt x="3485184" y="62103"/>
                  </a:lnTo>
                  <a:lnTo>
                    <a:pt x="3485286" y="61341"/>
                  </a:lnTo>
                  <a:lnTo>
                    <a:pt x="3485413" y="58801"/>
                  </a:lnTo>
                  <a:lnTo>
                    <a:pt x="3520338" y="93853"/>
                  </a:lnTo>
                  <a:lnTo>
                    <a:pt x="3525926" y="88265"/>
                  </a:lnTo>
                  <a:close/>
                </a:path>
                <a:path w="9090025" h="247014">
                  <a:moveTo>
                    <a:pt x="3563010" y="39624"/>
                  </a:moveTo>
                  <a:lnTo>
                    <a:pt x="3561232" y="35052"/>
                  </a:lnTo>
                  <a:lnTo>
                    <a:pt x="3559060" y="32893"/>
                  </a:lnTo>
                  <a:lnTo>
                    <a:pt x="3555593" y="29425"/>
                  </a:lnTo>
                  <a:lnTo>
                    <a:pt x="3555593" y="42164"/>
                  </a:lnTo>
                  <a:lnTo>
                    <a:pt x="3555581" y="49403"/>
                  </a:lnTo>
                  <a:lnTo>
                    <a:pt x="3554374" y="52324"/>
                  </a:lnTo>
                  <a:lnTo>
                    <a:pt x="3550056" y="56642"/>
                  </a:lnTo>
                  <a:lnTo>
                    <a:pt x="3548024" y="57785"/>
                  </a:lnTo>
                  <a:lnTo>
                    <a:pt x="3545738" y="58420"/>
                  </a:lnTo>
                  <a:lnTo>
                    <a:pt x="3543579" y="59182"/>
                  </a:lnTo>
                  <a:lnTo>
                    <a:pt x="3541293" y="59055"/>
                  </a:lnTo>
                  <a:lnTo>
                    <a:pt x="3539134" y="58420"/>
                  </a:lnTo>
                  <a:lnTo>
                    <a:pt x="3537229" y="57785"/>
                  </a:lnTo>
                  <a:lnTo>
                    <a:pt x="3537051" y="57785"/>
                  </a:lnTo>
                  <a:lnTo>
                    <a:pt x="3535146" y="56642"/>
                  </a:lnTo>
                  <a:lnTo>
                    <a:pt x="3533546" y="55118"/>
                  </a:lnTo>
                  <a:lnTo>
                    <a:pt x="3530879" y="52324"/>
                  </a:lnTo>
                  <a:lnTo>
                    <a:pt x="3529609" y="49403"/>
                  </a:lnTo>
                  <a:lnTo>
                    <a:pt x="3529609" y="42672"/>
                  </a:lnTo>
                  <a:lnTo>
                    <a:pt x="3534689" y="35687"/>
                  </a:lnTo>
                  <a:lnTo>
                    <a:pt x="3536086" y="34290"/>
                  </a:lnTo>
                  <a:lnTo>
                    <a:pt x="3539134" y="33020"/>
                  </a:lnTo>
                  <a:lnTo>
                    <a:pt x="3542563" y="33020"/>
                  </a:lnTo>
                  <a:lnTo>
                    <a:pt x="3546119" y="32893"/>
                  </a:lnTo>
                  <a:lnTo>
                    <a:pt x="3549167" y="34290"/>
                  </a:lnTo>
                  <a:lnTo>
                    <a:pt x="3551834" y="36957"/>
                  </a:lnTo>
                  <a:lnTo>
                    <a:pt x="3554425" y="39624"/>
                  </a:lnTo>
                  <a:lnTo>
                    <a:pt x="3555593" y="42164"/>
                  </a:lnTo>
                  <a:lnTo>
                    <a:pt x="3555593" y="29425"/>
                  </a:lnTo>
                  <a:lnTo>
                    <a:pt x="3554628" y="28448"/>
                  </a:lnTo>
                  <a:lnTo>
                    <a:pt x="3551580" y="26797"/>
                  </a:lnTo>
                  <a:lnTo>
                    <a:pt x="3548151" y="26289"/>
                  </a:lnTo>
                  <a:lnTo>
                    <a:pt x="3544722" y="25654"/>
                  </a:lnTo>
                  <a:lnTo>
                    <a:pt x="3541166" y="26289"/>
                  </a:lnTo>
                  <a:lnTo>
                    <a:pt x="3537470" y="28206"/>
                  </a:lnTo>
                  <a:lnTo>
                    <a:pt x="3538880" y="25146"/>
                  </a:lnTo>
                  <a:lnTo>
                    <a:pt x="3539274" y="22860"/>
                  </a:lnTo>
                  <a:lnTo>
                    <a:pt x="3539337" y="21971"/>
                  </a:lnTo>
                  <a:lnTo>
                    <a:pt x="3539032" y="20447"/>
                  </a:lnTo>
                  <a:lnTo>
                    <a:pt x="3538969" y="20193"/>
                  </a:lnTo>
                  <a:lnTo>
                    <a:pt x="3538880" y="19685"/>
                  </a:lnTo>
                  <a:lnTo>
                    <a:pt x="3538690" y="18415"/>
                  </a:lnTo>
                  <a:lnTo>
                    <a:pt x="3538601" y="17780"/>
                  </a:lnTo>
                  <a:lnTo>
                    <a:pt x="3538499" y="17018"/>
                  </a:lnTo>
                  <a:lnTo>
                    <a:pt x="3537508" y="15240"/>
                  </a:lnTo>
                  <a:lnTo>
                    <a:pt x="3537229" y="14732"/>
                  </a:lnTo>
                  <a:lnTo>
                    <a:pt x="3532276" y="9779"/>
                  </a:lnTo>
                  <a:lnTo>
                    <a:pt x="3532276" y="27813"/>
                  </a:lnTo>
                  <a:lnTo>
                    <a:pt x="3531260" y="30226"/>
                  </a:lnTo>
                  <a:lnTo>
                    <a:pt x="3526815" y="34671"/>
                  </a:lnTo>
                  <a:lnTo>
                    <a:pt x="3526663" y="34671"/>
                  </a:lnTo>
                  <a:lnTo>
                    <a:pt x="3524529" y="35687"/>
                  </a:lnTo>
                  <a:lnTo>
                    <a:pt x="3519068" y="35687"/>
                  </a:lnTo>
                  <a:lnTo>
                    <a:pt x="3516655" y="34671"/>
                  </a:lnTo>
                  <a:lnTo>
                    <a:pt x="3514496" y="32512"/>
                  </a:lnTo>
                  <a:lnTo>
                    <a:pt x="3512718" y="30607"/>
                  </a:lnTo>
                  <a:lnTo>
                    <a:pt x="3511753" y="28448"/>
                  </a:lnTo>
                  <a:lnTo>
                    <a:pt x="3511829" y="22860"/>
                  </a:lnTo>
                  <a:lnTo>
                    <a:pt x="3512845" y="20447"/>
                  </a:lnTo>
                  <a:lnTo>
                    <a:pt x="3515004" y="18415"/>
                  </a:lnTo>
                  <a:lnTo>
                    <a:pt x="3517036" y="16256"/>
                  </a:lnTo>
                  <a:lnTo>
                    <a:pt x="3519449" y="15240"/>
                  </a:lnTo>
                  <a:lnTo>
                    <a:pt x="3525037" y="15240"/>
                  </a:lnTo>
                  <a:lnTo>
                    <a:pt x="3527450" y="16256"/>
                  </a:lnTo>
                  <a:lnTo>
                    <a:pt x="3531387" y="20193"/>
                  </a:lnTo>
                  <a:lnTo>
                    <a:pt x="3532073" y="21971"/>
                  </a:lnTo>
                  <a:lnTo>
                    <a:pt x="3532174" y="22225"/>
                  </a:lnTo>
                  <a:lnTo>
                    <a:pt x="3532276" y="27813"/>
                  </a:lnTo>
                  <a:lnTo>
                    <a:pt x="3532276" y="9779"/>
                  </a:lnTo>
                  <a:lnTo>
                    <a:pt x="3531895" y="9398"/>
                  </a:lnTo>
                  <a:lnTo>
                    <a:pt x="3528250" y="7874"/>
                  </a:lnTo>
                  <a:lnTo>
                    <a:pt x="3523259" y="7874"/>
                  </a:lnTo>
                  <a:lnTo>
                    <a:pt x="3518560" y="8001"/>
                  </a:lnTo>
                  <a:lnTo>
                    <a:pt x="3514369" y="10033"/>
                  </a:lnTo>
                  <a:lnTo>
                    <a:pt x="3510432" y="13970"/>
                  </a:lnTo>
                  <a:lnTo>
                    <a:pt x="3506495" y="17780"/>
                  </a:lnTo>
                  <a:lnTo>
                    <a:pt x="3504463" y="21971"/>
                  </a:lnTo>
                  <a:lnTo>
                    <a:pt x="3504336" y="31115"/>
                  </a:lnTo>
                  <a:lnTo>
                    <a:pt x="3505860" y="35052"/>
                  </a:lnTo>
                  <a:lnTo>
                    <a:pt x="3511321" y="40513"/>
                  </a:lnTo>
                  <a:lnTo>
                    <a:pt x="3513607" y="41783"/>
                  </a:lnTo>
                  <a:lnTo>
                    <a:pt x="3516274" y="42164"/>
                  </a:lnTo>
                  <a:lnTo>
                    <a:pt x="3518941" y="42672"/>
                  </a:lnTo>
                  <a:lnTo>
                    <a:pt x="3521862" y="42164"/>
                  </a:lnTo>
                  <a:lnTo>
                    <a:pt x="3524910" y="40767"/>
                  </a:lnTo>
                  <a:lnTo>
                    <a:pt x="3522878" y="44196"/>
                  </a:lnTo>
                  <a:lnTo>
                    <a:pt x="3536213" y="66421"/>
                  </a:lnTo>
                  <a:lnTo>
                    <a:pt x="3546881" y="66167"/>
                  </a:lnTo>
                  <a:lnTo>
                    <a:pt x="3551834" y="63881"/>
                  </a:lnTo>
                  <a:lnTo>
                    <a:pt x="3556533" y="59182"/>
                  </a:lnTo>
                  <a:lnTo>
                    <a:pt x="3560597" y="55118"/>
                  </a:lnTo>
                  <a:lnTo>
                    <a:pt x="3562883" y="50292"/>
                  </a:lnTo>
                  <a:lnTo>
                    <a:pt x="3562959" y="46863"/>
                  </a:lnTo>
                  <a:lnTo>
                    <a:pt x="3563010" y="39624"/>
                  </a:lnTo>
                  <a:close/>
                </a:path>
                <a:path w="9090025" h="247014">
                  <a:moveTo>
                    <a:pt x="3598697" y="209042"/>
                  </a:moveTo>
                  <a:lnTo>
                    <a:pt x="3598608" y="207137"/>
                  </a:lnTo>
                  <a:lnTo>
                    <a:pt x="3598570" y="206121"/>
                  </a:lnTo>
                  <a:lnTo>
                    <a:pt x="3597427" y="203073"/>
                  </a:lnTo>
                  <a:lnTo>
                    <a:pt x="3596284" y="200152"/>
                  </a:lnTo>
                  <a:lnTo>
                    <a:pt x="3593744" y="196850"/>
                  </a:lnTo>
                  <a:lnTo>
                    <a:pt x="3590061" y="193040"/>
                  </a:lnTo>
                  <a:lnTo>
                    <a:pt x="3559581" y="162560"/>
                  </a:lnTo>
                  <a:lnTo>
                    <a:pt x="3553612" y="168529"/>
                  </a:lnTo>
                  <a:lnTo>
                    <a:pt x="3587013" y="201930"/>
                  </a:lnTo>
                  <a:lnTo>
                    <a:pt x="3588664" y="203962"/>
                  </a:lnTo>
                  <a:lnTo>
                    <a:pt x="3589426" y="205486"/>
                  </a:lnTo>
                  <a:lnTo>
                    <a:pt x="3590188" y="207137"/>
                  </a:lnTo>
                  <a:lnTo>
                    <a:pt x="3590442" y="208788"/>
                  </a:lnTo>
                  <a:lnTo>
                    <a:pt x="3589934" y="210566"/>
                  </a:lnTo>
                  <a:lnTo>
                    <a:pt x="3589553" y="212344"/>
                  </a:lnTo>
                  <a:lnTo>
                    <a:pt x="3588664" y="213868"/>
                  </a:lnTo>
                  <a:lnTo>
                    <a:pt x="3585108" y="217424"/>
                  </a:lnTo>
                  <a:lnTo>
                    <a:pt x="3582949" y="218313"/>
                  </a:lnTo>
                  <a:lnTo>
                    <a:pt x="3580536" y="218313"/>
                  </a:lnTo>
                  <a:lnTo>
                    <a:pt x="3578123" y="218186"/>
                  </a:lnTo>
                  <a:lnTo>
                    <a:pt x="3575202" y="216408"/>
                  </a:lnTo>
                  <a:lnTo>
                    <a:pt x="3571646" y="213106"/>
                  </a:lnTo>
                  <a:lnTo>
                    <a:pt x="3566947" y="219202"/>
                  </a:lnTo>
                  <a:lnTo>
                    <a:pt x="3571392" y="223774"/>
                  </a:lnTo>
                  <a:lnTo>
                    <a:pt x="3575710" y="226060"/>
                  </a:lnTo>
                  <a:lnTo>
                    <a:pt x="3582174" y="226441"/>
                  </a:lnTo>
                  <a:lnTo>
                    <a:pt x="3584473" y="226441"/>
                  </a:lnTo>
                  <a:lnTo>
                    <a:pt x="3588537" y="224536"/>
                  </a:lnTo>
                  <a:lnTo>
                    <a:pt x="3592474" y="220726"/>
                  </a:lnTo>
                  <a:lnTo>
                    <a:pt x="3594887" y="218313"/>
                  </a:lnTo>
                  <a:lnTo>
                    <a:pt x="3595014" y="218186"/>
                  </a:lnTo>
                  <a:lnTo>
                    <a:pt x="3595522" y="217424"/>
                  </a:lnTo>
                  <a:lnTo>
                    <a:pt x="3596919" y="215138"/>
                  </a:lnTo>
                  <a:lnTo>
                    <a:pt x="3598697" y="209042"/>
                  </a:lnTo>
                  <a:close/>
                </a:path>
                <a:path w="9090025" h="247014">
                  <a:moveTo>
                    <a:pt x="3641242" y="170307"/>
                  </a:moveTo>
                  <a:lnTo>
                    <a:pt x="3619779" y="152400"/>
                  </a:lnTo>
                  <a:lnTo>
                    <a:pt x="3619652" y="152273"/>
                  </a:lnTo>
                  <a:lnTo>
                    <a:pt x="3609911" y="144653"/>
                  </a:lnTo>
                  <a:lnTo>
                    <a:pt x="3611384" y="144653"/>
                  </a:lnTo>
                  <a:lnTo>
                    <a:pt x="3630625" y="144653"/>
                  </a:lnTo>
                  <a:lnTo>
                    <a:pt x="3630371" y="144399"/>
                  </a:lnTo>
                  <a:lnTo>
                    <a:pt x="3609314" y="144399"/>
                  </a:lnTo>
                  <a:lnTo>
                    <a:pt x="3609606" y="144526"/>
                  </a:lnTo>
                  <a:lnTo>
                    <a:pt x="3607841" y="144399"/>
                  </a:lnTo>
                  <a:lnTo>
                    <a:pt x="3606063" y="144145"/>
                  </a:lnTo>
                  <a:lnTo>
                    <a:pt x="3603904" y="144653"/>
                  </a:lnTo>
                  <a:lnTo>
                    <a:pt x="3601491" y="145796"/>
                  </a:lnTo>
                  <a:lnTo>
                    <a:pt x="3599205" y="146812"/>
                  </a:lnTo>
                  <a:lnTo>
                    <a:pt x="3596538" y="148717"/>
                  </a:lnTo>
                  <a:lnTo>
                    <a:pt x="3593871" y="151511"/>
                  </a:lnTo>
                  <a:lnTo>
                    <a:pt x="3591077" y="154305"/>
                  </a:lnTo>
                  <a:lnTo>
                    <a:pt x="3588918" y="157099"/>
                  </a:lnTo>
                  <a:lnTo>
                    <a:pt x="3587699" y="159893"/>
                  </a:lnTo>
                  <a:lnTo>
                    <a:pt x="3586251" y="162941"/>
                  </a:lnTo>
                  <a:lnTo>
                    <a:pt x="3585743" y="165608"/>
                  </a:lnTo>
                  <a:lnTo>
                    <a:pt x="3585857" y="166751"/>
                  </a:lnTo>
                  <a:lnTo>
                    <a:pt x="3585972" y="167894"/>
                  </a:lnTo>
                  <a:lnTo>
                    <a:pt x="3586035" y="168529"/>
                  </a:lnTo>
                  <a:lnTo>
                    <a:pt x="3586162" y="169799"/>
                  </a:lnTo>
                  <a:lnTo>
                    <a:pt x="3586251" y="170688"/>
                  </a:lnTo>
                  <a:lnTo>
                    <a:pt x="3587394" y="173355"/>
                  </a:lnTo>
                  <a:lnTo>
                    <a:pt x="3589172" y="176149"/>
                  </a:lnTo>
                  <a:lnTo>
                    <a:pt x="3595268" y="171450"/>
                  </a:lnTo>
                  <a:lnTo>
                    <a:pt x="3593617" y="168529"/>
                  </a:lnTo>
                  <a:lnTo>
                    <a:pt x="3592855" y="166116"/>
                  </a:lnTo>
                  <a:lnTo>
                    <a:pt x="3593185" y="164211"/>
                  </a:lnTo>
                  <a:lnTo>
                    <a:pt x="3593274" y="163576"/>
                  </a:lnTo>
                  <a:lnTo>
                    <a:pt x="3593388" y="162560"/>
                  </a:lnTo>
                  <a:lnTo>
                    <a:pt x="3593490" y="161798"/>
                  </a:lnTo>
                  <a:lnTo>
                    <a:pt x="3607587" y="152273"/>
                  </a:lnTo>
                  <a:lnTo>
                    <a:pt x="3609746" y="153416"/>
                  </a:lnTo>
                  <a:lnTo>
                    <a:pt x="3612032" y="155575"/>
                  </a:lnTo>
                  <a:lnTo>
                    <a:pt x="3612159" y="155829"/>
                  </a:lnTo>
                  <a:lnTo>
                    <a:pt x="3613429" y="157099"/>
                  </a:lnTo>
                  <a:lnTo>
                    <a:pt x="3612032" y="159893"/>
                  </a:lnTo>
                  <a:lnTo>
                    <a:pt x="3609365" y="163830"/>
                  </a:lnTo>
                  <a:lnTo>
                    <a:pt x="3603523" y="171196"/>
                  </a:lnTo>
                  <a:lnTo>
                    <a:pt x="3602088" y="173355"/>
                  </a:lnTo>
                  <a:lnTo>
                    <a:pt x="3601364" y="174498"/>
                  </a:lnTo>
                  <a:lnTo>
                    <a:pt x="3600348" y="176403"/>
                  </a:lnTo>
                  <a:lnTo>
                    <a:pt x="3599586" y="178308"/>
                  </a:lnTo>
                  <a:lnTo>
                    <a:pt x="3599307" y="179705"/>
                  </a:lnTo>
                  <a:lnTo>
                    <a:pt x="3599230" y="180086"/>
                  </a:lnTo>
                  <a:lnTo>
                    <a:pt x="3599103" y="184658"/>
                  </a:lnTo>
                  <a:lnTo>
                    <a:pt x="3600018" y="187579"/>
                  </a:lnTo>
                  <a:lnTo>
                    <a:pt x="3600094" y="187833"/>
                  </a:lnTo>
                  <a:lnTo>
                    <a:pt x="3600221" y="188214"/>
                  </a:lnTo>
                  <a:lnTo>
                    <a:pt x="3601237" y="190119"/>
                  </a:lnTo>
                  <a:lnTo>
                    <a:pt x="3602888" y="191643"/>
                  </a:lnTo>
                  <a:lnTo>
                    <a:pt x="3605555" y="194437"/>
                  </a:lnTo>
                  <a:lnTo>
                    <a:pt x="3608730" y="195580"/>
                  </a:lnTo>
                  <a:lnTo>
                    <a:pt x="3615613" y="195580"/>
                  </a:lnTo>
                  <a:lnTo>
                    <a:pt x="3619652" y="193421"/>
                  </a:lnTo>
                  <a:lnTo>
                    <a:pt x="3625240" y="187833"/>
                  </a:lnTo>
                  <a:lnTo>
                    <a:pt x="3630003" y="177165"/>
                  </a:lnTo>
                  <a:lnTo>
                    <a:pt x="3624478" y="177165"/>
                  </a:lnTo>
                  <a:lnTo>
                    <a:pt x="3623741" y="179705"/>
                  </a:lnTo>
                  <a:lnTo>
                    <a:pt x="3623716" y="179832"/>
                  </a:lnTo>
                  <a:lnTo>
                    <a:pt x="3622319" y="182118"/>
                  </a:lnTo>
                  <a:lnTo>
                    <a:pt x="3620160" y="184277"/>
                  </a:lnTo>
                  <a:lnTo>
                    <a:pt x="3618128" y="186436"/>
                  </a:lnTo>
                  <a:lnTo>
                    <a:pt x="3615969" y="187579"/>
                  </a:lnTo>
                  <a:lnTo>
                    <a:pt x="3606444" y="180975"/>
                  </a:lnTo>
                  <a:lnTo>
                    <a:pt x="3606571" y="179705"/>
                  </a:lnTo>
                  <a:lnTo>
                    <a:pt x="3607079" y="178308"/>
                  </a:lnTo>
                  <a:lnTo>
                    <a:pt x="3607536" y="177165"/>
                  </a:lnTo>
                  <a:lnTo>
                    <a:pt x="3624478" y="177165"/>
                  </a:lnTo>
                  <a:lnTo>
                    <a:pt x="3624554" y="176911"/>
                  </a:lnTo>
                  <a:lnTo>
                    <a:pt x="3607663" y="176911"/>
                  </a:lnTo>
                  <a:lnTo>
                    <a:pt x="3608857" y="175006"/>
                  </a:lnTo>
                  <a:lnTo>
                    <a:pt x="3614191" y="167894"/>
                  </a:lnTo>
                  <a:lnTo>
                    <a:pt x="3616477" y="164211"/>
                  </a:lnTo>
                  <a:lnTo>
                    <a:pt x="3625126" y="175006"/>
                  </a:lnTo>
                  <a:lnTo>
                    <a:pt x="3624554" y="176911"/>
                  </a:lnTo>
                  <a:lnTo>
                    <a:pt x="3630066" y="176911"/>
                  </a:lnTo>
                  <a:lnTo>
                    <a:pt x="3630142" y="176149"/>
                  </a:lnTo>
                  <a:lnTo>
                    <a:pt x="3630257" y="175006"/>
                  </a:lnTo>
                  <a:lnTo>
                    <a:pt x="3630307" y="174498"/>
                  </a:lnTo>
                  <a:lnTo>
                    <a:pt x="3630422" y="173355"/>
                  </a:lnTo>
                  <a:lnTo>
                    <a:pt x="3630587" y="173355"/>
                  </a:lnTo>
                  <a:lnTo>
                    <a:pt x="3632098" y="174625"/>
                  </a:lnTo>
                  <a:lnTo>
                    <a:pt x="3633749" y="175514"/>
                  </a:lnTo>
                  <a:lnTo>
                    <a:pt x="3635527" y="176149"/>
                  </a:lnTo>
                  <a:lnTo>
                    <a:pt x="3638258" y="173355"/>
                  </a:lnTo>
                  <a:lnTo>
                    <a:pt x="3641242" y="170307"/>
                  </a:lnTo>
                  <a:close/>
                </a:path>
                <a:path w="9090025" h="247014">
                  <a:moveTo>
                    <a:pt x="3654323" y="157353"/>
                  </a:moveTo>
                  <a:lnTo>
                    <a:pt x="3641712" y="144653"/>
                  </a:lnTo>
                  <a:lnTo>
                    <a:pt x="3630625" y="144653"/>
                  </a:lnTo>
                  <a:lnTo>
                    <a:pt x="3648849" y="162826"/>
                  </a:lnTo>
                  <a:lnTo>
                    <a:pt x="3654323" y="157353"/>
                  </a:lnTo>
                  <a:close/>
                </a:path>
                <a:path w="9090025" h="247014">
                  <a:moveTo>
                    <a:pt x="3675151" y="136398"/>
                  </a:moveTo>
                  <a:lnTo>
                    <a:pt x="3655847" y="117221"/>
                  </a:lnTo>
                  <a:lnTo>
                    <a:pt x="3655212" y="116586"/>
                  </a:lnTo>
                  <a:lnTo>
                    <a:pt x="3652672" y="113919"/>
                  </a:lnTo>
                  <a:lnTo>
                    <a:pt x="3650767" y="112268"/>
                  </a:lnTo>
                  <a:lnTo>
                    <a:pt x="3647719" y="110236"/>
                  </a:lnTo>
                  <a:lnTo>
                    <a:pt x="3645814" y="109474"/>
                  </a:lnTo>
                  <a:lnTo>
                    <a:pt x="3643782" y="109093"/>
                  </a:lnTo>
                  <a:lnTo>
                    <a:pt x="3641877" y="108839"/>
                  </a:lnTo>
                  <a:lnTo>
                    <a:pt x="3639718" y="109093"/>
                  </a:lnTo>
                  <a:lnTo>
                    <a:pt x="3637076" y="110236"/>
                  </a:lnTo>
                  <a:lnTo>
                    <a:pt x="3635019" y="110998"/>
                  </a:lnTo>
                  <a:lnTo>
                    <a:pt x="3632860" y="112395"/>
                  </a:lnTo>
                  <a:lnTo>
                    <a:pt x="3630955" y="114427"/>
                  </a:lnTo>
                  <a:lnTo>
                    <a:pt x="3626383" y="118872"/>
                  </a:lnTo>
                  <a:lnTo>
                    <a:pt x="3624732" y="124079"/>
                  </a:lnTo>
                  <a:lnTo>
                    <a:pt x="3626002" y="130048"/>
                  </a:lnTo>
                  <a:lnTo>
                    <a:pt x="3621303" y="125476"/>
                  </a:lnTo>
                  <a:lnTo>
                    <a:pt x="3616350" y="130429"/>
                  </a:lnTo>
                  <a:lnTo>
                    <a:pt x="3630371" y="144399"/>
                  </a:lnTo>
                  <a:lnTo>
                    <a:pt x="3641458" y="144399"/>
                  </a:lnTo>
                  <a:lnTo>
                    <a:pt x="3636670" y="139573"/>
                  </a:lnTo>
                  <a:lnTo>
                    <a:pt x="3632479" y="135509"/>
                  </a:lnTo>
                  <a:lnTo>
                    <a:pt x="3630447" y="131826"/>
                  </a:lnTo>
                  <a:lnTo>
                    <a:pt x="3630549" y="130429"/>
                  </a:lnTo>
                  <a:lnTo>
                    <a:pt x="3630574" y="130048"/>
                  </a:lnTo>
                  <a:lnTo>
                    <a:pt x="3630942" y="125476"/>
                  </a:lnTo>
                  <a:lnTo>
                    <a:pt x="3640518" y="117221"/>
                  </a:lnTo>
                  <a:lnTo>
                    <a:pt x="3642766" y="117221"/>
                  </a:lnTo>
                  <a:lnTo>
                    <a:pt x="3645814" y="118491"/>
                  </a:lnTo>
                  <a:lnTo>
                    <a:pt x="3647719" y="120015"/>
                  </a:lnTo>
                  <a:lnTo>
                    <a:pt x="3650005" y="122174"/>
                  </a:lnTo>
                  <a:lnTo>
                    <a:pt x="3669690" y="141986"/>
                  </a:lnTo>
                  <a:lnTo>
                    <a:pt x="3675151" y="136398"/>
                  </a:lnTo>
                  <a:close/>
                </a:path>
                <a:path w="9090025" h="247014">
                  <a:moveTo>
                    <a:pt x="3684676" y="100076"/>
                  </a:moveTo>
                  <a:lnTo>
                    <a:pt x="3679088" y="94615"/>
                  </a:lnTo>
                  <a:lnTo>
                    <a:pt x="3662197" y="111506"/>
                  </a:lnTo>
                  <a:lnTo>
                    <a:pt x="3667785" y="116967"/>
                  </a:lnTo>
                  <a:lnTo>
                    <a:pt x="3684676" y="100076"/>
                  </a:lnTo>
                  <a:close/>
                </a:path>
                <a:path w="9090025" h="247014">
                  <a:moveTo>
                    <a:pt x="3724046" y="87630"/>
                  </a:moveTo>
                  <a:lnTo>
                    <a:pt x="3694455" y="58039"/>
                  </a:lnTo>
                  <a:lnTo>
                    <a:pt x="3679342" y="42926"/>
                  </a:lnTo>
                  <a:lnTo>
                    <a:pt x="3679215" y="42799"/>
                  </a:lnTo>
                  <a:lnTo>
                    <a:pt x="3678961" y="42799"/>
                  </a:lnTo>
                  <a:lnTo>
                    <a:pt x="3675532" y="46228"/>
                  </a:lnTo>
                  <a:lnTo>
                    <a:pt x="3676459" y="48895"/>
                  </a:lnTo>
                  <a:lnTo>
                    <a:pt x="3676421" y="61468"/>
                  </a:lnTo>
                  <a:lnTo>
                    <a:pt x="3675583" y="65659"/>
                  </a:lnTo>
                  <a:lnTo>
                    <a:pt x="3675532" y="65913"/>
                  </a:lnTo>
                  <a:lnTo>
                    <a:pt x="3673830" y="70485"/>
                  </a:lnTo>
                  <a:lnTo>
                    <a:pt x="3674008" y="70485"/>
                  </a:lnTo>
                  <a:lnTo>
                    <a:pt x="3679215" y="75692"/>
                  </a:lnTo>
                  <a:lnTo>
                    <a:pt x="3680231" y="73406"/>
                  </a:lnTo>
                  <a:lnTo>
                    <a:pt x="3681247" y="70485"/>
                  </a:lnTo>
                  <a:lnTo>
                    <a:pt x="3683025" y="63627"/>
                  </a:lnTo>
                  <a:lnTo>
                    <a:pt x="3683304" y="61468"/>
                  </a:lnTo>
                  <a:lnTo>
                    <a:pt x="3683406" y="60706"/>
                  </a:lnTo>
                  <a:lnTo>
                    <a:pt x="3683533" y="58039"/>
                  </a:lnTo>
                  <a:lnTo>
                    <a:pt x="3718585" y="93091"/>
                  </a:lnTo>
                  <a:lnTo>
                    <a:pt x="3724046" y="87630"/>
                  </a:lnTo>
                  <a:close/>
                </a:path>
                <a:path w="9090025" h="247014">
                  <a:moveTo>
                    <a:pt x="3758412" y="44704"/>
                  </a:moveTo>
                  <a:lnTo>
                    <a:pt x="3753688" y="32131"/>
                  </a:lnTo>
                  <a:lnTo>
                    <a:pt x="3753637" y="32004"/>
                  </a:lnTo>
                  <a:lnTo>
                    <a:pt x="3751224" y="28829"/>
                  </a:lnTo>
                  <a:lnTo>
                    <a:pt x="3749700" y="26797"/>
                  </a:lnTo>
                  <a:lnTo>
                    <a:pt x="3743985" y="21082"/>
                  </a:lnTo>
                  <a:lnTo>
                    <a:pt x="3738397" y="15621"/>
                  </a:lnTo>
                  <a:lnTo>
                    <a:pt x="3738041" y="15367"/>
                  </a:lnTo>
                  <a:lnTo>
                    <a:pt x="3736111" y="13944"/>
                  </a:lnTo>
                  <a:lnTo>
                    <a:pt x="3736111" y="33655"/>
                  </a:lnTo>
                  <a:lnTo>
                    <a:pt x="3734968" y="36703"/>
                  </a:lnTo>
                  <a:lnTo>
                    <a:pt x="3732428" y="39243"/>
                  </a:lnTo>
                  <a:lnTo>
                    <a:pt x="3729888" y="41656"/>
                  </a:lnTo>
                  <a:lnTo>
                    <a:pt x="3726840" y="42926"/>
                  </a:lnTo>
                  <a:lnTo>
                    <a:pt x="3723411" y="42926"/>
                  </a:lnTo>
                  <a:lnTo>
                    <a:pt x="3719855" y="42799"/>
                  </a:lnTo>
                  <a:lnTo>
                    <a:pt x="3716680" y="41402"/>
                  </a:lnTo>
                  <a:lnTo>
                    <a:pt x="3713886" y="38481"/>
                  </a:lnTo>
                  <a:lnTo>
                    <a:pt x="3710711" y="35306"/>
                  </a:lnTo>
                  <a:lnTo>
                    <a:pt x="3709060" y="32131"/>
                  </a:lnTo>
                  <a:lnTo>
                    <a:pt x="3708997" y="32004"/>
                  </a:lnTo>
                  <a:lnTo>
                    <a:pt x="3708920" y="31623"/>
                  </a:lnTo>
                  <a:lnTo>
                    <a:pt x="3708806" y="28067"/>
                  </a:lnTo>
                  <a:lnTo>
                    <a:pt x="3708552" y="24257"/>
                  </a:lnTo>
                  <a:lnTo>
                    <a:pt x="3709695" y="21082"/>
                  </a:lnTo>
                  <a:lnTo>
                    <a:pt x="3712095" y="18796"/>
                  </a:lnTo>
                  <a:lnTo>
                    <a:pt x="3714521" y="16256"/>
                  </a:lnTo>
                  <a:lnTo>
                    <a:pt x="3717074" y="15367"/>
                  </a:lnTo>
                  <a:lnTo>
                    <a:pt x="3720998" y="15367"/>
                  </a:lnTo>
                  <a:lnTo>
                    <a:pt x="3724554" y="15621"/>
                  </a:lnTo>
                  <a:lnTo>
                    <a:pt x="3727856" y="17272"/>
                  </a:lnTo>
                  <a:lnTo>
                    <a:pt x="3731031" y="20447"/>
                  </a:lnTo>
                  <a:lnTo>
                    <a:pt x="3734270" y="23622"/>
                  </a:lnTo>
                  <a:lnTo>
                    <a:pt x="3735857" y="26797"/>
                  </a:lnTo>
                  <a:lnTo>
                    <a:pt x="3735921" y="28829"/>
                  </a:lnTo>
                  <a:lnTo>
                    <a:pt x="3736035" y="31623"/>
                  </a:lnTo>
                  <a:lnTo>
                    <a:pt x="3736111" y="33655"/>
                  </a:lnTo>
                  <a:lnTo>
                    <a:pt x="3736111" y="13944"/>
                  </a:lnTo>
                  <a:lnTo>
                    <a:pt x="3733571" y="12065"/>
                  </a:lnTo>
                  <a:lnTo>
                    <a:pt x="3729507" y="10414"/>
                  </a:lnTo>
                  <a:lnTo>
                    <a:pt x="3725316" y="8763"/>
                  </a:lnTo>
                  <a:lnTo>
                    <a:pt x="3721252" y="8382"/>
                  </a:lnTo>
                  <a:lnTo>
                    <a:pt x="3717315" y="9144"/>
                  </a:lnTo>
                  <a:lnTo>
                    <a:pt x="3713251" y="10033"/>
                  </a:lnTo>
                  <a:lnTo>
                    <a:pt x="3709695" y="12065"/>
                  </a:lnTo>
                  <a:lnTo>
                    <a:pt x="3702964" y="18796"/>
                  </a:lnTo>
                  <a:lnTo>
                    <a:pt x="3700932" y="23622"/>
                  </a:lnTo>
                  <a:lnTo>
                    <a:pt x="3700945" y="24257"/>
                  </a:lnTo>
                  <a:lnTo>
                    <a:pt x="3701059" y="29337"/>
                  </a:lnTo>
                  <a:lnTo>
                    <a:pt x="3701186" y="34417"/>
                  </a:lnTo>
                  <a:lnTo>
                    <a:pt x="3703358" y="39243"/>
                  </a:lnTo>
                  <a:lnTo>
                    <a:pt x="3703472" y="39497"/>
                  </a:lnTo>
                  <a:lnTo>
                    <a:pt x="3708044" y="43942"/>
                  </a:lnTo>
                  <a:lnTo>
                    <a:pt x="3712362" y="48387"/>
                  </a:lnTo>
                  <a:lnTo>
                    <a:pt x="3717188" y="50673"/>
                  </a:lnTo>
                  <a:lnTo>
                    <a:pt x="3727729" y="50927"/>
                  </a:lnTo>
                  <a:lnTo>
                    <a:pt x="3732174" y="49149"/>
                  </a:lnTo>
                  <a:lnTo>
                    <a:pt x="3735857" y="45339"/>
                  </a:lnTo>
                  <a:lnTo>
                    <a:pt x="3738143" y="43180"/>
                  </a:lnTo>
                  <a:lnTo>
                    <a:pt x="3738283" y="42926"/>
                  </a:lnTo>
                  <a:lnTo>
                    <a:pt x="3739667" y="40513"/>
                  </a:lnTo>
                  <a:lnTo>
                    <a:pt x="3740429" y="37592"/>
                  </a:lnTo>
                  <a:lnTo>
                    <a:pt x="3741153" y="34671"/>
                  </a:lnTo>
                  <a:lnTo>
                    <a:pt x="3741229" y="33655"/>
                  </a:lnTo>
                  <a:lnTo>
                    <a:pt x="3741318" y="31623"/>
                  </a:lnTo>
                  <a:lnTo>
                    <a:pt x="3740848" y="29591"/>
                  </a:lnTo>
                  <a:lnTo>
                    <a:pt x="3740797" y="29337"/>
                  </a:lnTo>
                  <a:lnTo>
                    <a:pt x="3740683" y="28829"/>
                  </a:lnTo>
                  <a:lnTo>
                    <a:pt x="3741191" y="29337"/>
                  </a:lnTo>
                  <a:lnTo>
                    <a:pt x="3741572" y="29591"/>
                  </a:lnTo>
                  <a:lnTo>
                    <a:pt x="3743985" y="32004"/>
                  </a:lnTo>
                  <a:lnTo>
                    <a:pt x="3744112" y="32131"/>
                  </a:lnTo>
                  <a:lnTo>
                    <a:pt x="3746017" y="34671"/>
                  </a:lnTo>
                  <a:lnTo>
                    <a:pt x="3747744" y="37592"/>
                  </a:lnTo>
                  <a:lnTo>
                    <a:pt x="3749319" y="40132"/>
                  </a:lnTo>
                  <a:lnTo>
                    <a:pt x="3749916" y="41402"/>
                  </a:lnTo>
                  <a:lnTo>
                    <a:pt x="3750500" y="42799"/>
                  </a:lnTo>
                  <a:lnTo>
                    <a:pt x="3750843" y="44704"/>
                  </a:lnTo>
                  <a:lnTo>
                    <a:pt x="3750983" y="45339"/>
                  </a:lnTo>
                  <a:lnTo>
                    <a:pt x="3751072" y="45720"/>
                  </a:lnTo>
                  <a:lnTo>
                    <a:pt x="3751199" y="46228"/>
                  </a:lnTo>
                  <a:lnTo>
                    <a:pt x="3751288" y="49149"/>
                  </a:lnTo>
                  <a:lnTo>
                    <a:pt x="3750399" y="52705"/>
                  </a:lnTo>
                  <a:lnTo>
                    <a:pt x="3750335" y="52959"/>
                  </a:lnTo>
                  <a:lnTo>
                    <a:pt x="3749319" y="54864"/>
                  </a:lnTo>
                  <a:lnTo>
                    <a:pt x="3747541" y="56515"/>
                  </a:lnTo>
                  <a:lnTo>
                    <a:pt x="3745636" y="58547"/>
                  </a:lnTo>
                  <a:lnTo>
                    <a:pt x="3742931" y="59817"/>
                  </a:lnTo>
                  <a:lnTo>
                    <a:pt x="3738651" y="59817"/>
                  </a:lnTo>
                  <a:lnTo>
                    <a:pt x="3735984" y="58928"/>
                  </a:lnTo>
                  <a:lnTo>
                    <a:pt x="3733063" y="56896"/>
                  </a:lnTo>
                  <a:lnTo>
                    <a:pt x="3728237" y="62611"/>
                  </a:lnTo>
                  <a:lnTo>
                    <a:pt x="3732301" y="65659"/>
                  </a:lnTo>
                  <a:lnTo>
                    <a:pt x="3736365" y="67056"/>
                  </a:lnTo>
                  <a:lnTo>
                    <a:pt x="3744620" y="66548"/>
                  </a:lnTo>
                  <a:lnTo>
                    <a:pt x="3748430" y="64643"/>
                  </a:lnTo>
                  <a:lnTo>
                    <a:pt x="3751986" y="61214"/>
                  </a:lnTo>
                  <a:lnTo>
                    <a:pt x="3753383" y="59817"/>
                  </a:lnTo>
                  <a:lnTo>
                    <a:pt x="3755161" y="58039"/>
                  </a:lnTo>
                  <a:lnTo>
                    <a:pt x="3755821" y="56896"/>
                  </a:lnTo>
                  <a:lnTo>
                    <a:pt x="3757320" y="54102"/>
                  </a:lnTo>
                  <a:lnTo>
                    <a:pt x="3758412" y="46863"/>
                  </a:lnTo>
                  <a:lnTo>
                    <a:pt x="3758412" y="44704"/>
                  </a:lnTo>
                  <a:close/>
                </a:path>
                <a:path w="9090025" h="247014">
                  <a:moveTo>
                    <a:pt x="3815740" y="193294"/>
                  </a:moveTo>
                  <a:lnTo>
                    <a:pt x="3784206" y="161671"/>
                  </a:lnTo>
                  <a:lnTo>
                    <a:pt x="3771036" y="148463"/>
                  </a:lnTo>
                  <a:lnTo>
                    <a:pt x="3762908" y="156591"/>
                  </a:lnTo>
                  <a:lnTo>
                    <a:pt x="3763086" y="156591"/>
                  </a:lnTo>
                  <a:lnTo>
                    <a:pt x="3785514" y="202565"/>
                  </a:lnTo>
                  <a:lnTo>
                    <a:pt x="3788308" y="207899"/>
                  </a:lnTo>
                  <a:lnTo>
                    <a:pt x="3783482" y="205359"/>
                  </a:lnTo>
                  <a:lnTo>
                    <a:pt x="3779545" y="203454"/>
                  </a:lnTo>
                  <a:lnTo>
                    <a:pt x="3757003" y="192151"/>
                  </a:lnTo>
                  <a:lnTo>
                    <a:pt x="3737254" y="182245"/>
                  </a:lnTo>
                  <a:lnTo>
                    <a:pt x="3728364" y="191262"/>
                  </a:lnTo>
                  <a:lnTo>
                    <a:pt x="3773068" y="235966"/>
                  </a:lnTo>
                  <a:lnTo>
                    <a:pt x="3778783" y="230251"/>
                  </a:lnTo>
                  <a:lnTo>
                    <a:pt x="3740683" y="192151"/>
                  </a:lnTo>
                  <a:lnTo>
                    <a:pt x="3791737" y="217297"/>
                  </a:lnTo>
                  <a:lnTo>
                    <a:pt x="3797071" y="211963"/>
                  </a:lnTo>
                  <a:lnTo>
                    <a:pt x="3795090" y="207899"/>
                  </a:lnTo>
                  <a:lnTo>
                    <a:pt x="3772611" y="161671"/>
                  </a:lnTo>
                  <a:lnTo>
                    <a:pt x="3810025" y="199009"/>
                  </a:lnTo>
                  <a:lnTo>
                    <a:pt x="3815740" y="193294"/>
                  </a:lnTo>
                  <a:close/>
                </a:path>
                <a:path w="9090025" h="247014">
                  <a:moveTo>
                    <a:pt x="3853332" y="155702"/>
                  </a:moveTo>
                  <a:lnTo>
                    <a:pt x="3851427" y="155194"/>
                  </a:lnTo>
                  <a:lnTo>
                    <a:pt x="3849649" y="154305"/>
                  </a:lnTo>
                  <a:lnTo>
                    <a:pt x="3848455" y="153416"/>
                  </a:lnTo>
                  <a:lnTo>
                    <a:pt x="3846474" y="152019"/>
                  </a:lnTo>
                  <a:lnTo>
                    <a:pt x="3843299" y="149098"/>
                  </a:lnTo>
                  <a:lnTo>
                    <a:pt x="3840886" y="146685"/>
                  </a:lnTo>
                  <a:lnTo>
                    <a:pt x="3837216" y="143014"/>
                  </a:lnTo>
                  <a:lnTo>
                    <a:pt x="3837216" y="160401"/>
                  </a:lnTo>
                  <a:lnTo>
                    <a:pt x="3835831" y="164973"/>
                  </a:lnTo>
                  <a:lnTo>
                    <a:pt x="3835806" y="165100"/>
                  </a:lnTo>
                  <a:lnTo>
                    <a:pt x="3834409" y="167513"/>
                  </a:lnTo>
                  <a:lnTo>
                    <a:pt x="3830218" y="171704"/>
                  </a:lnTo>
                  <a:lnTo>
                    <a:pt x="3827818" y="172974"/>
                  </a:lnTo>
                  <a:lnTo>
                    <a:pt x="3826027" y="172974"/>
                  </a:lnTo>
                  <a:lnTo>
                    <a:pt x="3823868" y="173101"/>
                  </a:lnTo>
                  <a:lnTo>
                    <a:pt x="3822090" y="172466"/>
                  </a:lnTo>
                  <a:lnTo>
                    <a:pt x="3820693" y="170942"/>
                  </a:lnTo>
                  <a:lnTo>
                    <a:pt x="3819677" y="170053"/>
                  </a:lnTo>
                  <a:lnTo>
                    <a:pt x="3819042" y="168910"/>
                  </a:lnTo>
                  <a:lnTo>
                    <a:pt x="3818534" y="166370"/>
                  </a:lnTo>
                  <a:lnTo>
                    <a:pt x="3818661" y="164973"/>
                  </a:lnTo>
                  <a:lnTo>
                    <a:pt x="3819169" y="163703"/>
                  </a:lnTo>
                  <a:lnTo>
                    <a:pt x="3819677" y="162306"/>
                  </a:lnTo>
                  <a:lnTo>
                    <a:pt x="3821214" y="160020"/>
                  </a:lnTo>
                  <a:lnTo>
                    <a:pt x="3822852" y="157734"/>
                  </a:lnTo>
                  <a:lnTo>
                    <a:pt x="3826091" y="153416"/>
                  </a:lnTo>
                  <a:lnTo>
                    <a:pt x="3826980" y="152019"/>
                  </a:lnTo>
                  <a:lnTo>
                    <a:pt x="3828567" y="149479"/>
                  </a:lnTo>
                  <a:lnTo>
                    <a:pt x="3829837" y="146685"/>
                  </a:lnTo>
                  <a:lnTo>
                    <a:pt x="3831742" y="148717"/>
                  </a:lnTo>
                  <a:lnTo>
                    <a:pt x="3837216" y="160401"/>
                  </a:lnTo>
                  <a:lnTo>
                    <a:pt x="3837216" y="143014"/>
                  </a:lnTo>
                  <a:lnTo>
                    <a:pt x="3831869" y="137668"/>
                  </a:lnTo>
                  <a:lnTo>
                    <a:pt x="3828313" y="134112"/>
                  </a:lnTo>
                  <a:lnTo>
                    <a:pt x="3826535" y="132461"/>
                  </a:lnTo>
                  <a:lnTo>
                    <a:pt x="3825392" y="131699"/>
                  </a:lnTo>
                  <a:lnTo>
                    <a:pt x="3823487" y="130556"/>
                  </a:lnTo>
                  <a:lnTo>
                    <a:pt x="3821709" y="129921"/>
                  </a:lnTo>
                  <a:lnTo>
                    <a:pt x="3819931" y="129667"/>
                  </a:lnTo>
                  <a:lnTo>
                    <a:pt x="3817429" y="129667"/>
                  </a:lnTo>
                  <a:lnTo>
                    <a:pt x="3815994" y="129921"/>
                  </a:lnTo>
                  <a:lnTo>
                    <a:pt x="3813581" y="131064"/>
                  </a:lnTo>
                  <a:lnTo>
                    <a:pt x="3811295" y="132080"/>
                  </a:lnTo>
                  <a:lnTo>
                    <a:pt x="3799738" y="145288"/>
                  </a:lnTo>
                  <a:lnTo>
                    <a:pt x="3798341" y="148209"/>
                  </a:lnTo>
                  <a:lnTo>
                    <a:pt x="3797833" y="150876"/>
                  </a:lnTo>
                  <a:lnTo>
                    <a:pt x="3798087" y="153416"/>
                  </a:lnTo>
                  <a:lnTo>
                    <a:pt x="3798163" y="153924"/>
                  </a:lnTo>
                  <a:lnTo>
                    <a:pt x="3798214" y="154305"/>
                  </a:lnTo>
                  <a:lnTo>
                    <a:pt x="3798328" y="155067"/>
                  </a:lnTo>
                  <a:lnTo>
                    <a:pt x="3798354" y="155194"/>
                  </a:lnTo>
                  <a:lnTo>
                    <a:pt x="3798468" y="155956"/>
                  </a:lnTo>
                  <a:lnTo>
                    <a:pt x="3799484" y="158623"/>
                  </a:lnTo>
                  <a:lnTo>
                    <a:pt x="3801262" y="161417"/>
                  </a:lnTo>
                  <a:lnTo>
                    <a:pt x="3807358" y="156845"/>
                  </a:lnTo>
                  <a:lnTo>
                    <a:pt x="3805771" y="154051"/>
                  </a:lnTo>
                  <a:lnTo>
                    <a:pt x="3805707" y="153924"/>
                  </a:lnTo>
                  <a:lnTo>
                    <a:pt x="3804945" y="151384"/>
                  </a:lnTo>
                  <a:lnTo>
                    <a:pt x="3805275" y="149479"/>
                  </a:lnTo>
                  <a:lnTo>
                    <a:pt x="3805580" y="147066"/>
                  </a:lnTo>
                  <a:lnTo>
                    <a:pt x="3815105" y="137922"/>
                  </a:lnTo>
                  <a:lnTo>
                    <a:pt x="3815740" y="137922"/>
                  </a:lnTo>
                  <a:lnTo>
                    <a:pt x="3819804" y="137668"/>
                  </a:lnTo>
                  <a:lnTo>
                    <a:pt x="3821836" y="138684"/>
                  </a:lnTo>
                  <a:lnTo>
                    <a:pt x="3825519" y="142367"/>
                  </a:lnTo>
                  <a:lnTo>
                    <a:pt x="3824122" y="145288"/>
                  </a:lnTo>
                  <a:lnTo>
                    <a:pt x="3821455" y="149098"/>
                  </a:lnTo>
                  <a:lnTo>
                    <a:pt x="3817607" y="153924"/>
                  </a:lnTo>
                  <a:lnTo>
                    <a:pt x="3815613" y="156591"/>
                  </a:lnTo>
                  <a:lnTo>
                    <a:pt x="3814267" y="158623"/>
                  </a:lnTo>
                  <a:lnTo>
                    <a:pt x="3812438" y="161671"/>
                  </a:lnTo>
                  <a:lnTo>
                    <a:pt x="3811778" y="163703"/>
                  </a:lnTo>
                  <a:lnTo>
                    <a:pt x="3811041" y="167513"/>
                  </a:lnTo>
                  <a:lnTo>
                    <a:pt x="3811041" y="169545"/>
                  </a:lnTo>
                  <a:lnTo>
                    <a:pt x="3812311" y="173609"/>
                  </a:lnTo>
                  <a:lnTo>
                    <a:pt x="3813327" y="175387"/>
                  </a:lnTo>
                  <a:lnTo>
                    <a:pt x="3817645" y="179705"/>
                  </a:lnTo>
                  <a:lnTo>
                    <a:pt x="3820820" y="180975"/>
                  </a:lnTo>
                  <a:lnTo>
                    <a:pt x="3824503" y="180848"/>
                  </a:lnTo>
                  <a:lnTo>
                    <a:pt x="3828186" y="180594"/>
                  </a:lnTo>
                  <a:lnTo>
                    <a:pt x="3831742" y="178689"/>
                  </a:lnTo>
                  <a:lnTo>
                    <a:pt x="3837330" y="173101"/>
                  </a:lnTo>
                  <a:lnTo>
                    <a:pt x="3837457" y="172974"/>
                  </a:lnTo>
                  <a:lnTo>
                    <a:pt x="3839108" y="170688"/>
                  </a:lnTo>
                  <a:lnTo>
                    <a:pt x="3840251" y="168021"/>
                  </a:lnTo>
                  <a:lnTo>
                    <a:pt x="3841521" y="165481"/>
                  </a:lnTo>
                  <a:lnTo>
                    <a:pt x="3842156" y="162306"/>
                  </a:lnTo>
                  <a:lnTo>
                    <a:pt x="3842524" y="158623"/>
                  </a:lnTo>
                  <a:lnTo>
                    <a:pt x="3842677" y="158623"/>
                  </a:lnTo>
                  <a:lnTo>
                    <a:pt x="3844188" y="159893"/>
                  </a:lnTo>
                  <a:lnTo>
                    <a:pt x="3845966" y="160909"/>
                  </a:lnTo>
                  <a:lnTo>
                    <a:pt x="3847617" y="161417"/>
                  </a:lnTo>
                  <a:lnTo>
                    <a:pt x="3850411" y="158623"/>
                  </a:lnTo>
                  <a:lnTo>
                    <a:pt x="3853332" y="155702"/>
                  </a:lnTo>
                  <a:close/>
                </a:path>
                <a:path w="9090025" h="247014">
                  <a:moveTo>
                    <a:pt x="3865270" y="143764"/>
                  </a:moveTo>
                  <a:lnTo>
                    <a:pt x="3841762" y="116840"/>
                  </a:lnTo>
                  <a:lnTo>
                    <a:pt x="3841648" y="116078"/>
                  </a:lnTo>
                  <a:lnTo>
                    <a:pt x="3841902" y="114427"/>
                  </a:lnTo>
                  <a:lnTo>
                    <a:pt x="3842029" y="112776"/>
                  </a:lnTo>
                  <a:lnTo>
                    <a:pt x="3842791" y="111252"/>
                  </a:lnTo>
                  <a:lnTo>
                    <a:pt x="3844061" y="110109"/>
                  </a:lnTo>
                  <a:lnTo>
                    <a:pt x="3845331" y="108712"/>
                  </a:lnTo>
                  <a:lnTo>
                    <a:pt x="3847109" y="107823"/>
                  </a:lnTo>
                  <a:lnTo>
                    <a:pt x="3849268" y="107315"/>
                  </a:lnTo>
                  <a:lnTo>
                    <a:pt x="3845966" y="100203"/>
                  </a:lnTo>
                  <a:lnTo>
                    <a:pt x="3842918" y="100965"/>
                  </a:lnTo>
                  <a:lnTo>
                    <a:pt x="3840505" y="102235"/>
                  </a:lnTo>
                  <a:lnTo>
                    <a:pt x="3837330" y="105410"/>
                  </a:lnTo>
                  <a:lnTo>
                    <a:pt x="3836568" y="106934"/>
                  </a:lnTo>
                  <a:lnTo>
                    <a:pt x="3835895" y="110109"/>
                  </a:lnTo>
                  <a:lnTo>
                    <a:pt x="3835984" y="111887"/>
                  </a:lnTo>
                  <a:lnTo>
                    <a:pt x="3836111" y="112776"/>
                  </a:lnTo>
                  <a:lnTo>
                    <a:pt x="3836187" y="113284"/>
                  </a:lnTo>
                  <a:lnTo>
                    <a:pt x="3837203" y="116840"/>
                  </a:lnTo>
                  <a:lnTo>
                    <a:pt x="3832377" y="111887"/>
                  </a:lnTo>
                  <a:lnTo>
                    <a:pt x="3827424" y="116840"/>
                  </a:lnTo>
                  <a:lnTo>
                    <a:pt x="3859682" y="149098"/>
                  </a:lnTo>
                  <a:lnTo>
                    <a:pt x="3859809" y="149225"/>
                  </a:lnTo>
                  <a:lnTo>
                    <a:pt x="3865270" y="143764"/>
                  </a:lnTo>
                  <a:close/>
                </a:path>
                <a:path w="9090025" h="247014">
                  <a:moveTo>
                    <a:pt x="3881653" y="100584"/>
                  </a:moveTo>
                  <a:lnTo>
                    <a:pt x="3876065" y="94996"/>
                  </a:lnTo>
                  <a:lnTo>
                    <a:pt x="3859174" y="111887"/>
                  </a:lnTo>
                  <a:lnTo>
                    <a:pt x="3864762" y="117475"/>
                  </a:lnTo>
                  <a:lnTo>
                    <a:pt x="3881653" y="100584"/>
                  </a:lnTo>
                  <a:close/>
                </a:path>
                <a:path w="9090025" h="247014">
                  <a:moveTo>
                    <a:pt x="3921023" y="88011"/>
                  </a:moveTo>
                  <a:lnTo>
                    <a:pt x="3891432" y="58420"/>
                  </a:lnTo>
                  <a:lnTo>
                    <a:pt x="3876192" y="43180"/>
                  </a:lnTo>
                  <a:lnTo>
                    <a:pt x="3875938" y="43180"/>
                  </a:lnTo>
                  <a:lnTo>
                    <a:pt x="3872636" y="46609"/>
                  </a:lnTo>
                  <a:lnTo>
                    <a:pt x="3873436" y="49276"/>
                  </a:lnTo>
                  <a:lnTo>
                    <a:pt x="3873398" y="61849"/>
                  </a:lnTo>
                  <a:lnTo>
                    <a:pt x="3872560" y="66040"/>
                  </a:lnTo>
                  <a:lnTo>
                    <a:pt x="3872509" y="66294"/>
                  </a:lnTo>
                  <a:lnTo>
                    <a:pt x="3870807" y="70866"/>
                  </a:lnTo>
                  <a:lnTo>
                    <a:pt x="3870972" y="70866"/>
                  </a:lnTo>
                  <a:lnTo>
                    <a:pt x="3876192" y="76073"/>
                  </a:lnTo>
                  <a:lnTo>
                    <a:pt x="3877208" y="73787"/>
                  </a:lnTo>
                  <a:lnTo>
                    <a:pt x="3878224" y="70866"/>
                  </a:lnTo>
                  <a:lnTo>
                    <a:pt x="3880002" y="64008"/>
                  </a:lnTo>
                  <a:lnTo>
                    <a:pt x="3880510" y="61087"/>
                  </a:lnTo>
                  <a:lnTo>
                    <a:pt x="3880510" y="58420"/>
                  </a:lnTo>
                  <a:lnTo>
                    <a:pt x="3915562" y="93472"/>
                  </a:lnTo>
                  <a:lnTo>
                    <a:pt x="3921023" y="88011"/>
                  </a:lnTo>
                  <a:close/>
                </a:path>
                <a:path w="9090025" h="247014">
                  <a:moveTo>
                    <a:pt x="3943121" y="35052"/>
                  </a:moveTo>
                  <a:lnTo>
                    <a:pt x="3942905" y="34798"/>
                  </a:lnTo>
                  <a:lnTo>
                    <a:pt x="3938295" y="34798"/>
                  </a:lnTo>
                  <a:lnTo>
                    <a:pt x="3938295" y="35052"/>
                  </a:lnTo>
                  <a:lnTo>
                    <a:pt x="3943121" y="35052"/>
                  </a:lnTo>
                  <a:close/>
                </a:path>
                <a:path w="9090025" h="247014">
                  <a:moveTo>
                    <a:pt x="3951744" y="34798"/>
                  </a:moveTo>
                  <a:lnTo>
                    <a:pt x="3950665" y="32512"/>
                  </a:lnTo>
                  <a:lnTo>
                    <a:pt x="3950614" y="32385"/>
                  </a:lnTo>
                  <a:lnTo>
                    <a:pt x="3948201" y="29210"/>
                  </a:lnTo>
                  <a:lnTo>
                    <a:pt x="3946677" y="27178"/>
                  </a:lnTo>
                  <a:lnTo>
                    <a:pt x="3935501" y="16002"/>
                  </a:lnTo>
                  <a:lnTo>
                    <a:pt x="3935145" y="15748"/>
                  </a:lnTo>
                  <a:lnTo>
                    <a:pt x="3933088" y="14236"/>
                  </a:lnTo>
                  <a:lnTo>
                    <a:pt x="3933088" y="34036"/>
                  </a:lnTo>
                  <a:lnTo>
                    <a:pt x="3931945" y="37084"/>
                  </a:lnTo>
                  <a:lnTo>
                    <a:pt x="3926865" y="42164"/>
                  </a:lnTo>
                  <a:lnTo>
                    <a:pt x="3923817" y="43307"/>
                  </a:lnTo>
                  <a:lnTo>
                    <a:pt x="3920388" y="43307"/>
                  </a:lnTo>
                  <a:lnTo>
                    <a:pt x="3916832" y="43180"/>
                  </a:lnTo>
                  <a:lnTo>
                    <a:pt x="3913657" y="41783"/>
                  </a:lnTo>
                  <a:lnTo>
                    <a:pt x="3910863" y="38862"/>
                  </a:lnTo>
                  <a:lnTo>
                    <a:pt x="3907688" y="35687"/>
                  </a:lnTo>
                  <a:lnTo>
                    <a:pt x="3906151" y="32512"/>
                  </a:lnTo>
                  <a:lnTo>
                    <a:pt x="3906088" y="32385"/>
                  </a:lnTo>
                  <a:lnTo>
                    <a:pt x="3906012" y="32004"/>
                  </a:lnTo>
                  <a:lnTo>
                    <a:pt x="3905897" y="30226"/>
                  </a:lnTo>
                  <a:lnTo>
                    <a:pt x="3905783" y="28448"/>
                  </a:lnTo>
                  <a:lnTo>
                    <a:pt x="3905656" y="24638"/>
                  </a:lnTo>
                  <a:lnTo>
                    <a:pt x="3906799" y="21463"/>
                  </a:lnTo>
                  <a:lnTo>
                    <a:pt x="3911498" y="16764"/>
                  </a:lnTo>
                  <a:lnTo>
                    <a:pt x="3914203" y="15748"/>
                  </a:lnTo>
                  <a:lnTo>
                    <a:pt x="3917975" y="15748"/>
                  </a:lnTo>
                  <a:lnTo>
                    <a:pt x="3921531" y="16002"/>
                  </a:lnTo>
                  <a:lnTo>
                    <a:pt x="3924960" y="17653"/>
                  </a:lnTo>
                  <a:lnTo>
                    <a:pt x="3928008" y="20828"/>
                  </a:lnTo>
                  <a:lnTo>
                    <a:pt x="3931183" y="24003"/>
                  </a:lnTo>
                  <a:lnTo>
                    <a:pt x="3932834" y="27178"/>
                  </a:lnTo>
                  <a:lnTo>
                    <a:pt x="3932961" y="30607"/>
                  </a:lnTo>
                  <a:lnTo>
                    <a:pt x="3933088" y="34036"/>
                  </a:lnTo>
                  <a:lnTo>
                    <a:pt x="3933088" y="14236"/>
                  </a:lnTo>
                  <a:lnTo>
                    <a:pt x="3930675" y="12446"/>
                  </a:lnTo>
                  <a:lnTo>
                    <a:pt x="3922293" y="9144"/>
                  </a:lnTo>
                  <a:lnTo>
                    <a:pt x="3918229" y="8763"/>
                  </a:lnTo>
                  <a:lnTo>
                    <a:pt x="3914292" y="9525"/>
                  </a:lnTo>
                  <a:lnTo>
                    <a:pt x="3910355" y="10414"/>
                  </a:lnTo>
                  <a:lnTo>
                    <a:pt x="3906799" y="12446"/>
                  </a:lnTo>
                  <a:lnTo>
                    <a:pt x="3904005" y="15240"/>
                  </a:lnTo>
                  <a:lnTo>
                    <a:pt x="3899941" y="19177"/>
                  </a:lnTo>
                  <a:lnTo>
                    <a:pt x="3898036" y="24003"/>
                  </a:lnTo>
                  <a:lnTo>
                    <a:pt x="3898150" y="34036"/>
                  </a:lnTo>
                  <a:lnTo>
                    <a:pt x="3898277" y="35052"/>
                  </a:lnTo>
                  <a:lnTo>
                    <a:pt x="3900449" y="39878"/>
                  </a:lnTo>
                  <a:lnTo>
                    <a:pt x="3905021" y="44323"/>
                  </a:lnTo>
                  <a:lnTo>
                    <a:pt x="3909466" y="48768"/>
                  </a:lnTo>
                  <a:lnTo>
                    <a:pt x="3914292" y="51054"/>
                  </a:lnTo>
                  <a:lnTo>
                    <a:pt x="3924706" y="51308"/>
                  </a:lnTo>
                  <a:lnTo>
                    <a:pt x="3929151" y="49530"/>
                  </a:lnTo>
                  <a:lnTo>
                    <a:pt x="3932961" y="45847"/>
                  </a:lnTo>
                  <a:lnTo>
                    <a:pt x="3935120" y="43561"/>
                  </a:lnTo>
                  <a:lnTo>
                    <a:pt x="3935272" y="43307"/>
                  </a:lnTo>
                  <a:lnTo>
                    <a:pt x="3936644" y="41021"/>
                  </a:lnTo>
                  <a:lnTo>
                    <a:pt x="3937406" y="37973"/>
                  </a:lnTo>
                  <a:lnTo>
                    <a:pt x="3938257" y="35052"/>
                  </a:lnTo>
                  <a:lnTo>
                    <a:pt x="3938295" y="32004"/>
                  </a:lnTo>
                  <a:lnTo>
                    <a:pt x="3937660" y="29210"/>
                  </a:lnTo>
                  <a:lnTo>
                    <a:pt x="3938549" y="30099"/>
                  </a:lnTo>
                  <a:lnTo>
                    <a:pt x="3938803" y="30226"/>
                  </a:lnTo>
                  <a:lnTo>
                    <a:pt x="3940962" y="32385"/>
                  </a:lnTo>
                  <a:lnTo>
                    <a:pt x="3941089" y="32512"/>
                  </a:lnTo>
                  <a:lnTo>
                    <a:pt x="3942905" y="34798"/>
                  </a:lnTo>
                  <a:lnTo>
                    <a:pt x="3951744" y="34798"/>
                  </a:lnTo>
                  <a:close/>
                </a:path>
                <a:path w="9090025" h="247014">
                  <a:moveTo>
                    <a:pt x="3955643" y="45847"/>
                  </a:moveTo>
                  <a:lnTo>
                    <a:pt x="3955008" y="42164"/>
                  </a:lnTo>
                  <a:lnTo>
                    <a:pt x="3954945" y="41783"/>
                  </a:lnTo>
                  <a:lnTo>
                    <a:pt x="3954640" y="41021"/>
                  </a:lnTo>
                  <a:lnTo>
                    <a:pt x="3952824" y="37084"/>
                  </a:lnTo>
                  <a:lnTo>
                    <a:pt x="3951871" y="35052"/>
                  </a:lnTo>
                  <a:lnTo>
                    <a:pt x="3943121" y="35052"/>
                  </a:lnTo>
                  <a:lnTo>
                    <a:pt x="3944848" y="37973"/>
                  </a:lnTo>
                  <a:lnTo>
                    <a:pt x="3946423" y="40513"/>
                  </a:lnTo>
                  <a:lnTo>
                    <a:pt x="3947464" y="43180"/>
                  </a:lnTo>
                  <a:lnTo>
                    <a:pt x="3947947" y="45085"/>
                  </a:lnTo>
                  <a:lnTo>
                    <a:pt x="3948074" y="45847"/>
                  </a:lnTo>
                  <a:lnTo>
                    <a:pt x="3948125" y="46101"/>
                  </a:lnTo>
                  <a:lnTo>
                    <a:pt x="3948214" y="46609"/>
                  </a:lnTo>
                  <a:lnTo>
                    <a:pt x="3948265" y="49530"/>
                  </a:lnTo>
                  <a:lnTo>
                    <a:pt x="3947884" y="51054"/>
                  </a:lnTo>
                  <a:lnTo>
                    <a:pt x="3947820" y="51308"/>
                  </a:lnTo>
                  <a:lnTo>
                    <a:pt x="3947477" y="53086"/>
                  </a:lnTo>
                  <a:lnTo>
                    <a:pt x="3947439" y="53340"/>
                  </a:lnTo>
                  <a:lnTo>
                    <a:pt x="3946296" y="55245"/>
                  </a:lnTo>
                  <a:lnTo>
                    <a:pt x="3942613" y="58928"/>
                  </a:lnTo>
                  <a:lnTo>
                    <a:pt x="3939908" y="60198"/>
                  </a:lnTo>
                  <a:lnTo>
                    <a:pt x="3935628" y="60198"/>
                  </a:lnTo>
                  <a:lnTo>
                    <a:pt x="3933088" y="59309"/>
                  </a:lnTo>
                  <a:lnTo>
                    <a:pt x="3930040" y="57277"/>
                  </a:lnTo>
                  <a:lnTo>
                    <a:pt x="3925341" y="62992"/>
                  </a:lnTo>
                  <a:lnTo>
                    <a:pt x="3929278" y="66040"/>
                  </a:lnTo>
                  <a:lnTo>
                    <a:pt x="3933342" y="67564"/>
                  </a:lnTo>
                  <a:lnTo>
                    <a:pt x="3937533" y="67183"/>
                  </a:lnTo>
                  <a:lnTo>
                    <a:pt x="3941724" y="66929"/>
                  </a:lnTo>
                  <a:lnTo>
                    <a:pt x="3945534" y="65024"/>
                  </a:lnTo>
                  <a:lnTo>
                    <a:pt x="3950360" y="60198"/>
                  </a:lnTo>
                  <a:lnTo>
                    <a:pt x="3952138" y="58420"/>
                  </a:lnTo>
                  <a:lnTo>
                    <a:pt x="3952265" y="58293"/>
                  </a:lnTo>
                  <a:lnTo>
                    <a:pt x="3954297" y="54483"/>
                  </a:lnTo>
                  <a:lnTo>
                    <a:pt x="3954767" y="51308"/>
                  </a:lnTo>
                  <a:lnTo>
                    <a:pt x="3955059" y="49530"/>
                  </a:lnTo>
                  <a:lnTo>
                    <a:pt x="3955478" y="47244"/>
                  </a:lnTo>
                  <a:lnTo>
                    <a:pt x="3955592" y="46609"/>
                  </a:lnTo>
                  <a:lnTo>
                    <a:pt x="3955643" y="45847"/>
                  </a:lnTo>
                  <a:close/>
                </a:path>
                <a:path w="9090025" h="247014">
                  <a:moveTo>
                    <a:pt x="4002684" y="203708"/>
                  </a:moveTo>
                  <a:lnTo>
                    <a:pt x="3971188" y="172212"/>
                  </a:lnTo>
                  <a:lnTo>
                    <a:pt x="3971061" y="172085"/>
                  </a:lnTo>
                  <a:lnTo>
                    <a:pt x="3957980" y="159004"/>
                  </a:lnTo>
                  <a:lnTo>
                    <a:pt x="3949979" y="167005"/>
                  </a:lnTo>
                  <a:lnTo>
                    <a:pt x="3970426" y="208788"/>
                  </a:lnTo>
                  <a:lnTo>
                    <a:pt x="3972458" y="213106"/>
                  </a:lnTo>
                  <a:lnTo>
                    <a:pt x="3975252" y="218440"/>
                  </a:lnTo>
                  <a:lnTo>
                    <a:pt x="3973220" y="217424"/>
                  </a:lnTo>
                  <a:lnTo>
                    <a:pt x="3970426" y="215900"/>
                  </a:lnTo>
                  <a:lnTo>
                    <a:pt x="3966489" y="213868"/>
                  </a:lnTo>
                  <a:lnTo>
                    <a:pt x="3944061" y="202692"/>
                  </a:lnTo>
                  <a:lnTo>
                    <a:pt x="3924198" y="192786"/>
                  </a:lnTo>
                  <a:lnTo>
                    <a:pt x="3915308" y="201676"/>
                  </a:lnTo>
                  <a:lnTo>
                    <a:pt x="3960012" y="246507"/>
                  </a:lnTo>
                  <a:lnTo>
                    <a:pt x="3965727" y="240792"/>
                  </a:lnTo>
                  <a:lnTo>
                    <a:pt x="3927627" y="202692"/>
                  </a:lnTo>
                  <a:lnTo>
                    <a:pt x="3978681" y="227838"/>
                  </a:lnTo>
                  <a:lnTo>
                    <a:pt x="3984015" y="222504"/>
                  </a:lnTo>
                  <a:lnTo>
                    <a:pt x="3982034" y="218440"/>
                  </a:lnTo>
                  <a:lnTo>
                    <a:pt x="3959682" y="172466"/>
                  </a:lnTo>
                  <a:lnTo>
                    <a:pt x="3959555" y="172212"/>
                  </a:lnTo>
                  <a:lnTo>
                    <a:pt x="3959504" y="172085"/>
                  </a:lnTo>
                  <a:lnTo>
                    <a:pt x="3996969" y="209423"/>
                  </a:lnTo>
                  <a:lnTo>
                    <a:pt x="4002684" y="203708"/>
                  </a:lnTo>
                  <a:close/>
                </a:path>
                <a:path w="9090025" h="247014">
                  <a:moveTo>
                    <a:pt x="4040276" y="166243"/>
                  </a:moveTo>
                  <a:lnTo>
                    <a:pt x="4029481" y="158889"/>
                  </a:lnTo>
                  <a:lnTo>
                    <a:pt x="4029481" y="168910"/>
                  </a:lnTo>
                  <a:lnTo>
                    <a:pt x="4029468" y="169037"/>
                  </a:lnTo>
                  <a:lnTo>
                    <a:pt x="4029329" y="168910"/>
                  </a:lnTo>
                  <a:lnTo>
                    <a:pt x="4029481" y="168910"/>
                  </a:lnTo>
                  <a:lnTo>
                    <a:pt x="4029481" y="158889"/>
                  </a:lnTo>
                  <a:lnTo>
                    <a:pt x="4027830" y="157226"/>
                  </a:lnTo>
                  <a:lnTo>
                    <a:pt x="4024160" y="153555"/>
                  </a:lnTo>
                  <a:lnTo>
                    <a:pt x="4024160" y="170815"/>
                  </a:lnTo>
                  <a:lnTo>
                    <a:pt x="4022750" y="175641"/>
                  </a:lnTo>
                  <a:lnTo>
                    <a:pt x="4022052" y="176784"/>
                  </a:lnTo>
                  <a:lnTo>
                    <a:pt x="4021226" y="178054"/>
                  </a:lnTo>
                  <a:lnTo>
                    <a:pt x="4019194" y="180086"/>
                  </a:lnTo>
                  <a:lnTo>
                    <a:pt x="4017162" y="182245"/>
                  </a:lnTo>
                  <a:lnTo>
                    <a:pt x="4014520" y="183642"/>
                  </a:lnTo>
                  <a:lnTo>
                    <a:pt x="4010812" y="183642"/>
                  </a:lnTo>
                  <a:lnTo>
                    <a:pt x="4009034" y="183007"/>
                  </a:lnTo>
                  <a:lnTo>
                    <a:pt x="4007637" y="181483"/>
                  </a:lnTo>
                  <a:lnTo>
                    <a:pt x="4006621" y="180467"/>
                  </a:lnTo>
                  <a:lnTo>
                    <a:pt x="4005986" y="179451"/>
                  </a:lnTo>
                  <a:lnTo>
                    <a:pt x="4005478" y="176784"/>
                  </a:lnTo>
                  <a:lnTo>
                    <a:pt x="4005592" y="175641"/>
                  </a:lnTo>
                  <a:lnTo>
                    <a:pt x="4006113" y="174117"/>
                  </a:lnTo>
                  <a:lnTo>
                    <a:pt x="4006519" y="173101"/>
                  </a:lnTo>
                  <a:lnTo>
                    <a:pt x="4006621" y="172847"/>
                  </a:lnTo>
                  <a:lnTo>
                    <a:pt x="4007891" y="170815"/>
                  </a:lnTo>
                  <a:lnTo>
                    <a:pt x="4013035" y="163957"/>
                  </a:lnTo>
                  <a:lnTo>
                    <a:pt x="4013771" y="162814"/>
                  </a:lnTo>
                  <a:lnTo>
                    <a:pt x="4015511" y="160020"/>
                  </a:lnTo>
                  <a:lnTo>
                    <a:pt x="4016654" y="157226"/>
                  </a:lnTo>
                  <a:lnTo>
                    <a:pt x="4021099" y="161671"/>
                  </a:lnTo>
                  <a:lnTo>
                    <a:pt x="4022623" y="163830"/>
                  </a:lnTo>
                  <a:lnTo>
                    <a:pt x="4023385" y="165608"/>
                  </a:lnTo>
                  <a:lnTo>
                    <a:pt x="4024058" y="167767"/>
                  </a:lnTo>
                  <a:lnTo>
                    <a:pt x="4024160" y="170815"/>
                  </a:lnTo>
                  <a:lnTo>
                    <a:pt x="4024160" y="153555"/>
                  </a:lnTo>
                  <a:lnTo>
                    <a:pt x="4019067" y="148463"/>
                  </a:lnTo>
                  <a:lnTo>
                    <a:pt x="4018940" y="148336"/>
                  </a:lnTo>
                  <a:lnTo>
                    <a:pt x="4015130" y="144526"/>
                  </a:lnTo>
                  <a:lnTo>
                    <a:pt x="4013352" y="143002"/>
                  </a:lnTo>
                  <a:lnTo>
                    <a:pt x="4012336" y="142240"/>
                  </a:lnTo>
                  <a:lnTo>
                    <a:pt x="4010431" y="141097"/>
                  </a:lnTo>
                  <a:lnTo>
                    <a:pt x="4008653" y="140335"/>
                  </a:lnTo>
                  <a:lnTo>
                    <a:pt x="4003649" y="140335"/>
                  </a:lnTo>
                  <a:lnTo>
                    <a:pt x="4002938" y="140462"/>
                  </a:lnTo>
                  <a:lnTo>
                    <a:pt x="4000525" y="141605"/>
                  </a:lnTo>
                  <a:lnTo>
                    <a:pt x="3998239" y="142621"/>
                  </a:lnTo>
                  <a:lnTo>
                    <a:pt x="3986682" y="155829"/>
                  </a:lnTo>
                  <a:lnTo>
                    <a:pt x="3985285" y="158750"/>
                  </a:lnTo>
                  <a:lnTo>
                    <a:pt x="3984777" y="161417"/>
                  </a:lnTo>
                  <a:lnTo>
                    <a:pt x="3984802" y="161671"/>
                  </a:lnTo>
                  <a:lnTo>
                    <a:pt x="3984917" y="162814"/>
                  </a:lnTo>
                  <a:lnTo>
                    <a:pt x="3985031" y="163957"/>
                  </a:lnTo>
                  <a:lnTo>
                    <a:pt x="3985158" y="165227"/>
                  </a:lnTo>
                  <a:lnTo>
                    <a:pt x="3985285" y="166497"/>
                  </a:lnTo>
                  <a:lnTo>
                    <a:pt x="3986314" y="168910"/>
                  </a:lnTo>
                  <a:lnTo>
                    <a:pt x="3986428" y="169164"/>
                  </a:lnTo>
                  <a:lnTo>
                    <a:pt x="3988193" y="171970"/>
                  </a:lnTo>
                  <a:lnTo>
                    <a:pt x="3994302" y="167259"/>
                  </a:lnTo>
                  <a:lnTo>
                    <a:pt x="3992651" y="164338"/>
                  </a:lnTo>
                  <a:lnTo>
                    <a:pt x="3991889" y="161925"/>
                  </a:lnTo>
                  <a:lnTo>
                    <a:pt x="3992130" y="160528"/>
                  </a:lnTo>
                  <a:lnTo>
                    <a:pt x="3992219" y="160020"/>
                  </a:lnTo>
                  <a:lnTo>
                    <a:pt x="3992308" y="159385"/>
                  </a:lnTo>
                  <a:lnTo>
                    <a:pt x="3992384" y="158750"/>
                  </a:lnTo>
                  <a:lnTo>
                    <a:pt x="3992461" y="158115"/>
                  </a:lnTo>
                  <a:lnTo>
                    <a:pt x="3992524" y="157607"/>
                  </a:lnTo>
                  <a:lnTo>
                    <a:pt x="4004716" y="148336"/>
                  </a:lnTo>
                  <a:lnTo>
                    <a:pt x="4006888" y="148336"/>
                  </a:lnTo>
                  <a:lnTo>
                    <a:pt x="4008780" y="149225"/>
                  </a:lnTo>
                  <a:lnTo>
                    <a:pt x="4010939" y="151511"/>
                  </a:lnTo>
                  <a:lnTo>
                    <a:pt x="4011193" y="151638"/>
                  </a:lnTo>
                  <a:lnTo>
                    <a:pt x="4012463" y="152908"/>
                  </a:lnTo>
                  <a:lnTo>
                    <a:pt x="4011257" y="155321"/>
                  </a:lnTo>
                  <a:lnTo>
                    <a:pt x="4010977" y="155829"/>
                  </a:lnTo>
                  <a:lnTo>
                    <a:pt x="4008297" y="159766"/>
                  </a:lnTo>
                  <a:lnTo>
                    <a:pt x="4002557" y="167005"/>
                  </a:lnTo>
                  <a:lnTo>
                    <a:pt x="4000881" y="169545"/>
                  </a:lnTo>
                  <a:lnTo>
                    <a:pt x="3997858" y="178054"/>
                  </a:lnTo>
                  <a:lnTo>
                    <a:pt x="3997934" y="179451"/>
                  </a:lnTo>
                  <a:lnTo>
                    <a:pt x="3997985" y="180086"/>
                  </a:lnTo>
                  <a:lnTo>
                    <a:pt x="3999255" y="184150"/>
                  </a:lnTo>
                  <a:lnTo>
                    <a:pt x="4000271" y="185928"/>
                  </a:lnTo>
                  <a:lnTo>
                    <a:pt x="4001922" y="187452"/>
                  </a:lnTo>
                  <a:lnTo>
                    <a:pt x="4004589" y="190246"/>
                  </a:lnTo>
                  <a:lnTo>
                    <a:pt x="4007764" y="191516"/>
                  </a:lnTo>
                  <a:lnTo>
                    <a:pt x="4011447" y="191262"/>
                  </a:lnTo>
                  <a:lnTo>
                    <a:pt x="4015003" y="191135"/>
                  </a:lnTo>
                  <a:lnTo>
                    <a:pt x="4018686" y="189230"/>
                  </a:lnTo>
                  <a:lnTo>
                    <a:pt x="4024274" y="183642"/>
                  </a:lnTo>
                  <a:lnTo>
                    <a:pt x="4029252" y="171323"/>
                  </a:lnTo>
                  <a:lnTo>
                    <a:pt x="4029329" y="170561"/>
                  </a:lnTo>
                  <a:lnTo>
                    <a:pt x="4029418" y="169545"/>
                  </a:lnTo>
                  <a:lnTo>
                    <a:pt x="4029468" y="169164"/>
                  </a:lnTo>
                  <a:lnTo>
                    <a:pt x="4029621" y="169164"/>
                  </a:lnTo>
                  <a:lnTo>
                    <a:pt x="4030078" y="169545"/>
                  </a:lnTo>
                  <a:lnTo>
                    <a:pt x="4031361" y="170561"/>
                  </a:lnTo>
                  <a:lnTo>
                    <a:pt x="4032783" y="171323"/>
                  </a:lnTo>
                  <a:lnTo>
                    <a:pt x="4034561" y="171958"/>
                  </a:lnTo>
                  <a:lnTo>
                    <a:pt x="4037609" y="168910"/>
                  </a:lnTo>
                  <a:lnTo>
                    <a:pt x="4040276" y="166243"/>
                  </a:lnTo>
                  <a:close/>
                </a:path>
                <a:path w="9090025" h="247014">
                  <a:moveTo>
                    <a:pt x="4066883" y="161925"/>
                  </a:moveTo>
                  <a:lnTo>
                    <a:pt x="4066768" y="160020"/>
                  </a:lnTo>
                  <a:lnTo>
                    <a:pt x="4066705" y="159385"/>
                  </a:lnTo>
                  <a:lnTo>
                    <a:pt x="4066603" y="159004"/>
                  </a:lnTo>
                  <a:lnTo>
                    <a:pt x="4065803" y="156464"/>
                  </a:lnTo>
                  <a:lnTo>
                    <a:pt x="4065168" y="154305"/>
                  </a:lnTo>
                  <a:lnTo>
                    <a:pt x="4063771" y="150876"/>
                  </a:lnTo>
                  <a:lnTo>
                    <a:pt x="4061612" y="146050"/>
                  </a:lnTo>
                  <a:lnTo>
                    <a:pt x="4059580" y="141605"/>
                  </a:lnTo>
                  <a:lnTo>
                    <a:pt x="4040911" y="100711"/>
                  </a:lnTo>
                  <a:lnTo>
                    <a:pt x="4035450" y="106172"/>
                  </a:lnTo>
                  <a:lnTo>
                    <a:pt x="4048912" y="135255"/>
                  </a:lnTo>
                  <a:lnTo>
                    <a:pt x="4050690" y="138557"/>
                  </a:lnTo>
                  <a:lnTo>
                    <a:pt x="4052595" y="141605"/>
                  </a:lnTo>
                  <a:lnTo>
                    <a:pt x="4049166" y="139700"/>
                  </a:lnTo>
                  <a:lnTo>
                    <a:pt x="4045991" y="138049"/>
                  </a:lnTo>
                  <a:lnTo>
                    <a:pt x="4042689" y="136525"/>
                  </a:lnTo>
                  <a:lnTo>
                    <a:pt x="4017162" y="124460"/>
                  </a:lnTo>
                  <a:lnTo>
                    <a:pt x="4011193" y="130429"/>
                  </a:lnTo>
                  <a:lnTo>
                    <a:pt x="4056024" y="150622"/>
                  </a:lnTo>
                  <a:lnTo>
                    <a:pt x="4056456" y="151511"/>
                  </a:lnTo>
                  <a:lnTo>
                    <a:pt x="4056659" y="152019"/>
                  </a:lnTo>
                  <a:lnTo>
                    <a:pt x="4056913" y="152400"/>
                  </a:lnTo>
                  <a:lnTo>
                    <a:pt x="4058310" y="155321"/>
                  </a:lnTo>
                  <a:lnTo>
                    <a:pt x="4059072" y="157226"/>
                  </a:lnTo>
                  <a:lnTo>
                    <a:pt x="4059326" y="158115"/>
                  </a:lnTo>
                  <a:lnTo>
                    <a:pt x="4059453" y="160528"/>
                  </a:lnTo>
                  <a:lnTo>
                    <a:pt x="4059250" y="161417"/>
                  </a:lnTo>
                  <a:lnTo>
                    <a:pt x="4059199" y="161671"/>
                  </a:lnTo>
                  <a:lnTo>
                    <a:pt x="4058894" y="162560"/>
                  </a:lnTo>
                  <a:lnTo>
                    <a:pt x="4058818" y="162814"/>
                  </a:lnTo>
                  <a:lnTo>
                    <a:pt x="4058132" y="163830"/>
                  </a:lnTo>
                  <a:lnTo>
                    <a:pt x="4053001" y="168021"/>
                  </a:lnTo>
                  <a:lnTo>
                    <a:pt x="4053382" y="168021"/>
                  </a:lnTo>
                  <a:lnTo>
                    <a:pt x="4058945" y="172466"/>
                  </a:lnTo>
                  <a:lnTo>
                    <a:pt x="4060723" y="171577"/>
                  </a:lnTo>
                  <a:lnTo>
                    <a:pt x="4062120" y="170561"/>
                  </a:lnTo>
                  <a:lnTo>
                    <a:pt x="4063263" y="169545"/>
                  </a:lnTo>
                  <a:lnTo>
                    <a:pt x="4064914" y="167767"/>
                  </a:lnTo>
                  <a:lnTo>
                    <a:pt x="4066057" y="165862"/>
                  </a:lnTo>
                  <a:lnTo>
                    <a:pt x="4066171" y="165227"/>
                  </a:lnTo>
                  <a:lnTo>
                    <a:pt x="4066248" y="164846"/>
                  </a:lnTo>
                  <a:lnTo>
                    <a:pt x="4066336" y="164338"/>
                  </a:lnTo>
                  <a:lnTo>
                    <a:pt x="4066438" y="163830"/>
                  </a:lnTo>
                  <a:lnTo>
                    <a:pt x="4066883" y="161925"/>
                  </a:lnTo>
                  <a:close/>
                </a:path>
                <a:path w="9090025" h="247014">
                  <a:moveTo>
                    <a:pt x="4079392" y="100330"/>
                  </a:moveTo>
                  <a:lnTo>
                    <a:pt x="4073804" y="94742"/>
                  </a:lnTo>
                  <a:lnTo>
                    <a:pt x="4056913" y="111633"/>
                  </a:lnTo>
                  <a:lnTo>
                    <a:pt x="4062501" y="117094"/>
                  </a:lnTo>
                  <a:lnTo>
                    <a:pt x="4079392" y="100330"/>
                  </a:lnTo>
                  <a:close/>
                </a:path>
                <a:path w="9090025" h="247014">
                  <a:moveTo>
                    <a:pt x="4118762" y="87757"/>
                  </a:moveTo>
                  <a:lnTo>
                    <a:pt x="4089171" y="58166"/>
                  </a:lnTo>
                  <a:lnTo>
                    <a:pt x="4073804" y="42799"/>
                  </a:lnTo>
                  <a:lnTo>
                    <a:pt x="4070248" y="46355"/>
                  </a:lnTo>
                  <a:lnTo>
                    <a:pt x="4071175" y="49022"/>
                  </a:lnTo>
                  <a:lnTo>
                    <a:pt x="4071137" y="61595"/>
                  </a:lnTo>
                  <a:lnTo>
                    <a:pt x="4070299" y="65786"/>
                  </a:lnTo>
                  <a:lnTo>
                    <a:pt x="4070248" y="66040"/>
                  </a:lnTo>
                  <a:lnTo>
                    <a:pt x="4068597" y="70485"/>
                  </a:lnTo>
                  <a:lnTo>
                    <a:pt x="4073931" y="75819"/>
                  </a:lnTo>
                  <a:lnTo>
                    <a:pt x="4074947" y="73533"/>
                  </a:lnTo>
                  <a:lnTo>
                    <a:pt x="4075963" y="70612"/>
                  </a:lnTo>
                  <a:lnTo>
                    <a:pt x="4077741" y="63754"/>
                  </a:lnTo>
                  <a:lnTo>
                    <a:pt x="4078020" y="61595"/>
                  </a:lnTo>
                  <a:lnTo>
                    <a:pt x="4078122" y="60833"/>
                  </a:lnTo>
                  <a:lnTo>
                    <a:pt x="4078249" y="58166"/>
                  </a:lnTo>
                  <a:lnTo>
                    <a:pt x="4113301" y="93218"/>
                  </a:lnTo>
                  <a:lnTo>
                    <a:pt x="4118762" y="87757"/>
                  </a:lnTo>
                  <a:close/>
                </a:path>
                <a:path w="9090025" h="247014">
                  <a:moveTo>
                    <a:pt x="4145242" y="43053"/>
                  </a:moveTo>
                  <a:lnTo>
                    <a:pt x="4145191" y="42799"/>
                  </a:lnTo>
                  <a:lnTo>
                    <a:pt x="4133138" y="42799"/>
                  </a:lnTo>
                  <a:lnTo>
                    <a:pt x="4132999" y="43053"/>
                  </a:lnTo>
                  <a:lnTo>
                    <a:pt x="4145242" y="43053"/>
                  </a:lnTo>
                  <a:close/>
                </a:path>
                <a:path w="9090025" h="247014">
                  <a:moveTo>
                    <a:pt x="4152773" y="42799"/>
                  </a:moveTo>
                  <a:lnTo>
                    <a:pt x="4146042" y="29083"/>
                  </a:lnTo>
                  <a:lnTo>
                    <a:pt x="4144416" y="26924"/>
                  </a:lnTo>
                  <a:lnTo>
                    <a:pt x="4138701" y="21209"/>
                  </a:lnTo>
                  <a:lnTo>
                    <a:pt x="4133113" y="15748"/>
                  </a:lnTo>
                  <a:lnTo>
                    <a:pt x="4132592" y="15367"/>
                  </a:lnTo>
                  <a:lnTo>
                    <a:pt x="4128287" y="12192"/>
                  </a:lnTo>
                  <a:lnTo>
                    <a:pt x="4124223" y="10541"/>
                  </a:lnTo>
                  <a:lnTo>
                    <a:pt x="4120032" y="8890"/>
                  </a:lnTo>
                  <a:lnTo>
                    <a:pt x="4115968" y="8509"/>
                  </a:lnTo>
                  <a:lnTo>
                    <a:pt x="4112031" y="9271"/>
                  </a:lnTo>
                  <a:lnTo>
                    <a:pt x="4107967" y="10160"/>
                  </a:lnTo>
                  <a:lnTo>
                    <a:pt x="4104411" y="12192"/>
                  </a:lnTo>
                  <a:lnTo>
                    <a:pt x="4097680" y="18923"/>
                  </a:lnTo>
                  <a:lnTo>
                    <a:pt x="4095648" y="23749"/>
                  </a:lnTo>
                  <a:lnTo>
                    <a:pt x="4095775" y="29083"/>
                  </a:lnTo>
                  <a:lnTo>
                    <a:pt x="4095877" y="33782"/>
                  </a:lnTo>
                  <a:lnTo>
                    <a:pt x="4096016" y="34798"/>
                  </a:lnTo>
                  <a:lnTo>
                    <a:pt x="4098074" y="39370"/>
                  </a:lnTo>
                  <a:lnTo>
                    <a:pt x="4098188" y="39624"/>
                  </a:lnTo>
                  <a:lnTo>
                    <a:pt x="4102760" y="44069"/>
                  </a:lnTo>
                  <a:lnTo>
                    <a:pt x="4107078" y="48514"/>
                  </a:lnTo>
                  <a:lnTo>
                    <a:pt x="4112437" y="51054"/>
                  </a:lnTo>
                  <a:lnTo>
                    <a:pt x="4122445" y="51054"/>
                  </a:lnTo>
                  <a:lnTo>
                    <a:pt x="4126890" y="49276"/>
                  </a:lnTo>
                  <a:lnTo>
                    <a:pt x="4130573" y="45466"/>
                  </a:lnTo>
                  <a:lnTo>
                    <a:pt x="4132859" y="43307"/>
                  </a:lnTo>
                  <a:lnTo>
                    <a:pt x="4132999" y="43053"/>
                  </a:lnTo>
                  <a:lnTo>
                    <a:pt x="4121556" y="43053"/>
                  </a:lnTo>
                  <a:lnTo>
                    <a:pt x="4122166" y="42799"/>
                  </a:lnTo>
                  <a:lnTo>
                    <a:pt x="4114279" y="42799"/>
                  </a:lnTo>
                  <a:lnTo>
                    <a:pt x="4114558" y="42926"/>
                  </a:lnTo>
                  <a:lnTo>
                    <a:pt x="4107573" y="42799"/>
                  </a:lnTo>
                  <a:lnTo>
                    <a:pt x="4114279" y="42799"/>
                  </a:lnTo>
                  <a:lnTo>
                    <a:pt x="4111396" y="41529"/>
                  </a:lnTo>
                  <a:lnTo>
                    <a:pt x="4108602" y="38608"/>
                  </a:lnTo>
                  <a:lnTo>
                    <a:pt x="4105427" y="35433"/>
                  </a:lnTo>
                  <a:lnTo>
                    <a:pt x="4103649" y="32004"/>
                  </a:lnTo>
                  <a:lnTo>
                    <a:pt x="4103522" y="28194"/>
                  </a:lnTo>
                  <a:lnTo>
                    <a:pt x="4103268" y="24384"/>
                  </a:lnTo>
                  <a:lnTo>
                    <a:pt x="4104411" y="21209"/>
                  </a:lnTo>
                  <a:lnTo>
                    <a:pt x="4106811" y="18923"/>
                  </a:lnTo>
                  <a:lnTo>
                    <a:pt x="4109237" y="16510"/>
                  </a:lnTo>
                  <a:lnTo>
                    <a:pt x="4112158" y="15367"/>
                  </a:lnTo>
                  <a:lnTo>
                    <a:pt x="4115714" y="15494"/>
                  </a:lnTo>
                  <a:lnTo>
                    <a:pt x="4119270" y="15748"/>
                  </a:lnTo>
                  <a:lnTo>
                    <a:pt x="4122572" y="17399"/>
                  </a:lnTo>
                  <a:lnTo>
                    <a:pt x="4125747" y="20574"/>
                  </a:lnTo>
                  <a:lnTo>
                    <a:pt x="4128986" y="23749"/>
                  </a:lnTo>
                  <a:lnTo>
                    <a:pt x="4130573" y="26924"/>
                  </a:lnTo>
                  <a:lnTo>
                    <a:pt x="4130700" y="30353"/>
                  </a:lnTo>
                  <a:lnTo>
                    <a:pt x="4130827" y="33782"/>
                  </a:lnTo>
                  <a:lnTo>
                    <a:pt x="4129684" y="36830"/>
                  </a:lnTo>
                  <a:lnTo>
                    <a:pt x="4127144" y="39370"/>
                  </a:lnTo>
                  <a:lnTo>
                    <a:pt x="4124604" y="41783"/>
                  </a:lnTo>
                  <a:lnTo>
                    <a:pt x="4122166" y="42799"/>
                  </a:lnTo>
                  <a:lnTo>
                    <a:pt x="4133138" y="42799"/>
                  </a:lnTo>
                  <a:lnTo>
                    <a:pt x="4136034" y="31750"/>
                  </a:lnTo>
                  <a:lnTo>
                    <a:pt x="4135564" y="29718"/>
                  </a:lnTo>
                  <a:lnTo>
                    <a:pt x="4135513" y="29464"/>
                  </a:lnTo>
                  <a:lnTo>
                    <a:pt x="4135424" y="29083"/>
                  </a:lnTo>
                  <a:lnTo>
                    <a:pt x="4135907" y="29464"/>
                  </a:lnTo>
                  <a:lnTo>
                    <a:pt x="4136288" y="29718"/>
                  </a:lnTo>
                  <a:lnTo>
                    <a:pt x="4138828" y="32258"/>
                  </a:lnTo>
                  <a:lnTo>
                    <a:pt x="4140733" y="34798"/>
                  </a:lnTo>
                  <a:lnTo>
                    <a:pt x="4142384" y="37592"/>
                  </a:lnTo>
                  <a:lnTo>
                    <a:pt x="4144035" y="40259"/>
                  </a:lnTo>
                  <a:lnTo>
                    <a:pt x="4145229" y="42799"/>
                  </a:lnTo>
                  <a:lnTo>
                    <a:pt x="4152773" y="42799"/>
                  </a:lnTo>
                  <a:close/>
                </a:path>
                <a:path w="9090025" h="247014">
                  <a:moveTo>
                    <a:pt x="4153128" y="44831"/>
                  </a:moveTo>
                  <a:lnTo>
                    <a:pt x="4152862" y="43307"/>
                  </a:lnTo>
                  <a:lnTo>
                    <a:pt x="4152823" y="43053"/>
                  </a:lnTo>
                  <a:lnTo>
                    <a:pt x="4145242" y="43053"/>
                  </a:lnTo>
                  <a:lnTo>
                    <a:pt x="4145559" y="44831"/>
                  </a:lnTo>
                  <a:lnTo>
                    <a:pt x="4145699" y="45466"/>
                  </a:lnTo>
                  <a:lnTo>
                    <a:pt x="4145788" y="45847"/>
                  </a:lnTo>
                  <a:lnTo>
                    <a:pt x="4145915" y="46355"/>
                  </a:lnTo>
                  <a:lnTo>
                    <a:pt x="4146004" y="49276"/>
                  </a:lnTo>
                  <a:lnTo>
                    <a:pt x="4145115" y="52832"/>
                  </a:lnTo>
                  <a:lnTo>
                    <a:pt x="4145051" y="53086"/>
                  </a:lnTo>
                  <a:lnTo>
                    <a:pt x="4144035" y="54991"/>
                  </a:lnTo>
                  <a:lnTo>
                    <a:pt x="4142257" y="56642"/>
                  </a:lnTo>
                  <a:lnTo>
                    <a:pt x="4140352" y="58674"/>
                  </a:lnTo>
                  <a:lnTo>
                    <a:pt x="4137914" y="59817"/>
                  </a:lnTo>
                  <a:lnTo>
                    <a:pt x="4135780" y="59817"/>
                  </a:lnTo>
                  <a:lnTo>
                    <a:pt x="4133367" y="59944"/>
                  </a:lnTo>
                  <a:lnTo>
                    <a:pt x="4130700" y="59055"/>
                  </a:lnTo>
                  <a:lnTo>
                    <a:pt x="4127779" y="57023"/>
                  </a:lnTo>
                  <a:lnTo>
                    <a:pt x="4122953" y="62738"/>
                  </a:lnTo>
                  <a:lnTo>
                    <a:pt x="4127017" y="65786"/>
                  </a:lnTo>
                  <a:lnTo>
                    <a:pt x="4131081" y="67183"/>
                  </a:lnTo>
                  <a:lnTo>
                    <a:pt x="4139336" y="66675"/>
                  </a:lnTo>
                  <a:lnTo>
                    <a:pt x="4143146" y="64770"/>
                  </a:lnTo>
                  <a:lnTo>
                    <a:pt x="4146702" y="61341"/>
                  </a:lnTo>
                  <a:lnTo>
                    <a:pt x="4148086" y="59944"/>
                  </a:lnTo>
                  <a:lnTo>
                    <a:pt x="4149877" y="58166"/>
                  </a:lnTo>
                  <a:lnTo>
                    <a:pt x="4150537" y="57023"/>
                  </a:lnTo>
                  <a:lnTo>
                    <a:pt x="4152036" y="54229"/>
                  </a:lnTo>
                  <a:lnTo>
                    <a:pt x="4153128" y="46990"/>
                  </a:lnTo>
                  <a:lnTo>
                    <a:pt x="4153128" y="44831"/>
                  </a:lnTo>
                  <a:close/>
                </a:path>
                <a:path w="9090025" h="247014">
                  <a:moveTo>
                    <a:pt x="4211980" y="188087"/>
                  </a:moveTo>
                  <a:lnTo>
                    <a:pt x="4211853" y="185039"/>
                  </a:lnTo>
                  <a:lnTo>
                    <a:pt x="4209567" y="179197"/>
                  </a:lnTo>
                  <a:lnTo>
                    <a:pt x="4207027" y="175768"/>
                  </a:lnTo>
                  <a:lnTo>
                    <a:pt x="4172864" y="141605"/>
                  </a:lnTo>
                  <a:lnTo>
                    <a:pt x="4166895" y="147447"/>
                  </a:lnTo>
                  <a:lnTo>
                    <a:pt x="4200296" y="180848"/>
                  </a:lnTo>
                  <a:lnTo>
                    <a:pt x="4201947" y="183007"/>
                  </a:lnTo>
                  <a:lnTo>
                    <a:pt x="4203471" y="186055"/>
                  </a:lnTo>
                  <a:lnTo>
                    <a:pt x="4203725" y="187833"/>
                  </a:lnTo>
                  <a:lnTo>
                    <a:pt x="4203217" y="189484"/>
                  </a:lnTo>
                  <a:lnTo>
                    <a:pt x="4202836" y="191262"/>
                  </a:lnTo>
                  <a:lnTo>
                    <a:pt x="4201947" y="192913"/>
                  </a:lnTo>
                  <a:lnTo>
                    <a:pt x="4198391" y="196469"/>
                  </a:lnTo>
                  <a:lnTo>
                    <a:pt x="4196232" y="197358"/>
                  </a:lnTo>
                  <a:lnTo>
                    <a:pt x="4191406" y="197104"/>
                  </a:lnTo>
                  <a:lnTo>
                    <a:pt x="4188485" y="195453"/>
                  </a:lnTo>
                  <a:lnTo>
                    <a:pt x="4184929" y="192151"/>
                  </a:lnTo>
                  <a:lnTo>
                    <a:pt x="4180230" y="198247"/>
                  </a:lnTo>
                  <a:lnTo>
                    <a:pt x="4184675" y="202692"/>
                  </a:lnTo>
                  <a:lnTo>
                    <a:pt x="4188993" y="205105"/>
                  </a:lnTo>
                  <a:lnTo>
                    <a:pt x="4193311" y="205232"/>
                  </a:lnTo>
                  <a:lnTo>
                    <a:pt x="4197756" y="205486"/>
                  </a:lnTo>
                  <a:lnTo>
                    <a:pt x="4201820" y="203581"/>
                  </a:lnTo>
                  <a:lnTo>
                    <a:pt x="4208043" y="197358"/>
                  </a:lnTo>
                  <a:lnTo>
                    <a:pt x="4208297" y="197104"/>
                  </a:lnTo>
                  <a:lnTo>
                    <a:pt x="4208742" y="196469"/>
                  </a:lnTo>
                  <a:lnTo>
                    <a:pt x="4210202" y="194183"/>
                  </a:lnTo>
                  <a:lnTo>
                    <a:pt x="4211980" y="188087"/>
                  </a:lnTo>
                  <a:close/>
                </a:path>
                <a:path w="9090025" h="247014">
                  <a:moveTo>
                    <a:pt x="4252747" y="151130"/>
                  </a:moveTo>
                  <a:lnTo>
                    <a:pt x="4220235" y="118745"/>
                  </a:lnTo>
                  <a:lnTo>
                    <a:pt x="4214774" y="124206"/>
                  </a:lnTo>
                  <a:lnTo>
                    <a:pt x="4234967" y="144399"/>
                  </a:lnTo>
                  <a:lnTo>
                    <a:pt x="4236745" y="146812"/>
                  </a:lnTo>
                  <a:lnTo>
                    <a:pt x="4237634" y="148844"/>
                  </a:lnTo>
                  <a:lnTo>
                    <a:pt x="4238396" y="150876"/>
                  </a:lnTo>
                  <a:lnTo>
                    <a:pt x="4238409" y="151130"/>
                  </a:lnTo>
                  <a:lnTo>
                    <a:pt x="4238523" y="153035"/>
                  </a:lnTo>
                  <a:lnTo>
                    <a:pt x="4238015" y="155321"/>
                  </a:lnTo>
                  <a:lnTo>
                    <a:pt x="4237444" y="157480"/>
                  </a:lnTo>
                  <a:lnTo>
                    <a:pt x="4237380" y="157734"/>
                  </a:lnTo>
                  <a:lnTo>
                    <a:pt x="4236237" y="159639"/>
                  </a:lnTo>
                  <a:lnTo>
                    <a:pt x="4232935" y="162941"/>
                  </a:lnTo>
                  <a:lnTo>
                    <a:pt x="4230929" y="164084"/>
                  </a:lnTo>
                  <a:lnTo>
                    <a:pt x="4230167" y="164084"/>
                  </a:lnTo>
                  <a:lnTo>
                    <a:pt x="4227220" y="164465"/>
                  </a:lnTo>
                  <a:lnTo>
                    <a:pt x="4225442" y="164084"/>
                  </a:lnTo>
                  <a:lnTo>
                    <a:pt x="4223664" y="162941"/>
                  </a:lnTo>
                  <a:lnTo>
                    <a:pt x="4222394" y="162179"/>
                  </a:lnTo>
                  <a:lnTo>
                    <a:pt x="4220362" y="160401"/>
                  </a:lnTo>
                  <a:lnTo>
                    <a:pt x="4199534" y="139573"/>
                  </a:lnTo>
                  <a:lnTo>
                    <a:pt x="4194073" y="145034"/>
                  </a:lnTo>
                  <a:lnTo>
                    <a:pt x="4214139" y="165100"/>
                  </a:lnTo>
                  <a:lnTo>
                    <a:pt x="4216425" y="167513"/>
                  </a:lnTo>
                  <a:lnTo>
                    <a:pt x="4218203" y="169037"/>
                  </a:lnTo>
                  <a:lnTo>
                    <a:pt x="4227220" y="172593"/>
                  </a:lnTo>
                  <a:lnTo>
                    <a:pt x="4229379" y="172339"/>
                  </a:lnTo>
                  <a:lnTo>
                    <a:pt x="4231792" y="171323"/>
                  </a:lnTo>
                  <a:lnTo>
                    <a:pt x="4234205" y="170434"/>
                  </a:lnTo>
                  <a:lnTo>
                    <a:pt x="4236364" y="169037"/>
                  </a:lnTo>
                  <a:lnTo>
                    <a:pt x="4240936" y="164465"/>
                  </a:lnTo>
                  <a:lnTo>
                    <a:pt x="4242460" y="162941"/>
                  </a:lnTo>
                  <a:lnTo>
                    <a:pt x="4242765" y="162179"/>
                  </a:lnTo>
                  <a:lnTo>
                    <a:pt x="4244035" y="157734"/>
                  </a:lnTo>
                  <a:lnTo>
                    <a:pt x="4244111" y="157480"/>
                  </a:lnTo>
                  <a:lnTo>
                    <a:pt x="4242968" y="151384"/>
                  </a:lnTo>
                  <a:lnTo>
                    <a:pt x="4247794" y="156083"/>
                  </a:lnTo>
                  <a:lnTo>
                    <a:pt x="4252493" y="151384"/>
                  </a:lnTo>
                  <a:lnTo>
                    <a:pt x="4252747" y="151130"/>
                  </a:lnTo>
                  <a:close/>
                </a:path>
                <a:path w="9090025" h="247014">
                  <a:moveTo>
                    <a:pt x="4267479" y="136398"/>
                  </a:moveTo>
                  <a:lnTo>
                    <a:pt x="4222775" y="91694"/>
                  </a:lnTo>
                  <a:lnTo>
                    <a:pt x="4217187" y="97155"/>
                  </a:lnTo>
                  <a:lnTo>
                    <a:pt x="4262018" y="141859"/>
                  </a:lnTo>
                  <a:lnTo>
                    <a:pt x="4267479" y="136398"/>
                  </a:lnTo>
                  <a:close/>
                </a:path>
                <a:path w="9090025" h="247014">
                  <a:moveTo>
                    <a:pt x="4277385" y="99568"/>
                  </a:moveTo>
                  <a:lnTo>
                    <a:pt x="4271924" y="94107"/>
                  </a:lnTo>
                  <a:lnTo>
                    <a:pt x="4255033" y="110998"/>
                  </a:lnTo>
                  <a:lnTo>
                    <a:pt x="4260494" y="116459"/>
                  </a:lnTo>
                  <a:lnTo>
                    <a:pt x="4277385" y="99568"/>
                  </a:lnTo>
                  <a:close/>
                </a:path>
                <a:path w="9090025" h="247014">
                  <a:moveTo>
                    <a:pt x="4315739" y="88138"/>
                  </a:moveTo>
                  <a:lnTo>
                    <a:pt x="4286262" y="58674"/>
                  </a:lnTo>
                  <a:lnTo>
                    <a:pt x="4270781" y="43180"/>
                  </a:lnTo>
                  <a:lnTo>
                    <a:pt x="4267352" y="46736"/>
                  </a:lnTo>
                  <a:lnTo>
                    <a:pt x="4268152" y="49403"/>
                  </a:lnTo>
                  <a:lnTo>
                    <a:pt x="4268114" y="61976"/>
                  </a:lnTo>
                  <a:lnTo>
                    <a:pt x="4267225" y="66421"/>
                  </a:lnTo>
                  <a:lnTo>
                    <a:pt x="4265523" y="70993"/>
                  </a:lnTo>
                  <a:lnTo>
                    <a:pt x="4265701" y="70993"/>
                  </a:lnTo>
                  <a:lnTo>
                    <a:pt x="4270908" y="76200"/>
                  </a:lnTo>
                  <a:lnTo>
                    <a:pt x="4271924" y="73914"/>
                  </a:lnTo>
                  <a:lnTo>
                    <a:pt x="4272940" y="70993"/>
                  </a:lnTo>
                  <a:lnTo>
                    <a:pt x="4274718" y="64135"/>
                  </a:lnTo>
                  <a:lnTo>
                    <a:pt x="4275226" y="61214"/>
                  </a:lnTo>
                  <a:lnTo>
                    <a:pt x="4275226" y="58674"/>
                  </a:lnTo>
                  <a:lnTo>
                    <a:pt x="4310278" y="93599"/>
                  </a:lnTo>
                  <a:lnTo>
                    <a:pt x="4315739" y="88138"/>
                  </a:lnTo>
                  <a:close/>
                </a:path>
                <a:path w="9090025" h="247014">
                  <a:moveTo>
                    <a:pt x="4350359" y="45974"/>
                  </a:moveTo>
                  <a:lnTo>
                    <a:pt x="4349724" y="42291"/>
                  </a:lnTo>
                  <a:lnTo>
                    <a:pt x="4349661" y="41910"/>
                  </a:lnTo>
                  <a:lnTo>
                    <a:pt x="4349343" y="41148"/>
                  </a:lnTo>
                  <a:lnTo>
                    <a:pt x="4347489" y="37211"/>
                  </a:lnTo>
                  <a:lnTo>
                    <a:pt x="4345381" y="32639"/>
                  </a:lnTo>
                  <a:lnTo>
                    <a:pt x="4345267" y="32385"/>
                  </a:lnTo>
                  <a:lnTo>
                    <a:pt x="4343984" y="30734"/>
                  </a:lnTo>
                  <a:lnTo>
                    <a:pt x="4342917" y="29337"/>
                  </a:lnTo>
                  <a:lnTo>
                    <a:pt x="4341393" y="27305"/>
                  </a:lnTo>
                  <a:lnTo>
                    <a:pt x="4330217" y="16129"/>
                  </a:lnTo>
                  <a:lnTo>
                    <a:pt x="4329696" y="15748"/>
                  </a:lnTo>
                  <a:lnTo>
                    <a:pt x="4327804" y="14363"/>
                  </a:lnTo>
                  <a:lnTo>
                    <a:pt x="4327804" y="34163"/>
                  </a:lnTo>
                  <a:lnTo>
                    <a:pt x="4326661" y="37211"/>
                  </a:lnTo>
                  <a:lnTo>
                    <a:pt x="4321581" y="42291"/>
                  </a:lnTo>
                  <a:lnTo>
                    <a:pt x="4318533" y="43434"/>
                  </a:lnTo>
                  <a:lnTo>
                    <a:pt x="4311828" y="43434"/>
                  </a:lnTo>
                  <a:lnTo>
                    <a:pt x="4300372" y="24765"/>
                  </a:lnTo>
                  <a:lnTo>
                    <a:pt x="4301515" y="21717"/>
                  </a:lnTo>
                  <a:lnTo>
                    <a:pt x="4303928" y="19177"/>
                  </a:lnTo>
                  <a:lnTo>
                    <a:pt x="4306214" y="16891"/>
                  </a:lnTo>
                  <a:lnTo>
                    <a:pt x="4309262" y="15748"/>
                  </a:lnTo>
                  <a:lnTo>
                    <a:pt x="4312691" y="15875"/>
                  </a:lnTo>
                  <a:lnTo>
                    <a:pt x="4316247" y="16129"/>
                  </a:lnTo>
                  <a:lnTo>
                    <a:pt x="4319676" y="17780"/>
                  </a:lnTo>
                  <a:lnTo>
                    <a:pt x="4322724" y="20955"/>
                  </a:lnTo>
                  <a:lnTo>
                    <a:pt x="4325899" y="24130"/>
                  </a:lnTo>
                  <a:lnTo>
                    <a:pt x="4327550" y="27305"/>
                  </a:lnTo>
                  <a:lnTo>
                    <a:pt x="4327677" y="30734"/>
                  </a:lnTo>
                  <a:lnTo>
                    <a:pt x="4327804" y="34163"/>
                  </a:lnTo>
                  <a:lnTo>
                    <a:pt x="4327804" y="14363"/>
                  </a:lnTo>
                  <a:lnTo>
                    <a:pt x="4325391" y="12573"/>
                  </a:lnTo>
                  <a:lnTo>
                    <a:pt x="4317009" y="9271"/>
                  </a:lnTo>
                  <a:lnTo>
                    <a:pt x="4312945" y="8890"/>
                  </a:lnTo>
                  <a:lnTo>
                    <a:pt x="4309008" y="9652"/>
                  </a:lnTo>
                  <a:lnTo>
                    <a:pt x="4305071" y="10541"/>
                  </a:lnTo>
                  <a:lnTo>
                    <a:pt x="4301515" y="12573"/>
                  </a:lnTo>
                  <a:lnTo>
                    <a:pt x="4294657" y="19431"/>
                  </a:lnTo>
                  <a:lnTo>
                    <a:pt x="4292752" y="24130"/>
                  </a:lnTo>
                  <a:lnTo>
                    <a:pt x="4292803" y="29337"/>
                  </a:lnTo>
                  <a:lnTo>
                    <a:pt x="4309542" y="51435"/>
                  </a:lnTo>
                  <a:lnTo>
                    <a:pt x="4319422" y="51435"/>
                  </a:lnTo>
                  <a:lnTo>
                    <a:pt x="4323867" y="49657"/>
                  </a:lnTo>
                  <a:lnTo>
                    <a:pt x="4327677" y="45974"/>
                  </a:lnTo>
                  <a:lnTo>
                    <a:pt x="4329836" y="43688"/>
                  </a:lnTo>
                  <a:lnTo>
                    <a:pt x="4329989" y="43434"/>
                  </a:lnTo>
                  <a:lnTo>
                    <a:pt x="4331360" y="41148"/>
                  </a:lnTo>
                  <a:lnTo>
                    <a:pt x="4332122" y="38100"/>
                  </a:lnTo>
                  <a:lnTo>
                    <a:pt x="4333011" y="35179"/>
                  </a:lnTo>
                  <a:lnTo>
                    <a:pt x="4333011" y="32385"/>
                  </a:lnTo>
                  <a:lnTo>
                    <a:pt x="4332478" y="29845"/>
                  </a:lnTo>
                  <a:lnTo>
                    <a:pt x="4332376" y="29337"/>
                  </a:lnTo>
                  <a:lnTo>
                    <a:pt x="4332884" y="29845"/>
                  </a:lnTo>
                  <a:lnTo>
                    <a:pt x="4335805" y="32639"/>
                  </a:lnTo>
                  <a:lnTo>
                    <a:pt x="4342790" y="45974"/>
                  </a:lnTo>
                  <a:lnTo>
                    <a:pt x="4342841" y="46228"/>
                  </a:lnTo>
                  <a:lnTo>
                    <a:pt x="4342930" y="46736"/>
                  </a:lnTo>
                  <a:lnTo>
                    <a:pt x="4342981" y="49657"/>
                  </a:lnTo>
                  <a:lnTo>
                    <a:pt x="4342536" y="51435"/>
                  </a:lnTo>
                  <a:lnTo>
                    <a:pt x="4342193" y="53213"/>
                  </a:lnTo>
                  <a:lnTo>
                    <a:pt x="4342155" y="53467"/>
                  </a:lnTo>
                  <a:lnTo>
                    <a:pt x="4341012" y="55372"/>
                  </a:lnTo>
                  <a:lnTo>
                    <a:pt x="4337329" y="59055"/>
                  </a:lnTo>
                  <a:lnTo>
                    <a:pt x="4334891" y="60198"/>
                  </a:lnTo>
                  <a:lnTo>
                    <a:pt x="4332757" y="60198"/>
                  </a:lnTo>
                  <a:lnTo>
                    <a:pt x="4330344" y="60325"/>
                  </a:lnTo>
                  <a:lnTo>
                    <a:pt x="4327804" y="59436"/>
                  </a:lnTo>
                  <a:lnTo>
                    <a:pt x="4324756" y="57404"/>
                  </a:lnTo>
                  <a:lnTo>
                    <a:pt x="4320057" y="63119"/>
                  </a:lnTo>
                  <a:lnTo>
                    <a:pt x="4324147" y="66421"/>
                  </a:lnTo>
                  <a:lnTo>
                    <a:pt x="4324362" y="66421"/>
                  </a:lnTo>
                  <a:lnTo>
                    <a:pt x="4328058" y="67691"/>
                  </a:lnTo>
                  <a:lnTo>
                    <a:pt x="4332249" y="67310"/>
                  </a:lnTo>
                  <a:lnTo>
                    <a:pt x="4336440" y="67056"/>
                  </a:lnTo>
                  <a:lnTo>
                    <a:pt x="4340250" y="65151"/>
                  </a:lnTo>
                  <a:lnTo>
                    <a:pt x="4345076" y="60325"/>
                  </a:lnTo>
                  <a:lnTo>
                    <a:pt x="4346981" y="58420"/>
                  </a:lnTo>
                  <a:lnTo>
                    <a:pt x="4349013" y="54610"/>
                  </a:lnTo>
                  <a:lnTo>
                    <a:pt x="4349648" y="50419"/>
                  </a:lnTo>
                  <a:lnTo>
                    <a:pt x="4350194" y="47371"/>
                  </a:lnTo>
                  <a:lnTo>
                    <a:pt x="4350309" y="46736"/>
                  </a:lnTo>
                  <a:lnTo>
                    <a:pt x="4350359" y="45974"/>
                  </a:lnTo>
                  <a:close/>
                </a:path>
                <a:path w="9090025" h="247014">
                  <a:moveTo>
                    <a:pt x="4388256" y="205359"/>
                  </a:moveTo>
                  <a:lnTo>
                    <a:pt x="4387520" y="202057"/>
                  </a:lnTo>
                  <a:lnTo>
                    <a:pt x="4386948" y="199009"/>
                  </a:lnTo>
                  <a:lnTo>
                    <a:pt x="4386872" y="198628"/>
                  </a:lnTo>
                  <a:lnTo>
                    <a:pt x="4386707" y="198247"/>
                  </a:lnTo>
                  <a:lnTo>
                    <a:pt x="4385843" y="196723"/>
                  </a:lnTo>
                  <a:lnTo>
                    <a:pt x="4385208" y="195580"/>
                  </a:lnTo>
                  <a:lnTo>
                    <a:pt x="4374667" y="188722"/>
                  </a:lnTo>
                  <a:lnTo>
                    <a:pt x="4372229" y="188214"/>
                  </a:lnTo>
                  <a:lnTo>
                    <a:pt x="4370425" y="188214"/>
                  </a:lnTo>
                  <a:lnTo>
                    <a:pt x="4368063" y="188468"/>
                  </a:lnTo>
                  <a:lnTo>
                    <a:pt x="4363936" y="189992"/>
                  </a:lnTo>
                  <a:lnTo>
                    <a:pt x="4361713" y="190881"/>
                  </a:lnTo>
                  <a:lnTo>
                    <a:pt x="4357395" y="193167"/>
                  </a:lnTo>
                  <a:lnTo>
                    <a:pt x="4351350" y="197104"/>
                  </a:lnTo>
                  <a:lnTo>
                    <a:pt x="4345711" y="200660"/>
                  </a:lnTo>
                  <a:lnTo>
                    <a:pt x="4341368" y="202692"/>
                  </a:lnTo>
                  <a:lnTo>
                    <a:pt x="4339488" y="202692"/>
                  </a:lnTo>
                  <a:lnTo>
                    <a:pt x="4337202" y="202819"/>
                  </a:lnTo>
                  <a:lnTo>
                    <a:pt x="4335297" y="202057"/>
                  </a:lnTo>
                  <a:lnTo>
                    <a:pt x="4333773" y="200406"/>
                  </a:lnTo>
                  <a:lnTo>
                    <a:pt x="4331868" y="198628"/>
                  </a:lnTo>
                  <a:lnTo>
                    <a:pt x="4331386" y="197104"/>
                  </a:lnTo>
                  <a:lnTo>
                    <a:pt x="4331259" y="196723"/>
                  </a:lnTo>
                  <a:lnTo>
                    <a:pt x="4331246" y="195072"/>
                  </a:lnTo>
                  <a:lnTo>
                    <a:pt x="4331487" y="193294"/>
                  </a:lnTo>
                  <a:lnTo>
                    <a:pt x="4331601" y="191897"/>
                  </a:lnTo>
                  <a:lnTo>
                    <a:pt x="4331690" y="190754"/>
                  </a:lnTo>
                  <a:lnTo>
                    <a:pt x="4331741" y="190246"/>
                  </a:lnTo>
                  <a:lnTo>
                    <a:pt x="4350410" y="177546"/>
                  </a:lnTo>
                  <a:lnTo>
                    <a:pt x="4353979" y="178689"/>
                  </a:lnTo>
                  <a:lnTo>
                    <a:pt x="4353738" y="178689"/>
                  </a:lnTo>
                  <a:lnTo>
                    <a:pt x="4356760" y="181102"/>
                  </a:lnTo>
                  <a:lnTo>
                    <a:pt x="4359795" y="177546"/>
                  </a:lnTo>
                  <a:lnTo>
                    <a:pt x="4361853" y="175133"/>
                  </a:lnTo>
                  <a:lnTo>
                    <a:pt x="4362094" y="175133"/>
                  </a:lnTo>
                  <a:lnTo>
                    <a:pt x="4359300" y="172466"/>
                  </a:lnTo>
                  <a:lnTo>
                    <a:pt x="4356252" y="170815"/>
                  </a:lnTo>
                  <a:lnTo>
                    <a:pt x="4352823" y="170180"/>
                  </a:lnTo>
                  <a:lnTo>
                    <a:pt x="4349394" y="169418"/>
                  </a:lnTo>
                  <a:lnTo>
                    <a:pt x="4345838" y="169799"/>
                  </a:lnTo>
                  <a:lnTo>
                    <a:pt x="4342155" y="171323"/>
                  </a:lnTo>
                  <a:lnTo>
                    <a:pt x="4338269" y="172847"/>
                  </a:lnTo>
                  <a:lnTo>
                    <a:pt x="4338409" y="172847"/>
                  </a:lnTo>
                  <a:lnTo>
                    <a:pt x="4335170" y="175133"/>
                  </a:lnTo>
                  <a:lnTo>
                    <a:pt x="4328820" y="181483"/>
                  </a:lnTo>
                  <a:lnTo>
                    <a:pt x="4326661" y="184658"/>
                  </a:lnTo>
                  <a:lnTo>
                    <a:pt x="4325137" y="188214"/>
                  </a:lnTo>
                  <a:lnTo>
                    <a:pt x="4323740" y="191643"/>
                  </a:lnTo>
                  <a:lnTo>
                    <a:pt x="4323753" y="197104"/>
                  </a:lnTo>
                  <a:lnTo>
                    <a:pt x="4324401" y="200406"/>
                  </a:lnTo>
                  <a:lnTo>
                    <a:pt x="4324502" y="200914"/>
                  </a:lnTo>
                  <a:lnTo>
                    <a:pt x="4324629" y="201549"/>
                  </a:lnTo>
                  <a:lnTo>
                    <a:pt x="4326153" y="204343"/>
                  </a:lnTo>
                  <a:lnTo>
                    <a:pt x="4328439" y="206502"/>
                  </a:lnTo>
                  <a:lnTo>
                    <a:pt x="4329201" y="207264"/>
                  </a:lnTo>
                  <a:lnTo>
                    <a:pt x="4330687" y="208661"/>
                  </a:lnTo>
                  <a:lnTo>
                    <a:pt x="4332884" y="209931"/>
                  </a:lnTo>
                  <a:lnTo>
                    <a:pt x="4338218" y="211201"/>
                  </a:lnTo>
                  <a:lnTo>
                    <a:pt x="4341266" y="210947"/>
                  </a:lnTo>
                  <a:lnTo>
                    <a:pt x="4344441" y="209931"/>
                  </a:lnTo>
                  <a:lnTo>
                    <a:pt x="4346981" y="209169"/>
                  </a:lnTo>
                  <a:lnTo>
                    <a:pt x="4350791" y="207264"/>
                  </a:lnTo>
                  <a:lnTo>
                    <a:pt x="4355871" y="204089"/>
                  </a:lnTo>
                  <a:lnTo>
                    <a:pt x="4357941" y="202819"/>
                  </a:lnTo>
                  <a:lnTo>
                    <a:pt x="4370857" y="196723"/>
                  </a:lnTo>
                  <a:lnTo>
                    <a:pt x="4371797" y="196723"/>
                  </a:lnTo>
                  <a:lnTo>
                    <a:pt x="4380179" y="204089"/>
                  </a:lnTo>
                  <a:lnTo>
                    <a:pt x="4380255" y="204470"/>
                  </a:lnTo>
                  <a:lnTo>
                    <a:pt x="4360316" y="225044"/>
                  </a:lnTo>
                  <a:lnTo>
                    <a:pt x="4358703" y="224790"/>
                  </a:lnTo>
                  <a:lnTo>
                    <a:pt x="4358462" y="224790"/>
                  </a:lnTo>
                  <a:lnTo>
                    <a:pt x="4355617" y="224155"/>
                  </a:lnTo>
                  <a:lnTo>
                    <a:pt x="4353077" y="223012"/>
                  </a:lnTo>
                  <a:lnTo>
                    <a:pt x="4350664" y="220980"/>
                  </a:lnTo>
                  <a:lnTo>
                    <a:pt x="4345343" y="227203"/>
                  </a:lnTo>
                  <a:lnTo>
                    <a:pt x="4345584" y="227203"/>
                  </a:lnTo>
                  <a:lnTo>
                    <a:pt x="4348632" y="229997"/>
                  </a:lnTo>
                  <a:lnTo>
                    <a:pt x="4352061" y="231775"/>
                  </a:lnTo>
                  <a:lnTo>
                    <a:pt x="4355998" y="232664"/>
                  </a:lnTo>
                  <a:lnTo>
                    <a:pt x="4359935" y="233426"/>
                  </a:lnTo>
                  <a:lnTo>
                    <a:pt x="4363872" y="233045"/>
                  </a:lnTo>
                  <a:lnTo>
                    <a:pt x="4371746" y="229997"/>
                  </a:lnTo>
                  <a:lnTo>
                    <a:pt x="4375683" y="227203"/>
                  </a:lnTo>
                  <a:lnTo>
                    <a:pt x="4377842" y="225044"/>
                  </a:lnTo>
                  <a:lnTo>
                    <a:pt x="4382922" y="219964"/>
                  </a:lnTo>
                  <a:lnTo>
                    <a:pt x="4385208" y="216408"/>
                  </a:lnTo>
                  <a:lnTo>
                    <a:pt x="4387951" y="209169"/>
                  </a:lnTo>
                  <a:lnTo>
                    <a:pt x="4388028" y="208661"/>
                  </a:lnTo>
                  <a:lnTo>
                    <a:pt x="4388116" y="207264"/>
                  </a:lnTo>
                  <a:lnTo>
                    <a:pt x="4388167" y="206502"/>
                  </a:lnTo>
                  <a:lnTo>
                    <a:pt x="4388256" y="205359"/>
                  </a:lnTo>
                  <a:close/>
                </a:path>
                <a:path w="9090025" h="247014">
                  <a:moveTo>
                    <a:pt x="4424591" y="168402"/>
                  </a:moveTo>
                  <a:lnTo>
                    <a:pt x="4423816" y="164719"/>
                  </a:lnTo>
                  <a:lnTo>
                    <a:pt x="4421403" y="160528"/>
                  </a:lnTo>
                  <a:lnTo>
                    <a:pt x="4414926" y="165481"/>
                  </a:lnTo>
                  <a:lnTo>
                    <a:pt x="4416323" y="168402"/>
                  </a:lnTo>
                  <a:lnTo>
                    <a:pt x="4416450" y="168656"/>
                  </a:lnTo>
                  <a:lnTo>
                    <a:pt x="4416514" y="175133"/>
                  </a:lnTo>
                  <a:lnTo>
                    <a:pt x="4416374" y="176022"/>
                  </a:lnTo>
                  <a:lnTo>
                    <a:pt x="4416323" y="176403"/>
                  </a:lnTo>
                  <a:lnTo>
                    <a:pt x="4415053" y="178689"/>
                  </a:lnTo>
                  <a:lnTo>
                    <a:pt x="4413021" y="180594"/>
                  </a:lnTo>
                  <a:lnTo>
                    <a:pt x="4410354" y="183388"/>
                  </a:lnTo>
                  <a:lnTo>
                    <a:pt x="4407179" y="184658"/>
                  </a:lnTo>
                  <a:lnTo>
                    <a:pt x="4400080" y="184658"/>
                  </a:lnTo>
                  <a:lnTo>
                    <a:pt x="4396003" y="182753"/>
                  </a:lnTo>
                  <a:lnTo>
                    <a:pt x="4392320" y="179451"/>
                  </a:lnTo>
                  <a:lnTo>
                    <a:pt x="4397146" y="174625"/>
                  </a:lnTo>
                  <a:lnTo>
                    <a:pt x="4416450" y="155321"/>
                  </a:lnTo>
                  <a:lnTo>
                    <a:pt x="4406163" y="146710"/>
                  </a:lnTo>
                  <a:lnTo>
                    <a:pt x="4406163" y="156464"/>
                  </a:lnTo>
                  <a:lnTo>
                    <a:pt x="4388002" y="174625"/>
                  </a:lnTo>
                  <a:lnTo>
                    <a:pt x="4385462" y="171577"/>
                  </a:lnTo>
                  <a:lnTo>
                    <a:pt x="4384281" y="168910"/>
                  </a:lnTo>
                  <a:lnTo>
                    <a:pt x="4384294" y="161290"/>
                  </a:lnTo>
                  <a:lnTo>
                    <a:pt x="4385462" y="158623"/>
                  </a:lnTo>
                  <a:lnTo>
                    <a:pt x="4390669" y="153416"/>
                  </a:lnTo>
                  <a:lnTo>
                    <a:pt x="4390428" y="153416"/>
                  </a:lnTo>
                  <a:lnTo>
                    <a:pt x="4394098" y="152146"/>
                  </a:lnTo>
                  <a:lnTo>
                    <a:pt x="4397908" y="152400"/>
                  </a:lnTo>
                  <a:lnTo>
                    <a:pt x="4400448" y="152654"/>
                  </a:lnTo>
                  <a:lnTo>
                    <a:pt x="4403242" y="154051"/>
                  </a:lnTo>
                  <a:lnTo>
                    <a:pt x="4406163" y="156464"/>
                  </a:lnTo>
                  <a:lnTo>
                    <a:pt x="4406163" y="146710"/>
                  </a:lnTo>
                  <a:lnTo>
                    <a:pt x="4404131" y="145669"/>
                  </a:lnTo>
                  <a:lnTo>
                    <a:pt x="4398416" y="145415"/>
                  </a:lnTo>
                  <a:lnTo>
                    <a:pt x="4392384" y="145415"/>
                  </a:lnTo>
                  <a:lnTo>
                    <a:pt x="4387748" y="147320"/>
                  </a:lnTo>
                  <a:lnTo>
                    <a:pt x="4383430" y="151638"/>
                  </a:lnTo>
                  <a:lnTo>
                    <a:pt x="4378858" y="156083"/>
                  </a:lnTo>
                  <a:lnTo>
                    <a:pt x="4376826" y="161290"/>
                  </a:lnTo>
                  <a:lnTo>
                    <a:pt x="4376890" y="164719"/>
                  </a:lnTo>
                  <a:lnTo>
                    <a:pt x="4377004" y="168402"/>
                  </a:lnTo>
                  <a:lnTo>
                    <a:pt x="4404817" y="192278"/>
                  </a:lnTo>
                  <a:lnTo>
                    <a:pt x="4407560" y="192278"/>
                  </a:lnTo>
                  <a:lnTo>
                    <a:pt x="4412767" y="189992"/>
                  </a:lnTo>
                  <a:lnTo>
                    <a:pt x="4418101" y="184658"/>
                  </a:lnTo>
                  <a:lnTo>
                    <a:pt x="4421276" y="181483"/>
                  </a:lnTo>
                  <a:lnTo>
                    <a:pt x="4423486" y="177546"/>
                  </a:lnTo>
                  <a:lnTo>
                    <a:pt x="4423676" y="176403"/>
                  </a:lnTo>
                  <a:lnTo>
                    <a:pt x="4424311" y="171577"/>
                  </a:lnTo>
                  <a:lnTo>
                    <a:pt x="4424413" y="170815"/>
                  </a:lnTo>
                  <a:lnTo>
                    <a:pt x="4424515" y="170180"/>
                  </a:lnTo>
                  <a:lnTo>
                    <a:pt x="4424591" y="168402"/>
                  </a:lnTo>
                  <a:close/>
                </a:path>
                <a:path w="9090025" h="247014">
                  <a:moveTo>
                    <a:pt x="4458360" y="137414"/>
                  </a:moveTo>
                  <a:lnTo>
                    <a:pt x="4458055" y="134366"/>
                  </a:lnTo>
                  <a:lnTo>
                    <a:pt x="4457979" y="133604"/>
                  </a:lnTo>
                  <a:lnTo>
                    <a:pt x="4456582" y="129794"/>
                  </a:lnTo>
                  <a:lnTo>
                    <a:pt x="4455058" y="125857"/>
                  </a:lnTo>
                  <a:lnTo>
                    <a:pt x="4452772" y="122301"/>
                  </a:lnTo>
                  <a:lnTo>
                    <a:pt x="4451121" y="120713"/>
                  </a:lnTo>
                  <a:lnTo>
                    <a:pt x="4451121" y="140589"/>
                  </a:lnTo>
                  <a:lnTo>
                    <a:pt x="4449978" y="143764"/>
                  </a:lnTo>
                  <a:lnTo>
                    <a:pt x="4445152" y="148590"/>
                  </a:lnTo>
                  <a:lnTo>
                    <a:pt x="4442104" y="149606"/>
                  </a:lnTo>
                  <a:lnTo>
                    <a:pt x="4438421" y="149352"/>
                  </a:lnTo>
                  <a:lnTo>
                    <a:pt x="4419955" y="131191"/>
                  </a:lnTo>
                  <a:lnTo>
                    <a:pt x="4419879" y="130429"/>
                  </a:lnTo>
                  <a:lnTo>
                    <a:pt x="4419600" y="127508"/>
                  </a:lnTo>
                  <a:lnTo>
                    <a:pt x="4419498" y="126365"/>
                  </a:lnTo>
                  <a:lnTo>
                    <a:pt x="4420387" y="123190"/>
                  </a:lnTo>
                  <a:lnTo>
                    <a:pt x="4422800" y="120904"/>
                  </a:lnTo>
                  <a:lnTo>
                    <a:pt x="4425086" y="118491"/>
                  </a:lnTo>
                  <a:lnTo>
                    <a:pt x="4428134" y="117475"/>
                  </a:lnTo>
                  <a:lnTo>
                    <a:pt x="4435627" y="118237"/>
                  </a:lnTo>
                  <a:lnTo>
                    <a:pt x="4439564" y="120523"/>
                  </a:lnTo>
                  <a:lnTo>
                    <a:pt x="4443755" y="124587"/>
                  </a:lnTo>
                  <a:lnTo>
                    <a:pt x="4448073" y="128905"/>
                  </a:lnTo>
                  <a:lnTo>
                    <a:pt x="4450359" y="132969"/>
                  </a:lnTo>
                  <a:lnTo>
                    <a:pt x="4451121" y="140589"/>
                  </a:lnTo>
                  <a:lnTo>
                    <a:pt x="4451121" y="120713"/>
                  </a:lnTo>
                  <a:lnTo>
                    <a:pt x="4449343" y="118999"/>
                  </a:lnTo>
                  <a:lnTo>
                    <a:pt x="4447819" y="117475"/>
                  </a:lnTo>
                  <a:lnTo>
                    <a:pt x="4446409" y="116078"/>
                  </a:lnTo>
                  <a:lnTo>
                    <a:pt x="4442866" y="113665"/>
                  </a:lnTo>
                  <a:lnTo>
                    <a:pt x="4439310" y="112141"/>
                  </a:lnTo>
                  <a:lnTo>
                    <a:pt x="4435627" y="110617"/>
                  </a:lnTo>
                  <a:lnTo>
                    <a:pt x="4431944" y="110109"/>
                  </a:lnTo>
                  <a:lnTo>
                    <a:pt x="4428388" y="110871"/>
                  </a:lnTo>
                  <a:lnTo>
                    <a:pt x="4424832" y="111506"/>
                  </a:lnTo>
                  <a:lnTo>
                    <a:pt x="4421784" y="113284"/>
                  </a:lnTo>
                  <a:lnTo>
                    <a:pt x="4418990" y="116078"/>
                  </a:lnTo>
                  <a:lnTo>
                    <a:pt x="4416831" y="118110"/>
                  </a:lnTo>
                  <a:lnTo>
                    <a:pt x="4414037" y="127508"/>
                  </a:lnTo>
                  <a:lnTo>
                    <a:pt x="4414431" y="129794"/>
                  </a:lnTo>
                  <a:lnTo>
                    <a:pt x="4414545" y="130429"/>
                  </a:lnTo>
                  <a:lnTo>
                    <a:pt x="4410481" y="126365"/>
                  </a:lnTo>
                  <a:lnTo>
                    <a:pt x="4410214" y="126365"/>
                  </a:lnTo>
                  <a:lnTo>
                    <a:pt x="4405274" y="131191"/>
                  </a:lnTo>
                  <a:lnTo>
                    <a:pt x="4445406" y="171323"/>
                  </a:lnTo>
                  <a:lnTo>
                    <a:pt x="4424350" y="171323"/>
                  </a:lnTo>
                  <a:lnTo>
                    <a:pt x="4424311" y="171577"/>
                  </a:lnTo>
                  <a:lnTo>
                    <a:pt x="4445660" y="171577"/>
                  </a:lnTo>
                  <a:lnTo>
                    <a:pt x="4450105" y="176022"/>
                  </a:lnTo>
                  <a:lnTo>
                    <a:pt x="4455566" y="170561"/>
                  </a:lnTo>
                  <a:lnTo>
                    <a:pt x="4439818" y="154686"/>
                  </a:lnTo>
                  <a:lnTo>
                    <a:pt x="4441977" y="154940"/>
                  </a:lnTo>
                  <a:lnTo>
                    <a:pt x="4443755" y="154940"/>
                  </a:lnTo>
                  <a:lnTo>
                    <a:pt x="4444517" y="154686"/>
                  </a:lnTo>
                  <a:lnTo>
                    <a:pt x="4446422" y="154051"/>
                  </a:lnTo>
                  <a:lnTo>
                    <a:pt x="4448581" y="153416"/>
                  </a:lnTo>
                  <a:lnTo>
                    <a:pt x="4450613" y="152146"/>
                  </a:lnTo>
                  <a:lnTo>
                    <a:pt x="4453153" y="149606"/>
                  </a:lnTo>
                  <a:lnTo>
                    <a:pt x="4454931" y="147828"/>
                  </a:lnTo>
                  <a:lnTo>
                    <a:pt x="4456582" y="144780"/>
                  </a:lnTo>
                  <a:lnTo>
                    <a:pt x="4458360" y="137414"/>
                  </a:lnTo>
                  <a:close/>
                </a:path>
                <a:path w="9090025" h="247014">
                  <a:moveTo>
                    <a:pt x="4474616" y="99822"/>
                  </a:moveTo>
                  <a:lnTo>
                    <a:pt x="4469028" y="94361"/>
                  </a:lnTo>
                  <a:lnTo>
                    <a:pt x="4452137" y="111252"/>
                  </a:lnTo>
                  <a:lnTo>
                    <a:pt x="4457725" y="116713"/>
                  </a:lnTo>
                  <a:lnTo>
                    <a:pt x="4474616" y="99822"/>
                  </a:lnTo>
                  <a:close/>
                </a:path>
                <a:path w="9090025" h="247014">
                  <a:moveTo>
                    <a:pt x="4512970" y="88392"/>
                  </a:moveTo>
                  <a:lnTo>
                    <a:pt x="4483506" y="58928"/>
                  </a:lnTo>
                  <a:lnTo>
                    <a:pt x="4468012" y="43434"/>
                  </a:lnTo>
                  <a:lnTo>
                    <a:pt x="4464456" y="46990"/>
                  </a:lnTo>
                  <a:lnTo>
                    <a:pt x="4465472" y="49911"/>
                  </a:lnTo>
                  <a:lnTo>
                    <a:pt x="4465663" y="52705"/>
                  </a:lnTo>
                  <a:lnTo>
                    <a:pt x="4465637" y="56261"/>
                  </a:lnTo>
                  <a:lnTo>
                    <a:pt x="4462627" y="71247"/>
                  </a:lnTo>
                  <a:lnTo>
                    <a:pt x="4462805" y="71247"/>
                  </a:lnTo>
                  <a:lnTo>
                    <a:pt x="4468012" y="76454"/>
                  </a:lnTo>
                  <a:lnTo>
                    <a:pt x="4469155" y="74168"/>
                  </a:lnTo>
                  <a:lnTo>
                    <a:pt x="4470044" y="71247"/>
                  </a:lnTo>
                  <a:lnTo>
                    <a:pt x="4470933" y="67818"/>
                  </a:lnTo>
                  <a:lnTo>
                    <a:pt x="4471822" y="64516"/>
                  </a:lnTo>
                  <a:lnTo>
                    <a:pt x="4472178" y="62357"/>
                  </a:lnTo>
                  <a:lnTo>
                    <a:pt x="4472203" y="62230"/>
                  </a:lnTo>
                  <a:lnTo>
                    <a:pt x="4472330" y="61468"/>
                  </a:lnTo>
                  <a:lnTo>
                    <a:pt x="4472457" y="58928"/>
                  </a:lnTo>
                  <a:lnTo>
                    <a:pt x="4507382" y="93853"/>
                  </a:lnTo>
                  <a:lnTo>
                    <a:pt x="4512970" y="88392"/>
                  </a:lnTo>
                  <a:close/>
                </a:path>
                <a:path w="9090025" h="247014">
                  <a:moveTo>
                    <a:pt x="4548530" y="45339"/>
                  </a:moveTo>
                  <a:lnTo>
                    <a:pt x="4543628" y="31877"/>
                  </a:lnTo>
                  <a:lnTo>
                    <a:pt x="4543514" y="31623"/>
                  </a:lnTo>
                  <a:lnTo>
                    <a:pt x="4543285" y="31369"/>
                  </a:lnTo>
                  <a:lnTo>
                    <a:pt x="4541266" y="28702"/>
                  </a:lnTo>
                  <a:lnTo>
                    <a:pt x="4539640" y="26543"/>
                  </a:lnTo>
                  <a:lnTo>
                    <a:pt x="4528464" y="15367"/>
                  </a:lnTo>
                  <a:lnTo>
                    <a:pt x="4527943" y="14986"/>
                  </a:lnTo>
                  <a:lnTo>
                    <a:pt x="4526051" y="13601"/>
                  </a:lnTo>
                  <a:lnTo>
                    <a:pt x="4526051" y="33401"/>
                  </a:lnTo>
                  <a:lnTo>
                    <a:pt x="4524908" y="36322"/>
                  </a:lnTo>
                  <a:lnTo>
                    <a:pt x="4519828" y="41402"/>
                  </a:lnTo>
                  <a:lnTo>
                    <a:pt x="4516780" y="42672"/>
                  </a:lnTo>
                  <a:lnTo>
                    <a:pt x="4510075" y="42672"/>
                  </a:lnTo>
                  <a:lnTo>
                    <a:pt x="4506620" y="41148"/>
                  </a:lnTo>
                  <a:lnTo>
                    <a:pt x="4503826" y="38227"/>
                  </a:lnTo>
                  <a:lnTo>
                    <a:pt x="4500651" y="35052"/>
                  </a:lnTo>
                  <a:lnTo>
                    <a:pt x="4499114" y="31877"/>
                  </a:lnTo>
                  <a:lnTo>
                    <a:pt x="4499000" y="31623"/>
                  </a:lnTo>
                  <a:lnTo>
                    <a:pt x="4498886" y="29972"/>
                  </a:lnTo>
                  <a:lnTo>
                    <a:pt x="4498797" y="28702"/>
                  </a:lnTo>
                  <a:lnTo>
                    <a:pt x="4498695" y="26543"/>
                  </a:lnTo>
                  <a:lnTo>
                    <a:pt x="4498619" y="24003"/>
                  </a:lnTo>
                  <a:lnTo>
                    <a:pt x="4499762" y="20828"/>
                  </a:lnTo>
                  <a:lnTo>
                    <a:pt x="4502048" y="18542"/>
                  </a:lnTo>
                  <a:lnTo>
                    <a:pt x="4504461" y="16002"/>
                  </a:lnTo>
                  <a:lnTo>
                    <a:pt x="4507509" y="14986"/>
                  </a:lnTo>
                  <a:lnTo>
                    <a:pt x="4517974" y="15367"/>
                  </a:lnTo>
                  <a:lnTo>
                    <a:pt x="4514723" y="15367"/>
                  </a:lnTo>
                  <a:lnTo>
                    <a:pt x="4517796" y="17018"/>
                  </a:lnTo>
                  <a:lnTo>
                    <a:pt x="4520971" y="20066"/>
                  </a:lnTo>
                  <a:lnTo>
                    <a:pt x="4524146" y="23241"/>
                  </a:lnTo>
                  <a:lnTo>
                    <a:pt x="4525797" y="26543"/>
                  </a:lnTo>
                  <a:lnTo>
                    <a:pt x="4525924" y="29972"/>
                  </a:lnTo>
                  <a:lnTo>
                    <a:pt x="4526051" y="33401"/>
                  </a:lnTo>
                  <a:lnTo>
                    <a:pt x="4526051" y="13601"/>
                  </a:lnTo>
                  <a:lnTo>
                    <a:pt x="4523638" y="11811"/>
                  </a:lnTo>
                  <a:lnTo>
                    <a:pt x="4515256" y="8509"/>
                  </a:lnTo>
                  <a:lnTo>
                    <a:pt x="4511192" y="8001"/>
                  </a:lnTo>
                  <a:lnTo>
                    <a:pt x="4503318" y="9779"/>
                  </a:lnTo>
                  <a:lnTo>
                    <a:pt x="4499749" y="11811"/>
                  </a:lnTo>
                  <a:lnTo>
                    <a:pt x="4496968" y="14478"/>
                  </a:lnTo>
                  <a:lnTo>
                    <a:pt x="4492904" y="18542"/>
                  </a:lnTo>
                  <a:lnTo>
                    <a:pt x="4490872" y="23241"/>
                  </a:lnTo>
                  <a:lnTo>
                    <a:pt x="4490999" y="28702"/>
                  </a:lnTo>
                  <a:lnTo>
                    <a:pt x="4491101" y="33401"/>
                  </a:lnTo>
                  <a:lnTo>
                    <a:pt x="4491240" y="34417"/>
                  </a:lnTo>
                  <a:lnTo>
                    <a:pt x="4493412" y="39116"/>
                  </a:lnTo>
                  <a:lnTo>
                    <a:pt x="4497984" y="43688"/>
                  </a:lnTo>
                  <a:lnTo>
                    <a:pt x="4502302" y="48133"/>
                  </a:lnTo>
                  <a:lnTo>
                    <a:pt x="4507395" y="50546"/>
                  </a:lnTo>
                  <a:lnTo>
                    <a:pt x="4517669" y="50546"/>
                  </a:lnTo>
                  <a:lnTo>
                    <a:pt x="4522114" y="48768"/>
                  </a:lnTo>
                  <a:lnTo>
                    <a:pt x="4525797" y="45085"/>
                  </a:lnTo>
                  <a:lnTo>
                    <a:pt x="4528083" y="42926"/>
                  </a:lnTo>
                  <a:lnTo>
                    <a:pt x="4528223" y="42672"/>
                  </a:lnTo>
                  <a:lnTo>
                    <a:pt x="4529607" y="40259"/>
                  </a:lnTo>
                  <a:lnTo>
                    <a:pt x="4530369" y="37338"/>
                  </a:lnTo>
                  <a:lnTo>
                    <a:pt x="4531220" y="34417"/>
                  </a:lnTo>
                  <a:lnTo>
                    <a:pt x="4531258" y="31369"/>
                  </a:lnTo>
                  <a:lnTo>
                    <a:pt x="4530699" y="28956"/>
                  </a:lnTo>
                  <a:lnTo>
                    <a:pt x="4530649" y="28702"/>
                  </a:lnTo>
                  <a:lnTo>
                    <a:pt x="4530788" y="28702"/>
                  </a:lnTo>
                  <a:lnTo>
                    <a:pt x="4531131" y="28956"/>
                  </a:lnTo>
                  <a:lnTo>
                    <a:pt x="4534052" y="31877"/>
                  </a:lnTo>
                  <a:lnTo>
                    <a:pt x="4535957" y="34417"/>
                  </a:lnTo>
                  <a:lnTo>
                    <a:pt x="4537608" y="37211"/>
                  </a:lnTo>
                  <a:lnTo>
                    <a:pt x="4539259" y="39878"/>
                  </a:lnTo>
                  <a:lnTo>
                    <a:pt x="4540402" y="42291"/>
                  </a:lnTo>
                  <a:lnTo>
                    <a:pt x="4540910" y="44450"/>
                  </a:lnTo>
                  <a:lnTo>
                    <a:pt x="4541291" y="46482"/>
                  </a:lnTo>
                  <a:lnTo>
                    <a:pt x="4541253" y="48768"/>
                  </a:lnTo>
                  <a:lnTo>
                    <a:pt x="4533176" y="59436"/>
                  </a:lnTo>
                  <a:lnTo>
                    <a:pt x="4531004" y="59436"/>
                  </a:lnTo>
                  <a:lnTo>
                    <a:pt x="4528591" y="59563"/>
                  </a:lnTo>
                  <a:lnTo>
                    <a:pt x="4525924" y="58674"/>
                  </a:lnTo>
                  <a:lnTo>
                    <a:pt x="4523003" y="56642"/>
                  </a:lnTo>
                  <a:lnTo>
                    <a:pt x="4518406" y="62230"/>
                  </a:lnTo>
                  <a:lnTo>
                    <a:pt x="4518304" y="62357"/>
                  </a:lnTo>
                  <a:lnTo>
                    <a:pt x="4522241" y="65405"/>
                  </a:lnTo>
                  <a:lnTo>
                    <a:pt x="4526305" y="66802"/>
                  </a:lnTo>
                  <a:lnTo>
                    <a:pt x="4534560" y="66294"/>
                  </a:lnTo>
                  <a:lnTo>
                    <a:pt x="4538230" y="64516"/>
                  </a:lnTo>
                  <a:lnTo>
                    <a:pt x="4538370" y="64516"/>
                  </a:lnTo>
                  <a:lnTo>
                    <a:pt x="4541926" y="60833"/>
                  </a:lnTo>
                  <a:lnTo>
                    <a:pt x="4543247" y="59563"/>
                  </a:lnTo>
                  <a:lnTo>
                    <a:pt x="4545228" y="57658"/>
                  </a:lnTo>
                  <a:lnTo>
                    <a:pt x="4547260" y="53848"/>
                  </a:lnTo>
                  <a:lnTo>
                    <a:pt x="4548530" y="45339"/>
                  </a:lnTo>
                  <a:close/>
                </a:path>
                <a:path w="9090025" h="247014">
                  <a:moveTo>
                    <a:pt x="4594631" y="204089"/>
                  </a:moveTo>
                  <a:lnTo>
                    <a:pt x="4590681" y="200152"/>
                  </a:lnTo>
                  <a:lnTo>
                    <a:pt x="4549800" y="159385"/>
                  </a:lnTo>
                  <a:lnTo>
                    <a:pt x="4544212" y="165100"/>
                  </a:lnTo>
                  <a:lnTo>
                    <a:pt x="4579264" y="200152"/>
                  </a:lnTo>
                  <a:lnTo>
                    <a:pt x="4570895" y="198501"/>
                  </a:lnTo>
                  <a:lnTo>
                    <a:pt x="4520717" y="188595"/>
                  </a:lnTo>
                  <a:lnTo>
                    <a:pt x="4514621" y="194691"/>
                  </a:lnTo>
                  <a:lnTo>
                    <a:pt x="4559325" y="239395"/>
                  </a:lnTo>
                  <a:lnTo>
                    <a:pt x="4565040" y="233680"/>
                  </a:lnTo>
                  <a:lnTo>
                    <a:pt x="4529861" y="198501"/>
                  </a:lnTo>
                  <a:lnTo>
                    <a:pt x="4588535" y="210185"/>
                  </a:lnTo>
                  <a:lnTo>
                    <a:pt x="4594631" y="204089"/>
                  </a:lnTo>
                  <a:close/>
                </a:path>
                <a:path w="9090025" h="247014">
                  <a:moveTo>
                    <a:pt x="4624730" y="165100"/>
                  </a:moveTo>
                  <a:lnTo>
                    <a:pt x="4623587" y="161544"/>
                  </a:lnTo>
                  <a:lnTo>
                    <a:pt x="4622444" y="157861"/>
                  </a:lnTo>
                  <a:lnTo>
                    <a:pt x="4619777" y="153924"/>
                  </a:lnTo>
                  <a:lnTo>
                    <a:pt x="4617237" y="151384"/>
                  </a:lnTo>
                  <a:lnTo>
                    <a:pt x="4617237" y="171831"/>
                  </a:lnTo>
                  <a:lnTo>
                    <a:pt x="4616094" y="175133"/>
                  </a:lnTo>
                  <a:lnTo>
                    <a:pt x="4613300" y="177800"/>
                  </a:lnTo>
                  <a:lnTo>
                    <a:pt x="4610633" y="180594"/>
                  </a:lnTo>
                  <a:lnTo>
                    <a:pt x="4607331" y="181864"/>
                  </a:lnTo>
                  <a:lnTo>
                    <a:pt x="4584687" y="162306"/>
                  </a:lnTo>
                  <a:lnTo>
                    <a:pt x="4584636" y="161544"/>
                  </a:lnTo>
                  <a:lnTo>
                    <a:pt x="4584522" y="159893"/>
                  </a:lnTo>
                  <a:lnTo>
                    <a:pt x="4584471" y="159004"/>
                  </a:lnTo>
                  <a:lnTo>
                    <a:pt x="4585741" y="155702"/>
                  </a:lnTo>
                  <a:lnTo>
                    <a:pt x="4588535" y="153035"/>
                  </a:lnTo>
                  <a:lnTo>
                    <a:pt x="4591202" y="150368"/>
                  </a:lnTo>
                  <a:lnTo>
                    <a:pt x="4594504" y="149098"/>
                  </a:lnTo>
                  <a:lnTo>
                    <a:pt x="4602251" y="149606"/>
                  </a:lnTo>
                  <a:lnTo>
                    <a:pt x="4606188" y="151638"/>
                  </a:lnTo>
                  <a:lnTo>
                    <a:pt x="4614443" y="159893"/>
                  </a:lnTo>
                  <a:lnTo>
                    <a:pt x="4616729" y="163957"/>
                  </a:lnTo>
                  <a:lnTo>
                    <a:pt x="4617161" y="170815"/>
                  </a:lnTo>
                  <a:lnTo>
                    <a:pt x="4617237" y="171831"/>
                  </a:lnTo>
                  <a:lnTo>
                    <a:pt x="4617237" y="151384"/>
                  </a:lnTo>
                  <a:lnTo>
                    <a:pt x="4614951" y="149098"/>
                  </a:lnTo>
                  <a:lnTo>
                    <a:pt x="4610506" y="144653"/>
                  </a:lnTo>
                  <a:lnTo>
                    <a:pt x="4605045" y="141986"/>
                  </a:lnTo>
                  <a:lnTo>
                    <a:pt x="4593183" y="141986"/>
                  </a:lnTo>
                  <a:lnTo>
                    <a:pt x="4577600" y="159004"/>
                  </a:lnTo>
                  <a:lnTo>
                    <a:pt x="4577524" y="159893"/>
                  </a:lnTo>
                  <a:lnTo>
                    <a:pt x="4577410" y="161544"/>
                  </a:lnTo>
                  <a:lnTo>
                    <a:pt x="4577359" y="162306"/>
                  </a:lnTo>
                  <a:lnTo>
                    <a:pt x="4577258" y="163957"/>
                  </a:lnTo>
                  <a:lnTo>
                    <a:pt x="4577181" y="165100"/>
                  </a:lnTo>
                  <a:lnTo>
                    <a:pt x="4608220" y="189103"/>
                  </a:lnTo>
                  <a:lnTo>
                    <a:pt x="4613300" y="186817"/>
                  </a:lnTo>
                  <a:lnTo>
                    <a:pt x="4617872" y="182372"/>
                  </a:lnTo>
                  <a:lnTo>
                    <a:pt x="4618355" y="181864"/>
                  </a:lnTo>
                  <a:lnTo>
                    <a:pt x="4620666" y="179451"/>
                  </a:lnTo>
                  <a:lnTo>
                    <a:pt x="4622571" y="176276"/>
                  </a:lnTo>
                  <a:lnTo>
                    <a:pt x="4623714" y="172466"/>
                  </a:lnTo>
                  <a:lnTo>
                    <a:pt x="4624730" y="168783"/>
                  </a:lnTo>
                  <a:lnTo>
                    <a:pt x="4624730" y="165100"/>
                  </a:lnTo>
                  <a:close/>
                </a:path>
                <a:path w="9090025" h="247014">
                  <a:moveTo>
                    <a:pt x="4653686" y="145034"/>
                  </a:moveTo>
                  <a:lnTo>
                    <a:pt x="4651959" y="141224"/>
                  </a:lnTo>
                  <a:lnTo>
                    <a:pt x="4633493" y="100330"/>
                  </a:lnTo>
                  <a:lnTo>
                    <a:pt x="4627905" y="106045"/>
                  </a:lnTo>
                  <a:lnTo>
                    <a:pt x="4640478" y="132969"/>
                  </a:lnTo>
                  <a:lnTo>
                    <a:pt x="4642002" y="136271"/>
                  </a:lnTo>
                  <a:lnTo>
                    <a:pt x="4643399" y="139065"/>
                  </a:lnTo>
                  <a:lnTo>
                    <a:pt x="4644542" y="141224"/>
                  </a:lnTo>
                  <a:lnTo>
                    <a:pt x="4641621" y="139573"/>
                  </a:lnTo>
                  <a:lnTo>
                    <a:pt x="4638827" y="138049"/>
                  </a:lnTo>
                  <a:lnTo>
                    <a:pt x="4635906" y="136779"/>
                  </a:lnTo>
                  <a:lnTo>
                    <a:pt x="4609617" y="124333"/>
                  </a:lnTo>
                  <a:lnTo>
                    <a:pt x="4603775" y="130175"/>
                  </a:lnTo>
                  <a:lnTo>
                    <a:pt x="4648466" y="150253"/>
                  </a:lnTo>
                  <a:lnTo>
                    <a:pt x="4653686" y="145034"/>
                  </a:lnTo>
                  <a:close/>
                </a:path>
                <a:path w="9090025" h="247014">
                  <a:moveTo>
                    <a:pt x="4672101" y="99822"/>
                  </a:moveTo>
                  <a:lnTo>
                    <a:pt x="4666513" y="94234"/>
                  </a:lnTo>
                  <a:lnTo>
                    <a:pt x="4649749" y="111125"/>
                  </a:lnTo>
                  <a:lnTo>
                    <a:pt x="4655210" y="116713"/>
                  </a:lnTo>
                  <a:lnTo>
                    <a:pt x="4672101" y="99822"/>
                  </a:lnTo>
                  <a:close/>
                </a:path>
                <a:path w="9090025" h="247014">
                  <a:moveTo>
                    <a:pt x="4710455" y="88265"/>
                  </a:moveTo>
                  <a:lnTo>
                    <a:pt x="4680902" y="58801"/>
                  </a:lnTo>
                  <a:lnTo>
                    <a:pt x="4665624" y="43561"/>
                  </a:lnTo>
                  <a:lnTo>
                    <a:pt x="4665357" y="43561"/>
                  </a:lnTo>
                  <a:lnTo>
                    <a:pt x="4661941" y="46863"/>
                  </a:lnTo>
                  <a:lnTo>
                    <a:pt x="4662868" y="49530"/>
                  </a:lnTo>
                  <a:lnTo>
                    <a:pt x="4662957" y="49784"/>
                  </a:lnTo>
                  <a:lnTo>
                    <a:pt x="4663237" y="52578"/>
                  </a:lnTo>
                  <a:lnTo>
                    <a:pt x="4663148" y="56515"/>
                  </a:lnTo>
                  <a:lnTo>
                    <a:pt x="4663097" y="57531"/>
                  </a:lnTo>
                  <a:lnTo>
                    <a:pt x="4662983" y="59436"/>
                  </a:lnTo>
                  <a:lnTo>
                    <a:pt x="4662868" y="61341"/>
                  </a:lnTo>
                  <a:lnTo>
                    <a:pt x="4662792" y="62230"/>
                  </a:lnTo>
                  <a:lnTo>
                    <a:pt x="4661890" y="66167"/>
                  </a:lnTo>
                  <a:lnTo>
                    <a:pt x="4661814" y="66548"/>
                  </a:lnTo>
                  <a:lnTo>
                    <a:pt x="4660239" y="71247"/>
                  </a:lnTo>
                  <a:lnTo>
                    <a:pt x="4660404" y="71247"/>
                  </a:lnTo>
                  <a:lnTo>
                    <a:pt x="4665497" y="76454"/>
                  </a:lnTo>
                  <a:lnTo>
                    <a:pt x="4666640" y="74041"/>
                  </a:lnTo>
                  <a:lnTo>
                    <a:pt x="4667656" y="71247"/>
                  </a:lnTo>
                  <a:lnTo>
                    <a:pt x="4669434" y="64389"/>
                  </a:lnTo>
                  <a:lnTo>
                    <a:pt x="4669701" y="62230"/>
                  </a:lnTo>
                  <a:lnTo>
                    <a:pt x="4669815" y="61341"/>
                  </a:lnTo>
                  <a:lnTo>
                    <a:pt x="4669942" y="58801"/>
                  </a:lnTo>
                  <a:lnTo>
                    <a:pt x="4704867" y="93853"/>
                  </a:lnTo>
                  <a:lnTo>
                    <a:pt x="4710455" y="88265"/>
                  </a:lnTo>
                  <a:close/>
                </a:path>
                <a:path w="9090025" h="247014">
                  <a:moveTo>
                    <a:pt x="4733569" y="34290"/>
                  </a:moveTo>
                  <a:lnTo>
                    <a:pt x="4733353" y="34036"/>
                  </a:lnTo>
                  <a:lnTo>
                    <a:pt x="4728743" y="34036"/>
                  </a:lnTo>
                  <a:lnTo>
                    <a:pt x="4728730" y="34290"/>
                  </a:lnTo>
                  <a:lnTo>
                    <a:pt x="4733569" y="34290"/>
                  </a:lnTo>
                  <a:close/>
                </a:path>
                <a:path w="9090025" h="247014">
                  <a:moveTo>
                    <a:pt x="4742192" y="34036"/>
                  </a:moveTo>
                  <a:lnTo>
                    <a:pt x="4741113" y="31750"/>
                  </a:lnTo>
                  <a:lnTo>
                    <a:pt x="4741062" y="31623"/>
                  </a:lnTo>
                  <a:lnTo>
                    <a:pt x="4738649" y="28448"/>
                  </a:lnTo>
                  <a:lnTo>
                    <a:pt x="4737125" y="26416"/>
                  </a:lnTo>
                  <a:lnTo>
                    <a:pt x="4725949" y="15240"/>
                  </a:lnTo>
                  <a:lnTo>
                    <a:pt x="4725594" y="14986"/>
                  </a:lnTo>
                  <a:lnTo>
                    <a:pt x="4723663" y="13563"/>
                  </a:lnTo>
                  <a:lnTo>
                    <a:pt x="4723663" y="33274"/>
                  </a:lnTo>
                  <a:lnTo>
                    <a:pt x="4722393" y="36322"/>
                  </a:lnTo>
                  <a:lnTo>
                    <a:pt x="4717313" y="41402"/>
                  </a:lnTo>
                  <a:lnTo>
                    <a:pt x="4714265" y="42545"/>
                  </a:lnTo>
                  <a:lnTo>
                    <a:pt x="4710836" y="42545"/>
                  </a:lnTo>
                  <a:lnTo>
                    <a:pt x="4707280" y="42418"/>
                  </a:lnTo>
                  <a:lnTo>
                    <a:pt x="4704105" y="41021"/>
                  </a:lnTo>
                  <a:lnTo>
                    <a:pt x="4701311" y="38100"/>
                  </a:lnTo>
                  <a:lnTo>
                    <a:pt x="4698136" y="34925"/>
                  </a:lnTo>
                  <a:lnTo>
                    <a:pt x="4696599" y="31750"/>
                  </a:lnTo>
                  <a:lnTo>
                    <a:pt x="4696536" y="31623"/>
                  </a:lnTo>
                  <a:lnTo>
                    <a:pt x="4696460" y="31242"/>
                  </a:lnTo>
                  <a:lnTo>
                    <a:pt x="4696345" y="29464"/>
                  </a:lnTo>
                  <a:lnTo>
                    <a:pt x="4696231" y="27686"/>
                  </a:lnTo>
                  <a:lnTo>
                    <a:pt x="4696104" y="23876"/>
                  </a:lnTo>
                  <a:lnTo>
                    <a:pt x="4697247" y="20701"/>
                  </a:lnTo>
                  <a:lnTo>
                    <a:pt x="4699533" y="18415"/>
                  </a:lnTo>
                  <a:lnTo>
                    <a:pt x="4702073" y="16002"/>
                  </a:lnTo>
                  <a:lnTo>
                    <a:pt x="4704664" y="14986"/>
                  </a:lnTo>
                  <a:lnTo>
                    <a:pt x="4708550" y="14986"/>
                  </a:lnTo>
                  <a:lnTo>
                    <a:pt x="4711979" y="15240"/>
                  </a:lnTo>
                  <a:lnTo>
                    <a:pt x="4715408" y="16891"/>
                  </a:lnTo>
                  <a:lnTo>
                    <a:pt x="4718456" y="20066"/>
                  </a:lnTo>
                  <a:lnTo>
                    <a:pt x="4721631" y="23241"/>
                  </a:lnTo>
                  <a:lnTo>
                    <a:pt x="4723282" y="26416"/>
                  </a:lnTo>
                  <a:lnTo>
                    <a:pt x="4723384" y="29464"/>
                  </a:lnTo>
                  <a:lnTo>
                    <a:pt x="4723511" y="31242"/>
                  </a:lnTo>
                  <a:lnTo>
                    <a:pt x="4723536" y="31623"/>
                  </a:lnTo>
                  <a:lnTo>
                    <a:pt x="4723663" y="33274"/>
                  </a:lnTo>
                  <a:lnTo>
                    <a:pt x="4723663" y="13563"/>
                  </a:lnTo>
                  <a:lnTo>
                    <a:pt x="4721123" y="11684"/>
                  </a:lnTo>
                  <a:lnTo>
                    <a:pt x="4716932" y="10033"/>
                  </a:lnTo>
                  <a:lnTo>
                    <a:pt x="4712868" y="8382"/>
                  </a:lnTo>
                  <a:lnTo>
                    <a:pt x="4694453" y="14478"/>
                  </a:lnTo>
                  <a:lnTo>
                    <a:pt x="4690389" y="18415"/>
                  </a:lnTo>
                  <a:lnTo>
                    <a:pt x="4688484" y="23241"/>
                  </a:lnTo>
                  <a:lnTo>
                    <a:pt x="4688598" y="33274"/>
                  </a:lnTo>
                  <a:lnTo>
                    <a:pt x="4688725" y="34290"/>
                  </a:lnTo>
                  <a:lnTo>
                    <a:pt x="4690897" y="39116"/>
                  </a:lnTo>
                  <a:lnTo>
                    <a:pt x="4695469" y="43561"/>
                  </a:lnTo>
                  <a:lnTo>
                    <a:pt x="4699914" y="48006"/>
                  </a:lnTo>
                  <a:lnTo>
                    <a:pt x="4704740" y="50292"/>
                  </a:lnTo>
                  <a:lnTo>
                    <a:pt x="4715154" y="50546"/>
                  </a:lnTo>
                  <a:lnTo>
                    <a:pt x="4719726" y="48768"/>
                  </a:lnTo>
                  <a:lnTo>
                    <a:pt x="4723409" y="45085"/>
                  </a:lnTo>
                  <a:lnTo>
                    <a:pt x="4725568" y="42799"/>
                  </a:lnTo>
                  <a:lnTo>
                    <a:pt x="4725721" y="42545"/>
                  </a:lnTo>
                  <a:lnTo>
                    <a:pt x="4727092" y="40259"/>
                  </a:lnTo>
                  <a:lnTo>
                    <a:pt x="4727854" y="37211"/>
                  </a:lnTo>
                  <a:lnTo>
                    <a:pt x="4728705" y="34290"/>
                  </a:lnTo>
                  <a:lnTo>
                    <a:pt x="4728781" y="33274"/>
                  </a:lnTo>
                  <a:lnTo>
                    <a:pt x="4728870" y="31242"/>
                  </a:lnTo>
                  <a:lnTo>
                    <a:pt x="4728108" y="28448"/>
                  </a:lnTo>
                  <a:lnTo>
                    <a:pt x="4729251" y="29464"/>
                  </a:lnTo>
                  <a:lnTo>
                    <a:pt x="4731410" y="31623"/>
                  </a:lnTo>
                  <a:lnTo>
                    <a:pt x="4731537" y="31750"/>
                  </a:lnTo>
                  <a:lnTo>
                    <a:pt x="4733353" y="34036"/>
                  </a:lnTo>
                  <a:lnTo>
                    <a:pt x="4742192" y="34036"/>
                  </a:lnTo>
                  <a:close/>
                </a:path>
                <a:path w="9090025" h="247014">
                  <a:moveTo>
                    <a:pt x="4746142" y="45339"/>
                  </a:moveTo>
                  <a:lnTo>
                    <a:pt x="4745456" y="41402"/>
                  </a:lnTo>
                  <a:lnTo>
                    <a:pt x="4745393" y="41021"/>
                  </a:lnTo>
                  <a:lnTo>
                    <a:pt x="4745088" y="40259"/>
                  </a:lnTo>
                  <a:lnTo>
                    <a:pt x="4743272" y="36322"/>
                  </a:lnTo>
                  <a:lnTo>
                    <a:pt x="4742319" y="34290"/>
                  </a:lnTo>
                  <a:lnTo>
                    <a:pt x="4733569" y="34290"/>
                  </a:lnTo>
                  <a:lnTo>
                    <a:pt x="4735296" y="37211"/>
                  </a:lnTo>
                  <a:lnTo>
                    <a:pt x="4736871" y="39751"/>
                  </a:lnTo>
                  <a:lnTo>
                    <a:pt x="4737913" y="42418"/>
                  </a:lnTo>
                  <a:lnTo>
                    <a:pt x="4738903" y="46482"/>
                  </a:lnTo>
                  <a:lnTo>
                    <a:pt x="4738802" y="48006"/>
                  </a:lnTo>
                  <a:lnTo>
                    <a:pt x="4738725" y="48768"/>
                  </a:lnTo>
                  <a:lnTo>
                    <a:pt x="4738586" y="49530"/>
                  </a:lnTo>
                  <a:lnTo>
                    <a:pt x="4738535" y="49784"/>
                  </a:lnTo>
                  <a:lnTo>
                    <a:pt x="4738433" y="50292"/>
                  </a:lnTo>
                  <a:lnTo>
                    <a:pt x="4730356" y="59436"/>
                  </a:lnTo>
                  <a:lnTo>
                    <a:pt x="4726203" y="59436"/>
                  </a:lnTo>
                  <a:lnTo>
                    <a:pt x="4723536" y="58547"/>
                  </a:lnTo>
                  <a:lnTo>
                    <a:pt x="4720615" y="56515"/>
                  </a:lnTo>
                  <a:lnTo>
                    <a:pt x="4715789" y="62230"/>
                  </a:lnTo>
                  <a:lnTo>
                    <a:pt x="4719726" y="65278"/>
                  </a:lnTo>
                  <a:lnTo>
                    <a:pt x="4723790" y="66675"/>
                  </a:lnTo>
                  <a:lnTo>
                    <a:pt x="4732172" y="66167"/>
                  </a:lnTo>
                  <a:lnTo>
                    <a:pt x="4735728" y="64389"/>
                  </a:lnTo>
                  <a:lnTo>
                    <a:pt x="4738014" y="62230"/>
                  </a:lnTo>
                  <a:lnTo>
                    <a:pt x="4740808" y="59436"/>
                  </a:lnTo>
                  <a:lnTo>
                    <a:pt x="4742713" y="57531"/>
                  </a:lnTo>
                  <a:lnTo>
                    <a:pt x="4744745" y="53721"/>
                  </a:lnTo>
                  <a:lnTo>
                    <a:pt x="4745215" y="50546"/>
                  </a:lnTo>
                  <a:lnTo>
                    <a:pt x="4745507" y="48768"/>
                  </a:lnTo>
                  <a:lnTo>
                    <a:pt x="4746142" y="45339"/>
                  </a:lnTo>
                  <a:close/>
                </a:path>
                <a:path w="9090025" h="247014">
                  <a:moveTo>
                    <a:pt x="4783226" y="209931"/>
                  </a:moveTo>
                  <a:lnTo>
                    <a:pt x="4744110" y="162941"/>
                  </a:lnTo>
                  <a:lnTo>
                    <a:pt x="4738141" y="169291"/>
                  </a:lnTo>
                  <a:lnTo>
                    <a:pt x="4771542" y="202311"/>
                  </a:lnTo>
                  <a:lnTo>
                    <a:pt x="4773193" y="204851"/>
                  </a:lnTo>
                  <a:lnTo>
                    <a:pt x="4774717" y="207391"/>
                  </a:lnTo>
                  <a:lnTo>
                    <a:pt x="4774971" y="209931"/>
                  </a:lnTo>
                  <a:lnTo>
                    <a:pt x="4774590" y="211201"/>
                  </a:lnTo>
                  <a:lnTo>
                    <a:pt x="4774082" y="212471"/>
                  </a:lnTo>
                  <a:lnTo>
                    <a:pt x="4773193" y="215011"/>
                  </a:lnTo>
                  <a:lnTo>
                    <a:pt x="4769637" y="217551"/>
                  </a:lnTo>
                  <a:lnTo>
                    <a:pt x="4767478" y="218821"/>
                  </a:lnTo>
                  <a:lnTo>
                    <a:pt x="4762652" y="218821"/>
                  </a:lnTo>
                  <a:lnTo>
                    <a:pt x="4759731" y="217551"/>
                  </a:lnTo>
                  <a:lnTo>
                    <a:pt x="4756175" y="213741"/>
                  </a:lnTo>
                  <a:lnTo>
                    <a:pt x="4751476" y="220091"/>
                  </a:lnTo>
                  <a:lnTo>
                    <a:pt x="4755921" y="223901"/>
                  </a:lnTo>
                  <a:lnTo>
                    <a:pt x="4760239" y="226441"/>
                  </a:lnTo>
                  <a:lnTo>
                    <a:pt x="4769002" y="226441"/>
                  </a:lnTo>
                  <a:lnTo>
                    <a:pt x="4773066" y="225171"/>
                  </a:lnTo>
                  <a:lnTo>
                    <a:pt x="4777003" y="221361"/>
                  </a:lnTo>
                  <a:lnTo>
                    <a:pt x="4779670" y="218821"/>
                  </a:lnTo>
                  <a:lnTo>
                    <a:pt x="4781448" y="216281"/>
                  </a:lnTo>
                  <a:lnTo>
                    <a:pt x="4783226" y="209931"/>
                  </a:lnTo>
                  <a:close/>
                </a:path>
                <a:path w="9090025" h="247014">
                  <a:moveTo>
                    <a:pt x="4825771" y="170561"/>
                  </a:moveTo>
                  <a:lnTo>
                    <a:pt x="4823866" y="170561"/>
                  </a:lnTo>
                  <a:lnTo>
                    <a:pt x="4822088" y="169291"/>
                  </a:lnTo>
                  <a:lnTo>
                    <a:pt x="4820564" y="168021"/>
                  </a:lnTo>
                  <a:lnTo>
                    <a:pt x="4818913" y="168021"/>
                  </a:lnTo>
                  <a:lnTo>
                    <a:pt x="4815611" y="164211"/>
                  </a:lnTo>
                  <a:lnTo>
                    <a:pt x="4813008" y="161671"/>
                  </a:lnTo>
                  <a:lnTo>
                    <a:pt x="4810404" y="159131"/>
                  </a:lnTo>
                  <a:lnTo>
                    <a:pt x="4809769" y="158470"/>
                  </a:lnTo>
                  <a:lnTo>
                    <a:pt x="4809769" y="175641"/>
                  </a:lnTo>
                  <a:lnTo>
                    <a:pt x="4808245" y="180721"/>
                  </a:lnTo>
                  <a:lnTo>
                    <a:pt x="4806848" y="183261"/>
                  </a:lnTo>
                  <a:lnTo>
                    <a:pt x="4804816" y="184531"/>
                  </a:lnTo>
                  <a:lnTo>
                    <a:pt x="4802657" y="187071"/>
                  </a:lnTo>
                  <a:lnTo>
                    <a:pt x="4800498" y="188341"/>
                  </a:lnTo>
                  <a:lnTo>
                    <a:pt x="4794529" y="188341"/>
                  </a:lnTo>
                  <a:lnTo>
                    <a:pt x="4792116" y="185801"/>
                  </a:lnTo>
                  <a:lnTo>
                    <a:pt x="4791481" y="184531"/>
                  </a:lnTo>
                  <a:lnTo>
                    <a:pt x="4790973" y="181991"/>
                  </a:lnTo>
                  <a:lnTo>
                    <a:pt x="4791100" y="180721"/>
                  </a:lnTo>
                  <a:lnTo>
                    <a:pt x="4792116" y="178181"/>
                  </a:lnTo>
                  <a:lnTo>
                    <a:pt x="4793386" y="175641"/>
                  </a:lnTo>
                  <a:lnTo>
                    <a:pt x="4798720" y="168021"/>
                  </a:lnTo>
                  <a:lnTo>
                    <a:pt x="4801006" y="164211"/>
                  </a:lnTo>
                  <a:lnTo>
                    <a:pt x="4802276" y="161671"/>
                  </a:lnTo>
                  <a:lnTo>
                    <a:pt x="4804181" y="164211"/>
                  </a:lnTo>
                  <a:lnTo>
                    <a:pt x="4806721" y="166751"/>
                  </a:lnTo>
                  <a:lnTo>
                    <a:pt x="4808245" y="168021"/>
                  </a:lnTo>
                  <a:lnTo>
                    <a:pt x="4808880" y="170561"/>
                  </a:lnTo>
                  <a:lnTo>
                    <a:pt x="4809642" y="173101"/>
                  </a:lnTo>
                  <a:lnTo>
                    <a:pt x="4809769" y="175641"/>
                  </a:lnTo>
                  <a:lnTo>
                    <a:pt x="4809769" y="158470"/>
                  </a:lnTo>
                  <a:lnTo>
                    <a:pt x="4804359" y="152781"/>
                  </a:lnTo>
                  <a:lnTo>
                    <a:pt x="4800752" y="148971"/>
                  </a:lnTo>
                  <a:lnTo>
                    <a:pt x="4798974" y="147701"/>
                  </a:lnTo>
                  <a:lnTo>
                    <a:pt x="4797831" y="147701"/>
                  </a:lnTo>
                  <a:lnTo>
                    <a:pt x="4795926" y="146431"/>
                  </a:lnTo>
                  <a:lnTo>
                    <a:pt x="4794148" y="145161"/>
                  </a:lnTo>
                  <a:lnTo>
                    <a:pt x="4788433" y="145161"/>
                  </a:lnTo>
                  <a:lnTo>
                    <a:pt x="4786020" y="146431"/>
                  </a:lnTo>
                  <a:lnTo>
                    <a:pt x="4783734" y="147701"/>
                  </a:lnTo>
                  <a:lnTo>
                    <a:pt x="4781067" y="148971"/>
                  </a:lnTo>
                  <a:lnTo>
                    <a:pt x="4778400" y="151511"/>
                  </a:lnTo>
                  <a:lnTo>
                    <a:pt x="4775606" y="155321"/>
                  </a:lnTo>
                  <a:lnTo>
                    <a:pt x="4773447" y="157861"/>
                  </a:lnTo>
                  <a:lnTo>
                    <a:pt x="4772177" y="160401"/>
                  </a:lnTo>
                  <a:lnTo>
                    <a:pt x="4770780" y="162941"/>
                  </a:lnTo>
                  <a:lnTo>
                    <a:pt x="4770272" y="166751"/>
                  </a:lnTo>
                  <a:lnTo>
                    <a:pt x="4770399" y="168021"/>
                  </a:lnTo>
                  <a:lnTo>
                    <a:pt x="4770526" y="169291"/>
                  </a:lnTo>
                  <a:lnTo>
                    <a:pt x="4770907" y="171831"/>
                  </a:lnTo>
                  <a:lnTo>
                    <a:pt x="4771923" y="174371"/>
                  </a:lnTo>
                  <a:lnTo>
                    <a:pt x="4773701" y="176911"/>
                  </a:lnTo>
                  <a:lnTo>
                    <a:pt x="4779797" y="171831"/>
                  </a:lnTo>
                  <a:lnTo>
                    <a:pt x="4778146" y="169291"/>
                  </a:lnTo>
                  <a:lnTo>
                    <a:pt x="4777384" y="166751"/>
                  </a:lnTo>
                  <a:lnTo>
                    <a:pt x="4777765" y="164211"/>
                  </a:lnTo>
                  <a:lnTo>
                    <a:pt x="4778019" y="162941"/>
                  </a:lnTo>
                  <a:lnTo>
                    <a:pt x="4779543" y="160401"/>
                  </a:lnTo>
                  <a:lnTo>
                    <a:pt x="4787544" y="152781"/>
                  </a:lnTo>
                  <a:lnTo>
                    <a:pt x="4792243" y="152781"/>
                  </a:lnTo>
                  <a:lnTo>
                    <a:pt x="4794275" y="154051"/>
                  </a:lnTo>
                  <a:lnTo>
                    <a:pt x="4796561" y="156591"/>
                  </a:lnTo>
                  <a:lnTo>
                    <a:pt x="4797958" y="157861"/>
                  </a:lnTo>
                  <a:lnTo>
                    <a:pt x="4796561" y="160401"/>
                  </a:lnTo>
                  <a:lnTo>
                    <a:pt x="4793894" y="164211"/>
                  </a:lnTo>
                  <a:lnTo>
                    <a:pt x="4788052" y="171831"/>
                  </a:lnTo>
                  <a:lnTo>
                    <a:pt x="4786782" y="174371"/>
                  </a:lnTo>
                  <a:lnTo>
                    <a:pt x="4786020" y="175641"/>
                  </a:lnTo>
                  <a:lnTo>
                    <a:pt x="4784877" y="176911"/>
                  </a:lnTo>
                  <a:lnTo>
                    <a:pt x="4784242" y="179451"/>
                  </a:lnTo>
                  <a:lnTo>
                    <a:pt x="4783480" y="183261"/>
                  </a:lnTo>
                  <a:lnTo>
                    <a:pt x="4783480" y="184531"/>
                  </a:lnTo>
                  <a:lnTo>
                    <a:pt x="4784750" y="188341"/>
                  </a:lnTo>
                  <a:lnTo>
                    <a:pt x="4785766" y="190881"/>
                  </a:lnTo>
                  <a:lnTo>
                    <a:pt x="4787417" y="192151"/>
                  </a:lnTo>
                  <a:lnTo>
                    <a:pt x="4790084" y="194691"/>
                  </a:lnTo>
                  <a:lnTo>
                    <a:pt x="4793259" y="195961"/>
                  </a:lnTo>
                  <a:lnTo>
                    <a:pt x="4800625" y="195961"/>
                  </a:lnTo>
                  <a:lnTo>
                    <a:pt x="4804181" y="194691"/>
                  </a:lnTo>
                  <a:lnTo>
                    <a:pt x="4809896" y="188341"/>
                  </a:lnTo>
                  <a:lnTo>
                    <a:pt x="4811547" y="185801"/>
                  </a:lnTo>
                  <a:lnTo>
                    <a:pt x="4812690" y="183261"/>
                  </a:lnTo>
                  <a:lnTo>
                    <a:pt x="4813960" y="180721"/>
                  </a:lnTo>
                  <a:lnTo>
                    <a:pt x="4814595" y="176911"/>
                  </a:lnTo>
                  <a:lnTo>
                    <a:pt x="4814976" y="174371"/>
                  </a:lnTo>
                  <a:lnTo>
                    <a:pt x="4816627" y="175641"/>
                  </a:lnTo>
                  <a:lnTo>
                    <a:pt x="4818278" y="175641"/>
                  </a:lnTo>
                  <a:lnTo>
                    <a:pt x="4820056" y="176911"/>
                  </a:lnTo>
                  <a:lnTo>
                    <a:pt x="4822342" y="174371"/>
                  </a:lnTo>
                  <a:lnTo>
                    <a:pt x="4825771" y="170561"/>
                  </a:lnTo>
                  <a:close/>
                </a:path>
                <a:path w="9090025" h="247014">
                  <a:moveTo>
                    <a:pt x="4838852" y="157861"/>
                  </a:moveTo>
                  <a:lnTo>
                    <a:pt x="4821199" y="140081"/>
                  </a:lnTo>
                  <a:lnTo>
                    <a:pt x="4817008" y="136271"/>
                  </a:lnTo>
                  <a:lnTo>
                    <a:pt x="4814976" y="132461"/>
                  </a:lnTo>
                  <a:lnTo>
                    <a:pt x="4815078" y="131191"/>
                  </a:lnTo>
                  <a:lnTo>
                    <a:pt x="4810531" y="131191"/>
                  </a:lnTo>
                  <a:lnTo>
                    <a:pt x="4801006" y="131191"/>
                  </a:lnTo>
                  <a:lnTo>
                    <a:pt x="4833391" y="162941"/>
                  </a:lnTo>
                  <a:lnTo>
                    <a:pt x="4838852" y="157861"/>
                  </a:lnTo>
                  <a:close/>
                </a:path>
                <a:path w="9090025" h="247014">
                  <a:moveTo>
                    <a:pt x="4859680" y="137541"/>
                  </a:moveTo>
                  <a:lnTo>
                    <a:pt x="4839741" y="117221"/>
                  </a:lnTo>
                  <a:lnTo>
                    <a:pt x="4837201" y="114681"/>
                  </a:lnTo>
                  <a:lnTo>
                    <a:pt x="4835296" y="113411"/>
                  </a:lnTo>
                  <a:lnTo>
                    <a:pt x="4832248" y="110871"/>
                  </a:lnTo>
                  <a:lnTo>
                    <a:pt x="4830343" y="109601"/>
                  </a:lnTo>
                  <a:lnTo>
                    <a:pt x="4824247" y="109601"/>
                  </a:lnTo>
                  <a:lnTo>
                    <a:pt x="4821961" y="110871"/>
                  </a:lnTo>
                  <a:lnTo>
                    <a:pt x="4819548" y="112141"/>
                  </a:lnTo>
                  <a:lnTo>
                    <a:pt x="4817389" y="113411"/>
                  </a:lnTo>
                  <a:lnTo>
                    <a:pt x="4815484" y="114681"/>
                  </a:lnTo>
                  <a:lnTo>
                    <a:pt x="4811039" y="119761"/>
                  </a:lnTo>
                  <a:lnTo>
                    <a:pt x="4809261" y="124841"/>
                  </a:lnTo>
                  <a:lnTo>
                    <a:pt x="4809515" y="126111"/>
                  </a:lnTo>
                  <a:lnTo>
                    <a:pt x="4815484" y="126111"/>
                  </a:lnTo>
                  <a:lnTo>
                    <a:pt x="4816754" y="123571"/>
                  </a:lnTo>
                  <a:lnTo>
                    <a:pt x="4819040" y="121031"/>
                  </a:lnTo>
                  <a:lnTo>
                    <a:pt x="4820564" y="119761"/>
                  </a:lnTo>
                  <a:lnTo>
                    <a:pt x="4822215" y="118491"/>
                  </a:lnTo>
                  <a:lnTo>
                    <a:pt x="4823866" y="118491"/>
                  </a:lnTo>
                  <a:lnTo>
                    <a:pt x="4825644" y="117221"/>
                  </a:lnTo>
                  <a:lnTo>
                    <a:pt x="4827295" y="118491"/>
                  </a:lnTo>
                  <a:lnTo>
                    <a:pt x="4830343" y="118491"/>
                  </a:lnTo>
                  <a:lnTo>
                    <a:pt x="4832248" y="121031"/>
                  </a:lnTo>
                  <a:lnTo>
                    <a:pt x="4834534" y="122301"/>
                  </a:lnTo>
                  <a:lnTo>
                    <a:pt x="4854219" y="142621"/>
                  </a:lnTo>
                  <a:lnTo>
                    <a:pt x="4859680" y="137541"/>
                  </a:lnTo>
                  <a:close/>
                </a:path>
                <a:path w="9090025" h="247014">
                  <a:moveTo>
                    <a:pt x="4869205" y="100711"/>
                  </a:moveTo>
                  <a:lnTo>
                    <a:pt x="4863617" y="95631"/>
                  </a:lnTo>
                  <a:lnTo>
                    <a:pt x="4846726" y="112141"/>
                  </a:lnTo>
                  <a:lnTo>
                    <a:pt x="4852314" y="117221"/>
                  </a:lnTo>
                  <a:lnTo>
                    <a:pt x="4869205" y="100711"/>
                  </a:lnTo>
                  <a:close/>
                </a:path>
                <a:path w="9090025" h="247014">
                  <a:moveTo>
                    <a:pt x="4916703" y="80391"/>
                  </a:moveTo>
                  <a:lnTo>
                    <a:pt x="4911496" y="75311"/>
                  </a:lnTo>
                  <a:lnTo>
                    <a:pt x="4889525" y="96901"/>
                  </a:lnTo>
                  <a:lnTo>
                    <a:pt x="4889144" y="95631"/>
                  </a:lnTo>
                  <a:lnTo>
                    <a:pt x="4889017" y="85471"/>
                  </a:lnTo>
                  <a:lnTo>
                    <a:pt x="4889424" y="80391"/>
                  </a:lnTo>
                  <a:lnTo>
                    <a:pt x="4889525" y="79121"/>
                  </a:lnTo>
                  <a:lnTo>
                    <a:pt x="4890160" y="72771"/>
                  </a:lnTo>
                  <a:lnTo>
                    <a:pt x="4890211" y="71501"/>
                  </a:lnTo>
                  <a:lnTo>
                    <a:pt x="4890313" y="65151"/>
                  </a:lnTo>
                  <a:lnTo>
                    <a:pt x="4889906" y="60071"/>
                  </a:lnTo>
                  <a:lnTo>
                    <a:pt x="4889398" y="56261"/>
                  </a:lnTo>
                  <a:lnTo>
                    <a:pt x="4887366" y="51181"/>
                  </a:lnTo>
                  <a:lnTo>
                    <a:pt x="4885969" y="49911"/>
                  </a:lnTo>
                  <a:lnTo>
                    <a:pt x="4880635" y="43561"/>
                  </a:lnTo>
                  <a:lnTo>
                    <a:pt x="4876444" y="42291"/>
                  </a:lnTo>
                  <a:lnTo>
                    <a:pt x="4866665" y="42291"/>
                  </a:lnTo>
                  <a:lnTo>
                    <a:pt x="4850790" y="65151"/>
                  </a:lnTo>
                  <a:lnTo>
                    <a:pt x="4850663" y="67691"/>
                  </a:lnTo>
                  <a:lnTo>
                    <a:pt x="4852441" y="71501"/>
                  </a:lnTo>
                  <a:lnTo>
                    <a:pt x="4856251" y="76581"/>
                  </a:lnTo>
                  <a:lnTo>
                    <a:pt x="4862474" y="71501"/>
                  </a:lnTo>
                  <a:lnTo>
                    <a:pt x="4859680" y="68961"/>
                  </a:lnTo>
                  <a:lnTo>
                    <a:pt x="4858283" y="65151"/>
                  </a:lnTo>
                  <a:lnTo>
                    <a:pt x="4858283" y="58801"/>
                  </a:lnTo>
                  <a:lnTo>
                    <a:pt x="4859553" y="56261"/>
                  </a:lnTo>
                  <a:lnTo>
                    <a:pt x="4862220" y="53721"/>
                  </a:lnTo>
                  <a:lnTo>
                    <a:pt x="4864760" y="51181"/>
                  </a:lnTo>
                  <a:lnTo>
                    <a:pt x="4867554" y="49911"/>
                  </a:lnTo>
                  <a:lnTo>
                    <a:pt x="4873650" y="49911"/>
                  </a:lnTo>
                  <a:lnTo>
                    <a:pt x="4876190" y="51181"/>
                  </a:lnTo>
                  <a:lnTo>
                    <a:pt x="4880508" y="54991"/>
                  </a:lnTo>
                  <a:lnTo>
                    <a:pt x="4881778" y="58801"/>
                  </a:lnTo>
                  <a:lnTo>
                    <a:pt x="4883048" y="66421"/>
                  </a:lnTo>
                  <a:lnTo>
                    <a:pt x="4883023" y="67691"/>
                  </a:lnTo>
                  <a:lnTo>
                    <a:pt x="4882921" y="72771"/>
                  </a:lnTo>
                  <a:lnTo>
                    <a:pt x="4881651" y="85471"/>
                  </a:lnTo>
                  <a:lnTo>
                    <a:pt x="4881524" y="86741"/>
                  </a:lnTo>
                  <a:lnTo>
                    <a:pt x="4881473" y="93091"/>
                  </a:lnTo>
                  <a:lnTo>
                    <a:pt x="4881905" y="99441"/>
                  </a:lnTo>
                  <a:lnTo>
                    <a:pt x="4882794" y="101981"/>
                  </a:lnTo>
                  <a:lnTo>
                    <a:pt x="4883937" y="105791"/>
                  </a:lnTo>
                  <a:lnTo>
                    <a:pt x="4884699" y="107061"/>
                  </a:lnTo>
                  <a:lnTo>
                    <a:pt x="4885842" y="108331"/>
                  </a:lnTo>
                  <a:lnTo>
                    <a:pt x="4887112" y="109601"/>
                  </a:lnTo>
                  <a:lnTo>
                    <a:pt x="4899977" y="96901"/>
                  </a:lnTo>
                  <a:lnTo>
                    <a:pt x="4916703" y="80391"/>
                  </a:lnTo>
                  <a:close/>
                </a:path>
                <a:path w="9090025" h="247014">
                  <a:moveTo>
                    <a:pt x="4943627" y="46101"/>
                  </a:moveTo>
                  <a:lnTo>
                    <a:pt x="4942738" y="42291"/>
                  </a:lnTo>
                  <a:lnTo>
                    <a:pt x="4940579" y="37211"/>
                  </a:lnTo>
                  <a:lnTo>
                    <a:pt x="4938420" y="33401"/>
                  </a:lnTo>
                  <a:lnTo>
                    <a:pt x="4936642" y="30949"/>
                  </a:lnTo>
                  <a:lnTo>
                    <a:pt x="4936642" y="49911"/>
                  </a:lnTo>
                  <a:lnTo>
                    <a:pt x="4935753" y="53721"/>
                  </a:lnTo>
                  <a:lnTo>
                    <a:pt x="4930673" y="58801"/>
                  </a:lnTo>
                  <a:lnTo>
                    <a:pt x="4927371" y="60071"/>
                  </a:lnTo>
                  <a:lnTo>
                    <a:pt x="4918989" y="57531"/>
                  </a:lnTo>
                  <a:lnTo>
                    <a:pt x="4893081" y="24511"/>
                  </a:lnTo>
                  <a:lnTo>
                    <a:pt x="4893970" y="21971"/>
                  </a:lnTo>
                  <a:lnTo>
                    <a:pt x="4899050" y="16891"/>
                  </a:lnTo>
                  <a:lnTo>
                    <a:pt x="4902479" y="15621"/>
                  </a:lnTo>
                  <a:lnTo>
                    <a:pt x="4906543" y="16891"/>
                  </a:lnTo>
                  <a:lnTo>
                    <a:pt x="4910734" y="16891"/>
                  </a:lnTo>
                  <a:lnTo>
                    <a:pt x="4916449" y="21971"/>
                  </a:lnTo>
                  <a:lnTo>
                    <a:pt x="4931181" y="35941"/>
                  </a:lnTo>
                  <a:lnTo>
                    <a:pt x="4935118" y="42291"/>
                  </a:lnTo>
                  <a:lnTo>
                    <a:pt x="4936642" y="49911"/>
                  </a:lnTo>
                  <a:lnTo>
                    <a:pt x="4936642" y="30949"/>
                  </a:lnTo>
                  <a:lnTo>
                    <a:pt x="4934737" y="28321"/>
                  </a:lnTo>
                  <a:lnTo>
                    <a:pt x="4925085" y="18161"/>
                  </a:lnTo>
                  <a:lnTo>
                    <a:pt x="4921148" y="15621"/>
                  </a:lnTo>
                  <a:lnTo>
                    <a:pt x="4917846" y="13081"/>
                  </a:lnTo>
                  <a:lnTo>
                    <a:pt x="4914544" y="11811"/>
                  </a:lnTo>
                  <a:lnTo>
                    <a:pt x="4911496" y="10541"/>
                  </a:lnTo>
                  <a:lnTo>
                    <a:pt x="4905400" y="9271"/>
                  </a:lnTo>
                  <a:lnTo>
                    <a:pt x="4902606" y="9271"/>
                  </a:lnTo>
                  <a:lnTo>
                    <a:pt x="4899812" y="10541"/>
                  </a:lnTo>
                  <a:lnTo>
                    <a:pt x="4897018" y="10541"/>
                  </a:lnTo>
                  <a:lnTo>
                    <a:pt x="4894478" y="13081"/>
                  </a:lnTo>
                  <a:lnTo>
                    <a:pt x="4892065" y="14351"/>
                  </a:lnTo>
                  <a:lnTo>
                    <a:pt x="4888763" y="18161"/>
                  </a:lnTo>
                  <a:lnTo>
                    <a:pt x="4886985" y="21971"/>
                  </a:lnTo>
                  <a:lnTo>
                    <a:pt x="4886731" y="24511"/>
                  </a:lnTo>
                  <a:lnTo>
                    <a:pt x="4886604" y="25781"/>
                  </a:lnTo>
                  <a:lnTo>
                    <a:pt x="4906442" y="57531"/>
                  </a:lnTo>
                  <a:lnTo>
                    <a:pt x="4912233" y="62611"/>
                  </a:lnTo>
                  <a:lnTo>
                    <a:pt x="4917732" y="65151"/>
                  </a:lnTo>
                  <a:lnTo>
                    <a:pt x="4922926" y="66421"/>
                  </a:lnTo>
                  <a:lnTo>
                    <a:pt x="4928514" y="66421"/>
                  </a:lnTo>
                  <a:lnTo>
                    <a:pt x="4933340" y="65151"/>
                  </a:lnTo>
                  <a:lnTo>
                    <a:pt x="4938420" y="60071"/>
                  </a:lnTo>
                  <a:lnTo>
                    <a:pt x="4940960" y="57531"/>
                  </a:lnTo>
                  <a:lnTo>
                    <a:pt x="4942865" y="53721"/>
                  </a:lnTo>
                  <a:lnTo>
                    <a:pt x="4943500" y="47371"/>
                  </a:lnTo>
                  <a:lnTo>
                    <a:pt x="4943627" y="46101"/>
                  </a:lnTo>
                  <a:close/>
                </a:path>
                <a:path w="9090025" h="247014">
                  <a:moveTo>
                    <a:pt x="5000269" y="193294"/>
                  </a:moveTo>
                  <a:lnTo>
                    <a:pt x="4968735" y="161671"/>
                  </a:lnTo>
                  <a:lnTo>
                    <a:pt x="4955565" y="148463"/>
                  </a:lnTo>
                  <a:lnTo>
                    <a:pt x="4947437" y="156591"/>
                  </a:lnTo>
                  <a:lnTo>
                    <a:pt x="4947615" y="156591"/>
                  </a:lnTo>
                  <a:lnTo>
                    <a:pt x="4970043" y="202565"/>
                  </a:lnTo>
                  <a:lnTo>
                    <a:pt x="4972837" y="207899"/>
                  </a:lnTo>
                  <a:lnTo>
                    <a:pt x="4968011" y="205359"/>
                  </a:lnTo>
                  <a:lnTo>
                    <a:pt x="4964074" y="203454"/>
                  </a:lnTo>
                  <a:lnTo>
                    <a:pt x="4941532" y="192151"/>
                  </a:lnTo>
                  <a:lnTo>
                    <a:pt x="4921783" y="182245"/>
                  </a:lnTo>
                  <a:lnTo>
                    <a:pt x="4912893" y="191262"/>
                  </a:lnTo>
                  <a:lnTo>
                    <a:pt x="4957597" y="235966"/>
                  </a:lnTo>
                  <a:lnTo>
                    <a:pt x="4963312" y="230251"/>
                  </a:lnTo>
                  <a:lnTo>
                    <a:pt x="4925212" y="192151"/>
                  </a:lnTo>
                  <a:lnTo>
                    <a:pt x="4976266" y="217297"/>
                  </a:lnTo>
                  <a:lnTo>
                    <a:pt x="4981600" y="211963"/>
                  </a:lnTo>
                  <a:lnTo>
                    <a:pt x="4979632" y="207899"/>
                  </a:lnTo>
                  <a:lnTo>
                    <a:pt x="4957267" y="161671"/>
                  </a:lnTo>
                  <a:lnTo>
                    <a:pt x="4994554" y="199009"/>
                  </a:lnTo>
                  <a:lnTo>
                    <a:pt x="5000269" y="193294"/>
                  </a:lnTo>
                  <a:close/>
                </a:path>
                <a:path w="9090025" h="247014">
                  <a:moveTo>
                    <a:pt x="5037861" y="155702"/>
                  </a:moveTo>
                  <a:lnTo>
                    <a:pt x="5035956" y="155194"/>
                  </a:lnTo>
                  <a:lnTo>
                    <a:pt x="5034178" y="154305"/>
                  </a:lnTo>
                  <a:lnTo>
                    <a:pt x="5032984" y="153416"/>
                  </a:lnTo>
                  <a:lnTo>
                    <a:pt x="5031003" y="152019"/>
                  </a:lnTo>
                  <a:lnTo>
                    <a:pt x="5027828" y="149098"/>
                  </a:lnTo>
                  <a:lnTo>
                    <a:pt x="5025415" y="146685"/>
                  </a:lnTo>
                  <a:lnTo>
                    <a:pt x="5021745" y="143027"/>
                  </a:lnTo>
                  <a:lnTo>
                    <a:pt x="5021745" y="160401"/>
                  </a:lnTo>
                  <a:lnTo>
                    <a:pt x="5021173" y="162306"/>
                  </a:lnTo>
                  <a:lnTo>
                    <a:pt x="5020488" y="164973"/>
                  </a:lnTo>
                  <a:lnTo>
                    <a:pt x="5012347" y="172974"/>
                  </a:lnTo>
                  <a:lnTo>
                    <a:pt x="5010556" y="172974"/>
                  </a:lnTo>
                  <a:lnTo>
                    <a:pt x="5008397" y="173101"/>
                  </a:lnTo>
                  <a:lnTo>
                    <a:pt x="5006619" y="172466"/>
                  </a:lnTo>
                  <a:lnTo>
                    <a:pt x="5005222" y="170942"/>
                  </a:lnTo>
                  <a:lnTo>
                    <a:pt x="5004206" y="170053"/>
                  </a:lnTo>
                  <a:lnTo>
                    <a:pt x="5003698" y="168910"/>
                  </a:lnTo>
                  <a:lnTo>
                    <a:pt x="5003431" y="168021"/>
                  </a:lnTo>
                  <a:lnTo>
                    <a:pt x="5003317" y="167640"/>
                  </a:lnTo>
                  <a:lnTo>
                    <a:pt x="5010620" y="153416"/>
                  </a:lnTo>
                  <a:lnTo>
                    <a:pt x="5011509" y="152019"/>
                  </a:lnTo>
                  <a:lnTo>
                    <a:pt x="5013096" y="149479"/>
                  </a:lnTo>
                  <a:lnTo>
                    <a:pt x="5014366" y="146685"/>
                  </a:lnTo>
                  <a:lnTo>
                    <a:pt x="5018811" y="151130"/>
                  </a:lnTo>
                  <a:lnTo>
                    <a:pt x="5021745" y="160401"/>
                  </a:lnTo>
                  <a:lnTo>
                    <a:pt x="5021745" y="143027"/>
                  </a:lnTo>
                  <a:lnTo>
                    <a:pt x="5016385" y="137668"/>
                  </a:lnTo>
                  <a:lnTo>
                    <a:pt x="5012842" y="134112"/>
                  </a:lnTo>
                  <a:lnTo>
                    <a:pt x="5011064" y="132461"/>
                  </a:lnTo>
                  <a:lnTo>
                    <a:pt x="5009921" y="131699"/>
                  </a:lnTo>
                  <a:lnTo>
                    <a:pt x="5008016" y="130556"/>
                  </a:lnTo>
                  <a:lnTo>
                    <a:pt x="5006238" y="129921"/>
                  </a:lnTo>
                  <a:lnTo>
                    <a:pt x="5004460" y="129667"/>
                  </a:lnTo>
                  <a:lnTo>
                    <a:pt x="5001958" y="129667"/>
                  </a:lnTo>
                  <a:lnTo>
                    <a:pt x="5000523" y="129921"/>
                  </a:lnTo>
                  <a:lnTo>
                    <a:pt x="4998237" y="131064"/>
                  </a:lnTo>
                  <a:lnTo>
                    <a:pt x="4995824" y="132080"/>
                  </a:lnTo>
                  <a:lnTo>
                    <a:pt x="4982362" y="150876"/>
                  </a:lnTo>
                  <a:lnTo>
                    <a:pt x="4982616" y="153416"/>
                  </a:lnTo>
                  <a:lnTo>
                    <a:pt x="4982692" y="153924"/>
                  </a:lnTo>
                  <a:lnTo>
                    <a:pt x="4982743" y="154305"/>
                  </a:lnTo>
                  <a:lnTo>
                    <a:pt x="4982857" y="155067"/>
                  </a:lnTo>
                  <a:lnTo>
                    <a:pt x="4982883" y="155194"/>
                  </a:lnTo>
                  <a:lnTo>
                    <a:pt x="4982997" y="155956"/>
                  </a:lnTo>
                  <a:lnTo>
                    <a:pt x="4984013" y="158623"/>
                  </a:lnTo>
                  <a:lnTo>
                    <a:pt x="4985791" y="161417"/>
                  </a:lnTo>
                  <a:lnTo>
                    <a:pt x="4991887" y="156845"/>
                  </a:lnTo>
                  <a:lnTo>
                    <a:pt x="4990300" y="154051"/>
                  </a:lnTo>
                  <a:lnTo>
                    <a:pt x="4990236" y="153924"/>
                  </a:lnTo>
                  <a:lnTo>
                    <a:pt x="4989474" y="151384"/>
                  </a:lnTo>
                  <a:lnTo>
                    <a:pt x="4990236" y="147066"/>
                  </a:lnTo>
                  <a:lnTo>
                    <a:pt x="4991633" y="144780"/>
                  </a:lnTo>
                  <a:lnTo>
                    <a:pt x="4994173" y="142113"/>
                  </a:lnTo>
                  <a:lnTo>
                    <a:pt x="4996827" y="139573"/>
                  </a:lnTo>
                  <a:lnTo>
                    <a:pt x="4998301" y="138684"/>
                  </a:lnTo>
                  <a:lnTo>
                    <a:pt x="4999634" y="137922"/>
                  </a:lnTo>
                  <a:lnTo>
                    <a:pt x="5000269" y="137922"/>
                  </a:lnTo>
                  <a:lnTo>
                    <a:pt x="5004333" y="137668"/>
                  </a:lnTo>
                  <a:lnTo>
                    <a:pt x="5006365" y="138684"/>
                  </a:lnTo>
                  <a:lnTo>
                    <a:pt x="5010048" y="142367"/>
                  </a:lnTo>
                  <a:lnTo>
                    <a:pt x="5008651" y="145288"/>
                  </a:lnTo>
                  <a:lnTo>
                    <a:pt x="5005984" y="149098"/>
                  </a:lnTo>
                  <a:lnTo>
                    <a:pt x="5001412" y="155067"/>
                  </a:lnTo>
                  <a:lnTo>
                    <a:pt x="4999431" y="157734"/>
                  </a:lnTo>
                  <a:lnTo>
                    <a:pt x="4998796" y="158623"/>
                  </a:lnTo>
                  <a:lnTo>
                    <a:pt x="4996967" y="161671"/>
                  </a:lnTo>
                  <a:lnTo>
                    <a:pt x="4996307" y="163703"/>
                  </a:lnTo>
                  <a:lnTo>
                    <a:pt x="4995786" y="166370"/>
                  </a:lnTo>
                  <a:lnTo>
                    <a:pt x="4995824" y="170053"/>
                  </a:lnTo>
                  <a:lnTo>
                    <a:pt x="5005349" y="180975"/>
                  </a:lnTo>
                  <a:lnTo>
                    <a:pt x="5009032" y="180848"/>
                  </a:lnTo>
                  <a:lnTo>
                    <a:pt x="5012715" y="180594"/>
                  </a:lnTo>
                  <a:lnTo>
                    <a:pt x="5016271" y="178689"/>
                  </a:lnTo>
                  <a:lnTo>
                    <a:pt x="5021846" y="173101"/>
                  </a:lnTo>
                  <a:lnTo>
                    <a:pt x="5021986" y="172974"/>
                  </a:lnTo>
                  <a:lnTo>
                    <a:pt x="5026965" y="159893"/>
                  </a:lnTo>
                  <a:lnTo>
                    <a:pt x="5027053" y="158623"/>
                  </a:lnTo>
                  <a:lnTo>
                    <a:pt x="5027206" y="158623"/>
                  </a:lnTo>
                  <a:lnTo>
                    <a:pt x="5028717" y="159893"/>
                  </a:lnTo>
                  <a:lnTo>
                    <a:pt x="5030495" y="160909"/>
                  </a:lnTo>
                  <a:lnTo>
                    <a:pt x="5032146" y="161417"/>
                  </a:lnTo>
                  <a:lnTo>
                    <a:pt x="5034940" y="158623"/>
                  </a:lnTo>
                  <a:lnTo>
                    <a:pt x="5037861" y="155702"/>
                  </a:lnTo>
                  <a:close/>
                </a:path>
                <a:path w="9090025" h="247014">
                  <a:moveTo>
                    <a:pt x="5049799" y="143764"/>
                  </a:moveTo>
                  <a:lnTo>
                    <a:pt x="5032908" y="126746"/>
                  </a:lnTo>
                  <a:lnTo>
                    <a:pt x="5030495" y="124460"/>
                  </a:lnTo>
                  <a:lnTo>
                    <a:pt x="5028717" y="122047"/>
                  </a:lnTo>
                  <a:lnTo>
                    <a:pt x="5027320" y="119507"/>
                  </a:lnTo>
                  <a:lnTo>
                    <a:pt x="5026431" y="117729"/>
                  </a:lnTo>
                  <a:lnTo>
                    <a:pt x="5026380" y="117475"/>
                  </a:lnTo>
                  <a:lnTo>
                    <a:pt x="5026291" y="116840"/>
                  </a:lnTo>
                  <a:lnTo>
                    <a:pt x="5026177" y="116078"/>
                  </a:lnTo>
                  <a:lnTo>
                    <a:pt x="5026596" y="113284"/>
                  </a:lnTo>
                  <a:lnTo>
                    <a:pt x="5026685" y="112776"/>
                  </a:lnTo>
                  <a:lnTo>
                    <a:pt x="5027320" y="111252"/>
                  </a:lnTo>
                  <a:lnTo>
                    <a:pt x="5028590" y="110109"/>
                  </a:lnTo>
                  <a:lnTo>
                    <a:pt x="5029860" y="108712"/>
                  </a:lnTo>
                  <a:lnTo>
                    <a:pt x="5031638" y="107823"/>
                  </a:lnTo>
                  <a:lnTo>
                    <a:pt x="5033797" y="107315"/>
                  </a:lnTo>
                  <a:lnTo>
                    <a:pt x="5030622" y="100203"/>
                  </a:lnTo>
                  <a:lnTo>
                    <a:pt x="5027447" y="100965"/>
                  </a:lnTo>
                  <a:lnTo>
                    <a:pt x="5025034" y="102235"/>
                  </a:lnTo>
                  <a:lnTo>
                    <a:pt x="5021859" y="105410"/>
                  </a:lnTo>
                  <a:lnTo>
                    <a:pt x="5021224" y="106680"/>
                  </a:lnTo>
                  <a:lnTo>
                    <a:pt x="5021097" y="106934"/>
                  </a:lnTo>
                  <a:lnTo>
                    <a:pt x="5020437" y="110109"/>
                  </a:lnTo>
                  <a:lnTo>
                    <a:pt x="5020513" y="111887"/>
                  </a:lnTo>
                  <a:lnTo>
                    <a:pt x="5020640" y="112776"/>
                  </a:lnTo>
                  <a:lnTo>
                    <a:pt x="5020716" y="113284"/>
                  </a:lnTo>
                  <a:lnTo>
                    <a:pt x="5021732" y="116840"/>
                  </a:lnTo>
                  <a:lnTo>
                    <a:pt x="5016906" y="111887"/>
                  </a:lnTo>
                  <a:lnTo>
                    <a:pt x="5011953" y="116840"/>
                  </a:lnTo>
                  <a:lnTo>
                    <a:pt x="5044211" y="149098"/>
                  </a:lnTo>
                  <a:lnTo>
                    <a:pt x="5044338" y="149225"/>
                  </a:lnTo>
                  <a:lnTo>
                    <a:pt x="5049799" y="143764"/>
                  </a:lnTo>
                  <a:close/>
                </a:path>
                <a:path w="9090025" h="247014">
                  <a:moveTo>
                    <a:pt x="5066182" y="100584"/>
                  </a:moveTo>
                  <a:lnTo>
                    <a:pt x="5060594" y="94996"/>
                  </a:lnTo>
                  <a:lnTo>
                    <a:pt x="5043830" y="111887"/>
                  </a:lnTo>
                  <a:lnTo>
                    <a:pt x="5049291" y="117475"/>
                  </a:lnTo>
                  <a:lnTo>
                    <a:pt x="5066182" y="100584"/>
                  </a:lnTo>
                  <a:close/>
                </a:path>
                <a:path w="9090025" h="247014">
                  <a:moveTo>
                    <a:pt x="5113807" y="79756"/>
                  </a:moveTo>
                  <a:lnTo>
                    <a:pt x="5108473" y="74549"/>
                  </a:lnTo>
                  <a:lnTo>
                    <a:pt x="5086502" y="96520"/>
                  </a:lnTo>
                  <a:lnTo>
                    <a:pt x="5086235" y="95377"/>
                  </a:lnTo>
                  <a:lnTo>
                    <a:pt x="5086121" y="85217"/>
                  </a:lnTo>
                  <a:lnTo>
                    <a:pt x="5087201" y="72517"/>
                  </a:lnTo>
                  <a:lnTo>
                    <a:pt x="5087099" y="61912"/>
                  </a:lnTo>
                  <a:lnTo>
                    <a:pt x="5083353" y="49784"/>
                  </a:lnTo>
                  <a:lnTo>
                    <a:pt x="5082946" y="49149"/>
                  </a:lnTo>
                  <a:lnTo>
                    <a:pt x="5081168" y="47371"/>
                  </a:lnTo>
                  <a:lnTo>
                    <a:pt x="5077739" y="43815"/>
                  </a:lnTo>
                  <a:lnTo>
                    <a:pt x="5074082" y="42418"/>
                  </a:lnTo>
                  <a:lnTo>
                    <a:pt x="5063769" y="42418"/>
                  </a:lnTo>
                  <a:lnTo>
                    <a:pt x="5059070" y="44577"/>
                  </a:lnTo>
                  <a:lnTo>
                    <a:pt x="5054879" y="48895"/>
                  </a:lnTo>
                  <a:lnTo>
                    <a:pt x="5050942" y="52832"/>
                  </a:lnTo>
                  <a:lnTo>
                    <a:pt x="5050421" y="53467"/>
                  </a:lnTo>
                  <a:lnTo>
                    <a:pt x="5048529" y="57150"/>
                  </a:lnTo>
                  <a:lnTo>
                    <a:pt x="5048262" y="57772"/>
                  </a:lnTo>
                  <a:lnTo>
                    <a:pt x="5048250" y="58039"/>
                  </a:lnTo>
                  <a:lnTo>
                    <a:pt x="5048123" y="60325"/>
                  </a:lnTo>
                  <a:lnTo>
                    <a:pt x="5048034" y="61912"/>
                  </a:lnTo>
                  <a:lnTo>
                    <a:pt x="5047831" y="64643"/>
                  </a:lnTo>
                  <a:lnTo>
                    <a:pt x="5047754" y="65532"/>
                  </a:lnTo>
                  <a:lnTo>
                    <a:pt x="5047640" y="67056"/>
                  </a:lnTo>
                  <a:lnTo>
                    <a:pt x="5049418" y="71755"/>
                  </a:lnTo>
                  <a:lnTo>
                    <a:pt x="5053228" y="76327"/>
                  </a:lnTo>
                  <a:lnTo>
                    <a:pt x="5059451" y="71247"/>
                  </a:lnTo>
                  <a:lnTo>
                    <a:pt x="5056657" y="68453"/>
                  </a:lnTo>
                  <a:lnTo>
                    <a:pt x="5055260" y="65532"/>
                  </a:lnTo>
                  <a:lnTo>
                    <a:pt x="5055260" y="59309"/>
                  </a:lnTo>
                  <a:lnTo>
                    <a:pt x="5055552" y="58547"/>
                  </a:lnTo>
                  <a:lnTo>
                    <a:pt x="5056657" y="56261"/>
                  </a:lnTo>
                  <a:lnTo>
                    <a:pt x="5059311" y="53467"/>
                  </a:lnTo>
                  <a:lnTo>
                    <a:pt x="5061737" y="51054"/>
                  </a:lnTo>
                  <a:lnTo>
                    <a:pt x="5064531" y="49784"/>
                  </a:lnTo>
                  <a:lnTo>
                    <a:pt x="5070957" y="49784"/>
                  </a:lnTo>
                  <a:lnTo>
                    <a:pt x="5073294" y="50673"/>
                  </a:lnTo>
                  <a:lnTo>
                    <a:pt x="5075453" y="52832"/>
                  </a:lnTo>
                  <a:lnTo>
                    <a:pt x="5077485" y="54991"/>
                  </a:lnTo>
                  <a:lnTo>
                    <a:pt x="5078755" y="57772"/>
                  </a:lnTo>
                  <a:lnTo>
                    <a:pt x="5078882" y="58039"/>
                  </a:lnTo>
                  <a:lnTo>
                    <a:pt x="5079911" y="64643"/>
                  </a:lnTo>
                  <a:lnTo>
                    <a:pt x="5080025" y="72517"/>
                  </a:lnTo>
                  <a:lnTo>
                    <a:pt x="5079136" y="81407"/>
                  </a:lnTo>
                  <a:lnTo>
                    <a:pt x="5078704" y="85217"/>
                  </a:lnTo>
                  <a:lnTo>
                    <a:pt x="5078742" y="96520"/>
                  </a:lnTo>
                  <a:lnTo>
                    <a:pt x="5079009" y="98933"/>
                  </a:lnTo>
                  <a:lnTo>
                    <a:pt x="5079822" y="102235"/>
                  </a:lnTo>
                  <a:lnTo>
                    <a:pt x="5081041" y="104902"/>
                  </a:lnTo>
                  <a:lnTo>
                    <a:pt x="5081803" y="106680"/>
                  </a:lnTo>
                  <a:lnTo>
                    <a:pt x="5082819" y="108077"/>
                  </a:lnTo>
                  <a:lnTo>
                    <a:pt x="5084216" y="109347"/>
                  </a:lnTo>
                  <a:lnTo>
                    <a:pt x="5097043" y="96520"/>
                  </a:lnTo>
                  <a:lnTo>
                    <a:pt x="5113807" y="79756"/>
                  </a:lnTo>
                  <a:close/>
                </a:path>
                <a:path w="9090025" h="247014">
                  <a:moveTo>
                    <a:pt x="5140591" y="45847"/>
                  </a:moveTo>
                  <a:lnTo>
                    <a:pt x="5140350" y="44577"/>
                  </a:lnTo>
                  <a:lnTo>
                    <a:pt x="5139741" y="41656"/>
                  </a:lnTo>
                  <a:lnTo>
                    <a:pt x="5139715" y="41529"/>
                  </a:lnTo>
                  <a:lnTo>
                    <a:pt x="5137556" y="37338"/>
                  </a:lnTo>
                  <a:lnTo>
                    <a:pt x="5135588" y="33401"/>
                  </a:lnTo>
                  <a:lnTo>
                    <a:pt x="5135461" y="33147"/>
                  </a:lnTo>
                  <a:lnTo>
                    <a:pt x="5133619" y="30721"/>
                  </a:lnTo>
                  <a:lnTo>
                    <a:pt x="5133619" y="50038"/>
                  </a:lnTo>
                  <a:lnTo>
                    <a:pt x="5132857" y="52832"/>
                  </a:lnTo>
                  <a:lnTo>
                    <a:pt x="5132603" y="53467"/>
                  </a:lnTo>
                  <a:lnTo>
                    <a:pt x="5127523" y="58547"/>
                  </a:lnTo>
                  <a:lnTo>
                    <a:pt x="5127168" y="58547"/>
                  </a:lnTo>
                  <a:lnTo>
                    <a:pt x="5124348" y="59309"/>
                  </a:lnTo>
                  <a:lnTo>
                    <a:pt x="5120157" y="58547"/>
                  </a:lnTo>
                  <a:lnTo>
                    <a:pt x="5116893" y="58039"/>
                  </a:lnTo>
                  <a:lnTo>
                    <a:pt x="5116271" y="58039"/>
                  </a:lnTo>
                  <a:lnTo>
                    <a:pt x="5110251" y="53848"/>
                  </a:lnTo>
                  <a:lnTo>
                    <a:pt x="5103012" y="46482"/>
                  </a:lnTo>
                  <a:lnTo>
                    <a:pt x="5098948" y="42418"/>
                  </a:lnTo>
                  <a:lnTo>
                    <a:pt x="5132336" y="42418"/>
                  </a:lnTo>
                  <a:lnTo>
                    <a:pt x="5132857" y="45847"/>
                  </a:lnTo>
                  <a:lnTo>
                    <a:pt x="5133403" y="48895"/>
                  </a:lnTo>
                  <a:lnTo>
                    <a:pt x="5133454" y="49149"/>
                  </a:lnTo>
                  <a:lnTo>
                    <a:pt x="5133568" y="49784"/>
                  </a:lnTo>
                  <a:lnTo>
                    <a:pt x="5133619" y="50038"/>
                  </a:lnTo>
                  <a:lnTo>
                    <a:pt x="5133619" y="30721"/>
                  </a:lnTo>
                  <a:lnTo>
                    <a:pt x="5132222" y="28867"/>
                  </a:lnTo>
                  <a:lnTo>
                    <a:pt x="5132222" y="41656"/>
                  </a:lnTo>
                  <a:lnTo>
                    <a:pt x="5098186" y="41656"/>
                  </a:lnTo>
                  <a:lnTo>
                    <a:pt x="5095646" y="39116"/>
                  </a:lnTo>
                  <a:lnTo>
                    <a:pt x="5091582" y="33147"/>
                  </a:lnTo>
                  <a:lnTo>
                    <a:pt x="5090693" y="28575"/>
                  </a:lnTo>
                  <a:lnTo>
                    <a:pt x="5090058" y="24892"/>
                  </a:lnTo>
                  <a:lnTo>
                    <a:pt x="5090947" y="21844"/>
                  </a:lnTo>
                  <a:lnTo>
                    <a:pt x="5093487" y="19304"/>
                  </a:lnTo>
                  <a:lnTo>
                    <a:pt x="5096154" y="16764"/>
                  </a:lnTo>
                  <a:lnTo>
                    <a:pt x="5099456" y="15748"/>
                  </a:lnTo>
                  <a:lnTo>
                    <a:pt x="5103520" y="16510"/>
                  </a:lnTo>
                  <a:lnTo>
                    <a:pt x="5107711" y="17145"/>
                  </a:lnTo>
                  <a:lnTo>
                    <a:pt x="5113426" y="21209"/>
                  </a:lnTo>
                  <a:lnTo>
                    <a:pt x="5128158" y="35941"/>
                  </a:lnTo>
                  <a:lnTo>
                    <a:pt x="5132121" y="41529"/>
                  </a:lnTo>
                  <a:lnTo>
                    <a:pt x="5132222" y="41656"/>
                  </a:lnTo>
                  <a:lnTo>
                    <a:pt x="5132222" y="28867"/>
                  </a:lnTo>
                  <a:lnTo>
                    <a:pt x="5131714" y="28194"/>
                  </a:lnTo>
                  <a:lnTo>
                    <a:pt x="5122062" y="18542"/>
                  </a:lnTo>
                  <a:lnTo>
                    <a:pt x="5118709" y="15748"/>
                  </a:lnTo>
                  <a:lnTo>
                    <a:pt x="5118252" y="15367"/>
                  </a:lnTo>
                  <a:lnTo>
                    <a:pt x="5114950" y="13335"/>
                  </a:lnTo>
                  <a:lnTo>
                    <a:pt x="5111648" y="11430"/>
                  </a:lnTo>
                  <a:lnTo>
                    <a:pt x="5108473" y="10160"/>
                  </a:lnTo>
                  <a:lnTo>
                    <a:pt x="5103076" y="9017"/>
                  </a:lnTo>
                  <a:lnTo>
                    <a:pt x="5099583" y="9017"/>
                  </a:lnTo>
                  <a:lnTo>
                    <a:pt x="5096789" y="9779"/>
                  </a:lnTo>
                  <a:lnTo>
                    <a:pt x="5093995" y="10668"/>
                  </a:lnTo>
                  <a:lnTo>
                    <a:pt x="5091455" y="12319"/>
                  </a:lnTo>
                  <a:lnTo>
                    <a:pt x="5089042" y="14732"/>
                  </a:lnTo>
                  <a:lnTo>
                    <a:pt x="5085740" y="17907"/>
                  </a:lnTo>
                  <a:lnTo>
                    <a:pt x="5084089" y="21209"/>
                  </a:lnTo>
                  <a:lnTo>
                    <a:pt x="5083962" y="21463"/>
                  </a:lnTo>
                  <a:lnTo>
                    <a:pt x="5083302" y="28194"/>
                  </a:lnTo>
                  <a:lnTo>
                    <a:pt x="5088013" y="41529"/>
                  </a:lnTo>
                  <a:lnTo>
                    <a:pt x="5087988" y="41656"/>
                  </a:lnTo>
                  <a:lnTo>
                    <a:pt x="5119903" y="65913"/>
                  </a:lnTo>
                  <a:lnTo>
                    <a:pt x="5125491" y="66548"/>
                  </a:lnTo>
                  <a:lnTo>
                    <a:pt x="5130444" y="64643"/>
                  </a:lnTo>
                  <a:lnTo>
                    <a:pt x="5134762" y="60325"/>
                  </a:lnTo>
                  <a:lnTo>
                    <a:pt x="5135816" y="59309"/>
                  </a:lnTo>
                  <a:lnTo>
                    <a:pt x="5138064" y="57150"/>
                  </a:lnTo>
                  <a:lnTo>
                    <a:pt x="5139842" y="53467"/>
                  </a:lnTo>
                  <a:lnTo>
                    <a:pt x="5140439" y="47371"/>
                  </a:lnTo>
                  <a:lnTo>
                    <a:pt x="5140528" y="46482"/>
                  </a:lnTo>
                  <a:lnTo>
                    <a:pt x="5140591" y="45847"/>
                  </a:lnTo>
                  <a:close/>
                </a:path>
                <a:path w="9090025" h="247014">
                  <a:moveTo>
                    <a:pt x="5187213" y="204597"/>
                  </a:moveTo>
                  <a:lnTo>
                    <a:pt x="5155273" y="172847"/>
                  </a:lnTo>
                  <a:lnTo>
                    <a:pt x="5142509" y="160147"/>
                  </a:lnTo>
                  <a:lnTo>
                    <a:pt x="5134508" y="167779"/>
                  </a:lnTo>
                  <a:lnTo>
                    <a:pt x="5154955" y="209677"/>
                  </a:lnTo>
                  <a:lnTo>
                    <a:pt x="5156987" y="213487"/>
                  </a:lnTo>
                  <a:lnTo>
                    <a:pt x="5159781" y="218579"/>
                  </a:lnTo>
                  <a:lnTo>
                    <a:pt x="5157876" y="218579"/>
                  </a:lnTo>
                  <a:lnTo>
                    <a:pt x="5151018" y="214757"/>
                  </a:lnTo>
                  <a:lnTo>
                    <a:pt x="5128628" y="203327"/>
                  </a:lnTo>
                  <a:lnTo>
                    <a:pt x="5108727" y="193179"/>
                  </a:lnTo>
                  <a:lnTo>
                    <a:pt x="5099837" y="202057"/>
                  </a:lnTo>
                  <a:lnTo>
                    <a:pt x="5144541" y="246507"/>
                  </a:lnTo>
                  <a:lnTo>
                    <a:pt x="5150256" y="241427"/>
                  </a:lnTo>
                  <a:lnTo>
                    <a:pt x="5112156" y="203327"/>
                  </a:lnTo>
                  <a:lnTo>
                    <a:pt x="5163210" y="228727"/>
                  </a:lnTo>
                  <a:lnTo>
                    <a:pt x="5168544" y="223647"/>
                  </a:lnTo>
                  <a:lnTo>
                    <a:pt x="5166093" y="218579"/>
                  </a:lnTo>
                  <a:lnTo>
                    <a:pt x="5144033" y="172847"/>
                  </a:lnTo>
                  <a:lnTo>
                    <a:pt x="5181498" y="209677"/>
                  </a:lnTo>
                  <a:lnTo>
                    <a:pt x="5187213" y="204597"/>
                  </a:lnTo>
                  <a:close/>
                </a:path>
                <a:path w="9090025" h="247014">
                  <a:moveTo>
                    <a:pt x="5224805" y="166497"/>
                  </a:moveTo>
                  <a:lnTo>
                    <a:pt x="5222900" y="166497"/>
                  </a:lnTo>
                  <a:lnTo>
                    <a:pt x="5221122" y="165227"/>
                  </a:lnTo>
                  <a:lnTo>
                    <a:pt x="5219471" y="163957"/>
                  </a:lnTo>
                  <a:lnTo>
                    <a:pt x="5217947" y="162687"/>
                  </a:lnTo>
                  <a:lnTo>
                    <a:pt x="5214645" y="160147"/>
                  </a:lnTo>
                  <a:lnTo>
                    <a:pt x="5212156" y="157607"/>
                  </a:lnTo>
                  <a:lnTo>
                    <a:pt x="5208803" y="154190"/>
                  </a:lnTo>
                  <a:lnTo>
                    <a:pt x="5208803" y="171577"/>
                  </a:lnTo>
                  <a:lnTo>
                    <a:pt x="5207279" y="176657"/>
                  </a:lnTo>
                  <a:lnTo>
                    <a:pt x="5205882" y="177927"/>
                  </a:lnTo>
                  <a:lnTo>
                    <a:pt x="5203723" y="180479"/>
                  </a:lnTo>
                  <a:lnTo>
                    <a:pt x="5201691" y="183007"/>
                  </a:lnTo>
                  <a:lnTo>
                    <a:pt x="5199532" y="184277"/>
                  </a:lnTo>
                  <a:lnTo>
                    <a:pt x="5195341" y="184277"/>
                  </a:lnTo>
                  <a:lnTo>
                    <a:pt x="5193563" y="183007"/>
                  </a:lnTo>
                  <a:lnTo>
                    <a:pt x="5192166" y="181737"/>
                  </a:lnTo>
                  <a:lnTo>
                    <a:pt x="5191150" y="180479"/>
                  </a:lnTo>
                  <a:lnTo>
                    <a:pt x="5190515" y="180479"/>
                  </a:lnTo>
                  <a:lnTo>
                    <a:pt x="5190007" y="177927"/>
                  </a:lnTo>
                  <a:lnTo>
                    <a:pt x="5190134" y="176657"/>
                  </a:lnTo>
                  <a:lnTo>
                    <a:pt x="5190642" y="174129"/>
                  </a:lnTo>
                  <a:lnTo>
                    <a:pt x="5191150" y="172847"/>
                  </a:lnTo>
                  <a:lnTo>
                    <a:pt x="5192420" y="171577"/>
                  </a:lnTo>
                  <a:lnTo>
                    <a:pt x="5197754" y="163957"/>
                  </a:lnTo>
                  <a:lnTo>
                    <a:pt x="5200040" y="160147"/>
                  </a:lnTo>
                  <a:lnTo>
                    <a:pt x="5201310" y="157607"/>
                  </a:lnTo>
                  <a:lnTo>
                    <a:pt x="5203215" y="160147"/>
                  </a:lnTo>
                  <a:lnTo>
                    <a:pt x="5205628" y="162687"/>
                  </a:lnTo>
                  <a:lnTo>
                    <a:pt x="5207279" y="163957"/>
                  </a:lnTo>
                  <a:lnTo>
                    <a:pt x="5207914" y="166497"/>
                  </a:lnTo>
                  <a:lnTo>
                    <a:pt x="5208676" y="169037"/>
                  </a:lnTo>
                  <a:lnTo>
                    <a:pt x="5208803" y="171577"/>
                  </a:lnTo>
                  <a:lnTo>
                    <a:pt x="5208803" y="154190"/>
                  </a:lnTo>
                  <a:lnTo>
                    <a:pt x="5203444" y="148729"/>
                  </a:lnTo>
                  <a:lnTo>
                    <a:pt x="5202199" y="147447"/>
                  </a:lnTo>
                  <a:lnTo>
                    <a:pt x="5199786" y="144907"/>
                  </a:lnTo>
                  <a:lnTo>
                    <a:pt x="5197881" y="143637"/>
                  </a:lnTo>
                  <a:lnTo>
                    <a:pt x="5196865" y="142379"/>
                  </a:lnTo>
                  <a:lnTo>
                    <a:pt x="5194960" y="141097"/>
                  </a:lnTo>
                  <a:lnTo>
                    <a:pt x="5187467" y="141097"/>
                  </a:lnTo>
                  <a:lnTo>
                    <a:pt x="5185054" y="142379"/>
                  </a:lnTo>
                  <a:lnTo>
                    <a:pt x="5182768" y="143637"/>
                  </a:lnTo>
                  <a:lnTo>
                    <a:pt x="5180101" y="144907"/>
                  </a:lnTo>
                  <a:lnTo>
                    <a:pt x="5177434" y="147447"/>
                  </a:lnTo>
                  <a:lnTo>
                    <a:pt x="5174640" y="151257"/>
                  </a:lnTo>
                  <a:lnTo>
                    <a:pt x="5172481" y="153797"/>
                  </a:lnTo>
                  <a:lnTo>
                    <a:pt x="5171211" y="156337"/>
                  </a:lnTo>
                  <a:lnTo>
                    <a:pt x="5169814" y="158877"/>
                  </a:lnTo>
                  <a:lnTo>
                    <a:pt x="5169306" y="161429"/>
                  </a:lnTo>
                  <a:lnTo>
                    <a:pt x="5169433" y="162687"/>
                  </a:lnTo>
                  <a:lnTo>
                    <a:pt x="5169560" y="163957"/>
                  </a:lnTo>
                  <a:lnTo>
                    <a:pt x="5169941" y="166497"/>
                  </a:lnTo>
                  <a:lnTo>
                    <a:pt x="5170957" y="170307"/>
                  </a:lnTo>
                  <a:lnTo>
                    <a:pt x="5172735" y="172847"/>
                  </a:lnTo>
                  <a:lnTo>
                    <a:pt x="5178831" y="167779"/>
                  </a:lnTo>
                  <a:lnTo>
                    <a:pt x="5177180" y="165227"/>
                  </a:lnTo>
                  <a:lnTo>
                    <a:pt x="5176418" y="162687"/>
                  </a:lnTo>
                  <a:lnTo>
                    <a:pt x="5176799" y="160147"/>
                  </a:lnTo>
                  <a:lnTo>
                    <a:pt x="5176926" y="158877"/>
                  </a:lnTo>
                  <a:lnTo>
                    <a:pt x="5177053" y="157607"/>
                  </a:lnTo>
                  <a:lnTo>
                    <a:pt x="5178577" y="156337"/>
                  </a:lnTo>
                  <a:lnTo>
                    <a:pt x="5183911" y="149987"/>
                  </a:lnTo>
                  <a:lnTo>
                    <a:pt x="5186578" y="148729"/>
                  </a:lnTo>
                  <a:lnTo>
                    <a:pt x="5191150" y="148729"/>
                  </a:lnTo>
                  <a:lnTo>
                    <a:pt x="5193309" y="149987"/>
                  </a:lnTo>
                  <a:lnTo>
                    <a:pt x="5196992" y="153797"/>
                  </a:lnTo>
                  <a:lnTo>
                    <a:pt x="5195595" y="156337"/>
                  </a:lnTo>
                  <a:lnTo>
                    <a:pt x="5192928" y="160147"/>
                  </a:lnTo>
                  <a:lnTo>
                    <a:pt x="5187086" y="167779"/>
                  </a:lnTo>
                  <a:lnTo>
                    <a:pt x="5185816" y="169037"/>
                  </a:lnTo>
                  <a:lnTo>
                    <a:pt x="5184927" y="170307"/>
                  </a:lnTo>
                  <a:lnTo>
                    <a:pt x="5183911" y="172847"/>
                  </a:lnTo>
                  <a:lnTo>
                    <a:pt x="5183149" y="174129"/>
                  </a:lnTo>
                  <a:lnTo>
                    <a:pt x="5182895" y="176657"/>
                  </a:lnTo>
                  <a:lnTo>
                    <a:pt x="5182514" y="179197"/>
                  </a:lnTo>
                  <a:lnTo>
                    <a:pt x="5182514" y="180479"/>
                  </a:lnTo>
                  <a:lnTo>
                    <a:pt x="5183784" y="184277"/>
                  </a:lnTo>
                  <a:lnTo>
                    <a:pt x="5184800" y="186829"/>
                  </a:lnTo>
                  <a:lnTo>
                    <a:pt x="5186451" y="188087"/>
                  </a:lnTo>
                  <a:lnTo>
                    <a:pt x="5189118" y="190627"/>
                  </a:lnTo>
                  <a:lnTo>
                    <a:pt x="5192293" y="191897"/>
                  </a:lnTo>
                  <a:lnTo>
                    <a:pt x="5199659" y="191897"/>
                  </a:lnTo>
                  <a:lnTo>
                    <a:pt x="5203215" y="189357"/>
                  </a:lnTo>
                  <a:lnTo>
                    <a:pt x="5208930" y="184277"/>
                  </a:lnTo>
                  <a:lnTo>
                    <a:pt x="5210581" y="181737"/>
                  </a:lnTo>
                  <a:lnTo>
                    <a:pt x="5211724" y="179197"/>
                  </a:lnTo>
                  <a:lnTo>
                    <a:pt x="5212994" y="176657"/>
                  </a:lnTo>
                  <a:lnTo>
                    <a:pt x="5213629" y="172847"/>
                  </a:lnTo>
                  <a:lnTo>
                    <a:pt x="5214010" y="170307"/>
                  </a:lnTo>
                  <a:lnTo>
                    <a:pt x="5215661" y="171577"/>
                  </a:lnTo>
                  <a:lnTo>
                    <a:pt x="5217312" y="171577"/>
                  </a:lnTo>
                  <a:lnTo>
                    <a:pt x="5219090" y="172847"/>
                  </a:lnTo>
                  <a:lnTo>
                    <a:pt x="5221376" y="170307"/>
                  </a:lnTo>
                  <a:lnTo>
                    <a:pt x="5224805" y="166497"/>
                  </a:lnTo>
                  <a:close/>
                </a:path>
                <a:path w="9090025" h="247014">
                  <a:moveTo>
                    <a:pt x="5251475" y="162687"/>
                  </a:moveTo>
                  <a:lnTo>
                    <a:pt x="5251221" y="160147"/>
                  </a:lnTo>
                  <a:lnTo>
                    <a:pt x="5250332" y="157607"/>
                  </a:lnTo>
                  <a:lnTo>
                    <a:pt x="5249824" y="155079"/>
                  </a:lnTo>
                  <a:lnTo>
                    <a:pt x="5246141" y="146177"/>
                  </a:lnTo>
                  <a:lnTo>
                    <a:pt x="5244363" y="142379"/>
                  </a:lnTo>
                  <a:lnTo>
                    <a:pt x="5225440" y="101727"/>
                  </a:lnTo>
                  <a:lnTo>
                    <a:pt x="5219979" y="106807"/>
                  </a:lnTo>
                  <a:lnTo>
                    <a:pt x="5233441" y="136029"/>
                  </a:lnTo>
                  <a:lnTo>
                    <a:pt x="5235219" y="138557"/>
                  </a:lnTo>
                  <a:lnTo>
                    <a:pt x="5237124" y="142379"/>
                  </a:lnTo>
                  <a:lnTo>
                    <a:pt x="5233822" y="139827"/>
                  </a:lnTo>
                  <a:lnTo>
                    <a:pt x="5227218" y="137287"/>
                  </a:lnTo>
                  <a:lnTo>
                    <a:pt x="5201691" y="124587"/>
                  </a:lnTo>
                  <a:lnTo>
                    <a:pt x="5195722" y="130937"/>
                  </a:lnTo>
                  <a:lnTo>
                    <a:pt x="5240553" y="151257"/>
                  </a:lnTo>
                  <a:lnTo>
                    <a:pt x="5240934" y="152527"/>
                  </a:lnTo>
                  <a:lnTo>
                    <a:pt x="5241442" y="152527"/>
                  </a:lnTo>
                  <a:lnTo>
                    <a:pt x="5242839" y="156337"/>
                  </a:lnTo>
                  <a:lnTo>
                    <a:pt x="5243601" y="157607"/>
                  </a:lnTo>
                  <a:lnTo>
                    <a:pt x="5244109" y="160147"/>
                  </a:lnTo>
                  <a:lnTo>
                    <a:pt x="5244109" y="161429"/>
                  </a:lnTo>
                  <a:lnTo>
                    <a:pt x="5243347" y="163957"/>
                  </a:lnTo>
                  <a:lnTo>
                    <a:pt x="5242585" y="163957"/>
                  </a:lnTo>
                  <a:lnTo>
                    <a:pt x="5241442" y="165227"/>
                  </a:lnTo>
                  <a:lnTo>
                    <a:pt x="5240553" y="166497"/>
                  </a:lnTo>
                  <a:lnTo>
                    <a:pt x="5239283" y="167779"/>
                  </a:lnTo>
                  <a:lnTo>
                    <a:pt x="5237759" y="169037"/>
                  </a:lnTo>
                  <a:lnTo>
                    <a:pt x="5243601" y="172847"/>
                  </a:lnTo>
                  <a:lnTo>
                    <a:pt x="5245252" y="171577"/>
                  </a:lnTo>
                  <a:lnTo>
                    <a:pt x="5246649" y="171577"/>
                  </a:lnTo>
                  <a:lnTo>
                    <a:pt x="5247792" y="170307"/>
                  </a:lnTo>
                  <a:lnTo>
                    <a:pt x="5249570" y="167779"/>
                  </a:lnTo>
                  <a:lnTo>
                    <a:pt x="5250586" y="166497"/>
                  </a:lnTo>
                  <a:lnTo>
                    <a:pt x="5250967" y="163957"/>
                  </a:lnTo>
                  <a:lnTo>
                    <a:pt x="5251475" y="162687"/>
                  </a:lnTo>
                  <a:close/>
                </a:path>
                <a:path w="9090025" h="247014">
                  <a:moveTo>
                    <a:pt x="5263921" y="100457"/>
                  </a:moveTo>
                  <a:lnTo>
                    <a:pt x="5258333" y="95377"/>
                  </a:lnTo>
                  <a:lnTo>
                    <a:pt x="5241442" y="111887"/>
                  </a:lnTo>
                  <a:lnTo>
                    <a:pt x="5247030" y="118237"/>
                  </a:lnTo>
                  <a:lnTo>
                    <a:pt x="5263921" y="100457"/>
                  </a:lnTo>
                  <a:close/>
                </a:path>
                <a:path w="9090025" h="247014">
                  <a:moveTo>
                    <a:pt x="5311419" y="80137"/>
                  </a:moveTo>
                  <a:lnTo>
                    <a:pt x="5306212" y="75057"/>
                  </a:lnTo>
                  <a:lnTo>
                    <a:pt x="5284241" y="96647"/>
                  </a:lnTo>
                  <a:lnTo>
                    <a:pt x="5283860" y="95377"/>
                  </a:lnTo>
                  <a:lnTo>
                    <a:pt x="5283606" y="94107"/>
                  </a:lnTo>
                  <a:lnTo>
                    <a:pt x="5283733" y="85229"/>
                  </a:lnTo>
                  <a:lnTo>
                    <a:pt x="5284876" y="72529"/>
                  </a:lnTo>
                  <a:lnTo>
                    <a:pt x="5284927" y="71247"/>
                  </a:lnTo>
                  <a:lnTo>
                    <a:pt x="5271160" y="42037"/>
                  </a:lnTo>
                  <a:lnTo>
                    <a:pt x="5261381" y="43307"/>
                  </a:lnTo>
                  <a:lnTo>
                    <a:pt x="5245506" y="64897"/>
                  </a:lnTo>
                  <a:lnTo>
                    <a:pt x="5245379" y="67437"/>
                  </a:lnTo>
                  <a:lnTo>
                    <a:pt x="5247157" y="72529"/>
                  </a:lnTo>
                  <a:lnTo>
                    <a:pt x="5250967" y="76327"/>
                  </a:lnTo>
                  <a:lnTo>
                    <a:pt x="5257190" y="71247"/>
                  </a:lnTo>
                  <a:lnTo>
                    <a:pt x="5254396" y="68707"/>
                  </a:lnTo>
                  <a:lnTo>
                    <a:pt x="5252999" y="66179"/>
                  </a:lnTo>
                  <a:lnTo>
                    <a:pt x="5252999" y="59829"/>
                  </a:lnTo>
                  <a:lnTo>
                    <a:pt x="5254269" y="56007"/>
                  </a:lnTo>
                  <a:lnTo>
                    <a:pt x="5256936" y="53479"/>
                  </a:lnTo>
                  <a:lnTo>
                    <a:pt x="5259476" y="50927"/>
                  </a:lnTo>
                  <a:lnTo>
                    <a:pt x="5262270" y="49657"/>
                  </a:lnTo>
                  <a:lnTo>
                    <a:pt x="5268366" y="49657"/>
                  </a:lnTo>
                  <a:lnTo>
                    <a:pt x="5277637" y="72529"/>
                  </a:lnTo>
                  <a:lnTo>
                    <a:pt x="5276875" y="80137"/>
                  </a:lnTo>
                  <a:lnTo>
                    <a:pt x="5276748" y="81407"/>
                  </a:lnTo>
                  <a:lnTo>
                    <a:pt x="5276240" y="87757"/>
                  </a:lnTo>
                  <a:lnTo>
                    <a:pt x="5276113" y="91579"/>
                  </a:lnTo>
                  <a:lnTo>
                    <a:pt x="5276621" y="99187"/>
                  </a:lnTo>
                  <a:lnTo>
                    <a:pt x="5281828" y="109347"/>
                  </a:lnTo>
                  <a:lnTo>
                    <a:pt x="5294693" y="96647"/>
                  </a:lnTo>
                  <a:lnTo>
                    <a:pt x="5311419" y="80137"/>
                  </a:lnTo>
                  <a:close/>
                </a:path>
                <a:path w="9090025" h="247014">
                  <a:moveTo>
                    <a:pt x="5338343" y="45847"/>
                  </a:moveTo>
                  <a:lnTo>
                    <a:pt x="5337454" y="42037"/>
                  </a:lnTo>
                  <a:lnTo>
                    <a:pt x="5335295" y="36957"/>
                  </a:lnTo>
                  <a:lnTo>
                    <a:pt x="5333136" y="33147"/>
                  </a:lnTo>
                  <a:lnTo>
                    <a:pt x="5331358" y="30708"/>
                  </a:lnTo>
                  <a:lnTo>
                    <a:pt x="5331358" y="50927"/>
                  </a:lnTo>
                  <a:lnTo>
                    <a:pt x="5330469" y="53479"/>
                  </a:lnTo>
                  <a:lnTo>
                    <a:pt x="5325389" y="58547"/>
                  </a:lnTo>
                  <a:lnTo>
                    <a:pt x="5322087" y="59829"/>
                  </a:lnTo>
                  <a:lnTo>
                    <a:pt x="5313705" y="58547"/>
                  </a:lnTo>
                  <a:lnTo>
                    <a:pt x="5307990" y="54737"/>
                  </a:lnTo>
                  <a:lnTo>
                    <a:pt x="5293258" y="39497"/>
                  </a:lnTo>
                  <a:lnTo>
                    <a:pt x="5289194" y="33147"/>
                  </a:lnTo>
                  <a:lnTo>
                    <a:pt x="5287797" y="25527"/>
                  </a:lnTo>
                  <a:lnTo>
                    <a:pt x="5288686" y="21729"/>
                  </a:lnTo>
                  <a:lnTo>
                    <a:pt x="5293766" y="16637"/>
                  </a:lnTo>
                  <a:lnTo>
                    <a:pt x="5301259" y="16637"/>
                  </a:lnTo>
                  <a:lnTo>
                    <a:pt x="5329834" y="42037"/>
                  </a:lnTo>
                  <a:lnTo>
                    <a:pt x="5331358" y="50927"/>
                  </a:lnTo>
                  <a:lnTo>
                    <a:pt x="5331358" y="30708"/>
                  </a:lnTo>
                  <a:lnTo>
                    <a:pt x="5329453" y="28079"/>
                  </a:lnTo>
                  <a:lnTo>
                    <a:pt x="5324119" y="22987"/>
                  </a:lnTo>
                  <a:lnTo>
                    <a:pt x="5319801" y="19177"/>
                  </a:lnTo>
                  <a:lnTo>
                    <a:pt x="5317172" y="16637"/>
                  </a:lnTo>
                  <a:lnTo>
                    <a:pt x="5315864" y="15379"/>
                  </a:lnTo>
                  <a:lnTo>
                    <a:pt x="5312562" y="14097"/>
                  </a:lnTo>
                  <a:lnTo>
                    <a:pt x="5309260" y="11557"/>
                  </a:lnTo>
                  <a:lnTo>
                    <a:pt x="5306212" y="10287"/>
                  </a:lnTo>
                  <a:lnTo>
                    <a:pt x="5300116" y="9029"/>
                  </a:lnTo>
                  <a:lnTo>
                    <a:pt x="5297322" y="9029"/>
                  </a:lnTo>
                  <a:lnTo>
                    <a:pt x="5291734" y="11557"/>
                  </a:lnTo>
                  <a:lnTo>
                    <a:pt x="5289194" y="12827"/>
                  </a:lnTo>
                  <a:lnTo>
                    <a:pt x="5286781" y="15379"/>
                  </a:lnTo>
                  <a:lnTo>
                    <a:pt x="5283479" y="17907"/>
                  </a:lnTo>
                  <a:lnTo>
                    <a:pt x="5281701" y="21729"/>
                  </a:lnTo>
                  <a:lnTo>
                    <a:pt x="5281320" y="25527"/>
                  </a:lnTo>
                  <a:lnTo>
                    <a:pt x="5280812" y="29337"/>
                  </a:lnTo>
                  <a:lnTo>
                    <a:pt x="5281701" y="33147"/>
                  </a:lnTo>
                  <a:lnTo>
                    <a:pt x="5286019" y="42037"/>
                  </a:lnTo>
                  <a:lnTo>
                    <a:pt x="5289702" y="47129"/>
                  </a:lnTo>
                  <a:lnTo>
                    <a:pt x="5295036" y="52197"/>
                  </a:lnTo>
                  <a:lnTo>
                    <a:pt x="5301158" y="58547"/>
                  </a:lnTo>
                  <a:lnTo>
                    <a:pt x="5306949" y="62357"/>
                  </a:lnTo>
                  <a:lnTo>
                    <a:pt x="5312448" y="64897"/>
                  </a:lnTo>
                  <a:lnTo>
                    <a:pt x="5317642" y="66179"/>
                  </a:lnTo>
                  <a:lnTo>
                    <a:pt x="5323230" y="67437"/>
                  </a:lnTo>
                  <a:lnTo>
                    <a:pt x="5328056" y="64897"/>
                  </a:lnTo>
                  <a:lnTo>
                    <a:pt x="5333123" y="59829"/>
                  </a:lnTo>
                  <a:lnTo>
                    <a:pt x="5335676" y="57277"/>
                  </a:lnTo>
                  <a:lnTo>
                    <a:pt x="5337581" y="53479"/>
                  </a:lnTo>
                  <a:lnTo>
                    <a:pt x="5338216" y="47129"/>
                  </a:lnTo>
                  <a:lnTo>
                    <a:pt x="5338343" y="45847"/>
                  </a:lnTo>
                  <a:close/>
                </a:path>
                <a:path w="9090025" h="247014">
                  <a:moveTo>
                    <a:pt x="5396509" y="188087"/>
                  </a:moveTo>
                  <a:lnTo>
                    <a:pt x="5396420" y="186055"/>
                  </a:lnTo>
                  <a:lnTo>
                    <a:pt x="5396382" y="185039"/>
                  </a:lnTo>
                  <a:lnTo>
                    <a:pt x="5394096" y="179197"/>
                  </a:lnTo>
                  <a:lnTo>
                    <a:pt x="5391556" y="175768"/>
                  </a:lnTo>
                  <a:lnTo>
                    <a:pt x="5357393" y="141605"/>
                  </a:lnTo>
                  <a:lnTo>
                    <a:pt x="5351424" y="147447"/>
                  </a:lnTo>
                  <a:lnTo>
                    <a:pt x="5384825" y="180848"/>
                  </a:lnTo>
                  <a:lnTo>
                    <a:pt x="5386476" y="183007"/>
                  </a:lnTo>
                  <a:lnTo>
                    <a:pt x="5388000" y="186055"/>
                  </a:lnTo>
                  <a:lnTo>
                    <a:pt x="5388254" y="187833"/>
                  </a:lnTo>
                  <a:lnTo>
                    <a:pt x="5387873" y="189484"/>
                  </a:lnTo>
                  <a:lnTo>
                    <a:pt x="5387365" y="191262"/>
                  </a:lnTo>
                  <a:lnTo>
                    <a:pt x="5386476" y="192913"/>
                  </a:lnTo>
                  <a:lnTo>
                    <a:pt x="5382920" y="196469"/>
                  </a:lnTo>
                  <a:lnTo>
                    <a:pt x="5380761" y="197358"/>
                  </a:lnTo>
                  <a:lnTo>
                    <a:pt x="5375935" y="197104"/>
                  </a:lnTo>
                  <a:lnTo>
                    <a:pt x="5373014" y="195453"/>
                  </a:lnTo>
                  <a:lnTo>
                    <a:pt x="5369458" y="192151"/>
                  </a:lnTo>
                  <a:lnTo>
                    <a:pt x="5364759" y="198247"/>
                  </a:lnTo>
                  <a:lnTo>
                    <a:pt x="5369204" y="202692"/>
                  </a:lnTo>
                  <a:lnTo>
                    <a:pt x="5373522" y="205105"/>
                  </a:lnTo>
                  <a:lnTo>
                    <a:pt x="5377840" y="205232"/>
                  </a:lnTo>
                  <a:lnTo>
                    <a:pt x="5382285" y="205486"/>
                  </a:lnTo>
                  <a:lnTo>
                    <a:pt x="5386349" y="203581"/>
                  </a:lnTo>
                  <a:lnTo>
                    <a:pt x="5392572" y="197358"/>
                  </a:lnTo>
                  <a:lnTo>
                    <a:pt x="5392826" y="197104"/>
                  </a:lnTo>
                  <a:lnTo>
                    <a:pt x="5393271" y="196469"/>
                  </a:lnTo>
                  <a:lnTo>
                    <a:pt x="5394731" y="194183"/>
                  </a:lnTo>
                  <a:lnTo>
                    <a:pt x="5396509" y="188087"/>
                  </a:lnTo>
                  <a:close/>
                </a:path>
                <a:path w="9090025" h="247014">
                  <a:moveTo>
                    <a:pt x="5437276" y="151130"/>
                  </a:moveTo>
                  <a:lnTo>
                    <a:pt x="5404891" y="118745"/>
                  </a:lnTo>
                  <a:lnTo>
                    <a:pt x="5399303" y="124206"/>
                  </a:lnTo>
                  <a:lnTo>
                    <a:pt x="5419496" y="144399"/>
                  </a:lnTo>
                  <a:lnTo>
                    <a:pt x="5421274" y="146812"/>
                  </a:lnTo>
                  <a:lnTo>
                    <a:pt x="5422163" y="148844"/>
                  </a:lnTo>
                  <a:lnTo>
                    <a:pt x="5422925" y="150876"/>
                  </a:lnTo>
                  <a:lnTo>
                    <a:pt x="5423179" y="153035"/>
                  </a:lnTo>
                  <a:lnTo>
                    <a:pt x="5422544" y="155321"/>
                  </a:lnTo>
                  <a:lnTo>
                    <a:pt x="5421973" y="157480"/>
                  </a:lnTo>
                  <a:lnTo>
                    <a:pt x="5421909" y="157734"/>
                  </a:lnTo>
                  <a:lnTo>
                    <a:pt x="5420766" y="159639"/>
                  </a:lnTo>
                  <a:lnTo>
                    <a:pt x="5417464" y="162941"/>
                  </a:lnTo>
                  <a:lnTo>
                    <a:pt x="5415458" y="164084"/>
                  </a:lnTo>
                  <a:lnTo>
                    <a:pt x="5414734" y="164084"/>
                  </a:lnTo>
                  <a:lnTo>
                    <a:pt x="5411876" y="164465"/>
                  </a:lnTo>
                  <a:lnTo>
                    <a:pt x="5409971" y="164084"/>
                  </a:lnTo>
                  <a:lnTo>
                    <a:pt x="5408193" y="162941"/>
                  </a:lnTo>
                  <a:lnTo>
                    <a:pt x="5406923" y="162179"/>
                  </a:lnTo>
                  <a:lnTo>
                    <a:pt x="5404891" y="160401"/>
                  </a:lnTo>
                  <a:lnTo>
                    <a:pt x="5384063" y="139573"/>
                  </a:lnTo>
                  <a:lnTo>
                    <a:pt x="5378602" y="145034"/>
                  </a:lnTo>
                  <a:lnTo>
                    <a:pt x="5398668" y="165100"/>
                  </a:lnTo>
                  <a:lnTo>
                    <a:pt x="5400954" y="167513"/>
                  </a:lnTo>
                  <a:lnTo>
                    <a:pt x="5402732" y="169037"/>
                  </a:lnTo>
                  <a:lnTo>
                    <a:pt x="5411749" y="172593"/>
                  </a:lnTo>
                  <a:lnTo>
                    <a:pt x="5413908" y="172339"/>
                  </a:lnTo>
                  <a:lnTo>
                    <a:pt x="5416321" y="171323"/>
                  </a:lnTo>
                  <a:lnTo>
                    <a:pt x="5418734" y="170434"/>
                  </a:lnTo>
                  <a:lnTo>
                    <a:pt x="5420893" y="169037"/>
                  </a:lnTo>
                  <a:lnTo>
                    <a:pt x="5425465" y="164465"/>
                  </a:lnTo>
                  <a:lnTo>
                    <a:pt x="5426989" y="162941"/>
                  </a:lnTo>
                  <a:lnTo>
                    <a:pt x="5427307" y="162179"/>
                  </a:lnTo>
                  <a:lnTo>
                    <a:pt x="5428678" y="157734"/>
                  </a:lnTo>
                  <a:lnTo>
                    <a:pt x="5428767" y="157480"/>
                  </a:lnTo>
                  <a:lnTo>
                    <a:pt x="5427624" y="151384"/>
                  </a:lnTo>
                  <a:lnTo>
                    <a:pt x="5432323" y="156083"/>
                  </a:lnTo>
                  <a:lnTo>
                    <a:pt x="5437022" y="151384"/>
                  </a:lnTo>
                  <a:lnTo>
                    <a:pt x="5437276" y="151130"/>
                  </a:lnTo>
                  <a:close/>
                </a:path>
                <a:path w="9090025" h="247014">
                  <a:moveTo>
                    <a:pt x="5452008" y="136398"/>
                  </a:moveTo>
                  <a:lnTo>
                    <a:pt x="5407304" y="91694"/>
                  </a:lnTo>
                  <a:lnTo>
                    <a:pt x="5401843" y="97155"/>
                  </a:lnTo>
                  <a:lnTo>
                    <a:pt x="5446547" y="141859"/>
                  </a:lnTo>
                  <a:lnTo>
                    <a:pt x="5452008" y="136398"/>
                  </a:lnTo>
                  <a:close/>
                </a:path>
                <a:path w="9090025" h="247014">
                  <a:moveTo>
                    <a:pt x="5461914" y="99568"/>
                  </a:moveTo>
                  <a:lnTo>
                    <a:pt x="5456453" y="94107"/>
                  </a:lnTo>
                  <a:lnTo>
                    <a:pt x="5439562" y="110998"/>
                  </a:lnTo>
                  <a:lnTo>
                    <a:pt x="5445150" y="116459"/>
                  </a:lnTo>
                  <a:lnTo>
                    <a:pt x="5461914" y="99568"/>
                  </a:lnTo>
                  <a:close/>
                </a:path>
                <a:path w="9090025" h="247014">
                  <a:moveTo>
                    <a:pt x="5508523" y="80010"/>
                  </a:moveTo>
                  <a:lnTo>
                    <a:pt x="5503189" y="74676"/>
                  </a:lnTo>
                  <a:lnTo>
                    <a:pt x="5481218" y="96647"/>
                  </a:lnTo>
                  <a:lnTo>
                    <a:pt x="5480951" y="95504"/>
                  </a:lnTo>
                  <a:lnTo>
                    <a:pt x="5480837" y="94996"/>
                  </a:lnTo>
                  <a:lnTo>
                    <a:pt x="5480710" y="93218"/>
                  </a:lnTo>
                  <a:lnTo>
                    <a:pt x="5480609" y="91694"/>
                  </a:lnTo>
                  <a:lnTo>
                    <a:pt x="5480583" y="89408"/>
                  </a:lnTo>
                  <a:lnTo>
                    <a:pt x="5480710" y="87249"/>
                  </a:lnTo>
                  <a:lnTo>
                    <a:pt x="5480837" y="85344"/>
                  </a:lnTo>
                  <a:lnTo>
                    <a:pt x="5481917" y="72644"/>
                  </a:lnTo>
                  <a:lnTo>
                    <a:pt x="5481815" y="62039"/>
                  </a:lnTo>
                  <a:lnTo>
                    <a:pt x="5478069" y="49911"/>
                  </a:lnTo>
                  <a:lnTo>
                    <a:pt x="5477662" y="49276"/>
                  </a:lnTo>
                  <a:lnTo>
                    <a:pt x="5475884" y="47498"/>
                  </a:lnTo>
                  <a:lnTo>
                    <a:pt x="5472455" y="43942"/>
                  </a:lnTo>
                  <a:lnTo>
                    <a:pt x="5468467" y="42418"/>
                  </a:lnTo>
                  <a:lnTo>
                    <a:pt x="5463311" y="42418"/>
                  </a:lnTo>
                  <a:lnTo>
                    <a:pt x="5458485" y="42545"/>
                  </a:lnTo>
                  <a:lnTo>
                    <a:pt x="5453786" y="44704"/>
                  </a:lnTo>
                  <a:lnTo>
                    <a:pt x="5449595" y="49022"/>
                  </a:lnTo>
                  <a:lnTo>
                    <a:pt x="5445531" y="53086"/>
                  </a:lnTo>
                  <a:lnTo>
                    <a:pt x="5445201" y="53467"/>
                  </a:lnTo>
                  <a:lnTo>
                    <a:pt x="5443245" y="57277"/>
                  </a:lnTo>
                  <a:lnTo>
                    <a:pt x="5442978" y="57899"/>
                  </a:lnTo>
                  <a:lnTo>
                    <a:pt x="5442966" y="58166"/>
                  </a:lnTo>
                  <a:lnTo>
                    <a:pt x="5442839" y="60452"/>
                  </a:lnTo>
                  <a:lnTo>
                    <a:pt x="5442750" y="62039"/>
                  </a:lnTo>
                  <a:lnTo>
                    <a:pt x="5442547" y="64770"/>
                  </a:lnTo>
                  <a:lnTo>
                    <a:pt x="5442470" y="65659"/>
                  </a:lnTo>
                  <a:lnTo>
                    <a:pt x="5442356" y="67183"/>
                  </a:lnTo>
                  <a:lnTo>
                    <a:pt x="5443931" y="71374"/>
                  </a:lnTo>
                  <a:lnTo>
                    <a:pt x="5444236" y="72009"/>
                  </a:lnTo>
                  <a:lnTo>
                    <a:pt x="5447944" y="76454"/>
                  </a:lnTo>
                  <a:lnTo>
                    <a:pt x="5454167" y="71374"/>
                  </a:lnTo>
                  <a:lnTo>
                    <a:pt x="5451373" y="68580"/>
                  </a:lnTo>
                  <a:lnTo>
                    <a:pt x="5449976" y="65659"/>
                  </a:lnTo>
                  <a:lnTo>
                    <a:pt x="5449976" y="59436"/>
                  </a:lnTo>
                  <a:lnTo>
                    <a:pt x="5450268" y="58674"/>
                  </a:lnTo>
                  <a:lnTo>
                    <a:pt x="5451373" y="56388"/>
                  </a:lnTo>
                  <a:lnTo>
                    <a:pt x="5454167" y="53467"/>
                  </a:lnTo>
                  <a:lnTo>
                    <a:pt x="5456453" y="51181"/>
                  </a:lnTo>
                  <a:lnTo>
                    <a:pt x="5459247" y="49911"/>
                  </a:lnTo>
                  <a:lnTo>
                    <a:pt x="5465673" y="49911"/>
                  </a:lnTo>
                  <a:lnTo>
                    <a:pt x="5468010" y="50800"/>
                  </a:lnTo>
                  <a:lnTo>
                    <a:pt x="5470169" y="53086"/>
                  </a:lnTo>
                  <a:lnTo>
                    <a:pt x="5472201" y="55118"/>
                  </a:lnTo>
                  <a:lnTo>
                    <a:pt x="5473471" y="57899"/>
                  </a:lnTo>
                  <a:lnTo>
                    <a:pt x="5473598" y="58166"/>
                  </a:lnTo>
                  <a:lnTo>
                    <a:pt x="5474627" y="64770"/>
                  </a:lnTo>
                  <a:lnTo>
                    <a:pt x="5474741" y="72644"/>
                  </a:lnTo>
                  <a:lnTo>
                    <a:pt x="5473852" y="81534"/>
                  </a:lnTo>
                  <a:lnTo>
                    <a:pt x="5473420" y="85344"/>
                  </a:lnTo>
                  <a:lnTo>
                    <a:pt x="5473509" y="97155"/>
                  </a:lnTo>
                  <a:lnTo>
                    <a:pt x="5473725" y="99060"/>
                  </a:lnTo>
                  <a:lnTo>
                    <a:pt x="5474487" y="102362"/>
                  </a:lnTo>
                  <a:lnTo>
                    <a:pt x="5475757" y="105029"/>
                  </a:lnTo>
                  <a:lnTo>
                    <a:pt x="5476519" y="106807"/>
                  </a:lnTo>
                  <a:lnTo>
                    <a:pt x="5477535" y="108204"/>
                  </a:lnTo>
                  <a:lnTo>
                    <a:pt x="5478932" y="109474"/>
                  </a:lnTo>
                  <a:lnTo>
                    <a:pt x="5491810" y="96647"/>
                  </a:lnTo>
                  <a:lnTo>
                    <a:pt x="5508523" y="80010"/>
                  </a:lnTo>
                  <a:close/>
                </a:path>
                <a:path w="9090025" h="247014">
                  <a:moveTo>
                    <a:pt x="5535307" y="45974"/>
                  </a:moveTo>
                  <a:lnTo>
                    <a:pt x="5535066" y="44704"/>
                  </a:lnTo>
                  <a:lnTo>
                    <a:pt x="5534431" y="41783"/>
                  </a:lnTo>
                  <a:lnTo>
                    <a:pt x="5530304" y="33528"/>
                  </a:lnTo>
                  <a:lnTo>
                    <a:pt x="5530177" y="33274"/>
                  </a:lnTo>
                  <a:lnTo>
                    <a:pt x="5528335" y="30848"/>
                  </a:lnTo>
                  <a:lnTo>
                    <a:pt x="5528335" y="50165"/>
                  </a:lnTo>
                  <a:lnTo>
                    <a:pt x="5527548" y="53086"/>
                  </a:lnTo>
                  <a:lnTo>
                    <a:pt x="5527446" y="53467"/>
                  </a:lnTo>
                  <a:lnTo>
                    <a:pt x="5522239" y="58674"/>
                  </a:lnTo>
                  <a:lnTo>
                    <a:pt x="5521884" y="58674"/>
                  </a:lnTo>
                  <a:lnTo>
                    <a:pt x="5519064" y="59436"/>
                  </a:lnTo>
                  <a:lnTo>
                    <a:pt x="5514873" y="58674"/>
                  </a:lnTo>
                  <a:lnTo>
                    <a:pt x="5511622" y="58166"/>
                  </a:lnTo>
                  <a:lnTo>
                    <a:pt x="5510987" y="58166"/>
                  </a:lnTo>
                  <a:lnTo>
                    <a:pt x="5504967" y="53975"/>
                  </a:lnTo>
                  <a:lnTo>
                    <a:pt x="5497728" y="46609"/>
                  </a:lnTo>
                  <a:lnTo>
                    <a:pt x="5490362" y="39243"/>
                  </a:lnTo>
                  <a:lnTo>
                    <a:pt x="5486298" y="33274"/>
                  </a:lnTo>
                  <a:lnTo>
                    <a:pt x="5485409" y="28702"/>
                  </a:lnTo>
                  <a:lnTo>
                    <a:pt x="5484774" y="25019"/>
                  </a:lnTo>
                  <a:lnTo>
                    <a:pt x="5485663" y="21971"/>
                  </a:lnTo>
                  <a:lnTo>
                    <a:pt x="5490743" y="16891"/>
                  </a:lnTo>
                  <a:lnTo>
                    <a:pt x="5494172" y="15875"/>
                  </a:lnTo>
                  <a:lnTo>
                    <a:pt x="5502427" y="17399"/>
                  </a:lnTo>
                  <a:lnTo>
                    <a:pt x="5508142" y="21336"/>
                  </a:lnTo>
                  <a:lnTo>
                    <a:pt x="5522874" y="36068"/>
                  </a:lnTo>
                  <a:lnTo>
                    <a:pt x="5526938" y="41783"/>
                  </a:lnTo>
                  <a:lnTo>
                    <a:pt x="5527573" y="45974"/>
                  </a:lnTo>
                  <a:lnTo>
                    <a:pt x="5528119" y="49022"/>
                  </a:lnTo>
                  <a:lnTo>
                    <a:pt x="5528170" y="49276"/>
                  </a:lnTo>
                  <a:lnTo>
                    <a:pt x="5528284" y="49911"/>
                  </a:lnTo>
                  <a:lnTo>
                    <a:pt x="5528335" y="50165"/>
                  </a:lnTo>
                  <a:lnTo>
                    <a:pt x="5528335" y="30848"/>
                  </a:lnTo>
                  <a:lnTo>
                    <a:pt x="5526430" y="28321"/>
                  </a:lnTo>
                  <a:lnTo>
                    <a:pt x="5516778" y="18669"/>
                  </a:lnTo>
                  <a:lnTo>
                    <a:pt x="5513425" y="15875"/>
                  </a:lnTo>
                  <a:lnTo>
                    <a:pt x="5512968" y="15494"/>
                  </a:lnTo>
                  <a:lnTo>
                    <a:pt x="5509666" y="13589"/>
                  </a:lnTo>
                  <a:lnTo>
                    <a:pt x="5506364" y="11557"/>
                  </a:lnTo>
                  <a:lnTo>
                    <a:pt x="5503189" y="10287"/>
                  </a:lnTo>
                  <a:lnTo>
                    <a:pt x="5497220" y="9017"/>
                  </a:lnTo>
                  <a:lnTo>
                    <a:pt x="5494299" y="9144"/>
                  </a:lnTo>
                  <a:lnTo>
                    <a:pt x="5491505" y="9906"/>
                  </a:lnTo>
                  <a:lnTo>
                    <a:pt x="5488711" y="10795"/>
                  </a:lnTo>
                  <a:lnTo>
                    <a:pt x="5486171" y="12446"/>
                  </a:lnTo>
                  <a:lnTo>
                    <a:pt x="5483758" y="14859"/>
                  </a:lnTo>
                  <a:lnTo>
                    <a:pt x="5480456" y="18034"/>
                  </a:lnTo>
                  <a:lnTo>
                    <a:pt x="5478678" y="21717"/>
                  </a:lnTo>
                  <a:lnTo>
                    <a:pt x="5478018" y="28321"/>
                  </a:lnTo>
                  <a:lnTo>
                    <a:pt x="5477916" y="29464"/>
                  </a:lnTo>
                  <a:lnTo>
                    <a:pt x="5478742" y="33274"/>
                  </a:lnTo>
                  <a:lnTo>
                    <a:pt x="5503977" y="62039"/>
                  </a:lnTo>
                  <a:lnTo>
                    <a:pt x="5520207" y="66675"/>
                  </a:lnTo>
                  <a:lnTo>
                    <a:pt x="5525160" y="64770"/>
                  </a:lnTo>
                  <a:lnTo>
                    <a:pt x="5529478" y="60452"/>
                  </a:lnTo>
                  <a:lnTo>
                    <a:pt x="5530532" y="59436"/>
                  </a:lnTo>
                  <a:lnTo>
                    <a:pt x="5532780" y="57277"/>
                  </a:lnTo>
                  <a:lnTo>
                    <a:pt x="5534609" y="53467"/>
                  </a:lnTo>
                  <a:lnTo>
                    <a:pt x="5534672" y="52324"/>
                  </a:lnTo>
                  <a:lnTo>
                    <a:pt x="5535155" y="47498"/>
                  </a:lnTo>
                  <a:lnTo>
                    <a:pt x="5535244" y="46609"/>
                  </a:lnTo>
                  <a:lnTo>
                    <a:pt x="5535307" y="45974"/>
                  </a:lnTo>
                  <a:close/>
                </a:path>
                <a:path w="9090025" h="247014">
                  <a:moveTo>
                    <a:pt x="5572785" y="205498"/>
                  </a:moveTo>
                  <a:lnTo>
                    <a:pt x="5572150" y="202946"/>
                  </a:lnTo>
                  <a:lnTo>
                    <a:pt x="5571388" y="199148"/>
                  </a:lnTo>
                  <a:lnTo>
                    <a:pt x="5570563" y="197866"/>
                  </a:lnTo>
                  <a:lnTo>
                    <a:pt x="5559196" y="188976"/>
                  </a:lnTo>
                  <a:lnTo>
                    <a:pt x="5552592" y="188976"/>
                  </a:lnTo>
                  <a:lnTo>
                    <a:pt x="5546242" y="191516"/>
                  </a:lnTo>
                  <a:lnTo>
                    <a:pt x="5542051" y="194056"/>
                  </a:lnTo>
                  <a:lnTo>
                    <a:pt x="5536082" y="197866"/>
                  </a:lnTo>
                  <a:lnTo>
                    <a:pt x="5530240" y="201676"/>
                  </a:lnTo>
                  <a:lnTo>
                    <a:pt x="5526176" y="202946"/>
                  </a:lnTo>
                  <a:lnTo>
                    <a:pt x="5519826" y="202946"/>
                  </a:lnTo>
                  <a:lnTo>
                    <a:pt x="5518302" y="201676"/>
                  </a:lnTo>
                  <a:lnTo>
                    <a:pt x="5516397" y="199148"/>
                  </a:lnTo>
                  <a:lnTo>
                    <a:pt x="5515635" y="196596"/>
                  </a:lnTo>
                  <a:lnTo>
                    <a:pt x="5516016" y="194056"/>
                  </a:lnTo>
                  <a:lnTo>
                    <a:pt x="5516092" y="192798"/>
                  </a:lnTo>
                  <a:lnTo>
                    <a:pt x="5516181" y="191516"/>
                  </a:lnTo>
                  <a:lnTo>
                    <a:pt x="5516270" y="190246"/>
                  </a:lnTo>
                  <a:lnTo>
                    <a:pt x="5518302" y="187706"/>
                  </a:lnTo>
                  <a:lnTo>
                    <a:pt x="5521858" y="183896"/>
                  </a:lnTo>
                  <a:lnTo>
                    <a:pt x="5525287" y="180098"/>
                  </a:lnTo>
                  <a:lnTo>
                    <a:pt x="5528589" y="178816"/>
                  </a:lnTo>
                  <a:lnTo>
                    <a:pt x="5531764" y="178816"/>
                  </a:lnTo>
                  <a:lnTo>
                    <a:pt x="5535066" y="177546"/>
                  </a:lnTo>
                  <a:lnTo>
                    <a:pt x="5538241" y="178816"/>
                  </a:lnTo>
                  <a:lnTo>
                    <a:pt x="5541289" y="181356"/>
                  </a:lnTo>
                  <a:lnTo>
                    <a:pt x="5545290" y="177546"/>
                  </a:lnTo>
                  <a:lnTo>
                    <a:pt x="5546623" y="176276"/>
                  </a:lnTo>
                  <a:lnTo>
                    <a:pt x="5543829" y="172466"/>
                  </a:lnTo>
                  <a:lnTo>
                    <a:pt x="5540781" y="171196"/>
                  </a:lnTo>
                  <a:lnTo>
                    <a:pt x="5537352" y="171196"/>
                  </a:lnTo>
                  <a:lnTo>
                    <a:pt x="5533923" y="169926"/>
                  </a:lnTo>
                  <a:lnTo>
                    <a:pt x="5530367" y="169926"/>
                  </a:lnTo>
                  <a:lnTo>
                    <a:pt x="5526811" y="172466"/>
                  </a:lnTo>
                  <a:lnTo>
                    <a:pt x="5523128" y="173748"/>
                  </a:lnTo>
                  <a:lnTo>
                    <a:pt x="5507888" y="195326"/>
                  </a:lnTo>
                  <a:lnTo>
                    <a:pt x="5508523" y="199148"/>
                  </a:lnTo>
                  <a:lnTo>
                    <a:pt x="5509285" y="201676"/>
                  </a:lnTo>
                  <a:lnTo>
                    <a:pt x="5510682" y="205498"/>
                  </a:lnTo>
                  <a:lnTo>
                    <a:pt x="5512968" y="206756"/>
                  </a:lnTo>
                  <a:lnTo>
                    <a:pt x="5515000" y="209296"/>
                  </a:lnTo>
                  <a:lnTo>
                    <a:pt x="5517413" y="210566"/>
                  </a:lnTo>
                  <a:lnTo>
                    <a:pt x="5522747" y="211848"/>
                  </a:lnTo>
                  <a:lnTo>
                    <a:pt x="5525795" y="211848"/>
                  </a:lnTo>
                  <a:lnTo>
                    <a:pt x="5531510" y="209296"/>
                  </a:lnTo>
                  <a:lnTo>
                    <a:pt x="5535320" y="208026"/>
                  </a:lnTo>
                  <a:lnTo>
                    <a:pt x="5540527" y="204216"/>
                  </a:lnTo>
                  <a:lnTo>
                    <a:pt x="5543067" y="202946"/>
                  </a:lnTo>
                  <a:lnTo>
                    <a:pt x="5545607" y="201676"/>
                  </a:lnTo>
                  <a:lnTo>
                    <a:pt x="5548909" y="199148"/>
                  </a:lnTo>
                  <a:lnTo>
                    <a:pt x="5550560" y="199148"/>
                  </a:lnTo>
                  <a:lnTo>
                    <a:pt x="5553227" y="197866"/>
                  </a:lnTo>
                  <a:lnTo>
                    <a:pt x="5559196" y="197866"/>
                  </a:lnTo>
                  <a:lnTo>
                    <a:pt x="5560847" y="199148"/>
                  </a:lnTo>
                  <a:lnTo>
                    <a:pt x="5562244" y="200406"/>
                  </a:lnTo>
                  <a:lnTo>
                    <a:pt x="5563514" y="201676"/>
                  </a:lnTo>
                  <a:lnTo>
                    <a:pt x="5564403" y="202946"/>
                  </a:lnTo>
                  <a:lnTo>
                    <a:pt x="5564784" y="205498"/>
                  </a:lnTo>
                  <a:lnTo>
                    <a:pt x="5565038" y="206756"/>
                  </a:lnTo>
                  <a:lnTo>
                    <a:pt x="5564657" y="209296"/>
                  </a:lnTo>
                  <a:lnTo>
                    <a:pt x="5562625" y="214376"/>
                  </a:lnTo>
                  <a:lnTo>
                    <a:pt x="5560974" y="216916"/>
                  </a:lnTo>
                  <a:lnTo>
                    <a:pt x="5556148" y="220726"/>
                  </a:lnTo>
                  <a:lnTo>
                    <a:pt x="5553354" y="223266"/>
                  </a:lnTo>
                  <a:lnTo>
                    <a:pt x="5547512" y="225806"/>
                  </a:lnTo>
                  <a:lnTo>
                    <a:pt x="5542559" y="225806"/>
                  </a:lnTo>
                  <a:lnTo>
                    <a:pt x="5540146" y="224548"/>
                  </a:lnTo>
                  <a:lnTo>
                    <a:pt x="5537606" y="223266"/>
                  </a:lnTo>
                  <a:lnTo>
                    <a:pt x="5535193" y="221996"/>
                  </a:lnTo>
                  <a:lnTo>
                    <a:pt x="5530113" y="227076"/>
                  </a:lnTo>
                  <a:lnTo>
                    <a:pt x="5533161" y="230898"/>
                  </a:lnTo>
                  <a:lnTo>
                    <a:pt x="5536590" y="232156"/>
                  </a:lnTo>
                  <a:lnTo>
                    <a:pt x="5540527" y="233426"/>
                  </a:lnTo>
                  <a:lnTo>
                    <a:pt x="5548401" y="233426"/>
                  </a:lnTo>
                  <a:lnTo>
                    <a:pt x="5556275" y="230898"/>
                  </a:lnTo>
                  <a:lnTo>
                    <a:pt x="5560212" y="228346"/>
                  </a:lnTo>
                  <a:lnTo>
                    <a:pt x="5562625" y="225806"/>
                  </a:lnTo>
                  <a:lnTo>
                    <a:pt x="5567451" y="220726"/>
                  </a:lnTo>
                  <a:lnTo>
                    <a:pt x="5569737" y="216916"/>
                  </a:lnTo>
                  <a:lnTo>
                    <a:pt x="5572531" y="209296"/>
                  </a:lnTo>
                  <a:lnTo>
                    <a:pt x="5572607" y="208026"/>
                  </a:lnTo>
                  <a:lnTo>
                    <a:pt x="5572696" y="206756"/>
                  </a:lnTo>
                  <a:lnTo>
                    <a:pt x="5572785" y="205498"/>
                  </a:lnTo>
                  <a:close/>
                </a:path>
                <a:path w="9090025" h="247014">
                  <a:moveTo>
                    <a:pt x="5609234" y="169926"/>
                  </a:moveTo>
                  <a:lnTo>
                    <a:pt x="5608345" y="164846"/>
                  </a:lnTo>
                  <a:lnTo>
                    <a:pt x="5605932" y="161048"/>
                  </a:lnTo>
                  <a:lnTo>
                    <a:pt x="5599455" y="166116"/>
                  </a:lnTo>
                  <a:lnTo>
                    <a:pt x="5600979" y="169926"/>
                  </a:lnTo>
                  <a:lnTo>
                    <a:pt x="5601614" y="172466"/>
                  </a:lnTo>
                  <a:lnTo>
                    <a:pt x="5600852" y="177546"/>
                  </a:lnTo>
                  <a:lnTo>
                    <a:pt x="5599582" y="178816"/>
                  </a:lnTo>
                  <a:lnTo>
                    <a:pt x="5594883" y="183896"/>
                  </a:lnTo>
                  <a:lnTo>
                    <a:pt x="5591708" y="185166"/>
                  </a:lnTo>
                  <a:lnTo>
                    <a:pt x="5584342" y="185166"/>
                  </a:lnTo>
                  <a:lnTo>
                    <a:pt x="5580532" y="183896"/>
                  </a:lnTo>
                  <a:lnTo>
                    <a:pt x="5576849" y="180098"/>
                  </a:lnTo>
                  <a:lnTo>
                    <a:pt x="5581929" y="175006"/>
                  </a:lnTo>
                  <a:lnTo>
                    <a:pt x="5600979" y="155956"/>
                  </a:lnTo>
                  <a:lnTo>
                    <a:pt x="5600344" y="154698"/>
                  </a:lnTo>
                  <a:lnTo>
                    <a:pt x="5597296" y="152146"/>
                  </a:lnTo>
                  <a:lnTo>
                    <a:pt x="5594248" y="149606"/>
                  </a:lnTo>
                  <a:lnTo>
                    <a:pt x="5590692" y="147193"/>
                  </a:lnTo>
                  <a:lnTo>
                    <a:pt x="5590692" y="157226"/>
                  </a:lnTo>
                  <a:lnTo>
                    <a:pt x="5572658" y="175006"/>
                  </a:lnTo>
                  <a:lnTo>
                    <a:pt x="5569991" y="172466"/>
                  </a:lnTo>
                  <a:lnTo>
                    <a:pt x="5568594" y="168656"/>
                  </a:lnTo>
                  <a:lnTo>
                    <a:pt x="5568721" y="162306"/>
                  </a:lnTo>
                  <a:lnTo>
                    <a:pt x="5569991" y="159766"/>
                  </a:lnTo>
                  <a:lnTo>
                    <a:pt x="5575325" y="153416"/>
                  </a:lnTo>
                  <a:lnTo>
                    <a:pt x="5578627" y="152146"/>
                  </a:lnTo>
                  <a:lnTo>
                    <a:pt x="5582437" y="153416"/>
                  </a:lnTo>
                  <a:lnTo>
                    <a:pt x="5584977" y="153416"/>
                  </a:lnTo>
                  <a:lnTo>
                    <a:pt x="5587771" y="154698"/>
                  </a:lnTo>
                  <a:lnTo>
                    <a:pt x="5590692" y="157226"/>
                  </a:lnTo>
                  <a:lnTo>
                    <a:pt x="5590692" y="147193"/>
                  </a:lnTo>
                  <a:lnTo>
                    <a:pt x="5588660" y="145796"/>
                  </a:lnTo>
                  <a:lnTo>
                    <a:pt x="5577230" y="145796"/>
                  </a:lnTo>
                  <a:lnTo>
                    <a:pt x="5572277" y="148348"/>
                  </a:lnTo>
                  <a:lnTo>
                    <a:pt x="5563514" y="157226"/>
                  </a:lnTo>
                  <a:lnTo>
                    <a:pt x="5561355" y="162306"/>
                  </a:lnTo>
                  <a:lnTo>
                    <a:pt x="5561419" y="164846"/>
                  </a:lnTo>
                  <a:lnTo>
                    <a:pt x="5561533" y="168656"/>
                  </a:lnTo>
                  <a:lnTo>
                    <a:pt x="5561635" y="171196"/>
                  </a:lnTo>
                  <a:lnTo>
                    <a:pt x="5561736" y="173748"/>
                  </a:lnTo>
                  <a:lnTo>
                    <a:pt x="5564530" y="178816"/>
                  </a:lnTo>
                  <a:lnTo>
                    <a:pt x="5569991" y="185166"/>
                  </a:lnTo>
                  <a:lnTo>
                    <a:pt x="5575325" y="190246"/>
                  </a:lnTo>
                  <a:lnTo>
                    <a:pt x="5580786" y="192798"/>
                  </a:lnTo>
                  <a:lnTo>
                    <a:pt x="5592089" y="192798"/>
                  </a:lnTo>
                  <a:lnTo>
                    <a:pt x="5597423" y="190246"/>
                  </a:lnTo>
                  <a:lnTo>
                    <a:pt x="5602122" y="185166"/>
                  </a:lnTo>
                  <a:lnTo>
                    <a:pt x="5605932" y="182626"/>
                  </a:lnTo>
                  <a:lnTo>
                    <a:pt x="5608091" y="177546"/>
                  </a:lnTo>
                  <a:lnTo>
                    <a:pt x="5608599" y="173748"/>
                  </a:lnTo>
                  <a:lnTo>
                    <a:pt x="5609234" y="169926"/>
                  </a:lnTo>
                  <a:close/>
                </a:path>
                <a:path w="9090025" h="247014">
                  <a:moveTo>
                    <a:pt x="5642889" y="138176"/>
                  </a:moveTo>
                  <a:lnTo>
                    <a:pt x="5642635" y="134366"/>
                  </a:lnTo>
                  <a:lnTo>
                    <a:pt x="5639587" y="126746"/>
                  </a:lnTo>
                  <a:lnTo>
                    <a:pt x="5637301" y="122948"/>
                  </a:lnTo>
                  <a:lnTo>
                    <a:pt x="5635650" y="121043"/>
                  </a:lnTo>
                  <a:lnTo>
                    <a:pt x="5635650" y="140716"/>
                  </a:lnTo>
                  <a:lnTo>
                    <a:pt x="5634507" y="144526"/>
                  </a:lnTo>
                  <a:lnTo>
                    <a:pt x="5629681" y="149606"/>
                  </a:lnTo>
                  <a:lnTo>
                    <a:pt x="5626633" y="150876"/>
                  </a:lnTo>
                  <a:lnTo>
                    <a:pt x="5622950" y="149606"/>
                  </a:lnTo>
                  <a:lnTo>
                    <a:pt x="5619267" y="149606"/>
                  </a:lnTo>
                  <a:lnTo>
                    <a:pt x="5604662" y="133096"/>
                  </a:lnTo>
                  <a:lnTo>
                    <a:pt x="5604535" y="131826"/>
                  </a:lnTo>
                  <a:lnTo>
                    <a:pt x="5604408" y="130556"/>
                  </a:lnTo>
                  <a:lnTo>
                    <a:pt x="5604281" y="129298"/>
                  </a:lnTo>
                  <a:lnTo>
                    <a:pt x="5604154" y="128016"/>
                  </a:lnTo>
                  <a:lnTo>
                    <a:pt x="5604027" y="126746"/>
                  </a:lnTo>
                  <a:lnTo>
                    <a:pt x="5604916" y="124206"/>
                  </a:lnTo>
                  <a:lnTo>
                    <a:pt x="5607329" y="121666"/>
                  </a:lnTo>
                  <a:lnTo>
                    <a:pt x="5609615" y="119126"/>
                  </a:lnTo>
                  <a:lnTo>
                    <a:pt x="5612663" y="117856"/>
                  </a:lnTo>
                  <a:lnTo>
                    <a:pt x="5620283" y="119126"/>
                  </a:lnTo>
                  <a:lnTo>
                    <a:pt x="5624220" y="121666"/>
                  </a:lnTo>
                  <a:lnTo>
                    <a:pt x="5632602" y="129298"/>
                  </a:lnTo>
                  <a:lnTo>
                    <a:pt x="5635015" y="133096"/>
                  </a:lnTo>
                  <a:lnTo>
                    <a:pt x="5635269" y="136906"/>
                  </a:lnTo>
                  <a:lnTo>
                    <a:pt x="5635523" y="139446"/>
                  </a:lnTo>
                  <a:lnTo>
                    <a:pt x="5635650" y="140716"/>
                  </a:lnTo>
                  <a:lnTo>
                    <a:pt x="5635650" y="121043"/>
                  </a:lnTo>
                  <a:lnTo>
                    <a:pt x="5616473" y="110248"/>
                  </a:lnTo>
                  <a:lnTo>
                    <a:pt x="5612917" y="111506"/>
                  </a:lnTo>
                  <a:lnTo>
                    <a:pt x="5609488" y="112776"/>
                  </a:lnTo>
                  <a:lnTo>
                    <a:pt x="5606313" y="114046"/>
                  </a:lnTo>
                  <a:lnTo>
                    <a:pt x="5603519" y="116598"/>
                  </a:lnTo>
                  <a:lnTo>
                    <a:pt x="5601360" y="119126"/>
                  </a:lnTo>
                  <a:lnTo>
                    <a:pt x="5599963" y="120396"/>
                  </a:lnTo>
                  <a:lnTo>
                    <a:pt x="5598693" y="125476"/>
                  </a:lnTo>
                  <a:lnTo>
                    <a:pt x="5598566" y="128016"/>
                  </a:lnTo>
                  <a:lnTo>
                    <a:pt x="5599074" y="130556"/>
                  </a:lnTo>
                  <a:lnTo>
                    <a:pt x="5594883" y="126746"/>
                  </a:lnTo>
                  <a:lnTo>
                    <a:pt x="5589803" y="131826"/>
                  </a:lnTo>
                  <a:lnTo>
                    <a:pt x="5634634" y="176276"/>
                  </a:lnTo>
                  <a:lnTo>
                    <a:pt x="5640222" y="171196"/>
                  </a:lnTo>
                  <a:lnTo>
                    <a:pt x="5624347" y="154698"/>
                  </a:lnTo>
                  <a:lnTo>
                    <a:pt x="5626506" y="155956"/>
                  </a:lnTo>
                  <a:lnTo>
                    <a:pt x="5628665" y="155956"/>
                  </a:lnTo>
                  <a:lnTo>
                    <a:pt x="5630951" y="154698"/>
                  </a:lnTo>
                  <a:lnTo>
                    <a:pt x="5641111" y="145796"/>
                  </a:lnTo>
                  <a:lnTo>
                    <a:pt x="5642889" y="138176"/>
                  </a:lnTo>
                  <a:close/>
                </a:path>
                <a:path w="9090025" h="247014">
                  <a:moveTo>
                    <a:pt x="5659145" y="100076"/>
                  </a:moveTo>
                  <a:lnTo>
                    <a:pt x="5653557" y="94996"/>
                  </a:lnTo>
                  <a:lnTo>
                    <a:pt x="5636666" y="111506"/>
                  </a:lnTo>
                  <a:lnTo>
                    <a:pt x="5642254" y="117856"/>
                  </a:lnTo>
                  <a:lnTo>
                    <a:pt x="5659145" y="100076"/>
                  </a:lnTo>
                  <a:close/>
                </a:path>
                <a:path w="9090025" h="247014">
                  <a:moveTo>
                    <a:pt x="5705627" y="81026"/>
                  </a:moveTo>
                  <a:lnTo>
                    <a:pt x="5700293" y="75946"/>
                  </a:lnTo>
                  <a:lnTo>
                    <a:pt x="5678449" y="97548"/>
                  </a:lnTo>
                  <a:lnTo>
                    <a:pt x="5678068" y="96266"/>
                  </a:lnTo>
                  <a:lnTo>
                    <a:pt x="5677941" y="86106"/>
                  </a:lnTo>
                  <a:lnTo>
                    <a:pt x="5679084" y="73406"/>
                  </a:lnTo>
                  <a:lnTo>
                    <a:pt x="5679033" y="63246"/>
                  </a:lnTo>
                  <a:lnTo>
                    <a:pt x="5678919" y="61976"/>
                  </a:lnTo>
                  <a:lnTo>
                    <a:pt x="5678830" y="60706"/>
                  </a:lnTo>
                  <a:lnTo>
                    <a:pt x="5678195" y="56896"/>
                  </a:lnTo>
                  <a:lnTo>
                    <a:pt x="5677306" y="54356"/>
                  </a:lnTo>
                  <a:lnTo>
                    <a:pt x="5676290" y="51816"/>
                  </a:lnTo>
                  <a:lnTo>
                    <a:pt x="5674893" y="50546"/>
                  </a:lnTo>
                  <a:lnTo>
                    <a:pt x="5669559" y="44196"/>
                  </a:lnTo>
                  <a:lnTo>
                    <a:pt x="5665368" y="42926"/>
                  </a:lnTo>
                  <a:lnTo>
                    <a:pt x="5655589" y="42926"/>
                  </a:lnTo>
                  <a:lnTo>
                    <a:pt x="5640032" y="60706"/>
                  </a:lnTo>
                  <a:lnTo>
                    <a:pt x="5639930" y="61976"/>
                  </a:lnTo>
                  <a:lnTo>
                    <a:pt x="5639841" y="63246"/>
                  </a:lnTo>
                  <a:lnTo>
                    <a:pt x="5639714" y="65798"/>
                  </a:lnTo>
                  <a:lnTo>
                    <a:pt x="5639587" y="68326"/>
                  </a:lnTo>
                  <a:lnTo>
                    <a:pt x="5641238" y="72148"/>
                  </a:lnTo>
                  <a:lnTo>
                    <a:pt x="5645175" y="77216"/>
                  </a:lnTo>
                  <a:lnTo>
                    <a:pt x="5651398" y="72148"/>
                  </a:lnTo>
                  <a:lnTo>
                    <a:pt x="5648604" y="69596"/>
                  </a:lnTo>
                  <a:lnTo>
                    <a:pt x="5647207" y="67056"/>
                  </a:lnTo>
                  <a:lnTo>
                    <a:pt x="5647207" y="60706"/>
                  </a:lnTo>
                  <a:lnTo>
                    <a:pt x="5648477" y="56896"/>
                  </a:lnTo>
                  <a:lnTo>
                    <a:pt x="5653684" y="51816"/>
                  </a:lnTo>
                  <a:lnTo>
                    <a:pt x="5656351" y="50546"/>
                  </a:lnTo>
                  <a:lnTo>
                    <a:pt x="5662447" y="50546"/>
                  </a:lnTo>
                  <a:lnTo>
                    <a:pt x="5665114" y="51816"/>
                  </a:lnTo>
                  <a:lnTo>
                    <a:pt x="5667273" y="54356"/>
                  </a:lnTo>
                  <a:lnTo>
                    <a:pt x="5669432" y="55626"/>
                  </a:lnTo>
                  <a:lnTo>
                    <a:pt x="5670702" y="59448"/>
                  </a:lnTo>
                  <a:lnTo>
                    <a:pt x="5671972" y="67056"/>
                  </a:lnTo>
                  <a:lnTo>
                    <a:pt x="5671947" y="68326"/>
                  </a:lnTo>
                  <a:lnTo>
                    <a:pt x="5671845" y="73406"/>
                  </a:lnTo>
                  <a:lnTo>
                    <a:pt x="5671083" y="81026"/>
                  </a:lnTo>
                  <a:lnTo>
                    <a:pt x="5670956" y="82296"/>
                  </a:lnTo>
                  <a:lnTo>
                    <a:pt x="5670448" y="88646"/>
                  </a:lnTo>
                  <a:lnTo>
                    <a:pt x="5670194" y="92456"/>
                  </a:lnTo>
                  <a:lnTo>
                    <a:pt x="5670448" y="94996"/>
                  </a:lnTo>
                  <a:lnTo>
                    <a:pt x="5670575" y="96266"/>
                  </a:lnTo>
                  <a:lnTo>
                    <a:pt x="5676036" y="110248"/>
                  </a:lnTo>
                  <a:lnTo>
                    <a:pt x="5688901" y="97548"/>
                  </a:lnTo>
                  <a:lnTo>
                    <a:pt x="5705627" y="81026"/>
                  </a:lnTo>
                  <a:close/>
                </a:path>
                <a:path w="9090025" h="247014">
                  <a:moveTo>
                    <a:pt x="5733567" y="45466"/>
                  </a:moveTo>
                  <a:lnTo>
                    <a:pt x="5732678" y="41656"/>
                  </a:lnTo>
                  <a:lnTo>
                    <a:pt x="5728360" y="32766"/>
                  </a:lnTo>
                  <a:lnTo>
                    <a:pt x="5726582" y="30327"/>
                  </a:lnTo>
                  <a:lnTo>
                    <a:pt x="5726582" y="49276"/>
                  </a:lnTo>
                  <a:lnTo>
                    <a:pt x="5725693" y="53098"/>
                  </a:lnTo>
                  <a:lnTo>
                    <a:pt x="5720613" y="58166"/>
                  </a:lnTo>
                  <a:lnTo>
                    <a:pt x="5717311" y="59448"/>
                  </a:lnTo>
                  <a:lnTo>
                    <a:pt x="5709056" y="58166"/>
                  </a:lnTo>
                  <a:lnTo>
                    <a:pt x="5683656" y="28956"/>
                  </a:lnTo>
                  <a:lnTo>
                    <a:pt x="5683021" y="25146"/>
                  </a:lnTo>
                  <a:lnTo>
                    <a:pt x="5683910" y="21348"/>
                  </a:lnTo>
                  <a:lnTo>
                    <a:pt x="5688990" y="16256"/>
                  </a:lnTo>
                  <a:lnTo>
                    <a:pt x="5696483" y="16256"/>
                  </a:lnTo>
                  <a:lnTo>
                    <a:pt x="5725185" y="41656"/>
                  </a:lnTo>
                  <a:lnTo>
                    <a:pt x="5725820" y="45466"/>
                  </a:lnTo>
                  <a:lnTo>
                    <a:pt x="5726582" y="49276"/>
                  </a:lnTo>
                  <a:lnTo>
                    <a:pt x="5726582" y="30327"/>
                  </a:lnTo>
                  <a:lnTo>
                    <a:pt x="5724677" y="27698"/>
                  </a:lnTo>
                  <a:lnTo>
                    <a:pt x="5719470" y="22606"/>
                  </a:lnTo>
                  <a:lnTo>
                    <a:pt x="5715025" y="18796"/>
                  </a:lnTo>
                  <a:lnTo>
                    <a:pt x="5712396" y="16256"/>
                  </a:lnTo>
                  <a:lnTo>
                    <a:pt x="5711088" y="14998"/>
                  </a:lnTo>
                  <a:lnTo>
                    <a:pt x="5707913" y="13716"/>
                  </a:lnTo>
                  <a:lnTo>
                    <a:pt x="5704611" y="11176"/>
                  </a:lnTo>
                  <a:lnTo>
                    <a:pt x="5701436" y="9906"/>
                  </a:lnTo>
                  <a:lnTo>
                    <a:pt x="5698388" y="9906"/>
                  </a:lnTo>
                  <a:lnTo>
                    <a:pt x="5695467" y="8648"/>
                  </a:lnTo>
                  <a:lnTo>
                    <a:pt x="5692546" y="8648"/>
                  </a:lnTo>
                  <a:lnTo>
                    <a:pt x="5686958" y="11176"/>
                  </a:lnTo>
                  <a:lnTo>
                    <a:pt x="5684418" y="12446"/>
                  </a:lnTo>
                  <a:lnTo>
                    <a:pt x="5678703" y="17526"/>
                  </a:lnTo>
                  <a:lnTo>
                    <a:pt x="5676925" y="21348"/>
                  </a:lnTo>
                  <a:lnTo>
                    <a:pt x="5676290" y="27698"/>
                  </a:lnTo>
                  <a:lnTo>
                    <a:pt x="5676163" y="28956"/>
                  </a:lnTo>
                  <a:lnTo>
                    <a:pt x="5676925" y="32766"/>
                  </a:lnTo>
                  <a:lnTo>
                    <a:pt x="5681243" y="41656"/>
                  </a:lnTo>
                  <a:lnTo>
                    <a:pt x="5684926" y="46748"/>
                  </a:lnTo>
                  <a:lnTo>
                    <a:pt x="5690260" y="51816"/>
                  </a:lnTo>
                  <a:lnTo>
                    <a:pt x="5696382" y="58166"/>
                  </a:lnTo>
                  <a:lnTo>
                    <a:pt x="5702173" y="61976"/>
                  </a:lnTo>
                  <a:lnTo>
                    <a:pt x="5707672" y="64516"/>
                  </a:lnTo>
                  <a:lnTo>
                    <a:pt x="5712866" y="65798"/>
                  </a:lnTo>
                  <a:lnTo>
                    <a:pt x="5718454" y="67056"/>
                  </a:lnTo>
                  <a:lnTo>
                    <a:pt x="5723407" y="64516"/>
                  </a:lnTo>
                  <a:lnTo>
                    <a:pt x="5733440" y="46748"/>
                  </a:lnTo>
                  <a:lnTo>
                    <a:pt x="5733567" y="45466"/>
                  </a:lnTo>
                  <a:close/>
                </a:path>
                <a:path w="9090025" h="247014">
                  <a:moveTo>
                    <a:pt x="5779160" y="204089"/>
                  </a:moveTo>
                  <a:lnTo>
                    <a:pt x="5775223" y="200152"/>
                  </a:lnTo>
                  <a:lnTo>
                    <a:pt x="5734456" y="159385"/>
                  </a:lnTo>
                  <a:lnTo>
                    <a:pt x="5728741" y="165100"/>
                  </a:lnTo>
                  <a:lnTo>
                    <a:pt x="5763793" y="200152"/>
                  </a:lnTo>
                  <a:lnTo>
                    <a:pt x="5755424" y="198501"/>
                  </a:lnTo>
                  <a:lnTo>
                    <a:pt x="5705246" y="188595"/>
                  </a:lnTo>
                  <a:lnTo>
                    <a:pt x="5699150" y="194691"/>
                  </a:lnTo>
                  <a:lnTo>
                    <a:pt x="5743854" y="239395"/>
                  </a:lnTo>
                  <a:lnTo>
                    <a:pt x="5749569" y="233680"/>
                  </a:lnTo>
                  <a:lnTo>
                    <a:pt x="5714390" y="198501"/>
                  </a:lnTo>
                  <a:lnTo>
                    <a:pt x="5773064" y="210185"/>
                  </a:lnTo>
                  <a:lnTo>
                    <a:pt x="5779160" y="204089"/>
                  </a:lnTo>
                  <a:close/>
                </a:path>
                <a:path w="9090025" h="247014">
                  <a:moveTo>
                    <a:pt x="5809259" y="165100"/>
                  </a:moveTo>
                  <a:lnTo>
                    <a:pt x="5808116" y="161544"/>
                  </a:lnTo>
                  <a:lnTo>
                    <a:pt x="5806973" y="157861"/>
                  </a:lnTo>
                  <a:lnTo>
                    <a:pt x="5804306" y="153924"/>
                  </a:lnTo>
                  <a:lnTo>
                    <a:pt x="5801893" y="151511"/>
                  </a:lnTo>
                  <a:lnTo>
                    <a:pt x="5801893" y="171831"/>
                  </a:lnTo>
                  <a:lnTo>
                    <a:pt x="5800623" y="175133"/>
                  </a:lnTo>
                  <a:lnTo>
                    <a:pt x="5797829" y="177800"/>
                  </a:lnTo>
                  <a:lnTo>
                    <a:pt x="5795162" y="180594"/>
                  </a:lnTo>
                  <a:lnTo>
                    <a:pt x="5791860" y="181864"/>
                  </a:lnTo>
                  <a:lnTo>
                    <a:pt x="5769127" y="159004"/>
                  </a:lnTo>
                  <a:lnTo>
                    <a:pt x="5770270" y="155702"/>
                  </a:lnTo>
                  <a:lnTo>
                    <a:pt x="5773064" y="153035"/>
                  </a:lnTo>
                  <a:lnTo>
                    <a:pt x="5775731" y="150368"/>
                  </a:lnTo>
                  <a:lnTo>
                    <a:pt x="5779033" y="149098"/>
                  </a:lnTo>
                  <a:lnTo>
                    <a:pt x="5786780" y="149606"/>
                  </a:lnTo>
                  <a:lnTo>
                    <a:pt x="5790844" y="151638"/>
                  </a:lnTo>
                  <a:lnTo>
                    <a:pt x="5794781" y="155702"/>
                  </a:lnTo>
                  <a:lnTo>
                    <a:pt x="5799099" y="159893"/>
                  </a:lnTo>
                  <a:lnTo>
                    <a:pt x="5801258" y="163957"/>
                  </a:lnTo>
                  <a:lnTo>
                    <a:pt x="5801322" y="165100"/>
                  </a:lnTo>
                  <a:lnTo>
                    <a:pt x="5801436" y="166751"/>
                  </a:lnTo>
                  <a:lnTo>
                    <a:pt x="5801512" y="167894"/>
                  </a:lnTo>
                  <a:lnTo>
                    <a:pt x="5801792" y="170815"/>
                  </a:lnTo>
                  <a:lnTo>
                    <a:pt x="5801893" y="171831"/>
                  </a:lnTo>
                  <a:lnTo>
                    <a:pt x="5801893" y="151511"/>
                  </a:lnTo>
                  <a:lnTo>
                    <a:pt x="5799480" y="149098"/>
                  </a:lnTo>
                  <a:lnTo>
                    <a:pt x="5795035" y="144653"/>
                  </a:lnTo>
                  <a:lnTo>
                    <a:pt x="5789574" y="141986"/>
                  </a:lnTo>
                  <a:lnTo>
                    <a:pt x="5777712" y="141986"/>
                  </a:lnTo>
                  <a:lnTo>
                    <a:pt x="5762129" y="159004"/>
                  </a:lnTo>
                  <a:lnTo>
                    <a:pt x="5762053" y="159893"/>
                  </a:lnTo>
                  <a:lnTo>
                    <a:pt x="5761939" y="161544"/>
                  </a:lnTo>
                  <a:lnTo>
                    <a:pt x="5761888" y="162306"/>
                  </a:lnTo>
                  <a:lnTo>
                    <a:pt x="5761787" y="163957"/>
                  </a:lnTo>
                  <a:lnTo>
                    <a:pt x="5761710" y="165100"/>
                  </a:lnTo>
                  <a:lnTo>
                    <a:pt x="5792749" y="189103"/>
                  </a:lnTo>
                  <a:lnTo>
                    <a:pt x="5797829" y="186817"/>
                  </a:lnTo>
                  <a:lnTo>
                    <a:pt x="5802401" y="182372"/>
                  </a:lnTo>
                  <a:lnTo>
                    <a:pt x="5802884" y="181864"/>
                  </a:lnTo>
                  <a:lnTo>
                    <a:pt x="5805195" y="179451"/>
                  </a:lnTo>
                  <a:lnTo>
                    <a:pt x="5807227" y="176276"/>
                  </a:lnTo>
                  <a:lnTo>
                    <a:pt x="5808243" y="172466"/>
                  </a:lnTo>
                  <a:lnTo>
                    <a:pt x="5809259" y="168783"/>
                  </a:lnTo>
                  <a:lnTo>
                    <a:pt x="5809259" y="165100"/>
                  </a:lnTo>
                  <a:close/>
                </a:path>
                <a:path w="9090025" h="247014">
                  <a:moveTo>
                    <a:pt x="5838215" y="145034"/>
                  </a:moveTo>
                  <a:lnTo>
                    <a:pt x="5836488" y="141224"/>
                  </a:lnTo>
                  <a:lnTo>
                    <a:pt x="5818022" y="100330"/>
                  </a:lnTo>
                  <a:lnTo>
                    <a:pt x="5812434" y="106045"/>
                  </a:lnTo>
                  <a:lnTo>
                    <a:pt x="5825007" y="132969"/>
                  </a:lnTo>
                  <a:lnTo>
                    <a:pt x="5826531" y="136271"/>
                  </a:lnTo>
                  <a:lnTo>
                    <a:pt x="5827928" y="139065"/>
                  </a:lnTo>
                  <a:lnTo>
                    <a:pt x="5829071" y="141224"/>
                  </a:lnTo>
                  <a:lnTo>
                    <a:pt x="5826277" y="139573"/>
                  </a:lnTo>
                  <a:lnTo>
                    <a:pt x="5823356" y="138049"/>
                  </a:lnTo>
                  <a:lnTo>
                    <a:pt x="5820562" y="136779"/>
                  </a:lnTo>
                  <a:lnTo>
                    <a:pt x="5794146" y="124333"/>
                  </a:lnTo>
                  <a:lnTo>
                    <a:pt x="5788304" y="130175"/>
                  </a:lnTo>
                  <a:lnTo>
                    <a:pt x="5833122" y="150253"/>
                  </a:lnTo>
                  <a:lnTo>
                    <a:pt x="5838215" y="145034"/>
                  </a:lnTo>
                  <a:close/>
                </a:path>
                <a:path w="9090025" h="247014">
                  <a:moveTo>
                    <a:pt x="5856630" y="99822"/>
                  </a:moveTo>
                  <a:lnTo>
                    <a:pt x="5851169" y="94234"/>
                  </a:lnTo>
                  <a:lnTo>
                    <a:pt x="5834278" y="111125"/>
                  </a:lnTo>
                  <a:lnTo>
                    <a:pt x="5839739" y="116713"/>
                  </a:lnTo>
                  <a:lnTo>
                    <a:pt x="5856630" y="99822"/>
                  </a:lnTo>
                  <a:close/>
                </a:path>
                <a:path w="9090025" h="247014">
                  <a:moveTo>
                    <a:pt x="5903112" y="80137"/>
                  </a:moveTo>
                  <a:lnTo>
                    <a:pt x="5897905" y="74803"/>
                  </a:lnTo>
                  <a:lnTo>
                    <a:pt x="5875934" y="96774"/>
                  </a:lnTo>
                  <a:lnTo>
                    <a:pt x="5875553" y="95123"/>
                  </a:lnTo>
                  <a:lnTo>
                    <a:pt x="5875426" y="85598"/>
                  </a:lnTo>
                  <a:lnTo>
                    <a:pt x="5876506" y="72898"/>
                  </a:lnTo>
                  <a:lnTo>
                    <a:pt x="5876417" y="61150"/>
                  </a:lnTo>
                  <a:lnTo>
                    <a:pt x="5876315" y="59563"/>
                  </a:lnTo>
                  <a:lnTo>
                    <a:pt x="5876137" y="58547"/>
                  </a:lnTo>
                  <a:lnTo>
                    <a:pt x="5876036" y="57912"/>
                  </a:lnTo>
                  <a:lnTo>
                    <a:pt x="5875909" y="57150"/>
                  </a:lnTo>
                  <a:lnTo>
                    <a:pt x="5875807" y="56515"/>
                  </a:lnTo>
                  <a:lnTo>
                    <a:pt x="5874537" y="53467"/>
                  </a:lnTo>
                  <a:lnTo>
                    <a:pt x="5873775" y="51562"/>
                  </a:lnTo>
                  <a:lnTo>
                    <a:pt x="5872721" y="50038"/>
                  </a:lnTo>
                  <a:lnTo>
                    <a:pt x="5872378" y="49530"/>
                  </a:lnTo>
                  <a:lnTo>
                    <a:pt x="5870600" y="47625"/>
                  </a:lnTo>
                  <a:lnTo>
                    <a:pt x="5867044" y="44196"/>
                  </a:lnTo>
                  <a:lnTo>
                    <a:pt x="5862853" y="42418"/>
                  </a:lnTo>
                  <a:lnTo>
                    <a:pt x="5853074" y="42672"/>
                  </a:lnTo>
                  <a:lnTo>
                    <a:pt x="5837567" y="59563"/>
                  </a:lnTo>
                  <a:lnTo>
                    <a:pt x="5837440" y="61150"/>
                  </a:lnTo>
                  <a:lnTo>
                    <a:pt x="5837326" y="62738"/>
                  </a:lnTo>
                  <a:lnTo>
                    <a:pt x="5837263" y="63881"/>
                  </a:lnTo>
                  <a:lnTo>
                    <a:pt x="5837186" y="65151"/>
                  </a:lnTo>
                  <a:lnTo>
                    <a:pt x="5837072" y="67437"/>
                  </a:lnTo>
                  <a:lnTo>
                    <a:pt x="5838850" y="72136"/>
                  </a:lnTo>
                  <a:lnTo>
                    <a:pt x="5842660" y="76708"/>
                  </a:lnTo>
                  <a:lnTo>
                    <a:pt x="5848883" y="71628"/>
                  </a:lnTo>
                  <a:lnTo>
                    <a:pt x="5846089" y="68834"/>
                  </a:lnTo>
                  <a:lnTo>
                    <a:pt x="5844692" y="65786"/>
                  </a:lnTo>
                  <a:lnTo>
                    <a:pt x="5844692" y="59436"/>
                  </a:lnTo>
                  <a:lnTo>
                    <a:pt x="5845962" y="56515"/>
                  </a:lnTo>
                  <a:lnTo>
                    <a:pt x="5848629" y="53848"/>
                  </a:lnTo>
                  <a:lnTo>
                    <a:pt x="5851169" y="51435"/>
                  </a:lnTo>
                  <a:lnTo>
                    <a:pt x="5853963" y="50038"/>
                  </a:lnTo>
                  <a:lnTo>
                    <a:pt x="5860059" y="50038"/>
                  </a:lnTo>
                  <a:lnTo>
                    <a:pt x="5862599" y="51054"/>
                  </a:lnTo>
                  <a:lnTo>
                    <a:pt x="5864631" y="53086"/>
                  </a:lnTo>
                  <a:lnTo>
                    <a:pt x="5866917" y="55245"/>
                  </a:lnTo>
                  <a:lnTo>
                    <a:pt x="5868187" y="58293"/>
                  </a:lnTo>
                  <a:lnTo>
                    <a:pt x="5869254" y="65151"/>
                  </a:lnTo>
                  <a:lnTo>
                    <a:pt x="5869330" y="72898"/>
                  </a:lnTo>
                  <a:lnTo>
                    <a:pt x="5868441" y="81661"/>
                  </a:lnTo>
                  <a:lnTo>
                    <a:pt x="5867933" y="87376"/>
                  </a:lnTo>
                  <a:lnTo>
                    <a:pt x="5873521" y="109728"/>
                  </a:lnTo>
                  <a:lnTo>
                    <a:pt x="5886475" y="96774"/>
                  </a:lnTo>
                  <a:lnTo>
                    <a:pt x="5903112" y="80137"/>
                  </a:lnTo>
                  <a:close/>
                </a:path>
                <a:path w="9090025" h="247014">
                  <a:moveTo>
                    <a:pt x="5931039" y="45085"/>
                  </a:moveTo>
                  <a:lnTo>
                    <a:pt x="5930887" y="44196"/>
                  </a:lnTo>
                  <a:lnTo>
                    <a:pt x="5930265" y="41275"/>
                  </a:lnTo>
                  <a:lnTo>
                    <a:pt x="5930163" y="40767"/>
                  </a:lnTo>
                  <a:lnTo>
                    <a:pt x="5928004" y="36576"/>
                  </a:lnTo>
                  <a:lnTo>
                    <a:pt x="5926023" y="32639"/>
                  </a:lnTo>
                  <a:lnTo>
                    <a:pt x="5925909" y="32385"/>
                  </a:lnTo>
                  <a:lnTo>
                    <a:pt x="5924042" y="29921"/>
                  </a:lnTo>
                  <a:lnTo>
                    <a:pt x="5924042" y="49149"/>
                  </a:lnTo>
                  <a:lnTo>
                    <a:pt x="5923991" y="49530"/>
                  </a:lnTo>
                  <a:lnTo>
                    <a:pt x="5923585" y="51054"/>
                  </a:lnTo>
                  <a:lnTo>
                    <a:pt x="5923483" y="51435"/>
                  </a:lnTo>
                  <a:lnTo>
                    <a:pt x="5923051" y="52705"/>
                  </a:lnTo>
                  <a:lnTo>
                    <a:pt x="5917971" y="57785"/>
                  </a:lnTo>
                  <a:lnTo>
                    <a:pt x="5917616" y="57785"/>
                  </a:lnTo>
                  <a:lnTo>
                    <a:pt x="5914796" y="58547"/>
                  </a:lnTo>
                  <a:lnTo>
                    <a:pt x="5910605" y="57785"/>
                  </a:lnTo>
                  <a:lnTo>
                    <a:pt x="5906541" y="57150"/>
                  </a:lnTo>
                  <a:lnTo>
                    <a:pt x="5900699" y="53086"/>
                  </a:lnTo>
                  <a:lnTo>
                    <a:pt x="5893460" y="45720"/>
                  </a:lnTo>
                  <a:lnTo>
                    <a:pt x="5886094" y="38354"/>
                  </a:lnTo>
                  <a:lnTo>
                    <a:pt x="5882030" y="32385"/>
                  </a:lnTo>
                  <a:lnTo>
                    <a:pt x="5881141" y="27813"/>
                  </a:lnTo>
                  <a:lnTo>
                    <a:pt x="5880506" y="24130"/>
                  </a:lnTo>
                  <a:lnTo>
                    <a:pt x="5881522" y="21082"/>
                  </a:lnTo>
                  <a:lnTo>
                    <a:pt x="5883935" y="18542"/>
                  </a:lnTo>
                  <a:lnTo>
                    <a:pt x="5886602" y="16002"/>
                  </a:lnTo>
                  <a:lnTo>
                    <a:pt x="5889904" y="14986"/>
                  </a:lnTo>
                  <a:lnTo>
                    <a:pt x="5894095" y="15748"/>
                  </a:lnTo>
                  <a:lnTo>
                    <a:pt x="5898159" y="16383"/>
                  </a:lnTo>
                  <a:lnTo>
                    <a:pt x="5903874" y="20447"/>
                  </a:lnTo>
                  <a:lnTo>
                    <a:pt x="5918606" y="35179"/>
                  </a:lnTo>
                  <a:lnTo>
                    <a:pt x="5922569" y="40767"/>
                  </a:lnTo>
                  <a:lnTo>
                    <a:pt x="5922670" y="40894"/>
                  </a:lnTo>
                  <a:lnTo>
                    <a:pt x="5923432" y="45085"/>
                  </a:lnTo>
                  <a:lnTo>
                    <a:pt x="5924042" y="49149"/>
                  </a:lnTo>
                  <a:lnTo>
                    <a:pt x="5924042" y="29921"/>
                  </a:lnTo>
                  <a:lnTo>
                    <a:pt x="5922162" y="27432"/>
                  </a:lnTo>
                  <a:lnTo>
                    <a:pt x="5912510" y="17780"/>
                  </a:lnTo>
                  <a:lnTo>
                    <a:pt x="5909157" y="14986"/>
                  </a:lnTo>
                  <a:lnTo>
                    <a:pt x="5908700" y="14605"/>
                  </a:lnTo>
                  <a:lnTo>
                    <a:pt x="5905398" y="12573"/>
                  </a:lnTo>
                  <a:lnTo>
                    <a:pt x="5902096" y="10668"/>
                  </a:lnTo>
                  <a:lnTo>
                    <a:pt x="5898921" y="9398"/>
                  </a:lnTo>
                  <a:lnTo>
                    <a:pt x="5893524" y="8255"/>
                  </a:lnTo>
                  <a:lnTo>
                    <a:pt x="5890031" y="8255"/>
                  </a:lnTo>
                  <a:lnTo>
                    <a:pt x="5887237" y="9017"/>
                  </a:lnTo>
                  <a:lnTo>
                    <a:pt x="5884443" y="9906"/>
                  </a:lnTo>
                  <a:lnTo>
                    <a:pt x="5881903" y="11557"/>
                  </a:lnTo>
                  <a:lnTo>
                    <a:pt x="5879490" y="13970"/>
                  </a:lnTo>
                  <a:lnTo>
                    <a:pt x="5876188" y="17145"/>
                  </a:lnTo>
                  <a:lnTo>
                    <a:pt x="5874537" y="20447"/>
                  </a:lnTo>
                  <a:lnTo>
                    <a:pt x="5874410" y="20701"/>
                  </a:lnTo>
                  <a:lnTo>
                    <a:pt x="5873750" y="27432"/>
                  </a:lnTo>
                  <a:lnTo>
                    <a:pt x="5899709" y="61150"/>
                  </a:lnTo>
                  <a:lnTo>
                    <a:pt x="5915939" y="65786"/>
                  </a:lnTo>
                  <a:lnTo>
                    <a:pt x="5920892" y="63881"/>
                  </a:lnTo>
                  <a:lnTo>
                    <a:pt x="5925210" y="59563"/>
                  </a:lnTo>
                  <a:lnTo>
                    <a:pt x="5926264" y="58547"/>
                  </a:lnTo>
                  <a:lnTo>
                    <a:pt x="5928372" y="56515"/>
                  </a:lnTo>
                  <a:lnTo>
                    <a:pt x="5929058" y="55245"/>
                  </a:lnTo>
                  <a:lnTo>
                    <a:pt x="5930290" y="52705"/>
                  </a:lnTo>
                  <a:lnTo>
                    <a:pt x="5930938" y="46101"/>
                  </a:lnTo>
                  <a:lnTo>
                    <a:pt x="5931039" y="45085"/>
                  </a:lnTo>
                  <a:close/>
                </a:path>
                <a:path w="9090025" h="247014">
                  <a:moveTo>
                    <a:pt x="5967755" y="209042"/>
                  </a:moveTo>
                  <a:lnTo>
                    <a:pt x="5928639" y="162560"/>
                  </a:lnTo>
                  <a:lnTo>
                    <a:pt x="5922670" y="168529"/>
                  </a:lnTo>
                  <a:lnTo>
                    <a:pt x="5956071" y="201930"/>
                  </a:lnTo>
                  <a:lnTo>
                    <a:pt x="5957722" y="203962"/>
                  </a:lnTo>
                  <a:lnTo>
                    <a:pt x="5958484" y="205486"/>
                  </a:lnTo>
                  <a:lnTo>
                    <a:pt x="5959246" y="207137"/>
                  </a:lnTo>
                  <a:lnTo>
                    <a:pt x="5959500" y="208788"/>
                  </a:lnTo>
                  <a:lnTo>
                    <a:pt x="5958738" y="212344"/>
                  </a:lnTo>
                  <a:lnTo>
                    <a:pt x="5957722" y="213868"/>
                  </a:lnTo>
                  <a:lnTo>
                    <a:pt x="5956198" y="215392"/>
                  </a:lnTo>
                  <a:lnTo>
                    <a:pt x="5954293" y="217424"/>
                  </a:lnTo>
                  <a:lnTo>
                    <a:pt x="5952007" y="218313"/>
                  </a:lnTo>
                  <a:lnTo>
                    <a:pt x="5949594" y="218313"/>
                  </a:lnTo>
                  <a:lnTo>
                    <a:pt x="5947181" y="218186"/>
                  </a:lnTo>
                  <a:lnTo>
                    <a:pt x="5944260" y="216408"/>
                  </a:lnTo>
                  <a:lnTo>
                    <a:pt x="5940704" y="213106"/>
                  </a:lnTo>
                  <a:lnTo>
                    <a:pt x="5936132" y="219202"/>
                  </a:lnTo>
                  <a:lnTo>
                    <a:pt x="5940450" y="223774"/>
                  </a:lnTo>
                  <a:lnTo>
                    <a:pt x="5944768" y="226060"/>
                  </a:lnTo>
                  <a:lnTo>
                    <a:pt x="5951423" y="226441"/>
                  </a:lnTo>
                  <a:lnTo>
                    <a:pt x="5953531" y="226441"/>
                  </a:lnTo>
                  <a:lnTo>
                    <a:pt x="5957595" y="224536"/>
                  </a:lnTo>
                  <a:lnTo>
                    <a:pt x="5961532" y="220726"/>
                  </a:lnTo>
                  <a:lnTo>
                    <a:pt x="5963945" y="218313"/>
                  </a:lnTo>
                  <a:lnTo>
                    <a:pt x="5964072" y="218186"/>
                  </a:lnTo>
                  <a:lnTo>
                    <a:pt x="5964580" y="217424"/>
                  </a:lnTo>
                  <a:lnTo>
                    <a:pt x="5965977" y="215138"/>
                  </a:lnTo>
                  <a:lnTo>
                    <a:pt x="5967755" y="209042"/>
                  </a:lnTo>
                  <a:close/>
                </a:path>
                <a:path w="9090025" h="247014">
                  <a:moveTo>
                    <a:pt x="6010300" y="170307"/>
                  </a:moveTo>
                  <a:lnTo>
                    <a:pt x="6008395" y="169799"/>
                  </a:lnTo>
                  <a:lnTo>
                    <a:pt x="6006617" y="169037"/>
                  </a:lnTo>
                  <a:lnTo>
                    <a:pt x="6005093" y="167894"/>
                  </a:lnTo>
                  <a:lnTo>
                    <a:pt x="6003442" y="166751"/>
                  </a:lnTo>
                  <a:lnTo>
                    <a:pt x="6000140" y="163576"/>
                  </a:lnTo>
                  <a:lnTo>
                    <a:pt x="5997981" y="161417"/>
                  </a:lnTo>
                  <a:lnTo>
                    <a:pt x="5995060" y="158496"/>
                  </a:lnTo>
                  <a:lnTo>
                    <a:pt x="5988723" y="152273"/>
                  </a:lnTo>
                  <a:lnTo>
                    <a:pt x="5987694" y="151257"/>
                  </a:lnTo>
                  <a:lnTo>
                    <a:pt x="5985281" y="148717"/>
                  </a:lnTo>
                  <a:lnTo>
                    <a:pt x="5983503" y="147193"/>
                  </a:lnTo>
                  <a:lnTo>
                    <a:pt x="5982360" y="146431"/>
                  </a:lnTo>
                  <a:lnTo>
                    <a:pt x="5980455" y="145288"/>
                  </a:lnTo>
                  <a:lnTo>
                    <a:pt x="5978969" y="144653"/>
                  </a:lnTo>
                  <a:lnTo>
                    <a:pt x="5980442" y="144653"/>
                  </a:lnTo>
                  <a:lnTo>
                    <a:pt x="5999759" y="144653"/>
                  </a:lnTo>
                  <a:lnTo>
                    <a:pt x="5999505" y="144399"/>
                  </a:lnTo>
                  <a:lnTo>
                    <a:pt x="5978372" y="144399"/>
                  </a:lnTo>
                  <a:lnTo>
                    <a:pt x="5978664" y="144526"/>
                  </a:lnTo>
                  <a:lnTo>
                    <a:pt x="5976899" y="144399"/>
                  </a:lnTo>
                  <a:lnTo>
                    <a:pt x="5975121" y="144145"/>
                  </a:lnTo>
                  <a:lnTo>
                    <a:pt x="5972962" y="144653"/>
                  </a:lnTo>
                  <a:lnTo>
                    <a:pt x="5970676" y="145796"/>
                  </a:lnTo>
                  <a:lnTo>
                    <a:pt x="5968263" y="146812"/>
                  </a:lnTo>
                  <a:lnTo>
                    <a:pt x="5954801" y="165608"/>
                  </a:lnTo>
                  <a:lnTo>
                    <a:pt x="5954915" y="166751"/>
                  </a:lnTo>
                  <a:lnTo>
                    <a:pt x="5955030" y="167894"/>
                  </a:lnTo>
                  <a:lnTo>
                    <a:pt x="5955106" y="168529"/>
                  </a:lnTo>
                  <a:lnTo>
                    <a:pt x="5955182" y="169037"/>
                  </a:lnTo>
                  <a:lnTo>
                    <a:pt x="5955296" y="169799"/>
                  </a:lnTo>
                  <a:lnTo>
                    <a:pt x="5955373" y="170307"/>
                  </a:lnTo>
                  <a:lnTo>
                    <a:pt x="5955436" y="170688"/>
                  </a:lnTo>
                  <a:lnTo>
                    <a:pt x="5956452" y="173355"/>
                  </a:lnTo>
                  <a:lnTo>
                    <a:pt x="5958230" y="176149"/>
                  </a:lnTo>
                  <a:lnTo>
                    <a:pt x="5964326" y="171450"/>
                  </a:lnTo>
                  <a:lnTo>
                    <a:pt x="5962675" y="168529"/>
                  </a:lnTo>
                  <a:lnTo>
                    <a:pt x="5961913" y="166116"/>
                  </a:lnTo>
                  <a:lnTo>
                    <a:pt x="5976772" y="152273"/>
                  </a:lnTo>
                  <a:lnTo>
                    <a:pt x="5978804" y="153416"/>
                  </a:lnTo>
                  <a:lnTo>
                    <a:pt x="5981090" y="155575"/>
                  </a:lnTo>
                  <a:lnTo>
                    <a:pt x="5981217" y="155829"/>
                  </a:lnTo>
                  <a:lnTo>
                    <a:pt x="5982487" y="157099"/>
                  </a:lnTo>
                  <a:lnTo>
                    <a:pt x="5981090" y="159893"/>
                  </a:lnTo>
                  <a:lnTo>
                    <a:pt x="5978423" y="163830"/>
                  </a:lnTo>
                  <a:lnTo>
                    <a:pt x="5974613" y="168783"/>
                  </a:lnTo>
                  <a:lnTo>
                    <a:pt x="5972708" y="171196"/>
                  </a:lnTo>
                  <a:lnTo>
                    <a:pt x="5971959" y="172212"/>
                  </a:lnTo>
                  <a:lnTo>
                    <a:pt x="5971171" y="173355"/>
                  </a:lnTo>
                  <a:lnTo>
                    <a:pt x="5970549" y="174498"/>
                  </a:lnTo>
                  <a:lnTo>
                    <a:pt x="5969406" y="176403"/>
                  </a:lnTo>
                  <a:lnTo>
                    <a:pt x="5968771" y="178308"/>
                  </a:lnTo>
                  <a:lnTo>
                    <a:pt x="5968022" y="182118"/>
                  </a:lnTo>
                  <a:lnTo>
                    <a:pt x="5968035" y="182753"/>
                  </a:lnTo>
                  <a:lnTo>
                    <a:pt x="5968162" y="184277"/>
                  </a:lnTo>
                  <a:lnTo>
                    <a:pt x="5968644" y="186182"/>
                  </a:lnTo>
                  <a:lnTo>
                    <a:pt x="5969076" y="187579"/>
                  </a:lnTo>
                  <a:lnTo>
                    <a:pt x="5969152" y="187833"/>
                  </a:lnTo>
                  <a:lnTo>
                    <a:pt x="5969279" y="188214"/>
                  </a:lnTo>
                  <a:lnTo>
                    <a:pt x="5970295" y="190119"/>
                  </a:lnTo>
                  <a:lnTo>
                    <a:pt x="5971946" y="191643"/>
                  </a:lnTo>
                  <a:lnTo>
                    <a:pt x="5974613" y="194437"/>
                  </a:lnTo>
                  <a:lnTo>
                    <a:pt x="5977788" y="195580"/>
                  </a:lnTo>
                  <a:lnTo>
                    <a:pt x="5984672" y="195580"/>
                  </a:lnTo>
                  <a:lnTo>
                    <a:pt x="5988710" y="193421"/>
                  </a:lnTo>
                  <a:lnTo>
                    <a:pt x="5994298" y="187833"/>
                  </a:lnTo>
                  <a:lnTo>
                    <a:pt x="5996076" y="185293"/>
                  </a:lnTo>
                  <a:lnTo>
                    <a:pt x="5997460" y="182245"/>
                  </a:lnTo>
                  <a:lnTo>
                    <a:pt x="5998489" y="180086"/>
                  </a:lnTo>
                  <a:lnTo>
                    <a:pt x="5999188" y="177165"/>
                  </a:lnTo>
                  <a:lnTo>
                    <a:pt x="5993536" y="177165"/>
                  </a:lnTo>
                  <a:lnTo>
                    <a:pt x="5992800" y="179705"/>
                  </a:lnTo>
                  <a:lnTo>
                    <a:pt x="5992774" y="179832"/>
                  </a:lnTo>
                  <a:lnTo>
                    <a:pt x="5991377" y="182118"/>
                  </a:lnTo>
                  <a:lnTo>
                    <a:pt x="5989345" y="184277"/>
                  </a:lnTo>
                  <a:lnTo>
                    <a:pt x="5987186" y="186436"/>
                  </a:lnTo>
                  <a:lnTo>
                    <a:pt x="5985027" y="187579"/>
                  </a:lnTo>
                  <a:lnTo>
                    <a:pt x="5980836" y="187833"/>
                  </a:lnTo>
                  <a:lnTo>
                    <a:pt x="5979058" y="187071"/>
                  </a:lnTo>
                  <a:lnTo>
                    <a:pt x="5976645" y="184658"/>
                  </a:lnTo>
                  <a:lnTo>
                    <a:pt x="5976010" y="183515"/>
                  </a:lnTo>
                  <a:lnTo>
                    <a:pt x="5975502" y="180975"/>
                  </a:lnTo>
                  <a:lnTo>
                    <a:pt x="5975629" y="179705"/>
                  </a:lnTo>
                  <a:lnTo>
                    <a:pt x="5976137" y="178308"/>
                  </a:lnTo>
                  <a:lnTo>
                    <a:pt x="5976582" y="177165"/>
                  </a:lnTo>
                  <a:lnTo>
                    <a:pt x="5993536" y="177165"/>
                  </a:lnTo>
                  <a:lnTo>
                    <a:pt x="5993612" y="176911"/>
                  </a:lnTo>
                  <a:lnTo>
                    <a:pt x="5976721" y="176911"/>
                  </a:lnTo>
                  <a:lnTo>
                    <a:pt x="5977915" y="175006"/>
                  </a:lnTo>
                  <a:lnTo>
                    <a:pt x="5983249" y="167894"/>
                  </a:lnTo>
                  <a:lnTo>
                    <a:pt x="5985535" y="164211"/>
                  </a:lnTo>
                  <a:lnTo>
                    <a:pt x="5994184" y="175006"/>
                  </a:lnTo>
                  <a:lnTo>
                    <a:pt x="5993612" y="176911"/>
                  </a:lnTo>
                  <a:lnTo>
                    <a:pt x="5999251" y="176911"/>
                  </a:lnTo>
                  <a:lnTo>
                    <a:pt x="5999340" y="175514"/>
                  </a:lnTo>
                  <a:lnTo>
                    <a:pt x="5999416" y="174498"/>
                  </a:lnTo>
                  <a:lnTo>
                    <a:pt x="5999492" y="173355"/>
                  </a:lnTo>
                  <a:lnTo>
                    <a:pt x="5999645" y="173355"/>
                  </a:lnTo>
                  <a:lnTo>
                    <a:pt x="6001156" y="174625"/>
                  </a:lnTo>
                  <a:lnTo>
                    <a:pt x="6002934" y="175514"/>
                  </a:lnTo>
                  <a:lnTo>
                    <a:pt x="6004585" y="176149"/>
                  </a:lnTo>
                  <a:lnTo>
                    <a:pt x="6007316" y="173355"/>
                  </a:lnTo>
                  <a:lnTo>
                    <a:pt x="6010300" y="170307"/>
                  </a:lnTo>
                  <a:close/>
                </a:path>
                <a:path w="9090025" h="247014">
                  <a:moveTo>
                    <a:pt x="6023381" y="157353"/>
                  </a:moveTo>
                  <a:lnTo>
                    <a:pt x="6010770" y="144653"/>
                  </a:lnTo>
                  <a:lnTo>
                    <a:pt x="5999759" y="144653"/>
                  </a:lnTo>
                  <a:lnTo>
                    <a:pt x="6017907" y="162826"/>
                  </a:lnTo>
                  <a:lnTo>
                    <a:pt x="6023381" y="157353"/>
                  </a:lnTo>
                  <a:close/>
                </a:path>
                <a:path w="9090025" h="247014">
                  <a:moveTo>
                    <a:pt x="6044209" y="136398"/>
                  </a:moveTo>
                  <a:lnTo>
                    <a:pt x="6024905" y="117221"/>
                  </a:lnTo>
                  <a:lnTo>
                    <a:pt x="6024270" y="116586"/>
                  </a:lnTo>
                  <a:lnTo>
                    <a:pt x="6021730" y="113919"/>
                  </a:lnTo>
                  <a:lnTo>
                    <a:pt x="6019825" y="112268"/>
                  </a:lnTo>
                  <a:lnTo>
                    <a:pt x="6016777" y="110236"/>
                  </a:lnTo>
                  <a:lnTo>
                    <a:pt x="6014872" y="109474"/>
                  </a:lnTo>
                  <a:lnTo>
                    <a:pt x="6012840" y="109093"/>
                  </a:lnTo>
                  <a:lnTo>
                    <a:pt x="6008776" y="109093"/>
                  </a:lnTo>
                  <a:lnTo>
                    <a:pt x="6006135" y="110236"/>
                  </a:lnTo>
                  <a:lnTo>
                    <a:pt x="6004077" y="110998"/>
                  </a:lnTo>
                  <a:lnTo>
                    <a:pt x="6001918" y="112395"/>
                  </a:lnTo>
                  <a:lnTo>
                    <a:pt x="6000013" y="114427"/>
                  </a:lnTo>
                  <a:lnTo>
                    <a:pt x="5995568" y="118872"/>
                  </a:lnTo>
                  <a:lnTo>
                    <a:pt x="5993917" y="124079"/>
                  </a:lnTo>
                  <a:lnTo>
                    <a:pt x="5995060" y="130048"/>
                  </a:lnTo>
                  <a:lnTo>
                    <a:pt x="5990488" y="125476"/>
                  </a:lnTo>
                  <a:lnTo>
                    <a:pt x="5985535" y="130429"/>
                  </a:lnTo>
                  <a:lnTo>
                    <a:pt x="5999505" y="144399"/>
                  </a:lnTo>
                  <a:lnTo>
                    <a:pt x="6010516" y="144399"/>
                  </a:lnTo>
                  <a:lnTo>
                    <a:pt x="6005728" y="139573"/>
                  </a:lnTo>
                  <a:lnTo>
                    <a:pt x="6001537" y="135509"/>
                  </a:lnTo>
                  <a:lnTo>
                    <a:pt x="5999632" y="131826"/>
                  </a:lnTo>
                  <a:lnTo>
                    <a:pt x="6009576" y="117221"/>
                  </a:lnTo>
                  <a:lnTo>
                    <a:pt x="6011824" y="117221"/>
                  </a:lnTo>
                  <a:lnTo>
                    <a:pt x="6014872" y="118491"/>
                  </a:lnTo>
                  <a:lnTo>
                    <a:pt x="6016777" y="120015"/>
                  </a:lnTo>
                  <a:lnTo>
                    <a:pt x="6019063" y="122174"/>
                  </a:lnTo>
                  <a:lnTo>
                    <a:pt x="6038748" y="141986"/>
                  </a:lnTo>
                  <a:lnTo>
                    <a:pt x="6044209" y="136398"/>
                  </a:lnTo>
                  <a:close/>
                </a:path>
                <a:path w="9090025" h="247014">
                  <a:moveTo>
                    <a:pt x="6053734" y="100076"/>
                  </a:moveTo>
                  <a:lnTo>
                    <a:pt x="6048146" y="94615"/>
                  </a:lnTo>
                  <a:lnTo>
                    <a:pt x="6031255" y="111506"/>
                  </a:lnTo>
                  <a:lnTo>
                    <a:pt x="6036843" y="116967"/>
                  </a:lnTo>
                  <a:lnTo>
                    <a:pt x="6053734" y="100076"/>
                  </a:lnTo>
                  <a:close/>
                </a:path>
                <a:path w="9090025" h="247014">
                  <a:moveTo>
                    <a:pt x="6101232" y="79375"/>
                  </a:moveTo>
                  <a:lnTo>
                    <a:pt x="6096025" y="74168"/>
                  </a:lnTo>
                  <a:lnTo>
                    <a:pt x="6074054" y="96012"/>
                  </a:lnTo>
                  <a:lnTo>
                    <a:pt x="6073800" y="94996"/>
                  </a:lnTo>
                  <a:lnTo>
                    <a:pt x="6073699" y="94615"/>
                  </a:lnTo>
                  <a:lnTo>
                    <a:pt x="6073419" y="92710"/>
                  </a:lnTo>
                  <a:lnTo>
                    <a:pt x="6073546" y="84836"/>
                  </a:lnTo>
                  <a:lnTo>
                    <a:pt x="6074105" y="79375"/>
                  </a:lnTo>
                  <a:lnTo>
                    <a:pt x="6074181" y="78740"/>
                  </a:lnTo>
                  <a:lnTo>
                    <a:pt x="6074638" y="72136"/>
                  </a:lnTo>
                  <a:lnTo>
                    <a:pt x="6074842" y="68072"/>
                  </a:lnTo>
                  <a:lnTo>
                    <a:pt x="6074867" y="65024"/>
                  </a:lnTo>
                  <a:lnTo>
                    <a:pt x="6074689" y="62484"/>
                  </a:lnTo>
                  <a:lnTo>
                    <a:pt x="6074562" y="58801"/>
                  </a:lnTo>
                  <a:lnTo>
                    <a:pt x="6073927" y="55753"/>
                  </a:lnTo>
                  <a:lnTo>
                    <a:pt x="6071895" y="50927"/>
                  </a:lnTo>
                  <a:lnTo>
                    <a:pt x="6070905" y="49403"/>
                  </a:lnTo>
                  <a:lnTo>
                    <a:pt x="6070498" y="48768"/>
                  </a:lnTo>
                  <a:lnTo>
                    <a:pt x="6065164" y="43434"/>
                  </a:lnTo>
                  <a:lnTo>
                    <a:pt x="6061291" y="41910"/>
                  </a:lnTo>
                  <a:lnTo>
                    <a:pt x="6056147" y="41910"/>
                  </a:lnTo>
                  <a:lnTo>
                    <a:pt x="6035281" y="65024"/>
                  </a:lnTo>
                  <a:lnTo>
                    <a:pt x="6035192" y="66675"/>
                  </a:lnTo>
                  <a:lnTo>
                    <a:pt x="6036970" y="71374"/>
                  </a:lnTo>
                  <a:lnTo>
                    <a:pt x="6040780" y="75946"/>
                  </a:lnTo>
                  <a:lnTo>
                    <a:pt x="6047003" y="70866"/>
                  </a:lnTo>
                  <a:lnTo>
                    <a:pt x="6044209" y="68072"/>
                  </a:lnTo>
                  <a:lnTo>
                    <a:pt x="6042812" y="65024"/>
                  </a:lnTo>
                  <a:lnTo>
                    <a:pt x="6042812" y="58674"/>
                  </a:lnTo>
                  <a:lnTo>
                    <a:pt x="6044082" y="55753"/>
                  </a:lnTo>
                  <a:lnTo>
                    <a:pt x="6046749" y="53213"/>
                  </a:lnTo>
                  <a:lnTo>
                    <a:pt x="6049289" y="50673"/>
                  </a:lnTo>
                  <a:lnTo>
                    <a:pt x="6052083" y="49403"/>
                  </a:lnTo>
                  <a:lnTo>
                    <a:pt x="6058484" y="49403"/>
                  </a:lnTo>
                  <a:lnTo>
                    <a:pt x="6066942" y="61722"/>
                  </a:lnTo>
                  <a:lnTo>
                    <a:pt x="6067463" y="65024"/>
                  </a:lnTo>
                  <a:lnTo>
                    <a:pt x="6067450" y="72136"/>
                  </a:lnTo>
                  <a:lnTo>
                    <a:pt x="6066561" y="81026"/>
                  </a:lnTo>
                  <a:lnTo>
                    <a:pt x="6066218" y="84836"/>
                  </a:lnTo>
                  <a:lnTo>
                    <a:pt x="6071755" y="108978"/>
                  </a:lnTo>
                  <a:lnTo>
                    <a:pt x="6084659" y="96012"/>
                  </a:lnTo>
                  <a:lnTo>
                    <a:pt x="6101232" y="79375"/>
                  </a:lnTo>
                  <a:close/>
                </a:path>
                <a:path w="9090025" h="247014">
                  <a:moveTo>
                    <a:pt x="6127635" y="53086"/>
                  </a:moveTo>
                  <a:lnTo>
                    <a:pt x="6098171" y="23622"/>
                  </a:lnTo>
                  <a:lnTo>
                    <a:pt x="6082690" y="8128"/>
                  </a:lnTo>
                  <a:lnTo>
                    <a:pt x="6079134" y="11684"/>
                  </a:lnTo>
                  <a:lnTo>
                    <a:pt x="6080150" y="14605"/>
                  </a:lnTo>
                  <a:lnTo>
                    <a:pt x="6080531" y="18288"/>
                  </a:lnTo>
                  <a:lnTo>
                    <a:pt x="6080061" y="26162"/>
                  </a:lnTo>
                  <a:lnTo>
                    <a:pt x="6080023" y="26924"/>
                  </a:lnTo>
                  <a:lnTo>
                    <a:pt x="6079007" y="31369"/>
                  </a:lnTo>
                  <a:lnTo>
                    <a:pt x="6077356" y="35941"/>
                  </a:lnTo>
                  <a:lnTo>
                    <a:pt x="6082690" y="41148"/>
                  </a:lnTo>
                  <a:lnTo>
                    <a:pt x="6083833" y="38862"/>
                  </a:lnTo>
                  <a:lnTo>
                    <a:pt x="6084849" y="35941"/>
                  </a:lnTo>
                  <a:lnTo>
                    <a:pt x="6085611" y="32639"/>
                  </a:lnTo>
                  <a:lnTo>
                    <a:pt x="6086500" y="29210"/>
                  </a:lnTo>
                  <a:lnTo>
                    <a:pt x="6086881" y="26924"/>
                  </a:lnTo>
                  <a:lnTo>
                    <a:pt x="6087008" y="26162"/>
                  </a:lnTo>
                  <a:lnTo>
                    <a:pt x="6087135" y="23622"/>
                  </a:lnTo>
                  <a:lnTo>
                    <a:pt x="6122047" y="58547"/>
                  </a:lnTo>
                  <a:lnTo>
                    <a:pt x="6127635" y="53086"/>
                  </a:lnTo>
                  <a:close/>
                </a:path>
                <a:path w="9090025" h="247014">
                  <a:moveTo>
                    <a:pt x="6184785" y="193294"/>
                  </a:moveTo>
                  <a:lnTo>
                    <a:pt x="6153264" y="161671"/>
                  </a:lnTo>
                  <a:lnTo>
                    <a:pt x="6140094" y="148463"/>
                  </a:lnTo>
                  <a:lnTo>
                    <a:pt x="6131966" y="156591"/>
                  </a:lnTo>
                  <a:lnTo>
                    <a:pt x="6132144" y="156591"/>
                  </a:lnTo>
                  <a:lnTo>
                    <a:pt x="6152540" y="198374"/>
                  </a:lnTo>
                  <a:lnTo>
                    <a:pt x="6154686" y="202565"/>
                  </a:lnTo>
                  <a:lnTo>
                    <a:pt x="6156210" y="205740"/>
                  </a:lnTo>
                  <a:lnTo>
                    <a:pt x="6157366" y="207899"/>
                  </a:lnTo>
                  <a:lnTo>
                    <a:pt x="6152540" y="205359"/>
                  </a:lnTo>
                  <a:lnTo>
                    <a:pt x="6148603" y="203454"/>
                  </a:lnTo>
                  <a:lnTo>
                    <a:pt x="6126061" y="192151"/>
                  </a:lnTo>
                  <a:lnTo>
                    <a:pt x="6106312" y="182245"/>
                  </a:lnTo>
                  <a:lnTo>
                    <a:pt x="6097422" y="191262"/>
                  </a:lnTo>
                  <a:lnTo>
                    <a:pt x="6142113" y="235966"/>
                  </a:lnTo>
                  <a:lnTo>
                    <a:pt x="6147841" y="230251"/>
                  </a:lnTo>
                  <a:lnTo>
                    <a:pt x="6109741" y="192151"/>
                  </a:lnTo>
                  <a:lnTo>
                    <a:pt x="6160795" y="217297"/>
                  </a:lnTo>
                  <a:lnTo>
                    <a:pt x="6166129" y="211963"/>
                  </a:lnTo>
                  <a:lnTo>
                    <a:pt x="6164161" y="207899"/>
                  </a:lnTo>
                  <a:lnTo>
                    <a:pt x="6141796" y="161671"/>
                  </a:lnTo>
                  <a:lnTo>
                    <a:pt x="6179210" y="199009"/>
                  </a:lnTo>
                  <a:lnTo>
                    <a:pt x="6184785" y="193294"/>
                  </a:lnTo>
                  <a:close/>
                </a:path>
                <a:path w="9090025" h="247014">
                  <a:moveTo>
                    <a:pt x="6222390" y="155702"/>
                  </a:moveTo>
                  <a:lnTo>
                    <a:pt x="6220485" y="155194"/>
                  </a:lnTo>
                  <a:lnTo>
                    <a:pt x="6218707" y="154305"/>
                  </a:lnTo>
                  <a:lnTo>
                    <a:pt x="6217513" y="153416"/>
                  </a:lnTo>
                  <a:lnTo>
                    <a:pt x="6215532" y="152019"/>
                  </a:lnTo>
                  <a:lnTo>
                    <a:pt x="6212357" y="149098"/>
                  </a:lnTo>
                  <a:lnTo>
                    <a:pt x="6209944" y="146685"/>
                  </a:lnTo>
                  <a:lnTo>
                    <a:pt x="6206274" y="143027"/>
                  </a:lnTo>
                  <a:lnTo>
                    <a:pt x="6206274" y="160401"/>
                  </a:lnTo>
                  <a:lnTo>
                    <a:pt x="6205690" y="162306"/>
                  </a:lnTo>
                  <a:lnTo>
                    <a:pt x="6205017" y="164973"/>
                  </a:lnTo>
                  <a:lnTo>
                    <a:pt x="6196876" y="172974"/>
                  </a:lnTo>
                  <a:lnTo>
                    <a:pt x="6195085" y="172974"/>
                  </a:lnTo>
                  <a:lnTo>
                    <a:pt x="6193053" y="173101"/>
                  </a:lnTo>
                  <a:lnTo>
                    <a:pt x="6191262" y="172466"/>
                  </a:lnTo>
                  <a:lnTo>
                    <a:pt x="6189738" y="170942"/>
                  </a:lnTo>
                  <a:lnTo>
                    <a:pt x="6188735" y="170053"/>
                  </a:lnTo>
                  <a:lnTo>
                    <a:pt x="6188214" y="168910"/>
                  </a:lnTo>
                  <a:lnTo>
                    <a:pt x="6187960" y="168021"/>
                  </a:lnTo>
                  <a:lnTo>
                    <a:pt x="6187846" y="167640"/>
                  </a:lnTo>
                  <a:lnTo>
                    <a:pt x="6192037" y="157734"/>
                  </a:lnTo>
                  <a:lnTo>
                    <a:pt x="6195149" y="153416"/>
                  </a:lnTo>
                  <a:lnTo>
                    <a:pt x="6197739" y="149479"/>
                  </a:lnTo>
                  <a:lnTo>
                    <a:pt x="6198895" y="146685"/>
                  </a:lnTo>
                  <a:lnTo>
                    <a:pt x="6203340" y="151130"/>
                  </a:lnTo>
                  <a:lnTo>
                    <a:pt x="6206274" y="160401"/>
                  </a:lnTo>
                  <a:lnTo>
                    <a:pt x="6206274" y="143027"/>
                  </a:lnTo>
                  <a:lnTo>
                    <a:pt x="6200914" y="137668"/>
                  </a:lnTo>
                  <a:lnTo>
                    <a:pt x="6197371" y="134112"/>
                  </a:lnTo>
                  <a:lnTo>
                    <a:pt x="6195593" y="132461"/>
                  </a:lnTo>
                  <a:lnTo>
                    <a:pt x="6194437" y="131699"/>
                  </a:lnTo>
                  <a:lnTo>
                    <a:pt x="6192659" y="130556"/>
                  </a:lnTo>
                  <a:lnTo>
                    <a:pt x="6190767" y="129921"/>
                  </a:lnTo>
                  <a:lnTo>
                    <a:pt x="6188989" y="129667"/>
                  </a:lnTo>
                  <a:lnTo>
                    <a:pt x="6186487" y="129667"/>
                  </a:lnTo>
                  <a:lnTo>
                    <a:pt x="6185039" y="129921"/>
                  </a:lnTo>
                  <a:lnTo>
                    <a:pt x="6182766" y="131064"/>
                  </a:lnTo>
                  <a:lnTo>
                    <a:pt x="6180353" y="132080"/>
                  </a:lnTo>
                  <a:lnTo>
                    <a:pt x="6166891" y="150876"/>
                  </a:lnTo>
                  <a:lnTo>
                    <a:pt x="6167259" y="153416"/>
                  </a:lnTo>
                  <a:lnTo>
                    <a:pt x="6167323" y="153924"/>
                  </a:lnTo>
                  <a:lnTo>
                    <a:pt x="6167450" y="155194"/>
                  </a:lnTo>
                  <a:lnTo>
                    <a:pt x="6167513" y="155956"/>
                  </a:lnTo>
                  <a:lnTo>
                    <a:pt x="6168542" y="158623"/>
                  </a:lnTo>
                  <a:lnTo>
                    <a:pt x="6170320" y="161417"/>
                  </a:lnTo>
                  <a:lnTo>
                    <a:pt x="6176416" y="156845"/>
                  </a:lnTo>
                  <a:lnTo>
                    <a:pt x="6174829" y="154051"/>
                  </a:lnTo>
                  <a:lnTo>
                    <a:pt x="6174765" y="153924"/>
                  </a:lnTo>
                  <a:lnTo>
                    <a:pt x="6174130" y="151384"/>
                  </a:lnTo>
                  <a:lnTo>
                    <a:pt x="6174346" y="149479"/>
                  </a:lnTo>
                  <a:lnTo>
                    <a:pt x="6174765" y="147066"/>
                  </a:lnTo>
                  <a:lnTo>
                    <a:pt x="6184290" y="137922"/>
                  </a:lnTo>
                  <a:lnTo>
                    <a:pt x="6184798" y="137922"/>
                  </a:lnTo>
                  <a:lnTo>
                    <a:pt x="6188862" y="137668"/>
                  </a:lnTo>
                  <a:lnTo>
                    <a:pt x="6190894" y="138684"/>
                  </a:lnTo>
                  <a:lnTo>
                    <a:pt x="6191783" y="139573"/>
                  </a:lnTo>
                  <a:lnTo>
                    <a:pt x="6193434" y="141097"/>
                  </a:lnTo>
                  <a:lnTo>
                    <a:pt x="6193815" y="141605"/>
                  </a:lnTo>
                  <a:lnTo>
                    <a:pt x="6194564" y="142367"/>
                  </a:lnTo>
                  <a:lnTo>
                    <a:pt x="6193180" y="145288"/>
                  </a:lnTo>
                  <a:lnTo>
                    <a:pt x="6190513" y="149098"/>
                  </a:lnTo>
                  <a:lnTo>
                    <a:pt x="6186792" y="153924"/>
                  </a:lnTo>
                  <a:lnTo>
                    <a:pt x="6183947" y="157734"/>
                  </a:lnTo>
                  <a:lnTo>
                    <a:pt x="6183325" y="158623"/>
                  </a:lnTo>
                  <a:lnTo>
                    <a:pt x="6181496" y="161671"/>
                  </a:lnTo>
                  <a:lnTo>
                    <a:pt x="6180836" y="163703"/>
                  </a:lnTo>
                  <a:lnTo>
                    <a:pt x="6180315" y="166370"/>
                  </a:lnTo>
                  <a:lnTo>
                    <a:pt x="6180340" y="170053"/>
                  </a:lnTo>
                  <a:lnTo>
                    <a:pt x="6189878" y="180975"/>
                  </a:lnTo>
                  <a:lnTo>
                    <a:pt x="6193561" y="180848"/>
                  </a:lnTo>
                  <a:lnTo>
                    <a:pt x="6211494" y="159893"/>
                  </a:lnTo>
                  <a:lnTo>
                    <a:pt x="6211582" y="158623"/>
                  </a:lnTo>
                  <a:lnTo>
                    <a:pt x="6211735" y="158623"/>
                  </a:lnTo>
                  <a:lnTo>
                    <a:pt x="6213246" y="159893"/>
                  </a:lnTo>
                  <a:lnTo>
                    <a:pt x="6215011" y="160909"/>
                  </a:lnTo>
                  <a:lnTo>
                    <a:pt x="6216662" y="161417"/>
                  </a:lnTo>
                  <a:lnTo>
                    <a:pt x="6219469" y="158623"/>
                  </a:lnTo>
                  <a:lnTo>
                    <a:pt x="6222390" y="155702"/>
                  </a:lnTo>
                  <a:close/>
                </a:path>
                <a:path w="9090025" h="247014">
                  <a:moveTo>
                    <a:pt x="6234328" y="143764"/>
                  </a:moveTo>
                  <a:lnTo>
                    <a:pt x="6217437" y="126746"/>
                  </a:lnTo>
                  <a:lnTo>
                    <a:pt x="6215011" y="124460"/>
                  </a:lnTo>
                  <a:lnTo>
                    <a:pt x="6213246" y="122047"/>
                  </a:lnTo>
                  <a:lnTo>
                    <a:pt x="6211836" y="119507"/>
                  </a:lnTo>
                  <a:lnTo>
                    <a:pt x="6211087" y="117729"/>
                  </a:lnTo>
                  <a:lnTo>
                    <a:pt x="6210871" y="116840"/>
                  </a:lnTo>
                  <a:lnTo>
                    <a:pt x="6210706" y="116078"/>
                  </a:lnTo>
                  <a:lnTo>
                    <a:pt x="6211125" y="113284"/>
                  </a:lnTo>
                  <a:lnTo>
                    <a:pt x="6211214" y="112776"/>
                  </a:lnTo>
                  <a:lnTo>
                    <a:pt x="6211836" y="111252"/>
                  </a:lnTo>
                  <a:lnTo>
                    <a:pt x="6213119" y="110109"/>
                  </a:lnTo>
                  <a:lnTo>
                    <a:pt x="6214389" y="108712"/>
                  </a:lnTo>
                  <a:lnTo>
                    <a:pt x="6216167" y="107823"/>
                  </a:lnTo>
                  <a:lnTo>
                    <a:pt x="6218313" y="107315"/>
                  </a:lnTo>
                  <a:lnTo>
                    <a:pt x="6215138" y="100203"/>
                  </a:lnTo>
                  <a:lnTo>
                    <a:pt x="6205245" y="108712"/>
                  </a:lnTo>
                  <a:lnTo>
                    <a:pt x="6205245" y="113284"/>
                  </a:lnTo>
                  <a:lnTo>
                    <a:pt x="6206261" y="116840"/>
                  </a:lnTo>
                  <a:lnTo>
                    <a:pt x="6201435" y="111887"/>
                  </a:lnTo>
                  <a:lnTo>
                    <a:pt x="6196482" y="116840"/>
                  </a:lnTo>
                  <a:lnTo>
                    <a:pt x="6228740" y="149098"/>
                  </a:lnTo>
                  <a:lnTo>
                    <a:pt x="6228867" y="149225"/>
                  </a:lnTo>
                  <a:lnTo>
                    <a:pt x="6234328" y="143764"/>
                  </a:lnTo>
                  <a:close/>
                </a:path>
                <a:path w="9090025" h="247014">
                  <a:moveTo>
                    <a:pt x="6250711" y="100584"/>
                  </a:moveTo>
                  <a:lnTo>
                    <a:pt x="6245237" y="94996"/>
                  </a:lnTo>
                  <a:lnTo>
                    <a:pt x="6228359" y="111887"/>
                  </a:lnTo>
                  <a:lnTo>
                    <a:pt x="6233820" y="117475"/>
                  </a:lnTo>
                  <a:lnTo>
                    <a:pt x="6250711" y="100584"/>
                  </a:lnTo>
                  <a:close/>
                </a:path>
                <a:path w="9090025" h="247014">
                  <a:moveTo>
                    <a:pt x="6298336" y="79756"/>
                  </a:moveTo>
                  <a:lnTo>
                    <a:pt x="6293002" y="74549"/>
                  </a:lnTo>
                  <a:lnTo>
                    <a:pt x="6271031" y="96520"/>
                  </a:lnTo>
                  <a:lnTo>
                    <a:pt x="6270764" y="95377"/>
                  </a:lnTo>
                  <a:lnTo>
                    <a:pt x="6270650" y="85217"/>
                  </a:lnTo>
                  <a:lnTo>
                    <a:pt x="6271730" y="72517"/>
                  </a:lnTo>
                  <a:lnTo>
                    <a:pt x="6271755" y="62357"/>
                  </a:lnTo>
                  <a:lnTo>
                    <a:pt x="6267882" y="49784"/>
                  </a:lnTo>
                  <a:lnTo>
                    <a:pt x="6267475" y="49149"/>
                  </a:lnTo>
                  <a:lnTo>
                    <a:pt x="6265684" y="47371"/>
                  </a:lnTo>
                  <a:lnTo>
                    <a:pt x="6262268" y="43815"/>
                  </a:lnTo>
                  <a:lnTo>
                    <a:pt x="6258712" y="42418"/>
                  </a:lnTo>
                  <a:lnTo>
                    <a:pt x="6248285" y="42418"/>
                  </a:lnTo>
                  <a:lnTo>
                    <a:pt x="6243713" y="44577"/>
                  </a:lnTo>
                  <a:lnTo>
                    <a:pt x="6235090" y="53213"/>
                  </a:lnTo>
                  <a:lnTo>
                    <a:pt x="6232804" y="57658"/>
                  </a:lnTo>
                  <a:lnTo>
                    <a:pt x="6232537" y="62357"/>
                  </a:lnTo>
                  <a:lnTo>
                    <a:pt x="6232283" y="65532"/>
                  </a:lnTo>
                  <a:lnTo>
                    <a:pt x="6232169" y="67056"/>
                  </a:lnTo>
                  <a:lnTo>
                    <a:pt x="6233934" y="71755"/>
                  </a:lnTo>
                  <a:lnTo>
                    <a:pt x="6237757" y="76327"/>
                  </a:lnTo>
                  <a:lnTo>
                    <a:pt x="6243980" y="71247"/>
                  </a:lnTo>
                  <a:lnTo>
                    <a:pt x="6241186" y="68453"/>
                  </a:lnTo>
                  <a:lnTo>
                    <a:pt x="6239789" y="65532"/>
                  </a:lnTo>
                  <a:lnTo>
                    <a:pt x="6239840" y="59055"/>
                  </a:lnTo>
                  <a:lnTo>
                    <a:pt x="6241186" y="56261"/>
                  </a:lnTo>
                  <a:lnTo>
                    <a:pt x="6243967" y="53467"/>
                  </a:lnTo>
                  <a:lnTo>
                    <a:pt x="6246266" y="51054"/>
                  </a:lnTo>
                  <a:lnTo>
                    <a:pt x="6249060" y="49784"/>
                  </a:lnTo>
                  <a:lnTo>
                    <a:pt x="6255486" y="49784"/>
                  </a:lnTo>
                  <a:lnTo>
                    <a:pt x="6264580" y="65532"/>
                  </a:lnTo>
                  <a:lnTo>
                    <a:pt x="6264554" y="72517"/>
                  </a:lnTo>
                  <a:lnTo>
                    <a:pt x="6263665" y="81407"/>
                  </a:lnTo>
                  <a:lnTo>
                    <a:pt x="6263030" y="87122"/>
                  </a:lnTo>
                  <a:lnTo>
                    <a:pt x="6262903" y="91694"/>
                  </a:lnTo>
                  <a:lnTo>
                    <a:pt x="6263233" y="94996"/>
                  </a:lnTo>
                  <a:lnTo>
                    <a:pt x="6263538" y="98933"/>
                  </a:lnTo>
                  <a:lnTo>
                    <a:pt x="6264351" y="102235"/>
                  </a:lnTo>
                  <a:lnTo>
                    <a:pt x="6265570" y="104902"/>
                  </a:lnTo>
                  <a:lnTo>
                    <a:pt x="6266332" y="106680"/>
                  </a:lnTo>
                  <a:lnTo>
                    <a:pt x="6267348" y="108077"/>
                  </a:lnTo>
                  <a:lnTo>
                    <a:pt x="6268745" y="109347"/>
                  </a:lnTo>
                  <a:lnTo>
                    <a:pt x="6281572" y="96520"/>
                  </a:lnTo>
                  <a:lnTo>
                    <a:pt x="6298336" y="79756"/>
                  </a:lnTo>
                  <a:close/>
                </a:path>
                <a:path w="9090025" h="247014">
                  <a:moveTo>
                    <a:pt x="6324625" y="53467"/>
                  </a:moveTo>
                  <a:lnTo>
                    <a:pt x="6295072" y="24003"/>
                  </a:lnTo>
                  <a:lnTo>
                    <a:pt x="6279667" y="8636"/>
                  </a:lnTo>
                  <a:lnTo>
                    <a:pt x="6276111" y="12065"/>
                  </a:lnTo>
                  <a:lnTo>
                    <a:pt x="6277127" y="14986"/>
                  </a:lnTo>
                  <a:lnTo>
                    <a:pt x="6277508" y="18669"/>
                  </a:lnTo>
                  <a:lnTo>
                    <a:pt x="6277038" y="26543"/>
                  </a:lnTo>
                  <a:lnTo>
                    <a:pt x="6277000" y="27305"/>
                  </a:lnTo>
                  <a:lnTo>
                    <a:pt x="6276111" y="31750"/>
                  </a:lnTo>
                  <a:lnTo>
                    <a:pt x="6274409" y="36449"/>
                  </a:lnTo>
                  <a:lnTo>
                    <a:pt x="6274587" y="36449"/>
                  </a:lnTo>
                  <a:lnTo>
                    <a:pt x="6279794" y="41656"/>
                  </a:lnTo>
                  <a:lnTo>
                    <a:pt x="6280810" y="39243"/>
                  </a:lnTo>
                  <a:lnTo>
                    <a:pt x="6281826" y="36449"/>
                  </a:lnTo>
                  <a:lnTo>
                    <a:pt x="6283604" y="29591"/>
                  </a:lnTo>
                  <a:lnTo>
                    <a:pt x="6283985" y="27305"/>
                  </a:lnTo>
                  <a:lnTo>
                    <a:pt x="6284112" y="24003"/>
                  </a:lnTo>
                  <a:lnTo>
                    <a:pt x="6319164" y="59055"/>
                  </a:lnTo>
                  <a:lnTo>
                    <a:pt x="6324625" y="53467"/>
                  </a:lnTo>
                  <a:close/>
                </a:path>
                <a:path w="9090025" h="247014">
                  <a:moveTo>
                    <a:pt x="6371742" y="203708"/>
                  </a:moveTo>
                  <a:lnTo>
                    <a:pt x="6340246" y="172212"/>
                  </a:lnTo>
                  <a:lnTo>
                    <a:pt x="6340119" y="172085"/>
                  </a:lnTo>
                  <a:lnTo>
                    <a:pt x="6327038" y="159004"/>
                  </a:lnTo>
                  <a:lnTo>
                    <a:pt x="6319037" y="167005"/>
                  </a:lnTo>
                  <a:lnTo>
                    <a:pt x="6339484" y="208788"/>
                  </a:lnTo>
                  <a:lnTo>
                    <a:pt x="6341516" y="213106"/>
                  </a:lnTo>
                  <a:lnTo>
                    <a:pt x="6344310" y="218440"/>
                  </a:lnTo>
                  <a:lnTo>
                    <a:pt x="6342405" y="217424"/>
                  </a:lnTo>
                  <a:lnTo>
                    <a:pt x="6335547" y="213868"/>
                  </a:lnTo>
                  <a:lnTo>
                    <a:pt x="6313119" y="202692"/>
                  </a:lnTo>
                  <a:lnTo>
                    <a:pt x="6293256" y="192786"/>
                  </a:lnTo>
                  <a:lnTo>
                    <a:pt x="6284366" y="201676"/>
                  </a:lnTo>
                  <a:lnTo>
                    <a:pt x="6329070" y="246507"/>
                  </a:lnTo>
                  <a:lnTo>
                    <a:pt x="6334785" y="240792"/>
                  </a:lnTo>
                  <a:lnTo>
                    <a:pt x="6296685" y="202692"/>
                  </a:lnTo>
                  <a:lnTo>
                    <a:pt x="6347739" y="227838"/>
                  </a:lnTo>
                  <a:lnTo>
                    <a:pt x="6353073" y="222504"/>
                  </a:lnTo>
                  <a:lnTo>
                    <a:pt x="6351092" y="218440"/>
                  </a:lnTo>
                  <a:lnTo>
                    <a:pt x="6328740" y="172466"/>
                  </a:lnTo>
                  <a:lnTo>
                    <a:pt x="6328613" y="172212"/>
                  </a:lnTo>
                  <a:lnTo>
                    <a:pt x="6328562" y="172085"/>
                  </a:lnTo>
                  <a:lnTo>
                    <a:pt x="6366027" y="209423"/>
                  </a:lnTo>
                  <a:lnTo>
                    <a:pt x="6371742" y="203708"/>
                  </a:lnTo>
                  <a:close/>
                </a:path>
                <a:path w="9090025" h="247014">
                  <a:moveTo>
                    <a:pt x="6409334" y="166243"/>
                  </a:moveTo>
                  <a:lnTo>
                    <a:pt x="6407429" y="165608"/>
                  </a:lnTo>
                  <a:lnTo>
                    <a:pt x="6405651" y="164846"/>
                  </a:lnTo>
                  <a:lnTo>
                    <a:pt x="6404292" y="163830"/>
                  </a:lnTo>
                  <a:lnTo>
                    <a:pt x="6402476" y="162560"/>
                  </a:lnTo>
                  <a:lnTo>
                    <a:pt x="6399035" y="159385"/>
                  </a:lnTo>
                  <a:lnTo>
                    <a:pt x="6396939" y="157226"/>
                  </a:lnTo>
                  <a:lnTo>
                    <a:pt x="6394094" y="154305"/>
                  </a:lnTo>
                  <a:lnTo>
                    <a:pt x="6393218" y="153454"/>
                  </a:lnTo>
                  <a:lnTo>
                    <a:pt x="6393218" y="170815"/>
                  </a:lnTo>
                  <a:lnTo>
                    <a:pt x="6391808" y="175641"/>
                  </a:lnTo>
                  <a:lnTo>
                    <a:pt x="6383579" y="183642"/>
                  </a:lnTo>
                  <a:lnTo>
                    <a:pt x="6379870" y="183642"/>
                  </a:lnTo>
                  <a:lnTo>
                    <a:pt x="6378092" y="183007"/>
                  </a:lnTo>
                  <a:lnTo>
                    <a:pt x="6376695" y="181483"/>
                  </a:lnTo>
                  <a:lnTo>
                    <a:pt x="6375679" y="180467"/>
                  </a:lnTo>
                  <a:lnTo>
                    <a:pt x="6375044" y="179451"/>
                  </a:lnTo>
                  <a:lnTo>
                    <a:pt x="6374536" y="176784"/>
                  </a:lnTo>
                  <a:lnTo>
                    <a:pt x="6374651" y="175641"/>
                  </a:lnTo>
                  <a:lnTo>
                    <a:pt x="6375171" y="174117"/>
                  </a:lnTo>
                  <a:lnTo>
                    <a:pt x="6375578" y="173101"/>
                  </a:lnTo>
                  <a:lnTo>
                    <a:pt x="6375679" y="172847"/>
                  </a:lnTo>
                  <a:lnTo>
                    <a:pt x="6376949" y="170815"/>
                  </a:lnTo>
                  <a:lnTo>
                    <a:pt x="6382093" y="163957"/>
                  </a:lnTo>
                  <a:lnTo>
                    <a:pt x="6382829" y="162814"/>
                  </a:lnTo>
                  <a:lnTo>
                    <a:pt x="6384569" y="160020"/>
                  </a:lnTo>
                  <a:lnTo>
                    <a:pt x="6385839" y="157226"/>
                  </a:lnTo>
                  <a:lnTo>
                    <a:pt x="6387871" y="159385"/>
                  </a:lnTo>
                  <a:lnTo>
                    <a:pt x="6393218" y="170815"/>
                  </a:lnTo>
                  <a:lnTo>
                    <a:pt x="6393218" y="153454"/>
                  </a:lnTo>
                  <a:lnTo>
                    <a:pt x="6388011" y="148336"/>
                  </a:lnTo>
                  <a:lnTo>
                    <a:pt x="6386728" y="147066"/>
                  </a:lnTo>
                  <a:lnTo>
                    <a:pt x="6384315" y="144526"/>
                  </a:lnTo>
                  <a:lnTo>
                    <a:pt x="6382537" y="143002"/>
                  </a:lnTo>
                  <a:lnTo>
                    <a:pt x="6381394" y="142240"/>
                  </a:lnTo>
                  <a:lnTo>
                    <a:pt x="6379489" y="141097"/>
                  </a:lnTo>
                  <a:lnTo>
                    <a:pt x="6377711" y="140335"/>
                  </a:lnTo>
                  <a:lnTo>
                    <a:pt x="6372707" y="140335"/>
                  </a:lnTo>
                  <a:lnTo>
                    <a:pt x="6371996" y="140462"/>
                  </a:lnTo>
                  <a:lnTo>
                    <a:pt x="6369710" y="141605"/>
                  </a:lnTo>
                  <a:lnTo>
                    <a:pt x="6367297" y="142621"/>
                  </a:lnTo>
                  <a:lnTo>
                    <a:pt x="6364757" y="144526"/>
                  </a:lnTo>
                  <a:lnTo>
                    <a:pt x="6359169" y="150114"/>
                  </a:lnTo>
                  <a:lnTo>
                    <a:pt x="6357010" y="152908"/>
                  </a:lnTo>
                  <a:lnTo>
                    <a:pt x="6355740" y="155829"/>
                  </a:lnTo>
                  <a:lnTo>
                    <a:pt x="6354343" y="158750"/>
                  </a:lnTo>
                  <a:lnTo>
                    <a:pt x="6354470" y="166497"/>
                  </a:lnTo>
                  <a:lnTo>
                    <a:pt x="6355385" y="168910"/>
                  </a:lnTo>
                  <a:lnTo>
                    <a:pt x="6355486" y="169164"/>
                  </a:lnTo>
                  <a:lnTo>
                    <a:pt x="6357252" y="171970"/>
                  </a:lnTo>
                  <a:lnTo>
                    <a:pt x="6363360" y="167259"/>
                  </a:lnTo>
                  <a:lnTo>
                    <a:pt x="6361709" y="164338"/>
                  </a:lnTo>
                  <a:lnTo>
                    <a:pt x="6360947" y="161925"/>
                  </a:lnTo>
                  <a:lnTo>
                    <a:pt x="6361189" y="160528"/>
                  </a:lnTo>
                  <a:lnTo>
                    <a:pt x="6361277" y="160020"/>
                  </a:lnTo>
                  <a:lnTo>
                    <a:pt x="6361366" y="159385"/>
                  </a:lnTo>
                  <a:lnTo>
                    <a:pt x="6361443" y="158750"/>
                  </a:lnTo>
                  <a:lnTo>
                    <a:pt x="6361519" y="158115"/>
                  </a:lnTo>
                  <a:lnTo>
                    <a:pt x="6361582" y="157607"/>
                  </a:lnTo>
                  <a:lnTo>
                    <a:pt x="6373774" y="148336"/>
                  </a:lnTo>
                  <a:lnTo>
                    <a:pt x="6376060" y="148336"/>
                  </a:lnTo>
                  <a:lnTo>
                    <a:pt x="6377838" y="149225"/>
                  </a:lnTo>
                  <a:lnTo>
                    <a:pt x="6381521" y="152908"/>
                  </a:lnTo>
                  <a:lnTo>
                    <a:pt x="6380315" y="155321"/>
                  </a:lnTo>
                  <a:lnTo>
                    <a:pt x="6380035" y="155829"/>
                  </a:lnTo>
                  <a:lnTo>
                    <a:pt x="6377356" y="159766"/>
                  </a:lnTo>
                  <a:lnTo>
                    <a:pt x="6373647" y="164592"/>
                  </a:lnTo>
                  <a:lnTo>
                    <a:pt x="6371615" y="167005"/>
                  </a:lnTo>
                  <a:lnTo>
                    <a:pt x="6370345" y="168910"/>
                  </a:lnTo>
                  <a:lnTo>
                    <a:pt x="6369431" y="170561"/>
                  </a:lnTo>
                  <a:lnTo>
                    <a:pt x="6368516" y="172085"/>
                  </a:lnTo>
                  <a:lnTo>
                    <a:pt x="6368440" y="172212"/>
                  </a:lnTo>
                  <a:lnTo>
                    <a:pt x="6367805" y="174117"/>
                  </a:lnTo>
                  <a:lnTo>
                    <a:pt x="6367285" y="176784"/>
                  </a:lnTo>
                  <a:lnTo>
                    <a:pt x="6367158" y="180467"/>
                  </a:lnTo>
                  <a:lnTo>
                    <a:pt x="6368313" y="184150"/>
                  </a:lnTo>
                  <a:lnTo>
                    <a:pt x="6369329" y="185928"/>
                  </a:lnTo>
                  <a:lnTo>
                    <a:pt x="6370980" y="187452"/>
                  </a:lnTo>
                  <a:lnTo>
                    <a:pt x="6373647" y="190246"/>
                  </a:lnTo>
                  <a:lnTo>
                    <a:pt x="6376822" y="191516"/>
                  </a:lnTo>
                  <a:lnTo>
                    <a:pt x="6380505" y="191262"/>
                  </a:lnTo>
                  <a:lnTo>
                    <a:pt x="6384188" y="191135"/>
                  </a:lnTo>
                  <a:lnTo>
                    <a:pt x="6387744" y="189230"/>
                  </a:lnTo>
                  <a:lnTo>
                    <a:pt x="6393332" y="183642"/>
                  </a:lnTo>
                  <a:lnTo>
                    <a:pt x="6395110" y="181102"/>
                  </a:lnTo>
                  <a:lnTo>
                    <a:pt x="6396253" y="178562"/>
                  </a:lnTo>
                  <a:lnTo>
                    <a:pt x="6397523" y="176022"/>
                  </a:lnTo>
                  <a:lnTo>
                    <a:pt x="6398107" y="173101"/>
                  </a:lnTo>
                  <a:lnTo>
                    <a:pt x="6398234" y="172085"/>
                  </a:lnTo>
                  <a:lnTo>
                    <a:pt x="6398527" y="169164"/>
                  </a:lnTo>
                  <a:lnTo>
                    <a:pt x="6398679" y="169164"/>
                  </a:lnTo>
                  <a:lnTo>
                    <a:pt x="6400444" y="170561"/>
                  </a:lnTo>
                  <a:lnTo>
                    <a:pt x="6401968" y="171323"/>
                  </a:lnTo>
                  <a:lnTo>
                    <a:pt x="6403607" y="171970"/>
                  </a:lnTo>
                  <a:lnTo>
                    <a:pt x="6406667" y="168910"/>
                  </a:lnTo>
                  <a:lnTo>
                    <a:pt x="6409334" y="166243"/>
                  </a:lnTo>
                  <a:close/>
                </a:path>
                <a:path w="9090025" h="247014">
                  <a:moveTo>
                    <a:pt x="6435941" y="161925"/>
                  </a:moveTo>
                  <a:lnTo>
                    <a:pt x="6428638" y="141605"/>
                  </a:lnTo>
                  <a:lnTo>
                    <a:pt x="6409969" y="100711"/>
                  </a:lnTo>
                  <a:lnTo>
                    <a:pt x="6404381" y="106299"/>
                  </a:lnTo>
                  <a:lnTo>
                    <a:pt x="6404559" y="106299"/>
                  </a:lnTo>
                  <a:lnTo>
                    <a:pt x="6417970" y="135255"/>
                  </a:lnTo>
                  <a:lnTo>
                    <a:pt x="6419748" y="138557"/>
                  </a:lnTo>
                  <a:lnTo>
                    <a:pt x="6421653" y="141605"/>
                  </a:lnTo>
                  <a:lnTo>
                    <a:pt x="6418351" y="139700"/>
                  </a:lnTo>
                  <a:lnTo>
                    <a:pt x="6415049" y="138049"/>
                  </a:lnTo>
                  <a:lnTo>
                    <a:pt x="6411747" y="136525"/>
                  </a:lnTo>
                  <a:lnTo>
                    <a:pt x="6386220" y="124460"/>
                  </a:lnTo>
                  <a:lnTo>
                    <a:pt x="6380378" y="130429"/>
                  </a:lnTo>
                  <a:lnTo>
                    <a:pt x="6425082" y="150622"/>
                  </a:lnTo>
                  <a:lnTo>
                    <a:pt x="6425463" y="151384"/>
                  </a:lnTo>
                  <a:lnTo>
                    <a:pt x="6425717" y="152019"/>
                  </a:lnTo>
                  <a:lnTo>
                    <a:pt x="6425971" y="152400"/>
                  </a:lnTo>
                  <a:lnTo>
                    <a:pt x="6427368" y="155321"/>
                  </a:lnTo>
                  <a:lnTo>
                    <a:pt x="6428130" y="157226"/>
                  </a:lnTo>
                  <a:lnTo>
                    <a:pt x="6428384" y="158115"/>
                  </a:lnTo>
                  <a:lnTo>
                    <a:pt x="6428511" y="158750"/>
                  </a:lnTo>
                  <a:lnTo>
                    <a:pt x="6428638" y="160528"/>
                  </a:lnTo>
                  <a:lnTo>
                    <a:pt x="6428333" y="161417"/>
                  </a:lnTo>
                  <a:lnTo>
                    <a:pt x="6428257" y="161671"/>
                  </a:lnTo>
                  <a:lnTo>
                    <a:pt x="6428054" y="162560"/>
                  </a:lnTo>
                  <a:lnTo>
                    <a:pt x="6428003" y="162814"/>
                  </a:lnTo>
                  <a:lnTo>
                    <a:pt x="6427203" y="163830"/>
                  </a:lnTo>
                  <a:lnTo>
                    <a:pt x="6422060" y="168021"/>
                  </a:lnTo>
                  <a:lnTo>
                    <a:pt x="6422441" y="168021"/>
                  </a:lnTo>
                  <a:lnTo>
                    <a:pt x="6428130" y="172466"/>
                  </a:lnTo>
                  <a:lnTo>
                    <a:pt x="6429781" y="171577"/>
                  </a:lnTo>
                  <a:lnTo>
                    <a:pt x="6431305" y="170561"/>
                  </a:lnTo>
                  <a:lnTo>
                    <a:pt x="6434099" y="167767"/>
                  </a:lnTo>
                  <a:lnTo>
                    <a:pt x="6435115" y="165862"/>
                  </a:lnTo>
                  <a:lnTo>
                    <a:pt x="6435230" y="165227"/>
                  </a:lnTo>
                  <a:lnTo>
                    <a:pt x="6435344" y="164592"/>
                  </a:lnTo>
                  <a:lnTo>
                    <a:pt x="6435471" y="163957"/>
                  </a:lnTo>
                  <a:lnTo>
                    <a:pt x="6435941" y="161925"/>
                  </a:lnTo>
                  <a:close/>
                </a:path>
                <a:path w="9090025" h="247014">
                  <a:moveTo>
                    <a:pt x="6448450" y="100330"/>
                  </a:moveTo>
                  <a:lnTo>
                    <a:pt x="6442862" y="94742"/>
                  </a:lnTo>
                  <a:lnTo>
                    <a:pt x="6425971" y="111633"/>
                  </a:lnTo>
                  <a:lnTo>
                    <a:pt x="6431559" y="117094"/>
                  </a:lnTo>
                  <a:lnTo>
                    <a:pt x="6448450" y="100330"/>
                  </a:lnTo>
                  <a:close/>
                </a:path>
                <a:path w="9090025" h="247014">
                  <a:moveTo>
                    <a:pt x="6469215" y="58674"/>
                  </a:moveTo>
                  <a:lnTo>
                    <a:pt x="6468643" y="55880"/>
                  </a:lnTo>
                  <a:lnTo>
                    <a:pt x="6466611" y="51054"/>
                  </a:lnTo>
                  <a:lnTo>
                    <a:pt x="6465621" y="49530"/>
                  </a:lnTo>
                  <a:lnTo>
                    <a:pt x="6465214" y="48895"/>
                  </a:lnTo>
                  <a:lnTo>
                    <a:pt x="6459880" y="43561"/>
                  </a:lnTo>
                  <a:lnTo>
                    <a:pt x="6455689" y="41910"/>
                  </a:lnTo>
                  <a:lnTo>
                    <a:pt x="6445910" y="42164"/>
                  </a:lnTo>
                  <a:lnTo>
                    <a:pt x="6429997" y="65151"/>
                  </a:lnTo>
                  <a:lnTo>
                    <a:pt x="6429908" y="66802"/>
                  </a:lnTo>
                  <a:lnTo>
                    <a:pt x="6431483" y="70993"/>
                  </a:lnTo>
                  <a:lnTo>
                    <a:pt x="6431788" y="71628"/>
                  </a:lnTo>
                  <a:lnTo>
                    <a:pt x="6435496" y="76073"/>
                  </a:lnTo>
                  <a:lnTo>
                    <a:pt x="6441719" y="70993"/>
                  </a:lnTo>
                  <a:lnTo>
                    <a:pt x="6438925" y="68199"/>
                  </a:lnTo>
                  <a:lnTo>
                    <a:pt x="6437528" y="65151"/>
                  </a:lnTo>
                  <a:lnTo>
                    <a:pt x="6437566" y="58928"/>
                  </a:lnTo>
                  <a:lnTo>
                    <a:pt x="6461290" y="58928"/>
                  </a:lnTo>
                  <a:lnTo>
                    <a:pt x="6461252" y="58674"/>
                  </a:lnTo>
                  <a:lnTo>
                    <a:pt x="6437579" y="58674"/>
                  </a:lnTo>
                  <a:lnTo>
                    <a:pt x="6438798" y="55880"/>
                  </a:lnTo>
                  <a:lnTo>
                    <a:pt x="6441465" y="53340"/>
                  </a:lnTo>
                  <a:lnTo>
                    <a:pt x="6444005" y="50800"/>
                  </a:lnTo>
                  <a:lnTo>
                    <a:pt x="6446799" y="49530"/>
                  </a:lnTo>
                  <a:lnTo>
                    <a:pt x="6453213" y="49530"/>
                  </a:lnTo>
                  <a:lnTo>
                    <a:pt x="6461252" y="58674"/>
                  </a:lnTo>
                  <a:lnTo>
                    <a:pt x="6469215" y="58674"/>
                  </a:lnTo>
                  <a:close/>
                </a:path>
                <a:path w="9090025" h="247014">
                  <a:moveTo>
                    <a:pt x="6495948" y="79502"/>
                  </a:moveTo>
                  <a:lnTo>
                    <a:pt x="6490741" y="74295"/>
                  </a:lnTo>
                  <a:lnTo>
                    <a:pt x="6468770" y="96266"/>
                  </a:lnTo>
                  <a:lnTo>
                    <a:pt x="6468504" y="95123"/>
                  </a:lnTo>
                  <a:lnTo>
                    <a:pt x="6468415" y="94742"/>
                  </a:lnTo>
                  <a:lnTo>
                    <a:pt x="6468135" y="92837"/>
                  </a:lnTo>
                  <a:lnTo>
                    <a:pt x="6468262" y="84963"/>
                  </a:lnTo>
                  <a:lnTo>
                    <a:pt x="6468834" y="79502"/>
                  </a:lnTo>
                  <a:lnTo>
                    <a:pt x="6468897" y="78994"/>
                  </a:lnTo>
                  <a:lnTo>
                    <a:pt x="6469354" y="72263"/>
                  </a:lnTo>
                  <a:lnTo>
                    <a:pt x="6469558" y="68199"/>
                  </a:lnTo>
                  <a:lnTo>
                    <a:pt x="6469583" y="65151"/>
                  </a:lnTo>
                  <a:lnTo>
                    <a:pt x="6469405" y="62611"/>
                  </a:lnTo>
                  <a:lnTo>
                    <a:pt x="6469278" y="58928"/>
                  </a:lnTo>
                  <a:lnTo>
                    <a:pt x="6461290" y="58928"/>
                  </a:lnTo>
                  <a:lnTo>
                    <a:pt x="6461658" y="61849"/>
                  </a:lnTo>
                  <a:lnTo>
                    <a:pt x="6462179" y="65151"/>
                  </a:lnTo>
                  <a:lnTo>
                    <a:pt x="6462166" y="72263"/>
                  </a:lnTo>
                  <a:lnTo>
                    <a:pt x="6461277" y="81153"/>
                  </a:lnTo>
                  <a:lnTo>
                    <a:pt x="6460934" y="84963"/>
                  </a:lnTo>
                  <a:lnTo>
                    <a:pt x="6461011" y="96266"/>
                  </a:lnTo>
                  <a:lnTo>
                    <a:pt x="6461277" y="98679"/>
                  </a:lnTo>
                  <a:lnTo>
                    <a:pt x="6462039" y="101854"/>
                  </a:lnTo>
                  <a:lnTo>
                    <a:pt x="6463309" y="104648"/>
                  </a:lnTo>
                  <a:lnTo>
                    <a:pt x="6463944" y="106299"/>
                  </a:lnTo>
                  <a:lnTo>
                    <a:pt x="6465087" y="107823"/>
                  </a:lnTo>
                  <a:lnTo>
                    <a:pt x="6466484" y="109093"/>
                  </a:lnTo>
                  <a:lnTo>
                    <a:pt x="6479248" y="96266"/>
                  </a:lnTo>
                  <a:lnTo>
                    <a:pt x="6495948" y="79502"/>
                  </a:lnTo>
                  <a:close/>
                </a:path>
                <a:path w="9090025" h="247014">
                  <a:moveTo>
                    <a:pt x="6522491" y="53340"/>
                  </a:moveTo>
                  <a:lnTo>
                    <a:pt x="6492900" y="23749"/>
                  </a:lnTo>
                  <a:lnTo>
                    <a:pt x="6477406" y="8255"/>
                  </a:lnTo>
                  <a:lnTo>
                    <a:pt x="6473850" y="11811"/>
                  </a:lnTo>
                  <a:lnTo>
                    <a:pt x="6474866" y="14732"/>
                  </a:lnTo>
                  <a:lnTo>
                    <a:pt x="6475247" y="18415"/>
                  </a:lnTo>
                  <a:lnTo>
                    <a:pt x="6474777" y="26289"/>
                  </a:lnTo>
                  <a:lnTo>
                    <a:pt x="6474739" y="27051"/>
                  </a:lnTo>
                  <a:lnTo>
                    <a:pt x="6473723" y="31496"/>
                  </a:lnTo>
                  <a:lnTo>
                    <a:pt x="6472072" y="36068"/>
                  </a:lnTo>
                  <a:lnTo>
                    <a:pt x="6477406" y="41275"/>
                  </a:lnTo>
                  <a:lnTo>
                    <a:pt x="6478549" y="38989"/>
                  </a:lnTo>
                  <a:lnTo>
                    <a:pt x="6479565" y="36068"/>
                  </a:lnTo>
                  <a:lnTo>
                    <a:pt x="6480327" y="32766"/>
                  </a:lnTo>
                  <a:lnTo>
                    <a:pt x="6481216" y="29337"/>
                  </a:lnTo>
                  <a:lnTo>
                    <a:pt x="6481597" y="27051"/>
                  </a:lnTo>
                  <a:lnTo>
                    <a:pt x="6481724" y="26289"/>
                  </a:lnTo>
                  <a:lnTo>
                    <a:pt x="6481851" y="23749"/>
                  </a:lnTo>
                  <a:lnTo>
                    <a:pt x="6516776" y="58674"/>
                  </a:lnTo>
                  <a:lnTo>
                    <a:pt x="6522225" y="53340"/>
                  </a:lnTo>
                  <a:lnTo>
                    <a:pt x="6522491" y="53340"/>
                  </a:lnTo>
                  <a:close/>
                </a:path>
                <a:path w="9090025" h="247014">
                  <a:moveTo>
                    <a:pt x="6581038" y="188087"/>
                  </a:moveTo>
                  <a:lnTo>
                    <a:pt x="6580911" y="185039"/>
                  </a:lnTo>
                  <a:lnTo>
                    <a:pt x="6578625" y="179197"/>
                  </a:lnTo>
                  <a:lnTo>
                    <a:pt x="6576085" y="175768"/>
                  </a:lnTo>
                  <a:lnTo>
                    <a:pt x="6541922" y="141605"/>
                  </a:lnTo>
                  <a:lnTo>
                    <a:pt x="6535953" y="147447"/>
                  </a:lnTo>
                  <a:lnTo>
                    <a:pt x="6569354" y="180848"/>
                  </a:lnTo>
                  <a:lnTo>
                    <a:pt x="6571005" y="183007"/>
                  </a:lnTo>
                  <a:lnTo>
                    <a:pt x="6572529" y="186055"/>
                  </a:lnTo>
                  <a:lnTo>
                    <a:pt x="6572783" y="187833"/>
                  </a:lnTo>
                  <a:lnTo>
                    <a:pt x="6572402" y="189484"/>
                  </a:lnTo>
                  <a:lnTo>
                    <a:pt x="6572021" y="191262"/>
                  </a:lnTo>
                  <a:lnTo>
                    <a:pt x="6571005" y="192913"/>
                  </a:lnTo>
                  <a:lnTo>
                    <a:pt x="6569481" y="194437"/>
                  </a:lnTo>
                  <a:lnTo>
                    <a:pt x="6567576" y="196469"/>
                  </a:lnTo>
                  <a:lnTo>
                    <a:pt x="6565290" y="197358"/>
                  </a:lnTo>
                  <a:lnTo>
                    <a:pt x="6560464" y="197104"/>
                  </a:lnTo>
                  <a:lnTo>
                    <a:pt x="6557543" y="195453"/>
                  </a:lnTo>
                  <a:lnTo>
                    <a:pt x="6553987" y="192151"/>
                  </a:lnTo>
                  <a:lnTo>
                    <a:pt x="6549415" y="198247"/>
                  </a:lnTo>
                  <a:lnTo>
                    <a:pt x="6553733" y="202692"/>
                  </a:lnTo>
                  <a:lnTo>
                    <a:pt x="6558051" y="205105"/>
                  </a:lnTo>
                  <a:lnTo>
                    <a:pt x="6562496" y="205232"/>
                  </a:lnTo>
                  <a:lnTo>
                    <a:pt x="6566814" y="205486"/>
                  </a:lnTo>
                  <a:lnTo>
                    <a:pt x="6570878" y="203581"/>
                  </a:lnTo>
                  <a:lnTo>
                    <a:pt x="6577101" y="197358"/>
                  </a:lnTo>
                  <a:lnTo>
                    <a:pt x="6577355" y="197104"/>
                  </a:lnTo>
                  <a:lnTo>
                    <a:pt x="6577800" y="196469"/>
                  </a:lnTo>
                  <a:lnTo>
                    <a:pt x="6579260" y="194183"/>
                  </a:lnTo>
                  <a:lnTo>
                    <a:pt x="6581038" y="188087"/>
                  </a:lnTo>
                  <a:close/>
                </a:path>
                <a:path w="9090025" h="247014">
                  <a:moveTo>
                    <a:pt x="6621805" y="151130"/>
                  </a:moveTo>
                  <a:lnTo>
                    <a:pt x="6589420" y="118745"/>
                  </a:lnTo>
                  <a:lnTo>
                    <a:pt x="6583832" y="124206"/>
                  </a:lnTo>
                  <a:lnTo>
                    <a:pt x="6604025" y="144399"/>
                  </a:lnTo>
                  <a:lnTo>
                    <a:pt x="6605803" y="146812"/>
                  </a:lnTo>
                  <a:lnTo>
                    <a:pt x="6607581" y="150876"/>
                  </a:lnTo>
                  <a:lnTo>
                    <a:pt x="6607708" y="153035"/>
                  </a:lnTo>
                  <a:lnTo>
                    <a:pt x="6607073" y="155321"/>
                  </a:lnTo>
                  <a:lnTo>
                    <a:pt x="6606502" y="157480"/>
                  </a:lnTo>
                  <a:lnTo>
                    <a:pt x="6606438" y="157734"/>
                  </a:lnTo>
                  <a:lnTo>
                    <a:pt x="6605295" y="159639"/>
                  </a:lnTo>
                  <a:lnTo>
                    <a:pt x="6601993" y="162941"/>
                  </a:lnTo>
                  <a:lnTo>
                    <a:pt x="6599987" y="164084"/>
                  </a:lnTo>
                  <a:lnTo>
                    <a:pt x="6599263" y="164084"/>
                  </a:lnTo>
                  <a:lnTo>
                    <a:pt x="6596405" y="164465"/>
                  </a:lnTo>
                  <a:lnTo>
                    <a:pt x="6594500" y="164084"/>
                  </a:lnTo>
                  <a:lnTo>
                    <a:pt x="6592722" y="162941"/>
                  </a:lnTo>
                  <a:lnTo>
                    <a:pt x="6591452" y="162179"/>
                  </a:lnTo>
                  <a:lnTo>
                    <a:pt x="6589420" y="160401"/>
                  </a:lnTo>
                  <a:lnTo>
                    <a:pt x="6586626" y="157480"/>
                  </a:lnTo>
                  <a:lnTo>
                    <a:pt x="6568592" y="139573"/>
                  </a:lnTo>
                  <a:lnTo>
                    <a:pt x="6563131" y="145034"/>
                  </a:lnTo>
                  <a:lnTo>
                    <a:pt x="6583197" y="165100"/>
                  </a:lnTo>
                  <a:lnTo>
                    <a:pt x="6585483" y="167513"/>
                  </a:lnTo>
                  <a:lnTo>
                    <a:pt x="6596278" y="172593"/>
                  </a:lnTo>
                  <a:lnTo>
                    <a:pt x="6598437" y="172339"/>
                  </a:lnTo>
                  <a:lnTo>
                    <a:pt x="6600850" y="171323"/>
                  </a:lnTo>
                  <a:lnTo>
                    <a:pt x="6603263" y="170434"/>
                  </a:lnTo>
                  <a:lnTo>
                    <a:pt x="6605422" y="169037"/>
                  </a:lnTo>
                  <a:lnTo>
                    <a:pt x="6609994" y="164465"/>
                  </a:lnTo>
                  <a:lnTo>
                    <a:pt x="6611518" y="162941"/>
                  </a:lnTo>
                  <a:lnTo>
                    <a:pt x="6611836" y="162179"/>
                  </a:lnTo>
                  <a:lnTo>
                    <a:pt x="6613207" y="157734"/>
                  </a:lnTo>
                  <a:lnTo>
                    <a:pt x="6613296" y="157480"/>
                  </a:lnTo>
                  <a:lnTo>
                    <a:pt x="6612153" y="151384"/>
                  </a:lnTo>
                  <a:lnTo>
                    <a:pt x="6616852" y="156083"/>
                  </a:lnTo>
                  <a:lnTo>
                    <a:pt x="6621551" y="151384"/>
                  </a:lnTo>
                  <a:lnTo>
                    <a:pt x="6621805" y="151130"/>
                  </a:lnTo>
                  <a:close/>
                </a:path>
                <a:path w="9090025" h="247014">
                  <a:moveTo>
                    <a:pt x="6636537" y="136398"/>
                  </a:moveTo>
                  <a:lnTo>
                    <a:pt x="6591833" y="91694"/>
                  </a:lnTo>
                  <a:lnTo>
                    <a:pt x="6586372" y="97155"/>
                  </a:lnTo>
                  <a:lnTo>
                    <a:pt x="6631076" y="141859"/>
                  </a:lnTo>
                  <a:lnTo>
                    <a:pt x="6636537" y="136398"/>
                  </a:lnTo>
                  <a:close/>
                </a:path>
                <a:path w="9090025" h="247014">
                  <a:moveTo>
                    <a:pt x="6646570" y="99568"/>
                  </a:moveTo>
                  <a:lnTo>
                    <a:pt x="6640982" y="94107"/>
                  </a:lnTo>
                  <a:lnTo>
                    <a:pt x="6624091" y="110998"/>
                  </a:lnTo>
                  <a:lnTo>
                    <a:pt x="6629679" y="116459"/>
                  </a:lnTo>
                  <a:lnTo>
                    <a:pt x="6646570" y="99568"/>
                  </a:lnTo>
                  <a:close/>
                </a:path>
                <a:path w="9090025" h="247014">
                  <a:moveTo>
                    <a:pt x="6693052" y="80010"/>
                  </a:moveTo>
                  <a:lnTo>
                    <a:pt x="6687718" y="74676"/>
                  </a:lnTo>
                  <a:lnTo>
                    <a:pt x="6665747" y="96647"/>
                  </a:lnTo>
                  <a:lnTo>
                    <a:pt x="6665481" y="95504"/>
                  </a:lnTo>
                  <a:lnTo>
                    <a:pt x="6665366" y="85344"/>
                  </a:lnTo>
                  <a:lnTo>
                    <a:pt x="6666446" y="72644"/>
                  </a:lnTo>
                  <a:lnTo>
                    <a:pt x="6666471" y="62484"/>
                  </a:lnTo>
                  <a:lnTo>
                    <a:pt x="6662598" y="49911"/>
                  </a:lnTo>
                  <a:lnTo>
                    <a:pt x="6662191" y="49276"/>
                  </a:lnTo>
                  <a:lnTo>
                    <a:pt x="6660413" y="47498"/>
                  </a:lnTo>
                  <a:lnTo>
                    <a:pt x="6656984" y="43942"/>
                  </a:lnTo>
                  <a:lnTo>
                    <a:pt x="6653111" y="42418"/>
                  </a:lnTo>
                  <a:lnTo>
                    <a:pt x="6647840" y="42418"/>
                  </a:lnTo>
                  <a:lnTo>
                    <a:pt x="6643014" y="42545"/>
                  </a:lnTo>
                  <a:lnTo>
                    <a:pt x="6638442" y="44704"/>
                  </a:lnTo>
                  <a:lnTo>
                    <a:pt x="6629806" y="53340"/>
                  </a:lnTo>
                  <a:lnTo>
                    <a:pt x="6627520" y="57785"/>
                  </a:lnTo>
                  <a:lnTo>
                    <a:pt x="6627266" y="62484"/>
                  </a:lnTo>
                  <a:lnTo>
                    <a:pt x="6627000" y="65659"/>
                  </a:lnTo>
                  <a:lnTo>
                    <a:pt x="6626885" y="67183"/>
                  </a:lnTo>
                  <a:lnTo>
                    <a:pt x="6628460" y="71374"/>
                  </a:lnTo>
                  <a:lnTo>
                    <a:pt x="6628765" y="72009"/>
                  </a:lnTo>
                  <a:lnTo>
                    <a:pt x="6632473" y="76454"/>
                  </a:lnTo>
                  <a:lnTo>
                    <a:pt x="6638696" y="71374"/>
                  </a:lnTo>
                  <a:lnTo>
                    <a:pt x="6635902" y="68580"/>
                  </a:lnTo>
                  <a:lnTo>
                    <a:pt x="6634505" y="65659"/>
                  </a:lnTo>
                  <a:lnTo>
                    <a:pt x="6634505" y="59436"/>
                  </a:lnTo>
                  <a:lnTo>
                    <a:pt x="6635051" y="58166"/>
                  </a:lnTo>
                  <a:lnTo>
                    <a:pt x="6635902" y="56388"/>
                  </a:lnTo>
                  <a:lnTo>
                    <a:pt x="6638925" y="53340"/>
                  </a:lnTo>
                  <a:lnTo>
                    <a:pt x="6640982" y="51181"/>
                  </a:lnTo>
                  <a:lnTo>
                    <a:pt x="6643776" y="49911"/>
                  </a:lnTo>
                  <a:lnTo>
                    <a:pt x="6650202" y="49911"/>
                  </a:lnTo>
                  <a:lnTo>
                    <a:pt x="6652539" y="50800"/>
                  </a:lnTo>
                  <a:lnTo>
                    <a:pt x="6654698" y="53086"/>
                  </a:lnTo>
                  <a:lnTo>
                    <a:pt x="6656730" y="55118"/>
                  </a:lnTo>
                  <a:lnTo>
                    <a:pt x="6658127" y="58166"/>
                  </a:lnTo>
                  <a:lnTo>
                    <a:pt x="6659296" y="65659"/>
                  </a:lnTo>
                  <a:lnTo>
                    <a:pt x="6659270" y="72644"/>
                  </a:lnTo>
                  <a:lnTo>
                    <a:pt x="6658381" y="81534"/>
                  </a:lnTo>
                  <a:lnTo>
                    <a:pt x="6657746" y="87249"/>
                  </a:lnTo>
                  <a:lnTo>
                    <a:pt x="6657619" y="91948"/>
                  </a:lnTo>
                  <a:lnTo>
                    <a:pt x="6657848" y="94107"/>
                  </a:lnTo>
                  <a:lnTo>
                    <a:pt x="6657937" y="94996"/>
                  </a:lnTo>
                  <a:lnTo>
                    <a:pt x="6658000" y="95504"/>
                  </a:lnTo>
                  <a:lnTo>
                    <a:pt x="6658254" y="99060"/>
                  </a:lnTo>
                  <a:lnTo>
                    <a:pt x="6659016" y="102362"/>
                  </a:lnTo>
                  <a:lnTo>
                    <a:pt x="6660286" y="105029"/>
                  </a:lnTo>
                  <a:lnTo>
                    <a:pt x="6661048" y="106807"/>
                  </a:lnTo>
                  <a:lnTo>
                    <a:pt x="6662064" y="108204"/>
                  </a:lnTo>
                  <a:lnTo>
                    <a:pt x="6663461" y="109474"/>
                  </a:lnTo>
                  <a:lnTo>
                    <a:pt x="6676339" y="96647"/>
                  </a:lnTo>
                  <a:lnTo>
                    <a:pt x="6693052" y="80010"/>
                  </a:lnTo>
                  <a:close/>
                </a:path>
                <a:path w="9090025" h="247014">
                  <a:moveTo>
                    <a:pt x="6719595" y="53848"/>
                  </a:moveTo>
                  <a:lnTo>
                    <a:pt x="6689788" y="24130"/>
                  </a:lnTo>
                  <a:lnTo>
                    <a:pt x="6674383" y="8763"/>
                  </a:lnTo>
                  <a:lnTo>
                    <a:pt x="6670827" y="12319"/>
                  </a:lnTo>
                  <a:lnTo>
                    <a:pt x="6671843" y="15113"/>
                  </a:lnTo>
                  <a:lnTo>
                    <a:pt x="6672224" y="18796"/>
                  </a:lnTo>
                  <a:lnTo>
                    <a:pt x="6671754" y="26670"/>
                  </a:lnTo>
                  <a:lnTo>
                    <a:pt x="6671716" y="27432"/>
                  </a:lnTo>
                  <a:lnTo>
                    <a:pt x="6670827" y="31877"/>
                  </a:lnTo>
                  <a:lnTo>
                    <a:pt x="6669176" y="36449"/>
                  </a:lnTo>
                  <a:lnTo>
                    <a:pt x="6674510" y="41783"/>
                  </a:lnTo>
                  <a:lnTo>
                    <a:pt x="6675526" y="39370"/>
                  </a:lnTo>
                  <a:lnTo>
                    <a:pt x="6676542" y="36576"/>
                  </a:lnTo>
                  <a:lnTo>
                    <a:pt x="6678320" y="29718"/>
                  </a:lnTo>
                  <a:lnTo>
                    <a:pt x="6678600" y="27432"/>
                  </a:lnTo>
                  <a:lnTo>
                    <a:pt x="6678701" y="26670"/>
                  </a:lnTo>
                  <a:lnTo>
                    <a:pt x="6678828" y="24130"/>
                  </a:lnTo>
                  <a:lnTo>
                    <a:pt x="6713868" y="59182"/>
                  </a:lnTo>
                  <a:lnTo>
                    <a:pt x="6719087" y="53848"/>
                  </a:lnTo>
                  <a:lnTo>
                    <a:pt x="6719595" y="53848"/>
                  </a:lnTo>
                  <a:close/>
                </a:path>
                <a:path w="9090025" h="247014">
                  <a:moveTo>
                    <a:pt x="6757314" y="205498"/>
                  </a:moveTo>
                  <a:lnTo>
                    <a:pt x="6756679" y="202946"/>
                  </a:lnTo>
                  <a:lnTo>
                    <a:pt x="6755917" y="199148"/>
                  </a:lnTo>
                  <a:lnTo>
                    <a:pt x="6755079" y="197866"/>
                  </a:lnTo>
                  <a:lnTo>
                    <a:pt x="6743725" y="188976"/>
                  </a:lnTo>
                  <a:lnTo>
                    <a:pt x="6737248" y="188976"/>
                  </a:lnTo>
                  <a:lnTo>
                    <a:pt x="6714769" y="201676"/>
                  </a:lnTo>
                  <a:lnTo>
                    <a:pt x="6710705" y="202946"/>
                  </a:lnTo>
                  <a:lnTo>
                    <a:pt x="6704482" y="202946"/>
                  </a:lnTo>
                  <a:lnTo>
                    <a:pt x="6702831" y="201676"/>
                  </a:lnTo>
                  <a:lnTo>
                    <a:pt x="6700926" y="199148"/>
                  </a:lnTo>
                  <a:lnTo>
                    <a:pt x="6700164" y="196596"/>
                  </a:lnTo>
                  <a:lnTo>
                    <a:pt x="6700545" y="194056"/>
                  </a:lnTo>
                  <a:lnTo>
                    <a:pt x="6700621" y="192798"/>
                  </a:lnTo>
                  <a:lnTo>
                    <a:pt x="6700710" y="191516"/>
                  </a:lnTo>
                  <a:lnTo>
                    <a:pt x="6700799" y="190246"/>
                  </a:lnTo>
                  <a:lnTo>
                    <a:pt x="6702831" y="187706"/>
                  </a:lnTo>
                  <a:lnTo>
                    <a:pt x="6706387" y="183896"/>
                  </a:lnTo>
                  <a:lnTo>
                    <a:pt x="6709816" y="180098"/>
                  </a:lnTo>
                  <a:lnTo>
                    <a:pt x="6713118" y="178816"/>
                  </a:lnTo>
                  <a:lnTo>
                    <a:pt x="6716293" y="178816"/>
                  </a:lnTo>
                  <a:lnTo>
                    <a:pt x="6719595" y="177546"/>
                  </a:lnTo>
                  <a:lnTo>
                    <a:pt x="6722770" y="178816"/>
                  </a:lnTo>
                  <a:lnTo>
                    <a:pt x="6725818" y="181356"/>
                  </a:lnTo>
                  <a:lnTo>
                    <a:pt x="6729806" y="177546"/>
                  </a:lnTo>
                  <a:lnTo>
                    <a:pt x="6731152" y="176276"/>
                  </a:lnTo>
                  <a:lnTo>
                    <a:pt x="6728358" y="172466"/>
                  </a:lnTo>
                  <a:lnTo>
                    <a:pt x="6725310" y="171196"/>
                  </a:lnTo>
                  <a:lnTo>
                    <a:pt x="6721881" y="171196"/>
                  </a:lnTo>
                  <a:lnTo>
                    <a:pt x="6718452" y="169926"/>
                  </a:lnTo>
                  <a:lnTo>
                    <a:pt x="6714896" y="169926"/>
                  </a:lnTo>
                  <a:lnTo>
                    <a:pt x="6711340" y="172466"/>
                  </a:lnTo>
                  <a:lnTo>
                    <a:pt x="6707657" y="173748"/>
                  </a:lnTo>
                  <a:lnTo>
                    <a:pt x="6692417" y="195326"/>
                  </a:lnTo>
                  <a:lnTo>
                    <a:pt x="6693052" y="199148"/>
                  </a:lnTo>
                  <a:lnTo>
                    <a:pt x="6693814" y="201676"/>
                  </a:lnTo>
                  <a:lnTo>
                    <a:pt x="6695211" y="205498"/>
                  </a:lnTo>
                  <a:lnTo>
                    <a:pt x="6697497" y="206756"/>
                  </a:lnTo>
                  <a:lnTo>
                    <a:pt x="6699529" y="209296"/>
                  </a:lnTo>
                  <a:lnTo>
                    <a:pt x="6701942" y="210566"/>
                  </a:lnTo>
                  <a:lnTo>
                    <a:pt x="6704609" y="210566"/>
                  </a:lnTo>
                  <a:lnTo>
                    <a:pt x="6707403" y="211848"/>
                  </a:lnTo>
                  <a:lnTo>
                    <a:pt x="6710324" y="211848"/>
                  </a:lnTo>
                  <a:lnTo>
                    <a:pt x="6716166" y="209296"/>
                  </a:lnTo>
                  <a:lnTo>
                    <a:pt x="6719976" y="208026"/>
                  </a:lnTo>
                  <a:lnTo>
                    <a:pt x="6728104" y="202946"/>
                  </a:lnTo>
                  <a:lnTo>
                    <a:pt x="6730136" y="201676"/>
                  </a:lnTo>
                  <a:lnTo>
                    <a:pt x="6733438" y="199148"/>
                  </a:lnTo>
                  <a:lnTo>
                    <a:pt x="6735216" y="199148"/>
                  </a:lnTo>
                  <a:lnTo>
                    <a:pt x="6737756" y="197866"/>
                  </a:lnTo>
                  <a:lnTo>
                    <a:pt x="6743725" y="197866"/>
                  </a:lnTo>
                  <a:lnTo>
                    <a:pt x="6745376" y="199148"/>
                  </a:lnTo>
                  <a:lnTo>
                    <a:pt x="6748170" y="201676"/>
                  </a:lnTo>
                  <a:lnTo>
                    <a:pt x="6748932" y="202946"/>
                  </a:lnTo>
                  <a:lnTo>
                    <a:pt x="6749313" y="205498"/>
                  </a:lnTo>
                  <a:lnTo>
                    <a:pt x="6749313" y="209296"/>
                  </a:lnTo>
                  <a:lnTo>
                    <a:pt x="6748170" y="211848"/>
                  </a:lnTo>
                  <a:lnTo>
                    <a:pt x="6747154" y="214376"/>
                  </a:lnTo>
                  <a:lnTo>
                    <a:pt x="6745503" y="216916"/>
                  </a:lnTo>
                  <a:lnTo>
                    <a:pt x="6740677" y="220726"/>
                  </a:lnTo>
                  <a:lnTo>
                    <a:pt x="6737883" y="223266"/>
                  </a:lnTo>
                  <a:lnTo>
                    <a:pt x="6734962" y="224548"/>
                  </a:lnTo>
                  <a:lnTo>
                    <a:pt x="6732168" y="225806"/>
                  </a:lnTo>
                  <a:lnTo>
                    <a:pt x="6727088" y="225806"/>
                  </a:lnTo>
                  <a:lnTo>
                    <a:pt x="6724675" y="224548"/>
                  </a:lnTo>
                  <a:lnTo>
                    <a:pt x="6722135" y="223266"/>
                  </a:lnTo>
                  <a:lnTo>
                    <a:pt x="6719722" y="221996"/>
                  </a:lnTo>
                  <a:lnTo>
                    <a:pt x="6714642" y="227076"/>
                  </a:lnTo>
                  <a:lnTo>
                    <a:pt x="6717690" y="230898"/>
                  </a:lnTo>
                  <a:lnTo>
                    <a:pt x="6721119" y="232156"/>
                  </a:lnTo>
                  <a:lnTo>
                    <a:pt x="6725056" y="233426"/>
                  </a:lnTo>
                  <a:lnTo>
                    <a:pt x="6732930" y="233426"/>
                  </a:lnTo>
                  <a:lnTo>
                    <a:pt x="6740804" y="230898"/>
                  </a:lnTo>
                  <a:lnTo>
                    <a:pt x="6744741" y="228346"/>
                  </a:lnTo>
                  <a:lnTo>
                    <a:pt x="6747154" y="225806"/>
                  </a:lnTo>
                  <a:lnTo>
                    <a:pt x="6751980" y="220726"/>
                  </a:lnTo>
                  <a:lnTo>
                    <a:pt x="6754266" y="216916"/>
                  </a:lnTo>
                  <a:lnTo>
                    <a:pt x="6757060" y="209296"/>
                  </a:lnTo>
                  <a:lnTo>
                    <a:pt x="6757136" y="208026"/>
                  </a:lnTo>
                  <a:lnTo>
                    <a:pt x="6757225" y="206756"/>
                  </a:lnTo>
                  <a:lnTo>
                    <a:pt x="6757314" y="205498"/>
                  </a:lnTo>
                  <a:close/>
                </a:path>
                <a:path w="9090025" h="247014">
                  <a:moveTo>
                    <a:pt x="6793763" y="169926"/>
                  </a:moveTo>
                  <a:lnTo>
                    <a:pt x="6792874" y="164846"/>
                  </a:lnTo>
                  <a:lnTo>
                    <a:pt x="6790461" y="161048"/>
                  </a:lnTo>
                  <a:lnTo>
                    <a:pt x="6784111" y="166116"/>
                  </a:lnTo>
                  <a:lnTo>
                    <a:pt x="6785508" y="169926"/>
                  </a:lnTo>
                  <a:lnTo>
                    <a:pt x="6786143" y="172466"/>
                  </a:lnTo>
                  <a:lnTo>
                    <a:pt x="6785381" y="177546"/>
                  </a:lnTo>
                  <a:lnTo>
                    <a:pt x="6784238" y="178816"/>
                  </a:lnTo>
                  <a:lnTo>
                    <a:pt x="6782206" y="181356"/>
                  </a:lnTo>
                  <a:lnTo>
                    <a:pt x="6779412" y="183896"/>
                  </a:lnTo>
                  <a:lnTo>
                    <a:pt x="6776237" y="185166"/>
                  </a:lnTo>
                  <a:lnTo>
                    <a:pt x="6768871" y="185166"/>
                  </a:lnTo>
                  <a:lnTo>
                    <a:pt x="6765061" y="183896"/>
                  </a:lnTo>
                  <a:lnTo>
                    <a:pt x="6761378" y="180098"/>
                  </a:lnTo>
                  <a:lnTo>
                    <a:pt x="6766458" y="175006"/>
                  </a:lnTo>
                  <a:lnTo>
                    <a:pt x="6785508" y="155956"/>
                  </a:lnTo>
                  <a:lnTo>
                    <a:pt x="6784873" y="154698"/>
                  </a:lnTo>
                  <a:lnTo>
                    <a:pt x="6781825" y="152146"/>
                  </a:lnTo>
                  <a:lnTo>
                    <a:pt x="6778777" y="149606"/>
                  </a:lnTo>
                  <a:lnTo>
                    <a:pt x="6775221" y="147193"/>
                  </a:lnTo>
                  <a:lnTo>
                    <a:pt x="6775221" y="157226"/>
                  </a:lnTo>
                  <a:lnTo>
                    <a:pt x="6757187" y="175006"/>
                  </a:lnTo>
                  <a:lnTo>
                    <a:pt x="6754520" y="172466"/>
                  </a:lnTo>
                  <a:lnTo>
                    <a:pt x="6753250" y="168656"/>
                  </a:lnTo>
                  <a:lnTo>
                    <a:pt x="6753250" y="162306"/>
                  </a:lnTo>
                  <a:lnTo>
                    <a:pt x="6754520" y="159766"/>
                  </a:lnTo>
                  <a:lnTo>
                    <a:pt x="6759854" y="153416"/>
                  </a:lnTo>
                  <a:lnTo>
                    <a:pt x="6763156" y="152146"/>
                  </a:lnTo>
                  <a:lnTo>
                    <a:pt x="6766966" y="153416"/>
                  </a:lnTo>
                  <a:lnTo>
                    <a:pt x="6769506" y="153416"/>
                  </a:lnTo>
                  <a:lnTo>
                    <a:pt x="6772300" y="154698"/>
                  </a:lnTo>
                  <a:lnTo>
                    <a:pt x="6775221" y="157226"/>
                  </a:lnTo>
                  <a:lnTo>
                    <a:pt x="6775221" y="147193"/>
                  </a:lnTo>
                  <a:lnTo>
                    <a:pt x="6773189" y="145796"/>
                  </a:lnTo>
                  <a:lnTo>
                    <a:pt x="6761759" y="145796"/>
                  </a:lnTo>
                  <a:lnTo>
                    <a:pt x="6756806" y="148348"/>
                  </a:lnTo>
                  <a:lnTo>
                    <a:pt x="6748043" y="157226"/>
                  </a:lnTo>
                  <a:lnTo>
                    <a:pt x="6745884" y="162306"/>
                  </a:lnTo>
                  <a:lnTo>
                    <a:pt x="6745948" y="164846"/>
                  </a:lnTo>
                  <a:lnTo>
                    <a:pt x="6746062" y="168656"/>
                  </a:lnTo>
                  <a:lnTo>
                    <a:pt x="6746164" y="171196"/>
                  </a:lnTo>
                  <a:lnTo>
                    <a:pt x="6746265" y="173748"/>
                  </a:lnTo>
                  <a:lnTo>
                    <a:pt x="6749059" y="178816"/>
                  </a:lnTo>
                  <a:lnTo>
                    <a:pt x="6754520" y="185166"/>
                  </a:lnTo>
                  <a:lnTo>
                    <a:pt x="6759854" y="190246"/>
                  </a:lnTo>
                  <a:lnTo>
                    <a:pt x="6765315" y="192798"/>
                  </a:lnTo>
                  <a:lnTo>
                    <a:pt x="6776745" y="192798"/>
                  </a:lnTo>
                  <a:lnTo>
                    <a:pt x="6781952" y="190246"/>
                  </a:lnTo>
                  <a:lnTo>
                    <a:pt x="6786651" y="185166"/>
                  </a:lnTo>
                  <a:lnTo>
                    <a:pt x="6790461" y="182626"/>
                  </a:lnTo>
                  <a:lnTo>
                    <a:pt x="6792620" y="177546"/>
                  </a:lnTo>
                  <a:lnTo>
                    <a:pt x="6793128" y="173748"/>
                  </a:lnTo>
                  <a:lnTo>
                    <a:pt x="6793763" y="169926"/>
                  </a:lnTo>
                  <a:close/>
                </a:path>
                <a:path w="9090025" h="247014">
                  <a:moveTo>
                    <a:pt x="6827418" y="138176"/>
                  </a:moveTo>
                  <a:lnTo>
                    <a:pt x="6827164" y="134366"/>
                  </a:lnTo>
                  <a:lnTo>
                    <a:pt x="6825640" y="130556"/>
                  </a:lnTo>
                  <a:lnTo>
                    <a:pt x="6824243" y="126746"/>
                  </a:lnTo>
                  <a:lnTo>
                    <a:pt x="6821830" y="122948"/>
                  </a:lnTo>
                  <a:lnTo>
                    <a:pt x="6820179" y="121043"/>
                  </a:lnTo>
                  <a:lnTo>
                    <a:pt x="6820179" y="140716"/>
                  </a:lnTo>
                  <a:lnTo>
                    <a:pt x="6819036" y="144526"/>
                  </a:lnTo>
                  <a:lnTo>
                    <a:pt x="6814210" y="149606"/>
                  </a:lnTo>
                  <a:lnTo>
                    <a:pt x="6811162" y="150876"/>
                  </a:lnTo>
                  <a:lnTo>
                    <a:pt x="6807479" y="149606"/>
                  </a:lnTo>
                  <a:lnTo>
                    <a:pt x="6803796" y="149606"/>
                  </a:lnTo>
                  <a:lnTo>
                    <a:pt x="6799859" y="147066"/>
                  </a:lnTo>
                  <a:lnTo>
                    <a:pt x="6795795" y="143256"/>
                  </a:lnTo>
                  <a:lnTo>
                    <a:pt x="6791604" y="139446"/>
                  </a:lnTo>
                  <a:lnTo>
                    <a:pt x="6789318" y="134366"/>
                  </a:lnTo>
                  <a:lnTo>
                    <a:pt x="6789191" y="133096"/>
                  </a:lnTo>
                  <a:lnTo>
                    <a:pt x="6789064" y="131826"/>
                  </a:lnTo>
                  <a:lnTo>
                    <a:pt x="6788937" y="130556"/>
                  </a:lnTo>
                  <a:lnTo>
                    <a:pt x="6788810" y="129298"/>
                  </a:lnTo>
                  <a:lnTo>
                    <a:pt x="6788683" y="128016"/>
                  </a:lnTo>
                  <a:lnTo>
                    <a:pt x="6788556" y="126746"/>
                  </a:lnTo>
                  <a:lnTo>
                    <a:pt x="6789445" y="124206"/>
                  </a:lnTo>
                  <a:lnTo>
                    <a:pt x="6791858" y="121666"/>
                  </a:lnTo>
                  <a:lnTo>
                    <a:pt x="6794144" y="119126"/>
                  </a:lnTo>
                  <a:lnTo>
                    <a:pt x="6797192" y="117856"/>
                  </a:lnTo>
                  <a:lnTo>
                    <a:pt x="6804812" y="119126"/>
                  </a:lnTo>
                  <a:lnTo>
                    <a:pt x="6808749" y="121666"/>
                  </a:lnTo>
                  <a:lnTo>
                    <a:pt x="6817131" y="129298"/>
                  </a:lnTo>
                  <a:lnTo>
                    <a:pt x="6819544" y="133096"/>
                  </a:lnTo>
                  <a:lnTo>
                    <a:pt x="6819798" y="136906"/>
                  </a:lnTo>
                  <a:lnTo>
                    <a:pt x="6820052" y="139446"/>
                  </a:lnTo>
                  <a:lnTo>
                    <a:pt x="6820179" y="140716"/>
                  </a:lnTo>
                  <a:lnTo>
                    <a:pt x="6820179" y="121043"/>
                  </a:lnTo>
                  <a:lnTo>
                    <a:pt x="6801002" y="110248"/>
                  </a:lnTo>
                  <a:lnTo>
                    <a:pt x="6797573" y="111506"/>
                  </a:lnTo>
                  <a:lnTo>
                    <a:pt x="6794017" y="112776"/>
                  </a:lnTo>
                  <a:lnTo>
                    <a:pt x="6790842" y="114046"/>
                  </a:lnTo>
                  <a:lnTo>
                    <a:pt x="6788048" y="116598"/>
                  </a:lnTo>
                  <a:lnTo>
                    <a:pt x="6785889" y="119126"/>
                  </a:lnTo>
                  <a:lnTo>
                    <a:pt x="6784492" y="120396"/>
                  </a:lnTo>
                  <a:lnTo>
                    <a:pt x="6783222" y="125476"/>
                  </a:lnTo>
                  <a:lnTo>
                    <a:pt x="6783095" y="128016"/>
                  </a:lnTo>
                  <a:lnTo>
                    <a:pt x="6783603" y="130556"/>
                  </a:lnTo>
                  <a:lnTo>
                    <a:pt x="6779412" y="126746"/>
                  </a:lnTo>
                  <a:lnTo>
                    <a:pt x="6774332" y="131826"/>
                  </a:lnTo>
                  <a:lnTo>
                    <a:pt x="6819163" y="176276"/>
                  </a:lnTo>
                  <a:lnTo>
                    <a:pt x="6824751" y="171196"/>
                  </a:lnTo>
                  <a:lnTo>
                    <a:pt x="6808876" y="154698"/>
                  </a:lnTo>
                  <a:lnTo>
                    <a:pt x="6811035" y="155956"/>
                  </a:lnTo>
                  <a:lnTo>
                    <a:pt x="6813194" y="155956"/>
                  </a:lnTo>
                  <a:lnTo>
                    <a:pt x="6815480" y="154698"/>
                  </a:lnTo>
                  <a:lnTo>
                    <a:pt x="6826529" y="141998"/>
                  </a:lnTo>
                  <a:lnTo>
                    <a:pt x="6827418" y="138176"/>
                  </a:lnTo>
                  <a:close/>
                </a:path>
                <a:path w="9090025" h="247014">
                  <a:moveTo>
                    <a:pt x="6843674" y="100076"/>
                  </a:moveTo>
                  <a:lnTo>
                    <a:pt x="6838086" y="94996"/>
                  </a:lnTo>
                  <a:lnTo>
                    <a:pt x="6821322" y="111506"/>
                  </a:lnTo>
                  <a:lnTo>
                    <a:pt x="6826783" y="117856"/>
                  </a:lnTo>
                  <a:lnTo>
                    <a:pt x="6843674" y="100076"/>
                  </a:lnTo>
                  <a:close/>
                </a:path>
                <a:path w="9090025" h="247014">
                  <a:moveTo>
                    <a:pt x="6890156" y="81026"/>
                  </a:moveTo>
                  <a:lnTo>
                    <a:pt x="6884949" y="75946"/>
                  </a:lnTo>
                  <a:lnTo>
                    <a:pt x="6862978" y="97548"/>
                  </a:lnTo>
                  <a:lnTo>
                    <a:pt x="6862597" y="96266"/>
                  </a:lnTo>
                  <a:lnTo>
                    <a:pt x="6862470" y="86106"/>
                  </a:lnTo>
                  <a:lnTo>
                    <a:pt x="6863613" y="73406"/>
                  </a:lnTo>
                  <a:lnTo>
                    <a:pt x="6863664" y="72148"/>
                  </a:lnTo>
                  <a:lnTo>
                    <a:pt x="6863766" y="69596"/>
                  </a:lnTo>
                  <a:lnTo>
                    <a:pt x="6863867" y="67056"/>
                  </a:lnTo>
                  <a:lnTo>
                    <a:pt x="6863359" y="60706"/>
                  </a:lnTo>
                  <a:lnTo>
                    <a:pt x="6862851" y="56896"/>
                  </a:lnTo>
                  <a:lnTo>
                    <a:pt x="6860819" y="51816"/>
                  </a:lnTo>
                  <a:lnTo>
                    <a:pt x="6859422" y="50546"/>
                  </a:lnTo>
                  <a:lnTo>
                    <a:pt x="6854088" y="44196"/>
                  </a:lnTo>
                  <a:lnTo>
                    <a:pt x="6849897" y="42926"/>
                  </a:lnTo>
                  <a:lnTo>
                    <a:pt x="6840118" y="42926"/>
                  </a:lnTo>
                  <a:lnTo>
                    <a:pt x="6824180" y="67056"/>
                  </a:lnTo>
                  <a:lnTo>
                    <a:pt x="6824116" y="68326"/>
                  </a:lnTo>
                  <a:lnTo>
                    <a:pt x="6825767" y="72148"/>
                  </a:lnTo>
                  <a:lnTo>
                    <a:pt x="6829704" y="77216"/>
                  </a:lnTo>
                  <a:lnTo>
                    <a:pt x="6835927" y="72148"/>
                  </a:lnTo>
                  <a:lnTo>
                    <a:pt x="6833133" y="69596"/>
                  </a:lnTo>
                  <a:lnTo>
                    <a:pt x="6831736" y="67056"/>
                  </a:lnTo>
                  <a:lnTo>
                    <a:pt x="6831736" y="60706"/>
                  </a:lnTo>
                  <a:lnTo>
                    <a:pt x="6833006" y="56896"/>
                  </a:lnTo>
                  <a:lnTo>
                    <a:pt x="6838213" y="51816"/>
                  </a:lnTo>
                  <a:lnTo>
                    <a:pt x="6841007" y="50546"/>
                  </a:lnTo>
                  <a:lnTo>
                    <a:pt x="6847103" y="50546"/>
                  </a:lnTo>
                  <a:lnTo>
                    <a:pt x="6849643" y="51816"/>
                  </a:lnTo>
                  <a:lnTo>
                    <a:pt x="6851802" y="54356"/>
                  </a:lnTo>
                  <a:lnTo>
                    <a:pt x="6853961" y="55626"/>
                  </a:lnTo>
                  <a:lnTo>
                    <a:pt x="6855231" y="59448"/>
                  </a:lnTo>
                  <a:lnTo>
                    <a:pt x="6856501" y="67056"/>
                  </a:lnTo>
                  <a:lnTo>
                    <a:pt x="6856374" y="73406"/>
                  </a:lnTo>
                  <a:lnTo>
                    <a:pt x="6855612" y="81026"/>
                  </a:lnTo>
                  <a:lnTo>
                    <a:pt x="6855485" y="82296"/>
                  </a:lnTo>
                  <a:lnTo>
                    <a:pt x="6854977" y="88646"/>
                  </a:lnTo>
                  <a:lnTo>
                    <a:pt x="6855092" y="96266"/>
                  </a:lnTo>
                  <a:lnTo>
                    <a:pt x="6855358" y="100076"/>
                  </a:lnTo>
                  <a:lnTo>
                    <a:pt x="6860565" y="110248"/>
                  </a:lnTo>
                  <a:lnTo>
                    <a:pt x="6873430" y="97548"/>
                  </a:lnTo>
                  <a:lnTo>
                    <a:pt x="6890156" y="81026"/>
                  </a:lnTo>
                  <a:close/>
                </a:path>
                <a:path w="9090025" h="247014">
                  <a:moveTo>
                    <a:pt x="6917588" y="53098"/>
                  </a:moveTo>
                  <a:lnTo>
                    <a:pt x="6888035" y="23876"/>
                  </a:lnTo>
                  <a:lnTo>
                    <a:pt x="6872630" y="8648"/>
                  </a:lnTo>
                  <a:lnTo>
                    <a:pt x="6869074" y="12446"/>
                  </a:lnTo>
                  <a:lnTo>
                    <a:pt x="6870090" y="14998"/>
                  </a:lnTo>
                  <a:lnTo>
                    <a:pt x="6870471" y="18796"/>
                  </a:lnTo>
                  <a:lnTo>
                    <a:pt x="6870027" y="26416"/>
                  </a:lnTo>
                  <a:lnTo>
                    <a:pt x="6869963" y="27698"/>
                  </a:lnTo>
                  <a:lnTo>
                    <a:pt x="6869074" y="31496"/>
                  </a:lnTo>
                  <a:lnTo>
                    <a:pt x="6867423" y="36576"/>
                  </a:lnTo>
                  <a:lnTo>
                    <a:pt x="6872757" y="41656"/>
                  </a:lnTo>
                  <a:lnTo>
                    <a:pt x="6874789" y="36576"/>
                  </a:lnTo>
                  <a:lnTo>
                    <a:pt x="6875678" y="32766"/>
                  </a:lnTo>
                  <a:lnTo>
                    <a:pt x="6876567" y="30226"/>
                  </a:lnTo>
                  <a:lnTo>
                    <a:pt x="6876821" y="27698"/>
                  </a:lnTo>
                  <a:lnTo>
                    <a:pt x="6876948" y="26416"/>
                  </a:lnTo>
                  <a:lnTo>
                    <a:pt x="6877075" y="23876"/>
                  </a:lnTo>
                  <a:lnTo>
                    <a:pt x="6912000" y="59448"/>
                  </a:lnTo>
                  <a:lnTo>
                    <a:pt x="6917588" y="53098"/>
                  </a:lnTo>
                  <a:close/>
                </a:path>
                <a:path w="9090025" h="247014">
                  <a:moveTo>
                    <a:pt x="6963689" y="204089"/>
                  </a:moveTo>
                  <a:lnTo>
                    <a:pt x="6959752" y="200152"/>
                  </a:lnTo>
                  <a:lnTo>
                    <a:pt x="6918985" y="159385"/>
                  </a:lnTo>
                  <a:lnTo>
                    <a:pt x="6913270" y="165100"/>
                  </a:lnTo>
                  <a:lnTo>
                    <a:pt x="6948449" y="200152"/>
                  </a:lnTo>
                  <a:lnTo>
                    <a:pt x="6940067" y="198501"/>
                  </a:lnTo>
                  <a:lnTo>
                    <a:pt x="6889775" y="188595"/>
                  </a:lnTo>
                  <a:lnTo>
                    <a:pt x="6883679" y="194691"/>
                  </a:lnTo>
                  <a:lnTo>
                    <a:pt x="6928383" y="239395"/>
                  </a:lnTo>
                  <a:lnTo>
                    <a:pt x="6934098" y="233680"/>
                  </a:lnTo>
                  <a:lnTo>
                    <a:pt x="6898919" y="198501"/>
                  </a:lnTo>
                  <a:lnTo>
                    <a:pt x="6957593" y="210185"/>
                  </a:lnTo>
                  <a:lnTo>
                    <a:pt x="6963689" y="204089"/>
                  </a:lnTo>
                  <a:close/>
                </a:path>
                <a:path w="9090025" h="247014">
                  <a:moveTo>
                    <a:pt x="6993915" y="168783"/>
                  </a:moveTo>
                  <a:lnTo>
                    <a:pt x="6993788" y="165100"/>
                  </a:lnTo>
                  <a:lnTo>
                    <a:pt x="6992645" y="161544"/>
                  </a:lnTo>
                  <a:lnTo>
                    <a:pt x="6991502" y="157861"/>
                  </a:lnTo>
                  <a:lnTo>
                    <a:pt x="6988835" y="153924"/>
                  </a:lnTo>
                  <a:lnTo>
                    <a:pt x="6986422" y="151447"/>
                  </a:lnTo>
                  <a:lnTo>
                    <a:pt x="6986422" y="171831"/>
                  </a:lnTo>
                  <a:lnTo>
                    <a:pt x="6985152" y="175133"/>
                  </a:lnTo>
                  <a:lnTo>
                    <a:pt x="6979691" y="180594"/>
                  </a:lnTo>
                  <a:lnTo>
                    <a:pt x="6976389" y="181864"/>
                  </a:lnTo>
                  <a:lnTo>
                    <a:pt x="6968642" y="181356"/>
                  </a:lnTo>
                  <a:lnTo>
                    <a:pt x="6953910" y="162941"/>
                  </a:lnTo>
                  <a:lnTo>
                    <a:pt x="6953809" y="161544"/>
                  </a:lnTo>
                  <a:lnTo>
                    <a:pt x="6953707" y="159893"/>
                  </a:lnTo>
                  <a:lnTo>
                    <a:pt x="6953656" y="159004"/>
                  </a:lnTo>
                  <a:lnTo>
                    <a:pt x="6954926" y="155702"/>
                  </a:lnTo>
                  <a:lnTo>
                    <a:pt x="6960260" y="150368"/>
                  </a:lnTo>
                  <a:lnTo>
                    <a:pt x="6963562" y="149098"/>
                  </a:lnTo>
                  <a:lnTo>
                    <a:pt x="6973392" y="149733"/>
                  </a:lnTo>
                  <a:lnTo>
                    <a:pt x="6971678" y="149733"/>
                  </a:lnTo>
                  <a:lnTo>
                    <a:pt x="6975373" y="151638"/>
                  </a:lnTo>
                  <a:lnTo>
                    <a:pt x="6979310" y="155702"/>
                  </a:lnTo>
                  <a:lnTo>
                    <a:pt x="6983628" y="159893"/>
                  </a:lnTo>
                  <a:lnTo>
                    <a:pt x="6985787" y="163957"/>
                  </a:lnTo>
                  <a:lnTo>
                    <a:pt x="6986054" y="166751"/>
                  </a:lnTo>
                  <a:lnTo>
                    <a:pt x="6986168" y="167894"/>
                  </a:lnTo>
                  <a:lnTo>
                    <a:pt x="6986346" y="170815"/>
                  </a:lnTo>
                  <a:lnTo>
                    <a:pt x="6986422" y="171831"/>
                  </a:lnTo>
                  <a:lnTo>
                    <a:pt x="6986422" y="151447"/>
                  </a:lnTo>
                  <a:lnTo>
                    <a:pt x="6984771" y="149733"/>
                  </a:lnTo>
                  <a:lnTo>
                    <a:pt x="6984111" y="149098"/>
                  </a:lnTo>
                  <a:lnTo>
                    <a:pt x="6979564" y="144653"/>
                  </a:lnTo>
                  <a:lnTo>
                    <a:pt x="6974103" y="141986"/>
                  </a:lnTo>
                  <a:lnTo>
                    <a:pt x="6962356" y="141986"/>
                  </a:lnTo>
                  <a:lnTo>
                    <a:pt x="6946659" y="159004"/>
                  </a:lnTo>
                  <a:lnTo>
                    <a:pt x="6946582" y="159893"/>
                  </a:lnTo>
                  <a:lnTo>
                    <a:pt x="6946468" y="161544"/>
                  </a:lnTo>
                  <a:lnTo>
                    <a:pt x="6946417" y="162306"/>
                  </a:lnTo>
                  <a:lnTo>
                    <a:pt x="6946316" y="163957"/>
                  </a:lnTo>
                  <a:lnTo>
                    <a:pt x="6946239" y="165100"/>
                  </a:lnTo>
                  <a:lnTo>
                    <a:pt x="6977278" y="189103"/>
                  </a:lnTo>
                  <a:lnTo>
                    <a:pt x="6982358" y="186817"/>
                  </a:lnTo>
                  <a:lnTo>
                    <a:pt x="6986930" y="182372"/>
                  </a:lnTo>
                  <a:lnTo>
                    <a:pt x="6987413" y="181864"/>
                  </a:lnTo>
                  <a:lnTo>
                    <a:pt x="6989724" y="179451"/>
                  </a:lnTo>
                  <a:lnTo>
                    <a:pt x="6991756" y="176276"/>
                  </a:lnTo>
                  <a:lnTo>
                    <a:pt x="6992772" y="172466"/>
                  </a:lnTo>
                  <a:lnTo>
                    <a:pt x="6993915" y="168783"/>
                  </a:lnTo>
                  <a:close/>
                </a:path>
                <a:path w="9090025" h="247014">
                  <a:moveTo>
                    <a:pt x="7022744" y="145034"/>
                  </a:moveTo>
                  <a:lnTo>
                    <a:pt x="7021017" y="141224"/>
                  </a:lnTo>
                  <a:lnTo>
                    <a:pt x="7002551" y="100330"/>
                  </a:lnTo>
                  <a:lnTo>
                    <a:pt x="6996963" y="106045"/>
                  </a:lnTo>
                  <a:lnTo>
                    <a:pt x="7009536" y="132969"/>
                  </a:lnTo>
                  <a:lnTo>
                    <a:pt x="7011060" y="136271"/>
                  </a:lnTo>
                  <a:lnTo>
                    <a:pt x="7012457" y="139065"/>
                  </a:lnTo>
                  <a:lnTo>
                    <a:pt x="7013600" y="141224"/>
                  </a:lnTo>
                  <a:lnTo>
                    <a:pt x="7010806" y="139573"/>
                  </a:lnTo>
                  <a:lnTo>
                    <a:pt x="7007885" y="138049"/>
                  </a:lnTo>
                  <a:lnTo>
                    <a:pt x="7005091" y="136779"/>
                  </a:lnTo>
                  <a:lnTo>
                    <a:pt x="6978675" y="124333"/>
                  </a:lnTo>
                  <a:lnTo>
                    <a:pt x="6972833" y="130175"/>
                  </a:lnTo>
                  <a:lnTo>
                    <a:pt x="7017652" y="150253"/>
                  </a:lnTo>
                  <a:lnTo>
                    <a:pt x="7022744" y="145034"/>
                  </a:lnTo>
                  <a:close/>
                </a:path>
                <a:path w="9090025" h="247014">
                  <a:moveTo>
                    <a:pt x="7041159" y="99822"/>
                  </a:moveTo>
                  <a:lnTo>
                    <a:pt x="7035698" y="94234"/>
                  </a:lnTo>
                  <a:lnTo>
                    <a:pt x="7018807" y="111125"/>
                  </a:lnTo>
                  <a:lnTo>
                    <a:pt x="7024268" y="116713"/>
                  </a:lnTo>
                  <a:lnTo>
                    <a:pt x="7041159" y="99822"/>
                  </a:lnTo>
                  <a:close/>
                </a:path>
                <a:path w="9090025" h="247014">
                  <a:moveTo>
                    <a:pt x="7087641" y="80137"/>
                  </a:moveTo>
                  <a:lnTo>
                    <a:pt x="7082434" y="74803"/>
                  </a:lnTo>
                  <a:lnTo>
                    <a:pt x="7060463" y="96774"/>
                  </a:lnTo>
                  <a:lnTo>
                    <a:pt x="7060082" y="95123"/>
                  </a:lnTo>
                  <a:lnTo>
                    <a:pt x="7059943" y="94234"/>
                  </a:lnTo>
                  <a:lnTo>
                    <a:pt x="7059828" y="91440"/>
                  </a:lnTo>
                  <a:lnTo>
                    <a:pt x="7059701" y="89535"/>
                  </a:lnTo>
                  <a:lnTo>
                    <a:pt x="7059828" y="87376"/>
                  </a:lnTo>
                  <a:lnTo>
                    <a:pt x="7059955" y="85598"/>
                  </a:lnTo>
                  <a:lnTo>
                    <a:pt x="7061035" y="72898"/>
                  </a:lnTo>
                  <a:lnTo>
                    <a:pt x="7061124" y="71628"/>
                  </a:lnTo>
                  <a:lnTo>
                    <a:pt x="7061251" y="68834"/>
                  </a:lnTo>
                  <a:lnTo>
                    <a:pt x="7061276" y="65786"/>
                  </a:lnTo>
                  <a:lnTo>
                    <a:pt x="7060844" y="59563"/>
                  </a:lnTo>
                  <a:lnTo>
                    <a:pt x="7060336" y="56515"/>
                  </a:lnTo>
                  <a:lnTo>
                    <a:pt x="7059066" y="53467"/>
                  </a:lnTo>
                  <a:lnTo>
                    <a:pt x="7058304" y="51562"/>
                  </a:lnTo>
                  <a:lnTo>
                    <a:pt x="7057250" y="50038"/>
                  </a:lnTo>
                  <a:lnTo>
                    <a:pt x="7056907" y="49530"/>
                  </a:lnTo>
                  <a:lnTo>
                    <a:pt x="7055129" y="47625"/>
                  </a:lnTo>
                  <a:lnTo>
                    <a:pt x="7051573" y="44196"/>
                  </a:lnTo>
                  <a:lnTo>
                    <a:pt x="7047382" y="42418"/>
                  </a:lnTo>
                  <a:lnTo>
                    <a:pt x="7037603" y="42672"/>
                  </a:lnTo>
                  <a:lnTo>
                    <a:pt x="7021601" y="67437"/>
                  </a:lnTo>
                  <a:lnTo>
                    <a:pt x="7023379" y="72136"/>
                  </a:lnTo>
                  <a:lnTo>
                    <a:pt x="7027189" y="76708"/>
                  </a:lnTo>
                  <a:lnTo>
                    <a:pt x="7033412" y="71628"/>
                  </a:lnTo>
                  <a:lnTo>
                    <a:pt x="7030618" y="68834"/>
                  </a:lnTo>
                  <a:lnTo>
                    <a:pt x="7029221" y="65786"/>
                  </a:lnTo>
                  <a:lnTo>
                    <a:pt x="7029221" y="59436"/>
                  </a:lnTo>
                  <a:lnTo>
                    <a:pt x="7030491" y="56515"/>
                  </a:lnTo>
                  <a:lnTo>
                    <a:pt x="7033158" y="53848"/>
                  </a:lnTo>
                  <a:lnTo>
                    <a:pt x="7035698" y="51435"/>
                  </a:lnTo>
                  <a:lnTo>
                    <a:pt x="7038492" y="50038"/>
                  </a:lnTo>
                  <a:lnTo>
                    <a:pt x="7044588" y="50038"/>
                  </a:lnTo>
                  <a:lnTo>
                    <a:pt x="7053885" y="65786"/>
                  </a:lnTo>
                  <a:lnTo>
                    <a:pt x="7053859" y="72898"/>
                  </a:lnTo>
                  <a:lnTo>
                    <a:pt x="7052970" y="81661"/>
                  </a:lnTo>
                  <a:lnTo>
                    <a:pt x="7052462" y="87376"/>
                  </a:lnTo>
                  <a:lnTo>
                    <a:pt x="7058050" y="109728"/>
                  </a:lnTo>
                  <a:lnTo>
                    <a:pt x="7070992" y="96774"/>
                  </a:lnTo>
                  <a:lnTo>
                    <a:pt x="7087641" y="80137"/>
                  </a:lnTo>
                  <a:close/>
                </a:path>
                <a:path w="9090025" h="247014">
                  <a:moveTo>
                    <a:pt x="7115073" y="52705"/>
                  </a:moveTo>
                  <a:lnTo>
                    <a:pt x="7085520" y="23241"/>
                  </a:lnTo>
                  <a:lnTo>
                    <a:pt x="7070115" y="7874"/>
                  </a:lnTo>
                  <a:lnTo>
                    <a:pt x="7066559" y="11303"/>
                  </a:lnTo>
                  <a:lnTo>
                    <a:pt x="7067575" y="14224"/>
                  </a:lnTo>
                  <a:lnTo>
                    <a:pt x="7067956" y="17907"/>
                  </a:lnTo>
                  <a:lnTo>
                    <a:pt x="7067486" y="25781"/>
                  </a:lnTo>
                  <a:lnTo>
                    <a:pt x="7067448" y="26543"/>
                  </a:lnTo>
                  <a:lnTo>
                    <a:pt x="7066559" y="30988"/>
                  </a:lnTo>
                  <a:lnTo>
                    <a:pt x="7064908" y="35560"/>
                  </a:lnTo>
                  <a:lnTo>
                    <a:pt x="7070242" y="40894"/>
                  </a:lnTo>
                  <a:lnTo>
                    <a:pt x="7074560" y="23241"/>
                  </a:lnTo>
                  <a:lnTo>
                    <a:pt x="7109612" y="58293"/>
                  </a:lnTo>
                  <a:lnTo>
                    <a:pt x="7115073" y="52705"/>
                  </a:lnTo>
                  <a:close/>
                </a:path>
                <a:path w="9090025" h="247014">
                  <a:moveTo>
                    <a:pt x="7152284" y="209931"/>
                  </a:moveTo>
                  <a:lnTo>
                    <a:pt x="7113168" y="162941"/>
                  </a:lnTo>
                  <a:lnTo>
                    <a:pt x="7107199" y="169291"/>
                  </a:lnTo>
                  <a:lnTo>
                    <a:pt x="7140600" y="202311"/>
                  </a:lnTo>
                  <a:lnTo>
                    <a:pt x="7142251" y="204851"/>
                  </a:lnTo>
                  <a:lnTo>
                    <a:pt x="7143775" y="207391"/>
                  </a:lnTo>
                  <a:lnTo>
                    <a:pt x="7144029" y="209931"/>
                  </a:lnTo>
                  <a:lnTo>
                    <a:pt x="7143267" y="212471"/>
                  </a:lnTo>
                  <a:lnTo>
                    <a:pt x="7142251" y="215011"/>
                  </a:lnTo>
                  <a:lnTo>
                    <a:pt x="7140854" y="216281"/>
                  </a:lnTo>
                  <a:lnTo>
                    <a:pt x="7138822" y="217551"/>
                  </a:lnTo>
                  <a:lnTo>
                    <a:pt x="7136536" y="218821"/>
                  </a:lnTo>
                  <a:lnTo>
                    <a:pt x="7131710" y="218821"/>
                  </a:lnTo>
                  <a:lnTo>
                    <a:pt x="7128789" y="217551"/>
                  </a:lnTo>
                  <a:lnTo>
                    <a:pt x="7125233" y="213741"/>
                  </a:lnTo>
                  <a:lnTo>
                    <a:pt x="7120661" y="220091"/>
                  </a:lnTo>
                  <a:lnTo>
                    <a:pt x="7124979" y="223901"/>
                  </a:lnTo>
                  <a:lnTo>
                    <a:pt x="7129297" y="226441"/>
                  </a:lnTo>
                  <a:lnTo>
                    <a:pt x="7138060" y="226441"/>
                  </a:lnTo>
                  <a:lnTo>
                    <a:pt x="7142124" y="225171"/>
                  </a:lnTo>
                  <a:lnTo>
                    <a:pt x="7146061" y="221361"/>
                  </a:lnTo>
                  <a:lnTo>
                    <a:pt x="7148728" y="218821"/>
                  </a:lnTo>
                  <a:lnTo>
                    <a:pt x="7150506" y="216281"/>
                  </a:lnTo>
                  <a:lnTo>
                    <a:pt x="7152284" y="209931"/>
                  </a:lnTo>
                  <a:close/>
                </a:path>
                <a:path w="9090025" h="247014">
                  <a:moveTo>
                    <a:pt x="7194829" y="170561"/>
                  </a:moveTo>
                  <a:lnTo>
                    <a:pt x="7192924" y="170561"/>
                  </a:lnTo>
                  <a:lnTo>
                    <a:pt x="7191146" y="169291"/>
                  </a:lnTo>
                  <a:lnTo>
                    <a:pt x="7189622" y="168021"/>
                  </a:lnTo>
                  <a:lnTo>
                    <a:pt x="7187971" y="168021"/>
                  </a:lnTo>
                  <a:lnTo>
                    <a:pt x="7184669" y="164211"/>
                  </a:lnTo>
                  <a:lnTo>
                    <a:pt x="7182129" y="161671"/>
                  </a:lnTo>
                  <a:lnTo>
                    <a:pt x="7179589" y="159131"/>
                  </a:lnTo>
                  <a:lnTo>
                    <a:pt x="7178827" y="158356"/>
                  </a:lnTo>
                  <a:lnTo>
                    <a:pt x="7178827" y="173101"/>
                  </a:lnTo>
                  <a:lnTo>
                    <a:pt x="7178827" y="175641"/>
                  </a:lnTo>
                  <a:lnTo>
                    <a:pt x="7178065" y="178181"/>
                  </a:lnTo>
                  <a:lnTo>
                    <a:pt x="7177430" y="180721"/>
                  </a:lnTo>
                  <a:lnTo>
                    <a:pt x="7175906" y="183261"/>
                  </a:lnTo>
                  <a:lnTo>
                    <a:pt x="7173874" y="184531"/>
                  </a:lnTo>
                  <a:lnTo>
                    <a:pt x="7171715" y="187071"/>
                  </a:lnTo>
                  <a:lnTo>
                    <a:pt x="7169556" y="188341"/>
                  </a:lnTo>
                  <a:lnTo>
                    <a:pt x="7163587" y="188341"/>
                  </a:lnTo>
                  <a:lnTo>
                    <a:pt x="7161174" y="185801"/>
                  </a:lnTo>
                  <a:lnTo>
                    <a:pt x="7160666" y="184531"/>
                  </a:lnTo>
                  <a:lnTo>
                    <a:pt x="7160285" y="183261"/>
                  </a:lnTo>
                  <a:lnTo>
                    <a:pt x="7160158" y="180721"/>
                  </a:lnTo>
                  <a:lnTo>
                    <a:pt x="7160666" y="179451"/>
                  </a:lnTo>
                  <a:lnTo>
                    <a:pt x="7161301" y="178181"/>
                  </a:lnTo>
                  <a:lnTo>
                    <a:pt x="7162444" y="175641"/>
                  </a:lnTo>
                  <a:lnTo>
                    <a:pt x="7164476" y="173101"/>
                  </a:lnTo>
                  <a:lnTo>
                    <a:pt x="7167778" y="168021"/>
                  </a:lnTo>
                  <a:lnTo>
                    <a:pt x="7170191" y="164211"/>
                  </a:lnTo>
                  <a:lnTo>
                    <a:pt x="7171334" y="161671"/>
                  </a:lnTo>
                  <a:lnTo>
                    <a:pt x="7175779" y="166751"/>
                  </a:lnTo>
                  <a:lnTo>
                    <a:pt x="7177303" y="168021"/>
                  </a:lnTo>
                  <a:lnTo>
                    <a:pt x="7177938" y="170561"/>
                  </a:lnTo>
                  <a:lnTo>
                    <a:pt x="7178827" y="173101"/>
                  </a:lnTo>
                  <a:lnTo>
                    <a:pt x="7178827" y="158356"/>
                  </a:lnTo>
                  <a:lnTo>
                    <a:pt x="7173442" y="152781"/>
                  </a:lnTo>
                  <a:lnTo>
                    <a:pt x="7169810" y="148971"/>
                  </a:lnTo>
                  <a:lnTo>
                    <a:pt x="7168032" y="147701"/>
                  </a:lnTo>
                  <a:lnTo>
                    <a:pt x="7166889" y="147701"/>
                  </a:lnTo>
                  <a:lnTo>
                    <a:pt x="7165111" y="146431"/>
                  </a:lnTo>
                  <a:lnTo>
                    <a:pt x="7163206" y="145161"/>
                  </a:lnTo>
                  <a:lnTo>
                    <a:pt x="7157491" y="145161"/>
                  </a:lnTo>
                  <a:lnTo>
                    <a:pt x="7155205" y="146431"/>
                  </a:lnTo>
                  <a:lnTo>
                    <a:pt x="7152792" y="147701"/>
                  </a:lnTo>
                  <a:lnTo>
                    <a:pt x="7139330" y="166751"/>
                  </a:lnTo>
                  <a:lnTo>
                    <a:pt x="7139711" y="169291"/>
                  </a:lnTo>
                  <a:lnTo>
                    <a:pt x="7139838" y="170561"/>
                  </a:lnTo>
                  <a:lnTo>
                    <a:pt x="7139965" y="171831"/>
                  </a:lnTo>
                  <a:lnTo>
                    <a:pt x="7140981" y="174371"/>
                  </a:lnTo>
                  <a:lnTo>
                    <a:pt x="7142759" y="176911"/>
                  </a:lnTo>
                  <a:lnTo>
                    <a:pt x="7148855" y="171831"/>
                  </a:lnTo>
                  <a:lnTo>
                    <a:pt x="7147204" y="169291"/>
                  </a:lnTo>
                  <a:lnTo>
                    <a:pt x="7146569" y="166751"/>
                  </a:lnTo>
                  <a:lnTo>
                    <a:pt x="7156729" y="152781"/>
                  </a:lnTo>
                  <a:lnTo>
                    <a:pt x="7161301" y="152781"/>
                  </a:lnTo>
                  <a:lnTo>
                    <a:pt x="7163333" y="154051"/>
                  </a:lnTo>
                  <a:lnTo>
                    <a:pt x="7165619" y="156591"/>
                  </a:lnTo>
                  <a:lnTo>
                    <a:pt x="7167016" y="157861"/>
                  </a:lnTo>
                  <a:lnTo>
                    <a:pt x="7165619" y="160401"/>
                  </a:lnTo>
                  <a:lnTo>
                    <a:pt x="7162952" y="164211"/>
                  </a:lnTo>
                  <a:lnTo>
                    <a:pt x="7157237" y="171831"/>
                  </a:lnTo>
                  <a:lnTo>
                    <a:pt x="7155840" y="174371"/>
                  </a:lnTo>
                  <a:lnTo>
                    <a:pt x="7155078" y="175641"/>
                  </a:lnTo>
                  <a:lnTo>
                    <a:pt x="7153935" y="176911"/>
                  </a:lnTo>
                  <a:lnTo>
                    <a:pt x="7153300" y="179451"/>
                  </a:lnTo>
                  <a:lnTo>
                    <a:pt x="7152792" y="181991"/>
                  </a:lnTo>
                  <a:lnTo>
                    <a:pt x="7152665" y="184531"/>
                  </a:lnTo>
                  <a:lnTo>
                    <a:pt x="7153173" y="187071"/>
                  </a:lnTo>
                  <a:lnTo>
                    <a:pt x="7153808" y="188341"/>
                  </a:lnTo>
                  <a:lnTo>
                    <a:pt x="7154951" y="190881"/>
                  </a:lnTo>
                  <a:lnTo>
                    <a:pt x="7156475" y="192151"/>
                  </a:lnTo>
                  <a:lnTo>
                    <a:pt x="7159142" y="194691"/>
                  </a:lnTo>
                  <a:lnTo>
                    <a:pt x="7162317" y="195961"/>
                  </a:lnTo>
                  <a:lnTo>
                    <a:pt x="7169683" y="195961"/>
                  </a:lnTo>
                  <a:lnTo>
                    <a:pt x="7173239" y="194691"/>
                  </a:lnTo>
                  <a:lnTo>
                    <a:pt x="7183907" y="175641"/>
                  </a:lnTo>
                  <a:lnTo>
                    <a:pt x="7184034" y="174371"/>
                  </a:lnTo>
                  <a:lnTo>
                    <a:pt x="7185685" y="175641"/>
                  </a:lnTo>
                  <a:lnTo>
                    <a:pt x="7187463" y="175641"/>
                  </a:lnTo>
                  <a:lnTo>
                    <a:pt x="7189114" y="176911"/>
                  </a:lnTo>
                  <a:lnTo>
                    <a:pt x="7191400" y="174371"/>
                  </a:lnTo>
                  <a:lnTo>
                    <a:pt x="7194829" y="170561"/>
                  </a:lnTo>
                  <a:close/>
                </a:path>
                <a:path w="9090025" h="247014">
                  <a:moveTo>
                    <a:pt x="7228738" y="137541"/>
                  </a:moveTo>
                  <a:lnTo>
                    <a:pt x="7208799" y="117221"/>
                  </a:lnTo>
                  <a:lnTo>
                    <a:pt x="7206259" y="114681"/>
                  </a:lnTo>
                  <a:lnTo>
                    <a:pt x="7204481" y="113411"/>
                  </a:lnTo>
                  <a:lnTo>
                    <a:pt x="7203211" y="112141"/>
                  </a:lnTo>
                  <a:lnTo>
                    <a:pt x="7199401" y="109601"/>
                  </a:lnTo>
                  <a:lnTo>
                    <a:pt x="7193305" y="109601"/>
                  </a:lnTo>
                  <a:lnTo>
                    <a:pt x="7191019" y="110871"/>
                  </a:lnTo>
                  <a:lnTo>
                    <a:pt x="7188606" y="112141"/>
                  </a:lnTo>
                  <a:lnTo>
                    <a:pt x="7186574" y="113411"/>
                  </a:lnTo>
                  <a:lnTo>
                    <a:pt x="7180097" y="119761"/>
                  </a:lnTo>
                  <a:lnTo>
                    <a:pt x="7178446" y="124841"/>
                  </a:lnTo>
                  <a:lnTo>
                    <a:pt x="7179589" y="131191"/>
                  </a:lnTo>
                  <a:lnTo>
                    <a:pt x="7175017" y="126111"/>
                  </a:lnTo>
                  <a:lnTo>
                    <a:pt x="7170064" y="131191"/>
                  </a:lnTo>
                  <a:lnTo>
                    <a:pt x="7202449" y="162941"/>
                  </a:lnTo>
                  <a:lnTo>
                    <a:pt x="7207910" y="157861"/>
                  </a:lnTo>
                  <a:lnTo>
                    <a:pt x="7190257" y="140081"/>
                  </a:lnTo>
                  <a:lnTo>
                    <a:pt x="7186066" y="136271"/>
                  </a:lnTo>
                  <a:lnTo>
                    <a:pt x="7184161" y="132461"/>
                  </a:lnTo>
                  <a:lnTo>
                    <a:pt x="7184225" y="131191"/>
                  </a:lnTo>
                  <a:lnTo>
                    <a:pt x="7184288" y="129921"/>
                  </a:lnTo>
                  <a:lnTo>
                    <a:pt x="7184542" y="126111"/>
                  </a:lnTo>
                  <a:lnTo>
                    <a:pt x="7185812" y="123571"/>
                  </a:lnTo>
                  <a:lnTo>
                    <a:pt x="7189622" y="119761"/>
                  </a:lnTo>
                  <a:lnTo>
                    <a:pt x="7191273" y="118491"/>
                  </a:lnTo>
                  <a:lnTo>
                    <a:pt x="7192924" y="118491"/>
                  </a:lnTo>
                  <a:lnTo>
                    <a:pt x="7194702" y="117221"/>
                  </a:lnTo>
                  <a:lnTo>
                    <a:pt x="7196353" y="118491"/>
                  </a:lnTo>
                  <a:lnTo>
                    <a:pt x="7199401" y="118491"/>
                  </a:lnTo>
                  <a:lnTo>
                    <a:pt x="7201306" y="121031"/>
                  </a:lnTo>
                  <a:lnTo>
                    <a:pt x="7203592" y="122301"/>
                  </a:lnTo>
                  <a:lnTo>
                    <a:pt x="7223277" y="142621"/>
                  </a:lnTo>
                  <a:lnTo>
                    <a:pt x="7228738" y="137541"/>
                  </a:lnTo>
                  <a:close/>
                </a:path>
                <a:path w="9090025" h="247014">
                  <a:moveTo>
                    <a:pt x="7238263" y="100711"/>
                  </a:moveTo>
                  <a:lnTo>
                    <a:pt x="7232675" y="95631"/>
                  </a:lnTo>
                  <a:lnTo>
                    <a:pt x="7215784" y="112141"/>
                  </a:lnTo>
                  <a:lnTo>
                    <a:pt x="7221372" y="117221"/>
                  </a:lnTo>
                  <a:lnTo>
                    <a:pt x="7238263" y="100711"/>
                  </a:lnTo>
                  <a:close/>
                </a:path>
                <a:path w="9090025" h="247014">
                  <a:moveTo>
                    <a:pt x="7285888" y="80391"/>
                  </a:moveTo>
                  <a:lnTo>
                    <a:pt x="7280554" y="75311"/>
                  </a:lnTo>
                  <a:lnTo>
                    <a:pt x="7258583" y="96901"/>
                  </a:lnTo>
                  <a:lnTo>
                    <a:pt x="7258202" y="95631"/>
                  </a:lnTo>
                  <a:lnTo>
                    <a:pt x="7258075" y="85471"/>
                  </a:lnTo>
                  <a:lnTo>
                    <a:pt x="7258456" y="81661"/>
                  </a:lnTo>
                  <a:lnTo>
                    <a:pt x="7258583" y="80391"/>
                  </a:lnTo>
                  <a:lnTo>
                    <a:pt x="7258710" y="79121"/>
                  </a:lnTo>
                  <a:lnTo>
                    <a:pt x="7258913" y="76581"/>
                  </a:lnTo>
                  <a:lnTo>
                    <a:pt x="7259015" y="75311"/>
                  </a:lnTo>
                  <a:lnTo>
                    <a:pt x="7259117" y="74041"/>
                  </a:lnTo>
                  <a:lnTo>
                    <a:pt x="7259218" y="72771"/>
                  </a:lnTo>
                  <a:lnTo>
                    <a:pt x="7259269" y="71501"/>
                  </a:lnTo>
                  <a:lnTo>
                    <a:pt x="7259383" y="65151"/>
                  </a:lnTo>
                  <a:lnTo>
                    <a:pt x="7259218" y="62611"/>
                  </a:lnTo>
                  <a:lnTo>
                    <a:pt x="7259091" y="60071"/>
                  </a:lnTo>
                  <a:lnTo>
                    <a:pt x="7258456" y="56261"/>
                  </a:lnTo>
                  <a:lnTo>
                    <a:pt x="7256424" y="51181"/>
                  </a:lnTo>
                  <a:lnTo>
                    <a:pt x="7255027" y="49911"/>
                  </a:lnTo>
                  <a:lnTo>
                    <a:pt x="7249693" y="43561"/>
                  </a:lnTo>
                  <a:lnTo>
                    <a:pt x="7245502" y="42291"/>
                  </a:lnTo>
                  <a:lnTo>
                    <a:pt x="7235723" y="42291"/>
                  </a:lnTo>
                  <a:lnTo>
                    <a:pt x="7220293" y="58801"/>
                  </a:lnTo>
                  <a:lnTo>
                    <a:pt x="7220217" y="60071"/>
                  </a:lnTo>
                  <a:lnTo>
                    <a:pt x="7220102" y="62611"/>
                  </a:lnTo>
                  <a:lnTo>
                    <a:pt x="7219912" y="65151"/>
                  </a:lnTo>
                  <a:lnTo>
                    <a:pt x="7219810" y="66421"/>
                  </a:lnTo>
                  <a:lnTo>
                    <a:pt x="7219721" y="67691"/>
                  </a:lnTo>
                  <a:lnTo>
                    <a:pt x="7221499" y="71501"/>
                  </a:lnTo>
                  <a:lnTo>
                    <a:pt x="7225309" y="76581"/>
                  </a:lnTo>
                  <a:lnTo>
                    <a:pt x="7231532" y="71501"/>
                  </a:lnTo>
                  <a:lnTo>
                    <a:pt x="7228738" y="68961"/>
                  </a:lnTo>
                  <a:lnTo>
                    <a:pt x="7227341" y="65151"/>
                  </a:lnTo>
                  <a:lnTo>
                    <a:pt x="7227341" y="58801"/>
                  </a:lnTo>
                  <a:lnTo>
                    <a:pt x="7228738" y="56261"/>
                  </a:lnTo>
                  <a:lnTo>
                    <a:pt x="7233818" y="51181"/>
                  </a:lnTo>
                  <a:lnTo>
                    <a:pt x="7236612" y="49911"/>
                  </a:lnTo>
                  <a:lnTo>
                    <a:pt x="7242708" y="49911"/>
                  </a:lnTo>
                  <a:lnTo>
                    <a:pt x="7245375" y="51181"/>
                  </a:lnTo>
                  <a:lnTo>
                    <a:pt x="7247534" y="53721"/>
                  </a:lnTo>
                  <a:lnTo>
                    <a:pt x="7249566" y="54991"/>
                  </a:lnTo>
                  <a:lnTo>
                    <a:pt x="7250963" y="58801"/>
                  </a:lnTo>
                  <a:lnTo>
                    <a:pt x="7251598" y="62611"/>
                  </a:lnTo>
                  <a:lnTo>
                    <a:pt x="7251928" y="65151"/>
                  </a:lnTo>
                  <a:lnTo>
                    <a:pt x="7251865" y="74041"/>
                  </a:lnTo>
                  <a:lnTo>
                    <a:pt x="7251433" y="79121"/>
                  </a:lnTo>
                  <a:lnTo>
                    <a:pt x="7251319" y="80391"/>
                  </a:lnTo>
                  <a:lnTo>
                    <a:pt x="7251217" y="81661"/>
                  </a:lnTo>
                  <a:lnTo>
                    <a:pt x="7250735" y="85471"/>
                  </a:lnTo>
                  <a:lnTo>
                    <a:pt x="7250836" y="96901"/>
                  </a:lnTo>
                  <a:lnTo>
                    <a:pt x="7251090" y="99441"/>
                  </a:lnTo>
                  <a:lnTo>
                    <a:pt x="7251852" y="101981"/>
                  </a:lnTo>
                  <a:lnTo>
                    <a:pt x="7253884" y="107061"/>
                  </a:lnTo>
                  <a:lnTo>
                    <a:pt x="7254900" y="108331"/>
                  </a:lnTo>
                  <a:lnTo>
                    <a:pt x="7256297" y="109601"/>
                  </a:lnTo>
                  <a:lnTo>
                    <a:pt x="7269162" y="96901"/>
                  </a:lnTo>
                  <a:lnTo>
                    <a:pt x="7285888" y="80391"/>
                  </a:lnTo>
                  <a:close/>
                </a:path>
                <a:path w="9090025" h="247014">
                  <a:moveTo>
                    <a:pt x="7320305" y="46101"/>
                  </a:moveTo>
                  <a:lnTo>
                    <a:pt x="7314971" y="39751"/>
                  </a:lnTo>
                  <a:lnTo>
                    <a:pt x="7293127" y="62611"/>
                  </a:lnTo>
                  <a:lnTo>
                    <a:pt x="7292746" y="60071"/>
                  </a:lnTo>
                  <a:lnTo>
                    <a:pt x="7292822" y="48641"/>
                  </a:lnTo>
                  <a:lnTo>
                    <a:pt x="7293546" y="39751"/>
                  </a:lnTo>
                  <a:lnTo>
                    <a:pt x="7293648" y="38481"/>
                  </a:lnTo>
                  <a:lnTo>
                    <a:pt x="7293762" y="37211"/>
                  </a:lnTo>
                  <a:lnTo>
                    <a:pt x="7293889" y="34671"/>
                  </a:lnTo>
                  <a:lnTo>
                    <a:pt x="7293927" y="30861"/>
                  </a:lnTo>
                  <a:lnTo>
                    <a:pt x="7293508" y="24511"/>
                  </a:lnTo>
                  <a:lnTo>
                    <a:pt x="7292873" y="21971"/>
                  </a:lnTo>
                  <a:lnTo>
                    <a:pt x="7291984" y="19431"/>
                  </a:lnTo>
                  <a:lnTo>
                    <a:pt x="7290968" y="16891"/>
                  </a:lnTo>
                  <a:lnTo>
                    <a:pt x="7290270" y="15621"/>
                  </a:lnTo>
                  <a:lnTo>
                    <a:pt x="7289571" y="14351"/>
                  </a:lnTo>
                  <a:lnTo>
                    <a:pt x="7287793" y="13081"/>
                  </a:lnTo>
                  <a:lnTo>
                    <a:pt x="7284237" y="9271"/>
                  </a:lnTo>
                  <a:lnTo>
                    <a:pt x="7280046" y="8001"/>
                  </a:lnTo>
                  <a:lnTo>
                    <a:pt x="7270267" y="8001"/>
                  </a:lnTo>
                  <a:lnTo>
                    <a:pt x="7265695" y="10541"/>
                  </a:lnTo>
                  <a:lnTo>
                    <a:pt x="7254392" y="30861"/>
                  </a:lnTo>
                  <a:lnTo>
                    <a:pt x="7254265" y="33401"/>
                  </a:lnTo>
                  <a:lnTo>
                    <a:pt x="7255916" y="37211"/>
                  </a:lnTo>
                  <a:lnTo>
                    <a:pt x="7259853" y="42291"/>
                  </a:lnTo>
                  <a:lnTo>
                    <a:pt x="7266076" y="37211"/>
                  </a:lnTo>
                  <a:lnTo>
                    <a:pt x="7263282" y="34671"/>
                  </a:lnTo>
                  <a:lnTo>
                    <a:pt x="7261885" y="30861"/>
                  </a:lnTo>
                  <a:lnTo>
                    <a:pt x="7261885" y="24511"/>
                  </a:lnTo>
                  <a:lnTo>
                    <a:pt x="7263155" y="21971"/>
                  </a:lnTo>
                  <a:lnTo>
                    <a:pt x="7268362" y="16891"/>
                  </a:lnTo>
                  <a:lnTo>
                    <a:pt x="7271029" y="15621"/>
                  </a:lnTo>
                  <a:lnTo>
                    <a:pt x="7277252" y="15621"/>
                  </a:lnTo>
                  <a:lnTo>
                    <a:pt x="7286460" y="30861"/>
                  </a:lnTo>
                  <a:lnTo>
                    <a:pt x="7286396" y="39751"/>
                  </a:lnTo>
                  <a:lnTo>
                    <a:pt x="7285495" y="48641"/>
                  </a:lnTo>
                  <a:lnTo>
                    <a:pt x="7285368" y="49911"/>
                  </a:lnTo>
                  <a:lnTo>
                    <a:pt x="7285241" y="51181"/>
                  </a:lnTo>
                  <a:lnTo>
                    <a:pt x="7285164" y="60071"/>
                  </a:lnTo>
                  <a:lnTo>
                    <a:pt x="7285507" y="65151"/>
                  </a:lnTo>
                  <a:lnTo>
                    <a:pt x="7286269" y="67691"/>
                  </a:lnTo>
                  <a:lnTo>
                    <a:pt x="7288301" y="72771"/>
                  </a:lnTo>
                  <a:lnTo>
                    <a:pt x="7289317" y="74041"/>
                  </a:lnTo>
                  <a:lnTo>
                    <a:pt x="7290714" y="75311"/>
                  </a:lnTo>
                  <a:lnTo>
                    <a:pt x="7303579" y="62611"/>
                  </a:lnTo>
                  <a:lnTo>
                    <a:pt x="7320305" y="46101"/>
                  </a:lnTo>
                  <a:close/>
                </a:path>
                <a:path w="9090025" h="247014">
                  <a:moveTo>
                    <a:pt x="7369454" y="194056"/>
                  </a:moveTo>
                  <a:lnTo>
                    <a:pt x="7337425" y="162306"/>
                  </a:lnTo>
                  <a:lnTo>
                    <a:pt x="7324623" y="149606"/>
                  </a:lnTo>
                  <a:lnTo>
                    <a:pt x="7316749" y="157226"/>
                  </a:lnTo>
                  <a:lnTo>
                    <a:pt x="7337069" y="199136"/>
                  </a:lnTo>
                  <a:lnTo>
                    <a:pt x="7339228" y="202946"/>
                  </a:lnTo>
                  <a:lnTo>
                    <a:pt x="7340752" y="206756"/>
                  </a:lnTo>
                  <a:lnTo>
                    <a:pt x="7341895" y="208026"/>
                  </a:lnTo>
                  <a:lnTo>
                    <a:pt x="7337069" y="205486"/>
                  </a:lnTo>
                  <a:lnTo>
                    <a:pt x="7333132" y="204216"/>
                  </a:lnTo>
                  <a:lnTo>
                    <a:pt x="7310742" y="192786"/>
                  </a:lnTo>
                  <a:lnTo>
                    <a:pt x="7290841" y="182626"/>
                  </a:lnTo>
                  <a:lnTo>
                    <a:pt x="7281951" y="191516"/>
                  </a:lnTo>
                  <a:lnTo>
                    <a:pt x="7326655" y="235966"/>
                  </a:lnTo>
                  <a:lnTo>
                    <a:pt x="7332370" y="230886"/>
                  </a:lnTo>
                  <a:lnTo>
                    <a:pt x="7294270" y="192786"/>
                  </a:lnTo>
                  <a:lnTo>
                    <a:pt x="7345324" y="218186"/>
                  </a:lnTo>
                  <a:lnTo>
                    <a:pt x="7350658" y="213106"/>
                  </a:lnTo>
                  <a:lnTo>
                    <a:pt x="7348220" y="208026"/>
                  </a:lnTo>
                  <a:lnTo>
                    <a:pt x="7326274" y="162306"/>
                  </a:lnTo>
                  <a:lnTo>
                    <a:pt x="7363739" y="199136"/>
                  </a:lnTo>
                  <a:lnTo>
                    <a:pt x="7369454" y="194056"/>
                  </a:lnTo>
                  <a:close/>
                </a:path>
                <a:path w="9090025" h="247014">
                  <a:moveTo>
                    <a:pt x="7406919" y="155956"/>
                  </a:moveTo>
                  <a:lnTo>
                    <a:pt x="7405014" y="155956"/>
                  </a:lnTo>
                  <a:lnTo>
                    <a:pt x="7403236" y="154686"/>
                  </a:lnTo>
                  <a:lnTo>
                    <a:pt x="7401712" y="153416"/>
                  </a:lnTo>
                  <a:lnTo>
                    <a:pt x="7396759" y="149606"/>
                  </a:lnTo>
                  <a:lnTo>
                    <a:pt x="7394283" y="147066"/>
                  </a:lnTo>
                  <a:lnTo>
                    <a:pt x="7390917" y="143624"/>
                  </a:lnTo>
                  <a:lnTo>
                    <a:pt x="7390917" y="158496"/>
                  </a:lnTo>
                  <a:lnTo>
                    <a:pt x="7390917" y="161036"/>
                  </a:lnTo>
                  <a:lnTo>
                    <a:pt x="7390155" y="163576"/>
                  </a:lnTo>
                  <a:lnTo>
                    <a:pt x="7389520" y="166116"/>
                  </a:lnTo>
                  <a:lnTo>
                    <a:pt x="7388123" y="168656"/>
                  </a:lnTo>
                  <a:lnTo>
                    <a:pt x="7385964" y="169926"/>
                  </a:lnTo>
                  <a:lnTo>
                    <a:pt x="7383805" y="172466"/>
                  </a:lnTo>
                  <a:lnTo>
                    <a:pt x="7381646" y="173736"/>
                  </a:lnTo>
                  <a:lnTo>
                    <a:pt x="7377582" y="173736"/>
                  </a:lnTo>
                  <a:lnTo>
                    <a:pt x="7375804" y="172466"/>
                  </a:lnTo>
                  <a:lnTo>
                    <a:pt x="7373391" y="171196"/>
                  </a:lnTo>
                  <a:lnTo>
                    <a:pt x="7372756" y="169926"/>
                  </a:lnTo>
                  <a:lnTo>
                    <a:pt x="7372502" y="168656"/>
                  </a:lnTo>
                  <a:lnTo>
                    <a:pt x="7372121" y="167386"/>
                  </a:lnTo>
                  <a:lnTo>
                    <a:pt x="7372248" y="166116"/>
                  </a:lnTo>
                  <a:lnTo>
                    <a:pt x="7372883" y="164846"/>
                  </a:lnTo>
                  <a:lnTo>
                    <a:pt x="7373391" y="163576"/>
                  </a:lnTo>
                  <a:lnTo>
                    <a:pt x="7374534" y="161036"/>
                  </a:lnTo>
                  <a:lnTo>
                    <a:pt x="7376566" y="158496"/>
                  </a:lnTo>
                  <a:lnTo>
                    <a:pt x="7379995" y="153416"/>
                  </a:lnTo>
                  <a:lnTo>
                    <a:pt x="7382281" y="149606"/>
                  </a:lnTo>
                  <a:lnTo>
                    <a:pt x="7383424" y="147066"/>
                  </a:lnTo>
                  <a:lnTo>
                    <a:pt x="7387869" y="152146"/>
                  </a:lnTo>
                  <a:lnTo>
                    <a:pt x="7389393" y="153416"/>
                  </a:lnTo>
                  <a:lnTo>
                    <a:pt x="7390917" y="158496"/>
                  </a:lnTo>
                  <a:lnTo>
                    <a:pt x="7390917" y="143624"/>
                  </a:lnTo>
                  <a:lnTo>
                    <a:pt x="7385609" y="138176"/>
                  </a:lnTo>
                  <a:lnTo>
                    <a:pt x="7381900" y="134366"/>
                  </a:lnTo>
                  <a:lnTo>
                    <a:pt x="7380122" y="133096"/>
                  </a:lnTo>
                  <a:lnTo>
                    <a:pt x="7378979" y="131826"/>
                  </a:lnTo>
                  <a:lnTo>
                    <a:pt x="7377201" y="131826"/>
                  </a:lnTo>
                  <a:lnTo>
                    <a:pt x="7375296" y="130556"/>
                  </a:lnTo>
                  <a:lnTo>
                    <a:pt x="7369708" y="130556"/>
                  </a:lnTo>
                  <a:lnTo>
                    <a:pt x="7364882" y="133096"/>
                  </a:lnTo>
                  <a:lnTo>
                    <a:pt x="7362342" y="134366"/>
                  </a:lnTo>
                  <a:lnTo>
                    <a:pt x="7359548" y="136906"/>
                  </a:lnTo>
                  <a:lnTo>
                    <a:pt x="7356754" y="140716"/>
                  </a:lnTo>
                  <a:lnTo>
                    <a:pt x="7354722" y="143256"/>
                  </a:lnTo>
                  <a:lnTo>
                    <a:pt x="7351928" y="148336"/>
                  </a:lnTo>
                  <a:lnTo>
                    <a:pt x="7351420" y="152146"/>
                  </a:lnTo>
                  <a:lnTo>
                    <a:pt x="7351801" y="153416"/>
                  </a:lnTo>
                  <a:lnTo>
                    <a:pt x="7351877" y="154686"/>
                  </a:lnTo>
                  <a:lnTo>
                    <a:pt x="7351966" y="155956"/>
                  </a:lnTo>
                  <a:lnTo>
                    <a:pt x="7352055" y="157226"/>
                  </a:lnTo>
                  <a:lnTo>
                    <a:pt x="7353071" y="159766"/>
                  </a:lnTo>
                  <a:lnTo>
                    <a:pt x="7354976" y="162306"/>
                  </a:lnTo>
                  <a:lnTo>
                    <a:pt x="7361072" y="157226"/>
                  </a:lnTo>
                  <a:lnTo>
                    <a:pt x="7359294" y="154686"/>
                  </a:lnTo>
                  <a:lnTo>
                    <a:pt x="7358659" y="152146"/>
                  </a:lnTo>
                  <a:lnTo>
                    <a:pt x="7358913" y="149606"/>
                  </a:lnTo>
                  <a:lnTo>
                    <a:pt x="7359294" y="147066"/>
                  </a:lnTo>
                  <a:lnTo>
                    <a:pt x="7360691" y="145796"/>
                  </a:lnTo>
                  <a:lnTo>
                    <a:pt x="7366025" y="140716"/>
                  </a:lnTo>
                  <a:lnTo>
                    <a:pt x="7368819" y="138176"/>
                  </a:lnTo>
                  <a:lnTo>
                    <a:pt x="7373391" y="138176"/>
                  </a:lnTo>
                  <a:lnTo>
                    <a:pt x="7375423" y="139446"/>
                  </a:lnTo>
                  <a:lnTo>
                    <a:pt x="7377709" y="141986"/>
                  </a:lnTo>
                  <a:lnTo>
                    <a:pt x="7378344" y="141986"/>
                  </a:lnTo>
                  <a:lnTo>
                    <a:pt x="7379106" y="143256"/>
                  </a:lnTo>
                  <a:lnTo>
                    <a:pt x="7377709" y="145796"/>
                  </a:lnTo>
                  <a:lnTo>
                    <a:pt x="7375169" y="149606"/>
                  </a:lnTo>
                  <a:lnTo>
                    <a:pt x="7371232" y="154686"/>
                  </a:lnTo>
                  <a:lnTo>
                    <a:pt x="7369327" y="157226"/>
                  </a:lnTo>
                  <a:lnTo>
                    <a:pt x="7367930" y="159766"/>
                  </a:lnTo>
                  <a:lnTo>
                    <a:pt x="7367168" y="159766"/>
                  </a:lnTo>
                  <a:lnTo>
                    <a:pt x="7366152" y="162306"/>
                  </a:lnTo>
                  <a:lnTo>
                    <a:pt x="7365390" y="164846"/>
                  </a:lnTo>
                  <a:lnTo>
                    <a:pt x="7364882" y="167386"/>
                  </a:lnTo>
                  <a:lnTo>
                    <a:pt x="7364755" y="169926"/>
                  </a:lnTo>
                  <a:lnTo>
                    <a:pt x="7365263" y="172466"/>
                  </a:lnTo>
                  <a:lnTo>
                    <a:pt x="7365898" y="173736"/>
                  </a:lnTo>
                  <a:lnTo>
                    <a:pt x="7367041" y="176276"/>
                  </a:lnTo>
                  <a:lnTo>
                    <a:pt x="7368565" y="177546"/>
                  </a:lnTo>
                  <a:lnTo>
                    <a:pt x="7371232" y="180086"/>
                  </a:lnTo>
                  <a:lnTo>
                    <a:pt x="7374534" y="181356"/>
                  </a:lnTo>
                  <a:lnTo>
                    <a:pt x="7381773" y="181356"/>
                  </a:lnTo>
                  <a:lnTo>
                    <a:pt x="7385329" y="178816"/>
                  </a:lnTo>
                  <a:lnTo>
                    <a:pt x="7395946" y="162306"/>
                  </a:lnTo>
                  <a:lnTo>
                    <a:pt x="7396035" y="161036"/>
                  </a:lnTo>
                  <a:lnTo>
                    <a:pt x="7396124" y="159766"/>
                  </a:lnTo>
                  <a:lnTo>
                    <a:pt x="7397775" y="161036"/>
                  </a:lnTo>
                  <a:lnTo>
                    <a:pt x="7399553" y="161036"/>
                  </a:lnTo>
                  <a:lnTo>
                    <a:pt x="7401204" y="162306"/>
                  </a:lnTo>
                  <a:lnTo>
                    <a:pt x="7403490" y="159766"/>
                  </a:lnTo>
                  <a:lnTo>
                    <a:pt x="7406919" y="155956"/>
                  </a:lnTo>
                  <a:close/>
                </a:path>
                <a:path w="9090025" h="247014">
                  <a:moveTo>
                    <a:pt x="7418857" y="144526"/>
                  </a:moveTo>
                  <a:lnTo>
                    <a:pt x="7399680" y="125476"/>
                  </a:lnTo>
                  <a:lnTo>
                    <a:pt x="7397775" y="122936"/>
                  </a:lnTo>
                  <a:lnTo>
                    <a:pt x="7395616" y="117856"/>
                  </a:lnTo>
                  <a:lnTo>
                    <a:pt x="7395235" y="116586"/>
                  </a:lnTo>
                  <a:lnTo>
                    <a:pt x="7395743" y="114046"/>
                  </a:lnTo>
                  <a:lnTo>
                    <a:pt x="7396378" y="111506"/>
                  </a:lnTo>
                  <a:lnTo>
                    <a:pt x="7398918" y="108966"/>
                  </a:lnTo>
                  <a:lnTo>
                    <a:pt x="7400696" y="108966"/>
                  </a:lnTo>
                  <a:lnTo>
                    <a:pt x="7402855" y="107696"/>
                  </a:lnTo>
                  <a:lnTo>
                    <a:pt x="7399680" y="101346"/>
                  </a:lnTo>
                  <a:lnTo>
                    <a:pt x="7396505" y="101346"/>
                  </a:lnTo>
                  <a:lnTo>
                    <a:pt x="7394092" y="102616"/>
                  </a:lnTo>
                  <a:lnTo>
                    <a:pt x="7390917" y="106426"/>
                  </a:lnTo>
                  <a:lnTo>
                    <a:pt x="7390155" y="107696"/>
                  </a:lnTo>
                  <a:lnTo>
                    <a:pt x="7389774" y="108966"/>
                  </a:lnTo>
                  <a:lnTo>
                    <a:pt x="7389774" y="114046"/>
                  </a:lnTo>
                  <a:lnTo>
                    <a:pt x="7390917" y="117856"/>
                  </a:lnTo>
                  <a:lnTo>
                    <a:pt x="7385964" y="112776"/>
                  </a:lnTo>
                  <a:lnTo>
                    <a:pt x="7381011" y="117856"/>
                  </a:lnTo>
                  <a:lnTo>
                    <a:pt x="7413396" y="149606"/>
                  </a:lnTo>
                  <a:lnTo>
                    <a:pt x="7418857" y="144526"/>
                  </a:lnTo>
                  <a:close/>
                </a:path>
                <a:path w="9090025" h="247014">
                  <a:moveTo>
                    <a:pt x="7435240" y="101346"/>
                  </a:moveTo>
                  <a:lnTo>
                    <a:pt x="7429779" y="96266"/>
                  </a:lnTo>
                  <a:lnTo>
                    <a:pt x="7412888" y="112776"/>
                  </a:lnTo>
                  <a:lnTo>
                    <a:pt x="7418349" y="117856"/>
                  </a:lnTo>
                  <a:lnTo>
                    <a:pt x="7435240" y="101346"/>
                  </a:lnTo>
                  <a:close/>
                </a:path>
                <a:path w="9090025" h="247014">
                  <a:moveTo>
                    <a:pt x="7482865" y="81026"/>
                  </a:moveTo>
                  <a:lnTo>
                    <a:pt x="7477531" y="74676"/>
                  </a:lnTo>
                  <a:lnTo>
                    <a:pt x="7455687" y="97536"/>
                  </a:lnTo>
                  <a:lnTo>
                    <a:pt x="7455179" y="94996"/>
                  </a:lnTo>
                  <a:lnTo>
                    <a:pt x="7455052" y="93726"/>
                  </a:lnTo>
                  <a:lnTo>
                    <a:pt x="7454925" y="89916"/>
                  </a:lnTo>
                  <a:lnTo>
                    <a:pt x="7455090" y="87376"/>
                  </a:lnTo>
                  <a:lnTo>
                    <a:pt x="7455179" y="86106"/>
                  </a:lnTo>
                  <a:lnTo>
                    <a:pt x="7455903" y="77216"/>
                  </a:lnTo>
                  <a:lnTo>
                    <a:pt x="7456005" y="75946"/>
                  </a:lnTo>
                  <a:lnTo>
                    <a:pt x="7456106" y="74676"/>
                  </a:lnTo>
                  <a:lnTo>
                    <a:pt x="7456208" y="73406"/>
                  </a:lnTo>
                  <a:lnTo>
                    <a:pt x="7456322" y="63246"/>
                  </a:lnTo>
                  <a:lnTo>
                    <a:pt x="7456144" y="60706"/>
                  </a:lnTo>
                  <a:lnTo>
                    <a:pt x="7456068" y="59436"/>
                  </a:lnTo>
                  <a:lnTo>
                    <a:pt x="7455433" y="56896"/>
                  </a:lnTo>
                  <a:lnTo>
                    <a:pt x="7454417" y="54356"/>
                  </a:lnTo>
                  <a:lnTo>
                    <a:pt x="7453528" y="51816"/>
                  </a:lnTo>
                  <a:lnTo>
                    <a:pt x="7452830" y="50546"/>
                  </a:lnTo>
                  <a:lnTo>
                    <a:pt x="7452131" y="49276"/>
                  </a:lnTo>
                  <a:lnTo>
                    <a:pt x="7450226" y="48006"/>
                  </a:lnTo>
                  <a:lnTo>
                    <a:pt x="7446797" y="44196"/>
                  </a:lnTo>
                  <a:lnTo>
                    <a:pt x="7442606" y="42926"/>
                  </a:lnTo>
                  <a:lnTo>
                    <a:pt x="7432827" y="42926"/>
                  </a:lnTo>
                  <a:lnTo>
                    <a:pt x="7428255" y="45466"/>
                  </a:lnTo>
                  <a:lnTo>
                    <a:pt x="7419619" y="54356"/>
                  </a:lnTo>
                  <a:lnTo>
                    <a:pt x="7417333" y="58166"/>
                  </a:lnTo>
                  <a:lnTo>
                    <a:pt x="7417206" y="60706"/>
                  </a:lnTo>
                  <a:lnTo>
                    <a:pt x="7417079" y="63246"/>
                  </a:lnTo>
                  <a:lnTo>
                    <a:pt x="7416978" y="64516"/>
                  </a:lnTo>
                  <a:lnTo>
                    <a:pt x="7416889" y="65786"/>
                  </a:lnTo>
                  <a:lnTo>
                    <a:pt x="7416787" y="67056"/>
                  </a:lnTo>
                  <a:lnTo>
                    <a:pt x="7416698" y="68326"/>
                  </a:lnTo>
                  <a:lnTo>
                    <a:pt x="7418476" y="72136"/>
                  </a:lnTo>
                  <a:lnTo>
                    <a:pt x="7422286" y="77216"/>
                  </a:lnTo>
                  <a:lnTo>
                    <a:pt x="7428509" y="72136"/>
                  </a:lnTo>
                  <a:lnTo>
                    <a:pt x="7425715" y="69596"/>
                  </a:lnTo>
                  <a:lnTo>
                    <a:pt x="7424318" y="65786"/>
                  </a:lnTo>
                  <a:lnTo>
                    <a:pt x="7424318" y="59436"/>
                  </a:lnTo>
                  <a:lnTo>
                    <a:pt x="7425715" y="56896"/>
                  </a:lnTo>
                  <a:lnTo>
                    <a:pt x="7428382" y="54356"/>
                  </a:lnTo>
                  <a:lnTo>
                    <a:pt x="7430795" y="51816"/>
                  </a:lnTo>
                  <a:lnTo>
                    <a:pt x="7433589" y="50546"/>
                  </a:lnTo>
                  <a:lnTo>
                    <a:pt x="7439685" y="50546"/>
                  </a:lnTo>
                  <a:lnTo>
                    <a:pt x="7449020" y="65786"/>
                  </a:lnTo>
                  <a:lnTo>
                    <a:pt x="7448956" y="74676"/>
                  </a:lnTo>
                  <a:lnTo>
                    <a:pt x="7448321" y="81026"/>
                  </a:lnTo>
                  <a:lnTo>
                    <a:pt x="7448194" y="82296"/>
                  </a:lnTo>
                  <a:lnTo>
                    <a:pt x="7447559" y="87376"/>
                  </a:lnTo>
                  <a:lnTo>
                    <a:pt x="7447686" y="94996"/>
                  </a:lnTo>
                  <a:lnTo>
                    <a:pt x="7447813" y="96266"/>
                  </a:lnTo>
                  <a:lnTo>
                    <a:pt x="7448067" y="100076"/>
                  </a:lnTo>
                  <a:lnTo>
                    <a:pt x="7448829" y="102616"/>
                  </a:lnTo>
                  <a:lnTo>
                    <a:pt x="7450099" y="105156"/>
                  </a:lnTo>
                  <a:lnTo>
                    <a:pt x="7450861" y="107696"/>
                  </a:lnTo>
                  <a:lnTo>
                    <a:pt x="7451877" y="108966"/>
                  </a:lnTo>
                  <a:lnTo>
                    <a:pt x="7453274" y="110236"/>
                  </a:lnTo>
                  <a:lnTo>
                    <a:pt x="7466139" y="97536"/>
                  </a:lnTo>
                  <a:lnTo>
                    <a:pt x="7482865" y="81026"/>
                  </a:lnTo>
                  <a:close/>
                </a:path>
                <a:path w="9090025" h="247014">
                  <a:moveTo>
                    <a:pt x="7517282" y="45466"/>
                  </a:moveTo>
                  <a:lnTo>
                    <a:pt x="7512075" y="40386"/>
                  </a:lnTo>
                  <a:lnTo>
                    <a:pt x="7490104" y="63246"/>
                  </a:lnTo>
                  <a:lnTo>
                    <a:pt x="7489723" y="60706"/>
                  </a:lnTo>
                  <a:lnTo>
                    <a:pt x="7489850" y="49276"/>
                  </a:lnTo>
                  <a:lnTo>
                    <a:pt x="7490231" y="45466"/>
                  </a:lnTo>
                  <a:lnTo>
                    <a:pt x="7490561" y="40386"/>
                  </a:lnTo>
                  <a:lnTo>
                    <a:pt x="7490650" y="39116"/>
                  </a:lnTo>
                  <a:lnTo>
                    <a:pt x="7490739" y="37846"/>
                  </a:lnTo>
                  <a:lnTo>
                    <a:pt x="7490930" y="34036"/>
                  </a:lnTo>
                  <a:lnTo>
                    <a:pt x="7490904" y="31496"/>
                  </a:lnTo>
                  <a:lnTo>
                    <a:pt x="7490739" y="28956"/>
                  </a:lnTo>
                  <a:lnTo>
                    <a:pt x="7490612" y="25146"/>
                  </a:lnTo>
                  <a:lnTo>
                    <a:pt x="7489977" y="22606"/>
                  </a:lnTo>
                  <a:lnTo>
                    <a:pt x="7487945" y="17526"/>
                  </a:lnTo>
                  <a:lnTo>
                    <a:pt x="7487234" y="16256"/>
                  </a:lnTo>
                  <a:lnTo>
                    <a:pt x="7486548" y="14986"/>
                  </a:lnTo>
                  <a:lnTo>
                    <a:pt x="7484770" y="13716"/>
                  </a:lnTo>
                  <a:lnTo>
                    <a:pt x="7481214" y="9906"/>
                  </a:lnTo>
                  <a:lnTo>
                    <a:pt x="7477023" y="8636"/>
                  </a:lnTo>
                  <a:lnTo>
                    <a:pt x="7467244" y="8636"/>
                  </a:lnTo>
                  <a:lnTo>
                    <a:pt x="7462672" y="11176"/>
                  </a:lnTo>
                  <a:lnTo>
                    <a:pt x="7451242" y="32766"/>
                  </a:lnTo>
                  <a:lnTo>
                    <a:pt x="7453020" y="37846"/>
                  </a:lnTo>
                  <a:lnTo>
                    <a:pt x="7456830" y="42926"/>
                  </a:lnTo>
                  <a:lnTo>
                    <a:pt x="7463053" y="37846"/>
                  </a:lnTo>
                  <a:lnTo>
                    <a:pt x="7460259" y="34036"/>
                  </a:lnTo>
                  <a:lnTo>
                    <a:pt x="7458862" y="31496"/>
                  </a:lnTo>
                  <a:lnTo>
                    <a:pt x="7458862" y="25146"/>
                  </a:lnTo>
                  <a:lnTo>
                    <a:pt x="7460132" y="22606"/>
                  </a:lnTo>
                  <a:lnTo>
                    <a:pt x="7462799" y="20066"/>
                  </a:lnTo>
                  <a:lnTo>
                    <a:pt x="7465339" y="17526"/>
                  </a:lnTo>
                  <a:lnTo>
                    <a:pt x="7468133" y="16256"/>
                  </a:lnTo>
                  <a:lnTo>
                    <a:pt x="7474229" y="16256"/>
                  </a:lnTo>
                  <a:lnTo>
                    <a:pt x="7483462" y="31496"/>
                  </a:lnTo>
                  <a:lnTo>
                    <a:pt x="7483373" y="40386"/>
                  </a:lnTo>
                  <a:lnTo>
                    <a:pt x="7482611" y="48006"/>
                  </a:lnTo>
                  <a:lnTo>
                    <a:pt x="7482484" y="49276"/>
                  </a:lnTo>
                  <a:lnTo>
                    <a:pt x="7482357" y="50546"/>
                  </a:lnTo>
                  <a:lnTo>
                    <a:pt x="7482230" y="51816"/>
                  </a:lnTo>
                  <a:lnTo>
                    <a:pt x="7482179" y="60706"/>
                  </a:lnTo>
                  <a:lnTo>
                    <a:pt x="7482383" y="63246"/>
                  </a:lnTo>
                  <a:lnTo>
                    <a:pt x="7482484" y="64516"/>
                  </a:lnTo>
                  <a:lnTo>
                    <a:pt x="7483373" y="68326"/>
                  </a:lnTo>
                  <a:lnTo>
                    <a:pt x="7485278" y="72136"/>
                  </a:lnTo>
                  <a:lnTo>
                    <a:pt x="7486421" y="74676"/>
                  </a:lnTo>
                  <a:lnTo>
                    <a:pt x="7487818" y="75946"/>
                  </a:lnTo>
                  <a:lnTo>
                    <a:pt x="7500086" y="63246"/>
                  </a:lnTo>
                  <a:lnTo>
                    <a:pt x="7517282" y="45466"/>
                  </a:lnTo>
                  <a:close/>
                </a:path>
                <a:path w="9090025" h="247014">
                  <a:moveTo>
                    <a:pt x="7556271" y="204597"/>
                  </a:moveTo>
                  <a:lnTo>
                    <a:pt x="7524331" y="172847"/>
                  </a:lnTo>
                  <a:lnTo>
                    <a:pt x="7511567" y="160147"/>
                  </a:lnTo>
                  <a:lnTo>
                    <a:pt x="7503566" y="167779"/>
                  </a:lnTo>
                  <a:lnTo>
                    <a:pt x="7524013" y="209677"/>
                  </a:lnTo>
                  <a:lnTo>
                    <a:pt x="7526045" y="213487"/>
                  </a:lnTo>
                  <a:lnTo>
                    <a:pt x="7528839" y="218579"/>
                  </a:lnTo>
                  <a:lnTo>
                    <a:pt x="7526934" y="218579"/>
                  </a:lnTo>
                  <a:lnTo>
                    <a:pt x="7520076" y="214757"/>
                  </a:lnTo>
                  <a:lnTo>
                    <a:pt x="7497686" y="203327"/>
                  </a:lnTo>
                  <a:lnTo>
                    <a:pt x="7477785" y="193179"/>
                  </a:lnTo>
                  <a:lnTo>
                    <a:pt x="7468895" y="202057"/>
                  </a:lnTo>
                  <a:lnTo>
                    <a:pt x="7513599" y="246507"/>
                  </a:lnTo>
                  <a:lnTo>
                    <a:pt x="7519314" y="241427"/>
                  </a:lnTo>
                  <a:lnTo>
                    <a:pt x="7481214" y="203327"/>
                  </a:lnTo>
                  <a:lnTo>
                    <a:pt x="7532268" y="228727"/>
                  </a:lnTo>
                  <a:lnTo>
                    <a:pt x="7537602" y="223647"/>
                  </a:lnTo>
                  <a:lnTo>
                    <a:pt x="7535151" y="218579"/>
                  </a:lnTo>
                  <a:lnTo>
                    <a:pt x="7513218" y="172847"/>
                  </a:lnTo>
                  <a:lnTo>
                    <a:pt x="7550556" y="209677"/>
                  </a:lnTo>
                  <a:lnTo>
                    <a:pt x="7556271" y="204597"/>
                  </a:lnTo>
                  <a:close/>
                </a:path>
                <a:path w="9090025" h="247014">
                  <a:moveTo>
                    <a:pt x="7593863" y="166497"/>
                  </a:moveTo>
                  <a:lnTo>
                    <a:pt x="7591958" y="166497"/>
                  </a:lnTo>
                  <a:lnTo>
                    <a:pt x="7590180" y="165227"/>
                  </a:lnTo>
                  <a:lnTo>
                    <a:pt x="7588656" y="163957"/>
                  </a:lnTo>
                  <a:lnTo>
                    <a:pt x="7583703" y="160147"/>
                  </a:lnTo>
                  <a:lnTo>
                    <a:pt x="7581163" y="157607"/>
                  </a:lnTo>
                  <a:lnTo>
                    <a:pt x="7578623" y="155079"/>
                  </a:lnTo>
                  <a:lnTo>
                    <a:pt x="7577861" y="154305"/>
                  </a:lnTo>
                  <a:lnTo>
                    <a:pt x="7577861" y="171577"/>
                  </a:lnTo>
                  <a:lnTo>
                    <a:pt x="7577099" y="174129"/>
                  </a:lnTo>
                  <a:lnTo>
                    <a:pt x="7576464" y="176657"/>
                  </a:lnTo>
                  <a:lnTo>
                    <a:pt x="7574940" y="177927"/>
                  </a:lnTo>
                  <a:lnTo>
                    <a:pt x="7572908" y="180479"/>
                  </a:lnTo>
                  <a:lnTo>
                    <a:pt x="7570749" y="183007"/>
                  </a:lnTo>
                  <a:lnTo>
                    <a:pt x="7568590" y="184277"/>
                  </a:lnTo>
                  <a:lnTo>
                    <a:pt x="7564399" y="184277"/>
                  </a:lnTo>
                  <a:lnTo>
                    <a:pt x="7562621" y="183007"/>
                  </a:lnTo>
                  <a:lnTo>
                    <a:pt x="7561224" y="181737"/>
                  </a:lnTo>
                  <a:lnTo>
                    <a:pt x="7560208" y="180479"/>
                  </a:lnTo>
                  <a:lnTo>
                    <a:pt x="7559700" y="180479"/>
                  </a:lnTo>
                  <a:lnTo>
                    <a:pt x="7559319" y="179197"/>
                  </a:lnTo>
                  <a:lnTo>
                    <a:pt x="7559192" y="176657"/>
                  </a:lnTo>
                  <a:lnTo>
                    <a:pt x="7559700" y="174129"/>
                  </a:lnTo>
                  <a:lnTo>
                    <a:pt x="7560335" y="172847"/>
                  </a:lnTo>
                  <a:lnTo>
                    <a:pt x="7561478" y="171577"/>
                  </a:lnTo>
                  <a:lnTo>
                    <a:pt x="7566812" y="163957"/>
                  </a:lnTo>
                  <a:lnTo>
                    <a:pt x="7569098" y="160147"/>
                  </a:lnTo>
                  <a:lnTo>
                    <a:pt x="7570368" y="157607"/>
                  </a:lnTo>
                  <a:lnTo>
                    <a:pt x="7574813" y="162687"/>
                  </a:lnTo>
                  <a:lnTo>
                    <a:pt x="7576337" y="163957"/>
                  </a:lnTo>
                  <a:lnTo>
                    <a:pt x="7576972" y="166497"/>
                  </a:lnTo>
                  <a:lnTo>
                    <a:pt x="7577734" y="169037"/>
                  </a:lnTo>
                  <a:lnTo>
                    <a:pt x="7577861" y="171577"/>
                  </a:lnTo>
                  <a:lnTo>
                    <a:pt x="7577861" y="154305"/>
                  </a:lnTo>
                  <a:lnTo>
                    <a:pt x="7572476" y="148729"/>
                  </a:lnTo>
                  <a:lnTo>
                    <a:pt x="7568844" y="144907"/>
                  </a:lnTo>
                  <a:lnTo>
                    <a:pt x="7567066" y="143637"/>
                  </a:lnTo>
                  <a:lnTo>
                    <a:pt x="7565923" y="142379"/>
                  </a:lnTo>
                  <a:lnTo>
                    <a:pt x="7564018" y="141097"/>
                  </a:lnTo>
                  <a:lnTo>
                    <a:pt x="7556525" y="141097"/>
                  </a:lnTo>
                  <a:lnTo>
                    <a:pt x="7554239" y="142379"/>
                  </a:lnTo>
                  <a:lnTo>
                    <a:pt x="7551826" y="143637"/>
                  </a:lnTo>
                  <a:lnTo>
                    <a:pt x="7538618" y="160147"/>
                  </a:lnTo>
                  <a:lnTo>
                    <a:pt x="7538618" y="163957"/>
                  </a:lnTo>
                  <a:lnTo>
                    <a:pt x="7538999" y="166497"/>
                  </a:lnTo>
                  <a:lnTo>
                    <a:pt x="7540015" y="170307"/>
                  </a:lnTo>
                  <a:lnTo>
                    <a:pt x="7541793" y="172847"/>
                  </a:lnTo>
                  <a:lnTo>
                    <a:pt x="7547889" y="167779"/>
                  </a:lnTo>
                  <a:lnTo>
                    <a:pt x="7546238" y="165227"/>
                  </a:lnTo>
                  <a:lnTo>
                    <a:pt x="7545476" y="162687"/>
                  </a:lnTo>
                  <a:lnTo>
                    <a:pt x="7546238" y="157607"/>
                  </a:lnTo>
                  <a:lnTo>
                    <a:pt x="7547635" y="156337"/>
                  </a:lnTo>
                  <a:lnTo>
                    <a:pt x="7552969" y="149987"/>
                  </a:lnTo>
                  <a:lnTo>
                    <a:pt x="7555636" y="148729"/>
                  </a:lnTo>
                  <a:lnTo>
                    <a:pt x="7560335" y="148729"/>
                  </a:lnTo>
                  <a:lnTo>
                    <a:pt x="7562367" y="149987"/>
                  </a:lnTo>
                  <a:lnTo>
                    <a:pt x="7566050" y="153797"/>
                  </a:lnTo>
                  <a:lnTo>
                    <a:pt x="7564653" y="156337"/>
                  </a:lnTo>
                  <a:lnTo>
                    <a:pt x="7561986" y="160147"/>
                  </a:lnTo>
                  <a:lnTo>
                    <a:pt x="7556271" y="167779"/>
                  </a:lnTo>
                  <a:lnTo>
                    <a:pt x="7554874" y="169037"/>
                  </a:lnTo>
                  <a:lnTo>
                    <a:pt x="7554112" y="170307"/>
                  </a:lnTo>
                  <a:lnTo>
                    <a:pt x="7552969" y="172847"/>
                  </a:lnTo>
                  <a:lnTo>
                    <a:pt x="7552334" y="174129"/>
                  </a:lnTo>
                  <a:lnTo>
                    <a:pt x="7551763" y="177927"/>
                  </a:lnTo>
                  <a:lnTo>
                    <a:pt x="7551699" y="180479"/>
                  </a:lnTo>
                  <a:lnTo>
                    <a:pt x="7552207" y="183007"/>
                  </a:lnTo>
                  <a:lnTo>
                    <a:pt x="7552842" y="184277"/>
                  </a:lnTo>
                  <a:lnTo>
                    <a:pt x="7553858" y="186829"/>
                  </a:lnTo>
                  <a:lnTo>
                    <a:pt x="7555509" y="188087"/>
                  </a:lnTo>
                  <a:lnTo>
                    <a:pt x="7558176" y="190627"/>
                  </a:lnTo>
                  <a:lnTo>
                    <a:pt x="7561351" y="191897"/>
                  </a:lnTo>
                  <a:lnTo>
                    <a:pt x="7568717" y="191897"/>
                  </a:lnTo>
                  <a:lnTo>
                    <a:pt x="7572273" y="189357"/>
                  </a:lnTo>
                  <a:lnTo>
                    <a:pt x="7582941" y="171577"/>
                  </a:lnTo>
                  <a:lnTo>
                    <a:pt x="7583068" y="170307"/>
                  </a:lnTo>
                  <a:lnTo>
                    <a:pt x="7584719" y="171577"/>
                  </a:lnTo>
                  <a:lnTo>
                    <a:pt x="7586497" y="171577"/>
                  </a:lnTo>
                  <a:lnTo>
                    <a:pt x="7588148" y="172847"/>
                  </a:lnTo>
                  <a:lnTo>
                    <a:pt x="7590434" y="170307"/>
                  </a:lnTo>
                  <a:lnTo>
                    <a:pt x="7593863" y="166497"/>
                  </a:lnTo>
                  <a:close/>
                </a:path>
                <a:path w="9090025" h="247014">
                  <a:moveTo>
                    <a:pt x="7620533" y="162687"/>
                  </a:moveTo>
                  <a:lnTo>
                    <a:pt x="7620406" y="161429"/>
                  </a:lnTo>
                  <a:lnTo>
                    <a:pt x="7620279" y="160147"/>
                  </a:lnTo>
                  <a:lnTo>
                    <a:pt x="7619517" y="157607"/>
                  </a:lnTo>
                  <a:lnTo>
                    <a:pt x="7618882" y="155079"/>
                  </a:lnTo>
                  <a:lnTo>
                    <a:pt x="7617485" y="151257"/>
                  </a:lnTo>
                  <a:lnTo>
                    <a:pt x="7615199" y="146177"/>
                  </a:lnTo>
                  <a:lnTo>
                    <a:pt x="7613434" y="142379"/>
                  </a:lnTo>
                  <a:lnTo>
                    <a:pt x="7594625" y="101727"/>
                  </a:lnTo>
                  <a:lnTo>
                    <a:pt x="7589037" y="106807"/>
                  </a:lnTo>
                  <a:lnTo>
                    <a:pt x="7602499" y="136029"/>
                  </a:lnTo>
                  <a:lnTo>
                    <a:pt x="7604277" y="138557"/>
                  </a:lnTo>
                  <a:lnTo>
                    <a:pt x="7606182" y="142379"/>
                  </a:lnTo>
                  <a:lnTo>
                    <a:pt x="7602880" y="139827"/>
                  </a:lnTo>
                  <a:lnTo>
                    <a:pt x="7596276" y="137287"/>
                  </a:lnTo>
                  <a:lnTo>
                    <a:pt x="7570749" y="124587"/>
                  </a:lnTo>
                  <a:lnTo>
                    <a:pt x="7564907" y="130937"/>
                  </a:lnTo>
                  <a:lnTo>
                    <a:pt x="7609611" y="151257"/>
                  </a:lnTo>
                  <a:lnTo>
                    <a:pt x="7609992" y="152527"/>
                  </a:lnTo>
                  <a:lnTo>
                    <a:pt x="7610500" y="152527"/>
                  </a:lnTo>
                  <a:lnTo>
                    <a:pt x="7611897" y="156337"/>
                  </a:lnTo>
                  <a:lnTo>
                    <a:pt x="7612659" y="157607"/>
                  </a:lnTo>
                  <a:lnTo>
                    <a:pt x="7613167" y="160147"/>
                  </a:lnTo>
                  <a:lnTo>
                    <a:pt x="7613167" y="161429"/>
                  </a:lnTo>
                  <a:lnTo>
                    <a:pt x="7612786" y="162687"/>
                  </a:lnTo>
                  <a:lnTo>
                    <a:pt x="7612532" y="163957"/>
                  </a:lnTo>
                  <a:lnTo>
                    <a:pt x="7611770" y="163957"/>
                  </a:lnTo>
                  <a:lnTo>
                    <a:pt x="7609611" y="166497"/>
                  </a:lnTo>
                  <a:lnTo>
                    <a:pt x="7608341" y="167779"/>
                  </a:lnTo>
                  <a:lnTo>
                    <a:pt x="7606817" y="169037"/>
                  </a:lnTo>
                  <a:lnTo>
                    <a:pt x="7612659" y="172847"/>
                  </a:lnTo>
                  <a:lnTo>
                    <a:pt x="7614437" y="171577"/>
                  </a:lnTo>
                  <a:lnTo>
                    <a:pt x="7615834" y="171577"/>
                  </a:lnTo>
                  <a:lnTo>
                    <a:pt x="7618628" y="167779"/>
                  </a:lnTo>
                  <a:lnTo>
                    <a:pt x="7619644" y="166497"/>
                  </a:lnTo>
                  <a:lnTo>
                    <a:pt x="7620152" y="163957"/>
                  </a:lnTo>
                  <a:lnTo>
                    <a:pt x="7620533" y="162687"/>
                  </a:lnTo>
                  <a:close/>
                </a:path>
                <a:path w="9090025" h="247014">
                  <a:moveTo>
                    <a:pt x="7632979" y="100457"/>
                  </a:moveTo>
                  <a:lnTo>
                    <a:pt x="7627391" y="95377"/>
                  </a:lnTo>
                  <a:lnTo>
                    <a:pt x="7610500" y="111887"/>
                  </a:lnTo>
                  <a:lnTo>
                    <a:pt x="7616088" y="118237"/>
                  </a:lnTo>
                  <a:lnTo>
                    <a:pt x="7632979" y="100457"/>
                  </a:lnTo>
                  <a:close/>
                </a:path>
                <a:path w="9090025" h="247014">
                  <a:moveTo>
                    <a:pt x="7680604" y="80137"/>
                  </a:moveTo>
                  <a:lnTo>
                    <a:pt x="7675270" y="75057"/>
                  </a:lnTo>
                  <a:lnTo>
                    <a:pt x="7653299" y="96647"/>
                  </a:lnTo>
                  <a:lnTo>
                    <a:pt x="7652918" y="95377"/>
                  </a:lnTo>
                  <a:lnTo>
                    <a:pt x="7652791" y="85229"/>
                  </a:lnTo>
                  <a:lnTo>
                    <a:pt x="7653426" y="80137"/>
                  </a:lnTo>
                  <a:lnTo>
                    <a:pt x="7653680" y="76327"/>
                  </a:lnTo>
                  <a:lnTo>
                    <a:pt x="7640218" y="42037"/>
                  </a:lnTo>
                  <a:lnTo>
                    <a:pt x="7630439" y="43307"/>
                  </a:lnTo>
                  <a:lnTo>
                    <a:pt x="7625867" y="44577"/>
                  </a:lnTo>
                  <a:lnTo>
                    <a:pt x="7617358" y="53479"/>
                  </a:lnTo>
                  <a:lnTo>
                    <a:pt x="7615072" y="58547"/>
                  </a:lnTo>
                  <a:lnTo>
                    <a:pt x="7614983" y="59829"/>
                  </a:lnTo>
                  <a:lnTo>
                    <a:pt x="7614894" y="61087"/>
                  </a:lnTo>
                  <a:lnTo>
                    <a:pt x="7614818" y="62357"/>
                  </a:lnTo>
                  <a:lnTo>
                    <a:pt x="7614717" y="63627"/>
                  </a:lnTo>
                  <a:lnTo>
                    <a:pt x="7614628" y="64897"/>
                  </a:lnTo>
                  <a:lnTo>
                    <a:pt x="7614526" y="66179"/>
                  </a:lnTo>
                  <a:lnTo>
                    <a:pt x="7614437" y="67437"/>
                  </a:lnTo>
                  <a:lnTo>
                    <a:pt x="7616215" y="72529"/>
                  </a:lnTo>
                  <a:lnTo>
                    <a:pt x="7620025" y="76327"/>
                  </a:lnTo>
                  <a:lnTo>
                    <a:pt x="7626248" y="71247"/>
                  </a:lnTo>
                  <a:lnTo>
                    <a:pt x="7623454" y="68707"/>
                  </a:lnTo>
                  <a:lnTo>
                    <a:pt x="7622057" y="66179"/>
                  </a:lnTo>
                  <a:lnTo>
                    <a:pt x="7622057" y="59829"/>
                  </a:lnTo>
                  <a:lnTo>
                    <a:pt x="7623454" y="56007"/>
                  </a:lnTo>
                  <a:lnTo>
                    <a:pt x="7628534" y="50927"/>
                  </a:lnTo>
                  <a:lnTo>
                    <a:pt x="7631328" y="49657"/>
                  </a:lnTo>
                  <a:lnTo>
                    <a:pt x="7637424" y="49657"/>
                  </a:lnTo>
                  <a:lnTo>
                    <a:pt x="7646644" y="64897"/>
                  </a:lnTo>
                  <a:lnTo>
                    <a:pt x="7646581" y="73787"/>
                  </a:lnTo>
                  <a:lnTo>
                    <a:pt x="7646035" y="80137"/>
                  </a:lnTo>
                  <a:lnTo>
                    <a:pt x="7645933" y="81407"/>
                  </a:lnTo>
                  <a:lnTo>
                    <a:pt x="7645552" y="85229"/>
                  </a:lnTo>
                  <a:lnTo>
                    <a:pt x="7645552" y="96647"/>
                  </a:lnTo>
                  <a:lnTo>
                    <a:pt x="7651013" y="109347"/>
                  </a:lnTo>
                  <a:lnTo>
                    <a:pt x="7663878" y="96647"/>
                  </a:lnTo>
                  <a:lnTo>
                    <a:pt x="7680604" y="80137"/>
                  </a:lnTo>
                  <a:close/>
                </a:path>
                <a:path w="9090025" h="247014">
                  <a:moveTo>
                    <a:pt x="7715021" y="45847"/>
                  </a:moveTo>
                  <a:lnTo>
                    <a:pt x="7709687" y="40779"/>
                  </a:lnTo>
                  <a:lnTo>
                    <a:pt x="7687843" y="62357"/>
                  </a:lnTo>
                  <a:lnTo>
                    <a:pt x="7687462" y="61087"/>
                  </a:lnTo>
                  <a:lnTo>
                    <a:pt x="7687437" y="49657"/>
                  </a:lnTo>
                  <a:lnTo>
                    <a:pt x="7687640" y="47129"/>
                  </a:lnTo>
                  <a:lnTo>
                    <a:pt x="7687742" y="45847"/>
                  </a:lnTo>
                  <a:lnTo>
                    <a:pt x="7687843" y="44577"/>
                  </a:lnTo>
                  <a:lnTo>
                    <a:pt x="7688478" y="38227"/>
                  </a:lnTo>
                  <a:lnTo>
                    <a:pt x="7688529" y="36957"/>
                  </a:lnTo>
                  <a:lnTo>
                    <a:pt x="7688631" y="34429"/>
                  </a:lnTo>
                  <a:lnTo>
                    <a:pt x="7688732" y="31877"/>
                  </a:lnTo>
                  <a:lnTo>
                    <a:pt x="7688224" y="25527"/>
                  </a:lnTo>
                  <a:lnTo>
                    <a:pt x="7687589" y="21729"/>
                  </a:lnTo>
                  <a:lnTo>
                    <a:pt x="7686700" y="19177"/>
                  </a:lnTo>
                  <a:lnTo>
                    <a:pt x="7685684" y="16637"/>
                  </a:lnTo>
                  <a:lnTo>
                    <a:pt x="7684287" y="15379"/>
                  </a:lnTo>
                  <a:lnTo>
                    <a:pt x="7682509" y="12827"/>
                  </a:lnTo>
                  <a:lnTo>
                    <a:pt x="7678953" y="10287"/>
                  </a:lnTo>
                  <a:lnTo>
                    <a:pt x="7674762" y="7747"/>
                  </a:lnTo>
                  <a:lnTo>
                    <a:pt x="7664983" y="7747"/>
                  </a:lnTo>
                  <a:lnTo>
                    <a:pt x="7648981" y="33147"/>
                  </a:lnTo>
                  <a:lnTo>
                    <a:pt x="7650632" y="36957"/>
                  </a:lnTo>
                  <a:lnTo>
                    <a:pt x="7654569" y="42037"/>
                  </a:lnTo>
                  <a:lnTo>
                    <a:pt x="7660792" y="36957"/>
                  </a:lnTo>
                  <a:lnTo>
                    <a:pt x="7657998" y="34429"/>
                  </a:lnTo>
                  <a:lnTo>
                    <a:pt x="7656601" y="31877"/>
                  </a:lnTo>
                  <a:lnTo>
                    <a:pt x="7656601" y="25527"/>
                  </a:lnTo>
                  <a:lnTo>
                    <a:pt x="7657871" y="21729"/>
                  </a:lnTo>
                  <a:lnTo>
                    <a:pt x="7663078" y="16637"/>
                  </a:lnTo>
                  <a:lnTo>
                    <a:pt x="7665745" y="15379"/>
                  </a:lnTo>
                  <a:lnTo>
                    <a:pt x="7671841" y="15379"/>
                  </a:lnTo>
                  <a:lnTo>
                    <a:pt x="7674508" y="16637"/>
                  </a:lnTo>
                  <a:lnTo>
                    <a:pt x="7676667" y="19177"/>
                  </a:lnTo>
                  <a:lnTo>
                    <a:pt x="7678826" y="20447"/>
                  </a:lnTo>
                  <a:lnTo>
                    <a:pt x="7680096" y="24257"/>
                  </a:lnTo>
                  <a:lnTo>
                    <a:pt x="7681366" y="31877"/>
                  </a:lnTo>
                  <a:lnTo>
                    <a:pt x="7681239" y="38227"/>
                  </a:lnTo>
                  <a:lnTo>
                    <a:pt x="7680719" y="43307"/>
                  </a:lnTo>
                  <a:lnTo>
                    <a:pt x="7680592" y="44577"/>
                  </a:lnTo>
                  <a:lnTo>
                    <a:pt x="7680477" y="45847"/>
                  </a:lnTo>
                  <a:lnTo>
                    <a:pt x="7680350" y="47129"/>
                  </a:lnTo>
                  <a:lnTo>
                    <a:pt x="7680223" y="64897"/>
                  </a:lnTo>
                  <a:lnTo>
                    <a:pt x="7680985" y="68707"/>
                  </a:lnTo>
                  <a:lnTo>
                    <a:pt x="7683017" y="72529"/>
                  </a:lnTo>
                  <a:lnTo>
                    <a:pt x="7684033" y="73787"/>
                  </a:lnTo>
                  <a:lnTo>
                    <a:pt x="7685430" y="75057"/>
                  </a:lnTo>
                  <a:lnTo>
                    <a:pt x="7698295" y="62357"/>
                  </a:lnTo>
                  <a:lnTo>
                    <a:pt x="7715021" y="45847"/>
                  </a:lnTo>
                  <a:close/>
                </a:path>
                <a:path w="9090025" h="247014">
                  <a:moveTo>
                    <a:pt x="7765567" y="188087"/>
                  </a:moveTo>
                  <a:lnTo>
                    <a:pt x="7765440" y="185039"/>
                  </a:lnTo>
                  <a:lnTo>
                    <a:pt x="7763154" y="179197"/>
                  </a:lnTo>
                  <a:lnTo>
                    <a:pt x="7760741" y="175768"/>
                  </a:lnTo>
                  <a:lnTo>
                    <a:pt x="7756931" y="172085"/>
                  </a:lnTo>
                  <a:lnTo>
                    <a:pt x="7726451" y="141605"/>
                  </a:lnTo>
                  <a:lnTo>
                    <a:pt x="7720482" y="147447"/>
                  </a:lnTo>
                  <a:lnTo>
                    <a:pt x="7753883" y="180848"/>
                  </a:lnTo>
                  <a:lnTo>
                    <a:pt x="7755534" y="183007"/>
                  </a:lnTo>
                  <a:lnTo>
                    <a:pt x="7757058" y="186055"/>
                  </a:lnTo>
                  <a:lnTo>
                    <a:pt x="7757312" y="187833"/>
                  </a:lnTo>
                  <a:lnTo>
                    <a:pt x="7756931" y="189484"/>
                  </a:lnTo>
                  <a:lnTo>
                    <a:pt x="7756550" y="191262"/>
                  </a:lnTo>
                  <a:lnTo>
                    <a:pt x="7755534" y="192913"/>
                  </a:lnTo>
                  <a:lnTo>
                    <a:pt x="7754137" y="194437"/>
                  </a:lnTo>
                  <a:lnTo>
                    <a:pt x="7752105" y="196469"/>
                  </a:lnTo>
                  <a:lnTo>
                    <a:pt x="7749819" y="197358"/>
                  </a:lnTo>
                  <a:lnTo>
                    <a:pt x="7744993" y="197104"/>
                  </a:lnTo>
                  <a:lnTo>
                    <a:pt x="7742072" y="195453"/>
                  </a:lnTo>
                  <a:lnTo>
                    <a:pt x="7738516" y="192151"/>
                  </a:lnTo>
                  <a:lnTo>
                    <a:pt x="7733944" y="198247"/>
                  </a:lnTo>
                  <a:lnTo>
                    <a:pt x="7738262" y="202692"/>
                  </a:lnTo>
                  <a:lnTo>
                    <a:pt x="7742580" y="205105"/>
                  </a:lnTo>
                  <a:lnTo>
                    <a:pt x="7747025" y="205232"/>
                  </a:lnTo>
                  <a:lnTo>
                    <a:pt x="7751343" y="205486"/>
                  </a:lnTo>
                  <a:lnTo>
                    <a:pt x="7755407" y="203581"/>
                  </a:lnTo>
                  <a:lnTo>
                    <a:pt x="7761630" y="197358"/>
                  </a:lnTo>
                  <a:lnTo>
                    <a:pt x="7761884" y="197104"/>
                  </a:lnTo>
                  <a:lnTo>
                    <a:pt x="7762329" y="196469"/>
                  </a:lnTo>
                  <a:lnTo>
                    <a:pt x="7763789" y="194183"/>
                  </a:lnTo>
                  <a:lnTo>
                    <a:pt x="7765567" y="188087"/>
                  </a:lnTo>
                  <a:close/>
                </a:path>
                <a:path w="9090025" h="247014">
                  <a:moveTo>
                    <a:pt x="7806334" y="151130"/>
                  </a:moveTo>
                  <a:lnTo>
                    <a:pt x="7773949" y="118745"/>
                  </a:lnTo>
                  <a:lnTo>
                    <a:pt x="7768361" y="124206"/>
                  </a:lnTo>
                  <a:lnTo>
                    <a:pt x="7788554" y="144399"/>
                  </a:lnTo>
                  <a:lnTo>
                    <a:pt x="7790332" y="146812"/>
                  </a:lnTo>
                  <a:lnTo>
                    <a:pt x="7792110" y="150876"/>
                  </a:lnTo>
                  <a:lnTo>
                    <a:pt x="7792237" y="153035"/>
                  </a:lnTo>
                  <a:lnTo>
                    <a:pt x="7791602" y="155321"/>
                  </a:lnTo>
                  <a:lnTo>
                    <a:pt x="7791031" y="157480"/>
                  </a:lnTo>
                  <a:lnTo>
                    <a:pt x="7790967" y="157734"/>
                  </a:lnTo>
                  <a:lnTo>
                    <a:pt x="7789824" y="159639"/>
                  </a:lnTo>
                  <a:lnTo>
                    <a:pt x="7786522" y="162941"/>
                  </a:lnTo>
                  <a:lnTo>
                    <a:pt x="7784516" y="164084"/>
                  </a:lnTo>
                  <a:lnTo>
                    <a:pt x="7783792" y="164084"/>
                  </a:lnTo>
                  <a:lnTo>
                    <a:pt x="7780934" y="164465"/>
                  </a:lnTo>
                  <a:lnTo>
                    <a:pt x="7779029" y="164084"/>
                  </a:lnTo>
                  <a:lnTo>
                    <a:pt x="7777251" y="162941"/>
                  </a:lnTo>
                  <a:lnTo>
                    <a:pt x="7775981" y="162179"/>
                  </a:lnTo>
                  <a:lnTo>
                    <a:pt x="7773949" y="160401"/>
                  </a:lnTo>
                  <a:lnTo>
                    <a:pt x="7771155" y="157480"/>
                  </a:lnTo>
                  <a:lnTo>
                    <a:pt x="7753121" y="139573"/>
                  </a:lnTo>
                  <a:lnTo>
                    <a:pt x="7747660" y="145034"/>
                  </a:lnTo>
                  <a:lnTo>
                    <a:pt x="7767726" y="165100"/>
                  </a:lnTo>
                  <a:lnTo>
                    <a:pt x="7770012" y="167513"/>
                  </a:lnTo>
                  <a:lnTo>
                    <a:pt x="7777315" y="172085"/>
                  </a:lnTo>
                  <a:lnTo>
                    <a:pt x="7777620" y="172085"/>
                  </a:lnTo>
                  <a:lnTo>
                    <a:pt x="7778902" y="172339"/>
                  </a:lnTo>
                  <a:lnTo>
                    <a:pt x="7780807" y="172593"/>
                  </a:lnTo>
                  <a:lnTo>
                    <a:pt x="7782966" y="172339"/>
                  </a:lnTo>
                  <a:lnTo>
                    <a:pt x="7785379" y="171323"/>
                  </a:lnTo>
                  <a:lnTo>
                    <a:pt x="7787792" y="170434"/>
                  </a:lnTo>
                  <a:lnTo>
                    <a:pt x="7789951" y="169037"/>
                  </a:lnTo>
                  <a:lnTo>
                    <a:pt x="7794523" y="164465"/>
                  </a:lnTo>
                  <a:lnTo>
                    <a:pt x="7796047" y="162941"/>
                  </a:lnTo>
                  <a:lnTo>
                    <a:pt x="7796365" y="162179"/>
                  </a:lnTo>
                  <a:lnTo>
                    <a:pt x="7797736" y="157734"/>
                  </a:lnTo>
                  <a:lnTo>
                    <a:pt x="7797825" y="157480"/>
                  </a:lnTo>
                  <a:lnTo>
                    <a:pt x="7796682" y="151384"/>
                  </a:lnTo>
                  <a:lnTo>
                    <a:pt x="7801381" y="156083"/>
                  </a:lnTo>
                  <a:lnTo>
                    <a:pt x="7806080" y="151384"/>
                  </a:lnTo>
                  <a:lnTo>
                    <a:pt x="7806334" y="151130"/>
                  </a:lnTo>
                  <a:close/>
                </a:path>
                <a:path w="9090025" h="247014">
                  <a:moveTo>
                    <a:pt x="7821066" y="136398"/>
                  </a:moveTo>
                  <a:lnTo>
                    <a:pt x="7776362" y="91694"/>
                  </a:lnTo>
                  <a:lnTo>
                    <a:pt x="7770901" y="97155"/>
                  </a:lnTo>
                  <a:lnTo>
                    <a:pt x="7815605" y="141859"/>
                  </a:lnTo>
                  <a:lnTo>
                    <a:pt x="7821066" y="136398"/>
                  </a:lnTo>
                  <a:close/>
                </a:path>
                <a:path w="9090025" h="247014">
                  <a:moveTo>
                    <a:pt x="7831099" y="99568"/>
                  </a:moveTo>
                  <a:lnTo>
                    <a:pt x="7825511" y="94107"/>
                  </a:lnTo>
                  <a:lnTo>
                    <a:pt x="7808620" y="110998"/>
                  </a:lnTo>
                  <a:lnTo>
                    <a:pt x="7814208" y="116459"/>
                  </a:lnTo>
                  <a:lnTo>
                    <a:pt x="7831099" y="99568"/>
                  </a:lnTo>
                  <a:close/>
                </a:path>
                <a:path w="9090025" h="247014">
                  <a:moveTo>
                    <a:pt x="7877581" y="80010"/>
                  </a:moveTo>
                  <a:lnTo>
                    <a:pt x="7872247" y="74676"/>
                  </a:lnTo>
                  <a:lnTo>
                    <a:pt x="7850276" y="96647"/>
                  </a:lnTo>
                  <a:lnTo>
                    <a:pt x="7850010" y="95504"/>
                  </a:lnTo>
                  <a:lnTo>
                    <a:pt x="7849895" y="85344"/>
                  </a:lnTo>
                  <a:lnTo>
                    <a:pt x="7850657" y="76454"/>
                  </a:lnTo>
                  <a:lnTo>
                    <a:pt x="7850784" y="59436"/>
                  </a:lnTo>
                  <a:lnTo>
                    <a:pt x="7850149" y="56388"/>
                  </a:lnTo>
                  <a:lnTo>
                    <a:pt x="7848943" y="53340"/>
                  </a:lnTo>
                  <a:lnTo>
                    <a:pt x="7848244" y="51435"/>
                  </a:lnTo>
                  <a:lnTo>
                    <a:pt x="7847254" y="49911"/>
                  </a:lnTo>
                  <a:lnTo>
                    <a:pt x="7846847" y="49276"/>
                  </a:lnTo>
                  <a:lnTo>
                    <a:pt x="7844942" y="47498"/>
                  </a:lnTo>
                  <a:lnTo>
                    <a:pt x="7841513" y="43942"/>
                  </a:lnTo>
                  <a:lnTo>
                    <a:pt x="7837640" y="42418"/>
                  </a:lnTo>
                  <a:lnTo>
                    <a:pt x="7832369" y="42418"/>
                  </a:lnTo>
                  <a:lnTo>
                    <a:pt x="7811897" y="60579"/>
                  </a:lnTo>
                  <a:lnTo>
                    <a:pt x="7811808" y="62103"/>
                  </a:lnTo>
                  <a:lnTo>
                    <a:pt x="7811617" y="64643"/>
                  </a:lnTo>
                  <a:lnTo>
                    <a:pt x="7811529" y="65659"/>
                  </a:lnTo>
                  <a:lnTo>
                    <a:pt x="7811414" y="67183"/>
                  </a:lnTo>
                  <a:lnTo>
                    <a:pt x="7812989" y="71374"/>
                  </a:lnTo>
                  <a:lnTo>
                    <a:pt x="7813294" y="72009"/>
                  </a:lnTo>
                  <a:lnTo>
                    <a:pt x="7817002" y="76454"/>
                  </a:lnTo>
                  <a:lnTo>
                    <a:pt x="7823225" y="71374"/>
                  </a:lnTo>
                  <a:lnTo>
                    <a:pt x="7820431" y="68580"/>
                  </a:lnTo>
                  <a:lnTo>
                    <a:pt x="7819034" y="65659"/>
                  </a:lnTo>
                  <a:lnTo>
                    <a:pt x="7819034" y="59436"/>
                  </a:lnTo>
                  <a:lnTo>
                    <a:pt x="7819276" y="58801"/>
                  </a:lnTo>
                  <a:lnTo>
                    <a:pt x="7820431" y="56388"/>
                  </a:lnTo>
                  <a:lnTo>
                    <a:pt x="7823454" y="53340"/>
                  </a:lnTo>
                  <a:lnTo>
                    <a:pt x="7825511" y="51181"/>
                  </a:lnTo>
                  <a:lnTo>
                    <a:pt x="7828305" y="49911"/>
                  </a:lnTo>
                  <a:lnTo>
                    <a:pt x="7834731" y="49911"/>
                  </a:lnTo>
                  <a:lnTo>
                    <a:pt x="7837398" y="50927"/>
                  </a:lnTo>
                  <a:lnTo>
                    <a:pt x="7837183" y="50927"/>
                  </a:lnTo>
                  <a:lnTo>
                    <a:pt x="7839227" y="53086"/>
                  </a:lnTo>
                  <a:lnTo>
                    <a:pt x="7841259" y="55118"/>
                  </a:lnTo>
                  <a:lnTo>
                    <a:pt x="7842656" y="58166"/>
                  </a:lnTo>
                  <a:lnTo>
                    <a:pt x="7843825" y="65659"/>
                  </a:lnTo>
                  <a:lnTo>
                    <a:pt x="7843799" y="72009"/>
                  </a:lnTo>
                  <a:lnTo>
                    <a:pt x="7843685" y="73787"/>
                  </a:lnTo>
                  <a:lnTo>
                    <a:pt x="7842910" y="81534"/>
                  </a:lnTo>
                  <a:lnTo>
                    <a:pt x="7842275" y="87249"/>
                  </a:lnTo>
                  <a:lnTo>
                    <a:pt x="7842148" y="91948"/>
                  </a:lnTo>
                  <a:lnTo>
                    <a:pt x="7842377" y="94107"/>
                  </a:lnTo>
                  <a:lnTo>
                    <a:pt x="7842466" y="94996"/>
                  </a:lnTo>
                  <a:lnTo>
                    <a:pt x="7842529" y="95504"/>
                  </a:lnTo>
                  <a:lnTo>
                    <a:pt x="7842783" y="99060"/>
                  </a:lnTo>
                  <a:lnTo>
                    <a:pt x="7843545" y="102362"/>
                  </a:lnTo>
                  <a:lnTo>
                    <a:pt x="7844815" y="105029"/>
                  </a:lnTo>
                  <a:lnTo>
                    <a:pt x="7845577" y="106807"/>
                  </a:lnTo>
                  <a:lnTo>
                    <a:pt x="7846593" y="108204"/>
                  </a:lnTo>
                  <a:lnTo>
                    <a:pt x="7847990" y="109474"/>
                  </a:lnTo>
                  <a:lnTo>
                    <a:pt x="7860868" y="96647"/>
                  </a:lnTo>
                  <a:lnTo>
                    <a:pt x="7877581" y="80010"/>
                  </a:lnTo>
                  <a:close/>
                </a:path>
                <a:path w="9090025" h="247014">
                  <a:moveTo>
                    <a:pt x="7911998" y="45466"/>
                  </a:moveTo>
                  <a:lnTo>
                    <a:pt x="7906791" y="40132"/>
                  </a:lnTo>
                  <a:lnTo>
                    <a:pt x="7884820" y="62103"/>
                  </a:lnTo>
                  <a:lnTo>
                    <a:pt x="7884439" y="60579"/>
                  </a:lnTo>
                  <a:lnTo>
                    <a:pt x="7884477" y="49276"/>
                  </a:lnTo>
                  <a:lnTo>
                    <a:pt x="7884871" y="45466"/>
                  </a:lnTo>
                  <a:lnTo>
                    <a:pt x="7884947" y="44704"/>
                  </a:lnTo>
                  <a:lnTo>
                    <a:pt x="7885404" y="38227"/>
                  </a:lnTo>
                  <a:lnTo>
                    <a:pt x="7885608" y="34163"/>
                  </a:lnTo>
                  <a:lnTo>
                    <a:pt x="7885633" y="31115"/>
                  </a:lnTo>
                  <a:lnTo>
                    <a:pt x="7885455" y="28575"/>
                  </a:lnTo>
                  <a:lnTo>
                    <a:pt x="7885328" y="24892"/>
                  </a:lnTo>
                  <a:lnTo>
                    <a:pt x="7884693" y="21844"/>
                  </a:lnTo>
                  <a:lnTo>
                    <a:pt x="7883423" y="18796"/>
                  </a:lnTo>
                  <a:lnTo>
                    <a:pt x="7882661" y="16891"/>
                  </a:lnTo>
                  <a:lnTo>
                    <a:pt x="7881696" y="15494"/>
                  </a:lnTo>
                  <a:lnTo>
                    <a:pt x="7881607" y="15367"/>
                  </a:lnTo>
                  <a:lnTo>
                    <a:pt x="7881264" y="14859"/>
                  </a:lnTo>
                  <a:lnTo>
                    <a:pt x="7875930" y="9525"/>
                  </a:lnTo>
                  <a:lnTo>
                    <a:pt x="7872031" y="7874"/>
                  </a:lnTo>
                  <a:lnTo>
                    <a:pt x="7866913" y="7874"/>
                  </a:lnTo>
                  <a:lnTo>
                    <a:pt x="7845958" y="32766"/>
                  </a:lnTo>
                  <a:lnTo>
                    <a:pt x="7847533" y="36957"/>
                  </a:lnTo>
                  <a:lnTo>
                    <a:pt x="7847838" y="37592"/>
                  </a:lnTo>
                  <a:lnTo>
                    <a:pt x="7851546" y="42037"/>
                  </a:lnTo>
                  <a:lnTo>
                    <a:pt x="7857769" y="36957"/>
                  </a:lnTo>
                  <a:lnTo>
                    <a:pt x="7854975" y="34163"/>
                  </a:lnTo>
                  <a:lnTo>
                    <a:pt x="7853578" y="31115"/>
                  </a:lnTo>
                  <a:lnTo>
                    <a:pt x="7853578" y="24892"/>
                  </a:lnTo>
                  <a:lnTo>
                    <a:pt x="7854074" y="23622"/>
                  </a:lnTo>
                  <a:lnTo>
                    <a:pt x="7854848" y="21844"/>
                  </a:lnTo>
                  <a:lnTo>
                    <a:pt x="7857515" y="19177"/>
                  </a:lnTo>
                  <a:lnTo>
                    <a:pt x="7859916" y="16891"/>
                  </a:lnTo>
                  <a:lnTo>
                    <a:pt x="7859776" y="16891"/>
                  </a:lnTo>
                  <a:lnTo>
                    <a:pt x="7862849" y="15494"/>
                  </a:lnTo>
                  <a:lnTo>
                    <a:pt x="7865897" y="15367"/>
                  </a:lnTo>
                  <a:lnTo>
                    <a:pt x="7868945" y="15367"/>
                  </a:lnTo>
                  <a:lnTo>
                    <a:pt x="7877708" y="27686"/>
                  </a:lnTo>
                  <a:lnTo>
                    <a:pt x="7878242" y="31115"/>
                  </a:lnTo>
                  <a:lnTo>
                    <a:pt x="7878216" y="38227"/>
                  </a:lnTo>
                  <a:lnTo>
                    <a:pt x="7877327" y="46990"/>
                  </a:lnTo>
                  <a:lnTo>
                    <a:pt x="7877200" y="64643"/>
                  </a:lnTo>
                  <a:lnTo>
                    <a:pt x="7878089" y="67818"/>
                  </a:lnTo>
                  <a:lnTo>
                    <a:pt x="7879359" y="70612"/>
                  </a:lnTo>
                  <a:lnTo>
                    <a:pt x="7879893" y="72009"/>
                  </a:lnTo>
                  <a:lnTo>
                    <a:pt x="7879994" y="72263"/>
                  </a:lnTo>
                  <a:lnTo>
                    <a:pt x="7881137" y="73787"/>
                  </a:lnTo>
                  <a:lnTo>
                    <a:pt x="7882534" y="75057"/>
                  </a:lnTo>
                  <a:lnTo>
                    <a:pt x="7895425" y="62103"/>
                  </a:lnTo>
                  <a:lnTo>
                    <a:pt x="7911998" y="45466"/>
                  </a:lnTo>
                  <a:close/>
                </a:path>
                <a:path w="9090025" h="247014">
                  <a:moveTo>
                    <a:pt x="7941970" y="205498"/>
                  </a:moveTo>
                  <a:lnTo>
                    <a:pt x="7940446" y="199148"/>
                  </a:lnTo>
                  <a:lnTo>
                    <a:pt x="7939672" y="197866"/>
                  </a:lnTo>
                  <a:lnTo>
                    <a:pt x="7938922" y="196596"/>
                  </a:lnTo>
                  <a:lnTo>
                    <a:pt x="7934096" y="191516"/>
                  </a:lnTo>
                  <a:lnTo>
                    <a:pt x="7931302" y="190246"/>
                  </a:lnTo>
                  <a:lnTo>
                    <a:pt x="7928254" y="188976"/>
                  </a:lnTo>
                  <a:lnTo>
                    <a:pt x="7921777" y="188976"/>
                  </a:lnTo>
                  <a:lnTo>
                    <a:pt x="7899298" y="201676"/>
                  </a:lnTo>
                  <a:lnTo>
                    <a:pt x="7895234" y="202946"/>
                  </a:lnTo>
                  <a:lnTo>
                    <a:pt x="7889011" y="202946"/>
                  </a:lnTo>
                  <a:lnTo>
                    <a:pt x="7887360" y="201676"/>
                  </a:lnTo>
                  <a:lnTo>
                    <a:pt x="7885455" y="199148"/>
                  </a:lnTo>
                  <a:lnTo>
                    <a:pt x="7884693" y="196596"/>
                  </a:lnTo>
                  <a:lnTo>
                    <a:pt x="7885455" y="190246"/>
                  </a:lnTo>
                  <a:lnTo>
                    <a:pt x="7887360" y="187706"/>
                  </a:lnTo>
                  <a:lnTo>
                    <a:pt x="7890916" y="183896"/>
                  </a:lnTo>
                  <a:lnTo>
                    <a:pt x="7894345" y="180098"/>
                  </a:lnTo>
                  <a:lnTo>
                    <a:pt x="7897647" y="178816"/>
                  </a:lnTo>
                  <a:lnTo>
                    <a:pt x="7900949" y="178816"/>
                  </a:lnTo>
                  <a:lnTo>
                    <a:pt x="7904124" y="177546"/>
                  </a:lnTo>
                  <a:lnTo>
                    <a:pt x="7907299" y="178816"/>
                  </a:lnTo>
                  <a:lnTo>
                    <a:pt x="7910347" y="181356"/>
                  </a:lnTo>
                  <a:lnTo>
                    <a:pt x="7914348" y="177546"/>
                  </a:lnTo>
                  <a:lnTo>
                    <a:pt x="7915681" y="176276"/>
                  </a:lnTo>
                  <a:lnTo>
                    <a:pt x="7912887" y="172466"/>
                  </a:lnTo>
                  <a:lnTo>
                    <a:pt x="7909839" y="171196"/>
                  </a:lnTo>
                  <a:lnTo>
                    <a:pt x="7906410" y="171196"/>
                  </a:lnTo>
                  <a:lnTo>
                    <a:pt x="7902981" y="169926"/>
                  </a:lnTo>
                  <a:lnTo>
                    <a:pt x="7899425" y="169926"/>
                  </a:lnTo>
                  <a:lnTo>
                    <a:pt x="7895869" y="172466"/>
                  </a:lnTo>
                  <a:lnTo>
                    <a:pt x="7892186" y="173748"/>
                  </a:lnTo>
                  <a:lnTo>
                    <a:pt x="7876946" y="195326"/>
                  </a:lnTo>
                  <a:lnTo>
                    <a:pt x="7877581" y="199148"/>
                  </a:lnTo>
                  <a:lnTo>
                    <a:pt x="7878343" y="201676"/>
                  </a:lnTo>
                  <a:lnTo>
                    <a:pt x="7879740" y="205498"/>
                  </a:lnTo>
                  <a:lnTo>
                    <a:pt x="7882026" y="206756"/>
                  </a:lnTo>
                  <a:lnTo>
                    <a:pt x="7884058" y="209296"/>
                  </a:lnTo>
                  <a:lnTo>
                    <a:pt x="7886471" y="210566"/>
                  </a:lnTo>
                  <a:lnTo>
                    <a:pt x="7889138" y="210566"/>
                  </a:lnTo>
                  <a:lnTo>
                    <a:pt x="7891932" y="211848"/>
                  </a:lnTo>
                  <a:lnTo>
                    <a:pt x="7894853" y="211848"/>
                  </a:lnTo>
                  <a:lnTo>
                    <a:pt x="7900695" y="209296"/>
                  </a:lnTo>
                  <a:lnTo>
                    <a:pt x="7904505" y="208026"/>
                  </a:lnTo>
                  <a:lnTo>
                    <a:pt x="7912633" y="202946"/>
                  </a:lnTo>
                  <a:lnTo>
                    <a:pt x="7914665" y="201676"/>
                  </a:lnTo>
                  <a:lnTo>
                    <a:pt x="7918094" y="199148"/>
                  </a:lnTo>
                  <a:lnTo>
                    <a:pt x="7922285" y="197866"/>
                  </a:lnTo>
                  <a:lnTo>
                    <a:pt x="7928254" y="197866"/>
                  </a:lnTo>
                  <a:lnTo>
                    <a:pt x="7929905" y="199148"/>
                  </a:lnTo>
                  <a:lnTo>
                    <a:pt x="7932699" y="201676"/>
                  </a:lnTo>
                  <a:lnTo>
                    <a:pt x="7933461" y="202946"/>
                  </a:lnTo>
                  <a:lnTo>
                    <a:pt x="7934223" y="206756"/>
                  </a:lnTo>
                  <a:lnTo>
                    <a:pt x="7933842" y="209296"/>
                  </a:lnTo>
                  <a:lnTo>
                    <a:pt x="7932699" y="211848"/>
                  </a:lnTo>
                  <a:lnTo>
                    <a:pt x="7931683" y="214376"/>
                  </a:lnTo>
                  <a:lnTo>
                    <a:pt x="7930032" y="216916"/>
                  </a:lnTo>
                  <a:lnTo>
                    <a:pt x="7925206" y="220726"/>
                  </a:lnTo>
                  <a:lnTo>
                    <a:pt x="7922539" y="223266"/>
                  </a:lnTo>
                  <a:lnTo>
                    <a:pt x="7916697" y="225806"/>
                  </a:lnTo>
                  <a:lnTo>
                    <a:pt x="7911617" y="225806"/>
                  </a:lnTo>
                  <a:lnTo>
                    <a:pt x="7906791" y="223266"/>
                  </a:lnTo>
                  <a:lnTo>
                    <a:pt x="7904251" y="221996"/>
                  </a:lnTo>
                  <a:lnTo>
                    <a:pt x="7899171" y="227076"/>
                  </a:lnTo>
                  <a:lnTo>
                    <a:pt x="7902219" y="230898"/>
                  </a:lnTo>
                  <a:lnTo>
                    <a:pt x="7905648" y="232156"/>
                  </a:lnTo>
                  <a:lnTo>
                    <a:pt x="7909585" y="233426"/>
                  </a:lnTo>
                  <a:lnTo>
                    <a:pt x="7917459" y="233426"/>
                  </a:lnTo>
                  <a:lnTo>
                    <a:pt x="7925333" y="230898"/>
                  </a:lnTo>
                  <a:lnTo>
                    <a:pt x="7929270" y="228346"/>
                  </a:lnTo>
                  <a:lnTo>
                    <a:pt x="7931683" y="225806"/>
                  </a:lnTo>
                  <a:lnTo>
                    <a:pt x="7936509" y="220726"/>
                  </a:lnTo>
                  <a:lnTo>
                    <a:pt x="7938795" y="216916"/>
                  </a:lnTo>
                  <a:lnTo>
                    <a:pt x="7941589" y="209296"/>
                  </a:lnTo>
                  <a:lnTo>
                    <a:pt x="7941716" y="208026"/>
                  </a:lnTo>
                  <a:lnTo>
                    <a:pt x="7941843" y="206756"/>
                  </a:lnTo>
                  <a:lnTo>
                    <a:pt x="7941970" y="205498"/>
                  </a:lnTo>
                  <a:close/>
                </a:path>
                <a:path w="9090025" h="247014">
                  <a:moveTo>
                    <a:pt x="7978292" y="169926"/>
                  </a:moveTo>
                  <a:lnTo>
                    <a:pt x="7977403" y="164846"/>
                  </a:lnTo>
                  <a:lnTo>
                    <a:pt x="7974990" y="161048"/>
                  </a:lnTo>
                  <a:lnTo>
                    <a:pt x="7968640" y="166116"/>
                  </a:lnTo>
                  <a:lnTo>
                    <a:pt x="7970037" y="169926"/>
                  </a:lnTo>
                  <a:lnTo>
                    <a:pt x="7970672" y="172466"/>
                  </a:lnTo>
                  <a:lnTo>
                    <a:pt x="7969910" y="177546"/>
                  </a:lnTo>
                  <a:lnTo>
                    <a:pt x="7968767" y="178816"/>
                  </a:lnTo>
                  <a:lnTo>
                    <a:pt x="7966735" y="181356"/>
                  </a:lnTo>
                  <a:lnTo>
                    <a:pt x="7963941" y="183896"/>
                  </a:lnTo>
                  <a:lnTo>
                    <a:pt x="7960766" y="185166"/>
                  </a:lnTo>
                  <a:lnTo>
                    <a:pt x="7953400" y="185166"/>
                  </a:lnTo>
                  <a:lnTo>
                    <a:pt x="7949717" y="183896"/>
                  </a:lnTo>
                  <a:lnTo>
                    <a:pt x="7945907" y="180098"/>
                  </a:lnTo>
                  <a:lnTo>
                    <a:pt x="7950987" y="175006"/>
                  </a:lnTo>
                  <a:lnTo>
                    <a:pt x="7970037" y="155956"/>
                  </a:lnTo>
                  <a:lnTo>
                    <a:pt x="7969402" y="154698"/>
                  </a:lnTo>
                  <a:lnTo>
                    <a:pt x="7966342" y="152146"/>
                  </a:lnTo>
                  <a:lnTo>
                    <a:pt x="7963306" y="149606"/>
                  </a:lnTo>
                  <a:lnTo>
                    <a:pt x="7959750" y="147193"/>
                  </a:lnTo>
                  <a:lnTo>
                    <a:pt x="7959750" y="157226"/>
                  </a:lnTo>
                  <a:lnTo>
                    <a:pt x="7941716" y="175006"/>
                  </a:lnTo>
                  <a:lnTo>
                    <a:pt x="7939049" y="172466"/>
                  </a:lnTo>
                  <a:lnTo>
                    <a:pt x="7937779" y="168656"/>
                  </a:lnTo>
                  <a:lnTo>
                    <a:pt x="7937779" y="162306"/>
                  </a:lnTo>
                  <a:lnTo>
                    <a:pt x="7939049" y="159766"/>
                  </a:lnTo>
                  <a:lnTo>
                    <a:pt x="7944383" y="153416"/>
                  </a:lnTo>
                  <a:lnTo>
                    <a:pt x="7947685" y="152146"/>
                  </a:lnTo>
                  <a:lnTo>
                    <a:pt x="7951622" y="153416"/>
                  </a:lnTo>
                  <a:lnTo>
                    <a:pt x="7954035" y="153416"/>
                  </a:lnTo>
                  <a:lnTo>
                    <a:pt x="7956829" y="154698"/>
                  </a:lnTo>
                  <a:lnTo>
                    <a:pt x="7959750" y="157226"/>
                  </a:lnTo>
                  <a:lnTo>
                    <a:pt x="7959750" y="147193"/>
                  </a:lnTo>
                  <a:lnTo>
                    <a:pt x="7957718" y="145796"/>
                  </a:lnTo>
                  <a:lnTo>
                    <a:pt x="7946415" y="145796"/>
                  </a:lnTo>
                  <a:lnTo>
                    <a:pt x="7941335" y="148348"/>
                  </a:lnTo>
                  <a:lnTo>
                    <a:pt x="7932572" y="157226"/>
                  </a:lnTo>
                  <a:lnTo>
                    <a:pt x="7930413" y="162306"/>
                  </a:lnTo>
                  <a:lnTo>
                    <a:pt x="7930540" y="164846"/>
                  </a:lnTo>
                  <a:lnTo>
                    <a:pt x="7930667" y="167398"/>
                  </a:lnTo>
                  <a:lnTo>
                    <a:pt x="7949844" y="192798"/>
                  </a:lnTo>
                  <a:lnTo>
                    <a:pt x="7961274" y="192798"/>
                  </a:lnTo>
                  <a:lnTo>
                    <a:pt x="7966481" y="190246"/>
                  </a:lnTo>
                  <a:lnTo>
                    <a:pt x="7971180" y="185166"/>
                  </a:lnTo>
                  <a:lnTo>
                    <a:pt x="7974990" y="182626"/>
                  </a:lnTo>
                  <a:lnTo>
                    <a:pt x="7977149" y="177546"/>
                  </a:lnTo>
                  <a:lnTo>
                    <a:pt x="7977784" y="173748"/>
                  </a:lnTo>
                  <a:lnTo>
                    <a:pt x="7978292" y="169926"/>
                  </a:lnTo>
                  <a:close/>
                </a:path>
                <a:path w="9090025" h="247014">
                  <a:moveTo>
                    <a:pt x="8011947" y="138176"/>
                  </a:moveTo>
                  <a:lnTo>
                    <a:pt x="8011693" y="134366"/>
                  </a:lnTo>
                  <a:lnTo>
                    <a:pt x="8010169" y="130556"/>
                  </a:lnTo>
                  <a:lnTo>
                    <a:pt x="8008772" y="126746"/>
                  </a:lnTo>
                  <a:lnTo>
                    <a:pt x="8006359" y="122948"/>
                  </a:lnTo>
                  <a:lnTo>
                    <a:pt x="8004708" y="121043"/>
                  </a:lnTo>
                  <a:lnTo>
                    <a:pt x="8004708" y="140716"/>
                  </a:lnTo>
                  <a:lnTo>
                    <a:pt x="8003692" y="144526"/>
                  </a:lnTo>
                  <a:lnTo>
                    <a:pt x="8001152" y="147066"/>
                  </a:lnTo>
                  <a:lnTo>
                    <a:pt x="7998739" y="149606"/>
                  </a:lnTo>
                  <a:lnTo>
                    <a:pt x="7995691" y="150876"/>
                  </a:lnTo>
                  <a:lnTo>
                    <a:pt x="7992008" y="149606"/>
                  </a:lnTo>
                  <a:lnTo>
                    <a:pt x="7988325" y="149606"/>
                  </a:lnTo>
                  <a:lnTo>
                    <a:pt x="7984515" y="147066"/>
                  </a:lnTo>
                  <a:lnTo>
                    <a:pt x="7976133" y="139446"/>
                  </a:lnTo>
                  <a:lnTo>
                    <a:pt x="7973847" y="134366"/>
                  </a:lnTo>
                  <a:lnTo>
                    <a:pt x="7973720" y="133096"/>
                  </a:lnTo>
                  <a:lnTo>
                    <a:pt x="7973593" y="131826"/>
                  </a:lnTo>
                  <a:lnTo>
                    <a:pt x="7973466" y="130556"/>
                  </a:lnTo>
                  <a:lnTo>
                    <a:pt x="7973339" y="129298"/>
                  </a:lnTo>
                  <a:lnTo>
                    <a:pt x="7973212" y="128016"/>
                  </a:lnTo>
                  <a:lnTo>
                    <a:pt x="7973085" y="126746"/>
                  </a:lnTo>
                  <a:lnTo>
                    <a:pt x="7974101" y="124206"/>
                  </a:lnTo>
                  <a:lnTo>
                    <a:pt x="7978800" y="119126"/>
                  </a:lnTo>
                  <a:lnTo>
                    <a:pt x="7981848" y="117856"/>
                  </a:lnTo>
                  <a:lnTo>
                    <a:pt x="7989341" y="119126"/>
                  </a:lnTo>
                  <a:lnTo>
                    <a:pt x="7993278" y="121666"/>
                  </a:lnTo>
                  <a:lnTo>
                    <a:pt x="8001660" y="129298"/>
                  </a:lnTo>
                  <a:lnTo>
                    <a:pt x="8004073" y="133096"/>
                  </a:lnTo>
                  <a:lnTo>
                    <a:pt x="8004327" y="136906"/>
                  </a:lnTo>
                  <a:lnTo>
                    <a:pt x="8004581" y="139446"/>
                  </a:lnTo>
                  <a:lnTo>
                    <a:pt x="8004708" y="140716"/>
                  </a:lnTo>
                  <a:lnTo>
                    <a:pt x="8004708" y="121043"/>
                  </a:lnTo>
                  <a:lnTo>
                    <a:pt x="7989214" y="111506"/>
                  </a:lnTo>
                  <a:lnTo>
                    <a:pt x="7985658" y="110248"/>
                  </a:lnTo>
                  <a:lnTo>
                    <a:pt x="7978546" y="112776"/>
                  </a:lnTo>
                  <a:lnTo>
                    <a:pt x="7975371" y="114046"/>
                  </a:lnTo>
                  <a:lnTo>
                    <a:pt x="7972577" y="116598"/>
                  </a:lnTo>
                  <a:lnTo>
                    <a:pt x="7970418" y="119126"/>
                  </a:lnTo>
                  <a:lnTo>
                    <a:pt x="7969148" y="120396"/>
                  </a:lnTo>
                  <a:lnTo>
                    <a:pt x="7968386" y="122948"/>
                  </a:lnTo>
                  <a:lnTo>
                    <a:pt x="7967751" y="125476"/>
                  </a:lnTo>
                  <a:lnTo>
                    <a:pt x="7967624" y="128016"/>
                  </a:lnTo>
                  <a:lnTo>
                    <a:pt x="7968132" y="130556"/>
                  </a:lnTo>
                  <a:lnTo>
                    <a:pt x="7963941" y="126746"/>
                  </a:lnTo>
                  <a:lnTo>
                    <a:pt x="7958861" y="131826"/>
                  </a:lnTo>
                  <a:lnTo>
                    <a:pt x="8003819" y="176276"/>
                  </a:lnTo>
                  <a:lnTo>
                    <a:pt x="8009280" y="171196"/>
                  </a:lnTo>
                  <a:lnTo>
                    <a:pt x="7993532" y="154698"/>
                  </a:lnTo>
                  <a:lnTo>
                    <a:pt x="7995564" y="155956"/>
                  </a:lnTo>
                  <a:lnTo>
                    <a:pt x="7997723" y="155956"/>
                  </a:lnTo>
                  <a:lnTo>
                    <a:pt x="8000009" y="154698"/>
                  </a:lnTo>
                  <a:lnTo>
                    <a:pt x="8011058" y="141998"/>
                  </a:lnTo>
                  <a:lnTo>
                    <a:pt x="8011947" y="138176"/>
                  </a:lnTo>
                  <a:close/>
                </a:path>
                <a:path w="9090025" h="247014">
                  <a:moveTo>
                    <a:pt x="8028203" y="100076"/>
                  </a:moveTo>
                  <a:lnTo>
                    <a:pt x="8022742" y="94996"/>
                  </a:lnTo>
                  <a:lnTo>
                    <a:pt x="8005851" y="111506"/>
                  </a:lnTo>
                  <a:lnTo>
                    <a:pt x="8011312" y="117856"/>
                  </a:lnTo>
                  <a:lnTo>
                    <a:pt x="8028203" y="100076"/>
                  </a:lnTo>
                  <a:close/>
                </a:path>
                <a:path w="9090025" h="247014">
                  <a:moveTo>
                    <a:pt x="8074685" y="81026"/>
                  </a:moveTo>
                  <a:lnTo>
                    <a:pt x="8069478" y="75946"/>
                  </a:lnTo>
                  <a:lnTo>
                    <a:pt x="8047507" y="97548"/>
                  </a:lnTo>
                  <a:lnTo>
                    <a:pt x="8047126" y="96266"/>
                  </a:lnTo>
                  <a:lnTo>
                    <a:pt x="8046999" y="86106"/>
                  </a:lnTo>
                  <a:lnTo>
                    <a:pt x="8047799" y="77216"/>
                  </a:lnTo>
                  <a:lnTo>
                    <a:pt x="8047914" y="75946"/>
                  </a:lnTo>
                  <a:lnTo>
                    <a:pt x="8048028" y="74676"/>
                  </a:lnTo>
                  <a:lnTo>
                    <a:pt x="8048142" y="73406"/>
                  </a:lnTo>
                  <a:lnTo>
                    <a:pt x="8048244" y="70866"/>
                  </a:lnTo>
                  <a:lnTo>
                    <a:pt x="8048345" y="68326"/>
                  </a:lnTo>
                  <a:lnTo>
                    <a:pt x="8048396" y="67056"/>
                  </a:lnTo>
                  <a:lnTo>
                    <a:pt x="8048193" y="64516"/>
                  </a:lnTo>
                  <a:lnTo>
                    <a:pt x="8048091" y="63246"/>
                  </a:lnTo>
                  <a:lnTo>
                    <a:pt x="8047990" y="61976"/>
                  </a:lnTo>
                  <a:lnTo>
                    <a:pt x="8047888" y="60706"/>
                  </a:lnTo>
                  <a:lnTo>
                    <a:pt x="8047380" y="56896"/>
                  </a:lnTo>
                  <a:lnTo>
                    <a:pt x="8045348" y="51816"/>
                  </a:lnTo>
                  <a:lnTo>
                    <a:pt x="8043951" y="50546"/>
                  </a:lnTo>
                  <a:lnTo>
                    <a:pt x="8038617" y="44196"/>
                  </a:lnTo>
                  <a:lnTo>
                    <a:pt x="8034426" y="42926"/>
                  </a:lnTo>
                  <a:lnTo>
                    <a:pt x="8024647" y="42926"/>
                  </a:lnTo>
                  <a:lnTo>
                    <a:pt x="8009090" y="60706"/>
                  </a:lnTo>
                  <a:lnTo>
                    <a:pt x="8008988" y="61976"/>
                  </a:lnTo>
                  <a:lnTo>
                    <a:pt x="8008899" y="63246"/>
                  </a:lnTo>
                  <a:lnTo>
                    <a:pt x="8008836" y="64516"/>
                  </a:lnTo>
                  <a:lnTo>
                    <a:pt x="8008709" y="67056"/>
                  </a:lnTo>
                  <a:lnTo>
                    <a:pt x="8008645" y="68326"/>
                  </a:lnTo>
                  <a:lnTo>
                    <a:pt x="8010423" y="72148"/>
                  </a:lnTo>
                  <a:lnTo>
                    <a:pt x="8014233" y="77216"/>
                  </a:lnTo>
                  <a:lnTo>
                    <a:pt x="8020456" y="72148"/>
                  </a:lnTo>
                  <a:lnTo>
                    <a:pt x="8017662" y="69596"/>
                  </a:lnTo>
                  <a:lnTo>
                    <a:pt x="8016265" y="67056"/>
                  </a:lnTo>
                  <a:lnTo>
                    <a:pt x="8016265" y="60706"/>
                  </a:lnTo>
                  <a:lnTo>
                    <a:pt x="8017535" y="56896"/>
                  </a:lnTo>
                  <a:lnTo>
                    <a:pt x="8022742" y="51816"/>
                  </a:lnTo>
                  <a:lnTo>
                    <a:pt x="8025536" y="50546"/>
                  </a:lnTo>
                  <a:lnTo>
                    <a:pt x="8031632" y="50546"/>
                  </a:lnTo>
                  <a:lnTo>
                    <a:pt x="8034172" y="51816"/>
                  </a:lnTo>
                  <a:lnTo>
                    <a:pt x="8036331" y="54356"/>
                  </a:lnTo>
                  <a:lnTo>
                    <a:pt x="8038490" y="55626"/>
                  </a:lnTo>
                  <a:lnTo>
                    <a:pt x="8039760" y="59448"/>
                  </a:lnTo>
                  <a:lnTo>
                    <a:pt x="8041030" y="67056"/>
                  </a:lnTo>
                  <a:lnTo>
                    <a:pt x="8040903" y="73406"/>
                  </a:lnTo>
                  <a:lnTo>
                    <a:pt x="8040141" y="81026"/>
                  </a:lnTo>
                  <a:lnTo>
                    <a:pt x="8040014" y="82296"/>
                  </a:lnTo>
                  <a:lnTo>
                    <a:pt x="8039506" y="88646"/>
                  </a:lnTo>
                  <a:lnTo>
                    <a:pt x="8039633" y="96266"/>
                  </a:lnTo>
                  <a:lnTo>
                    <a:pt x="8039887" y="100076"/>
                  </a:lnTo>
                  <a:lnTo>
                    <a:pt x="8045094" y="110248"/>
                  </a:lnTo>
                  <a:lnTo>
                    <a:pt x="8057959" y="97548"/>
                  </a:lnTo>
                  <a:lnTo>
                    <a:pt x="8074685" y="81026"/>
                  </a:lnTo>
                  <a:close/>
                </a:path>
                <a:path w="9090025" h="247014">
                  <a:moveTo>
                    <a:pt x="8110245" y="45466"/>
                  </a:moveTo>
                  <a:lnTo>
                    <a:pt x="8105038" y="40398"/>
                  </a:lnTo>
                  <a:lnTo>
                    <a:pt x="8083067" y="61976"/>
                  </a:lnTo>
                  <a:lnTo>
                    <a:pt x="8082686" y="60706"/>
                  </a:lnTo>
                  <a:lnTo>
                    <a:pt x="8082674" y="49276"/>
                  </a:lnTo>
                  <a:lnTo>
                    <a:pt x="8083702" y="37846"/>
                  </a:lnTo>
                  <a:lnTo>
                    <a:pt x="8083753" y="36576"/>
                  </a:lnTo>
                  <a:lnTo>
                    <a:pt x="8083855" y="34048"/>
                  </a:lnTo>
                  <a:lnTo>
                    <a:pt x="8083956" y="31496"/>
                  </a:lnTo>
                  <a:lnTo>
                    <a:pt x="8083448" y="25146"/>
                  </a:lnTo>
                  <a:lnTo>
                    <a:pt x="8082940" y="21348"/>
                  </a:lnTo>
                  <a:lnTo>
                    <a:pt x="8080908" y="16256"/>
                  </a:lnTo>
                  <a:lnTo>
                    <a:pt x="8079511" y="14998"/>
                  </a:lnTo>
                  <a:lnTo>
                    <a:pt x="8074177" y="8648"/>
                  </a:lnTo>
                  <a:lnTo>
                    <a:pt x="8069986" y="7366"/>
                  </a:lnTo>
                  <a:lnTo>
                    <a:pt x="8060207" y="7366"/>
                  </a:lnTo>
                  <a:lnTo>
                    <a:pt x="8044205" y="32766"/>
                  </a:lnTo>
                  <a:lnTo>
                    <a:pt x="8045983" y="36576"/>
                  </a:lnTo>
                  <a:lnTo>
                    <a:pt x="8049793" y="41656"/>
                  </a:lnTo>
                  <a:lnTo>
                    <a:pt x="8056016" y="36576"/>
                  </a:lnTo>
                  <a:lnTo>
                    <a:pt x="8053222" y="34048"/>
                  </a:lnTo>
                  <a:lnTo>
                    <a:pt x="8051825" y="31496"/>
                  </a:lnTo>
                  <a:lnTo>
                    <a:pt x="8051825" y="25146"/>
                  </a:lnTo>
                  <a:lnTo>
                    <a:pt x="8053095" y="21348"/>
                  </a:lnTo>
                  <a:lnTo>
                    <a:pt x="8058302" y="16256"/>
                  </a:lnTo>
                  <a:lnTo>
                    <a:pt x="8061096" y="14998"/>
                  </a:lnTo>
                  <a:lnTo>
                    <a:pt x="8067192" y="14998"/>
                  </a:lnTo>
                  <a:lnTo>
                    <a:pt x="8069732" y="16256"/>
                  </a:lnTo>
                  <a:lnTo>
                    <a:pt x="8071891" y="18796"/>
                  </a:lnTo>
                  <a:lnTo>
                    <a:pt x="8074050" y="20066"/>
                  </a:lnTo>
                  <a:lnTo>
                    <a:pt x="8075320" y="23876"/>
                  </a:lnTo>
                  <a:lnTo>
                    <a:pt x="8076590" y="31496"/>
                  </a:lnTo>
                  <a:lnTo>
                    <a:pt x="8076463" y="37846"/>
                  </a:lnTo>
                  <a:lnTo>
                    <a:pt x="8075943" y="42926"/>
                  </a:lnTo>
                  <a:lnTo>
                    <a:pt x="8075816" y="44196"/>
                  </a:lnTo>
                  <a:lnTo>
                    <a:pt x="8075701" y="45466"/>
                  </a:lnTo>
                  <a:lnTo>
                    <a:pt x="8075574" y="46748"/>
                  </a:lnTo>
                  <a:lnTo>
                    <a:pt x="8075447" y="64516"/>
                  </a:lnTo>
                  <a:lnTo>
                    <a:pt x="8080654" y="74676"/>
                  </a:lnTo>
                  <a:lnTo>
                    <a:pt x="8093519" y="61976"/>
                  </a:lnTo>
                  <a:lnTo>
                    <a:pt x="8110245" y="45466"/>
                  </a:lnTo>
                  <a:close/>
                </a:path>
                <a:path w="9090025" h="247014">
                  <a:moveTo>
                    <a:pt x="8148218" y="204089"/>
                  </a:moveTo>
                  <a:lnTo>
                    <a:pt x="8144281" y="200152"/>
                  </a:lnTo>
                  <a:lnTo>
                    <a:pt x="8103514" y="159385"/>
                  </a:lnTo>
                  <a:lnTo>
                    <a:pt x="8097799" y="165100"/>
                  </a:lnTo>
                  <a:lnTo>
                    <a:pt x="8132978" y="200152"/>
                  </a:lnTo>
                  <a:lnTo>
                    <a:pt x="8124596" y="198501"/>
                  </a:lnTo>
                  <a:lnTo>
                    <a:pt x="8074304" y="188595"/>
                  </a:lnTo>
                  <a:lnTo>
                    <a:pt x="8068208" y="194691"/>
                  </a:lnTo>
                  <a:lnTo>
                    <a:pt x="8113039" y="239395"/>
                  </a:lnTo>
                  <a:lnTo>
                    <a:pt x="8118627" y="233680"/>
                  </a:lnTo>
                  <a:lnTo>
                    <a:pt x="8083448" y="198501"/>
                  </a:lnTo>
                  <a:lnTo>
                    <a:pt x="8142122" y="210185"/>
                  </a:lnTo>
                  <a:lnTo>
                    <a:pt x="8148218" y="204089"/>
                  </a:lnTo>
                  <a:close/>
                </a:path>
                <a:path w="9090025" h="247014">
                  <a:moveTo>
                    <a:pt x="8178444" y="168783"/>
                  </a:moveTo>
                  <a:lnTo>
                    <a:pt x="8178317" y="165100"/>
                  </a:lnTo>
                  <a:lnTo>
                    <a:pt x="8177174" y="161544"/>
                  </a:lnTo>
                  <a:lnTo>
                    <a:pt x="8176031" y="157861"/>
                  </a:lnTo>
                  <a:lnTo>
                    <a:pt x="8173364" y="153924"/>
                  </a:lnTo>
                  <a:lnTo>
                    <a:pt x="8170951" y="151447"/>
                  </a:lnTo>
                  <a:lnTo>
                    <a:pt x="8170951" y="171831"/>
                  </a:lnTo>
                  <a:lnTo>
                    <a:pt x="8169681" y="175133"/>
                  </a:lnTo>
                  <a:lnTo>
                    <a:pt x="8164220" y="180594"/>
                  </a:lnTo>
                  <a:lnTo>
                    <a:pt x="8160918" y="181864"/>
                  </a:lnTo>
                  <a:lnTo>
                    <a:pt x="8153171" y="181356"/>
                  </a:lnTo>
                  <a:lnTo>
                    <a:pt x="8138401" y="162306"/>
                  </a:lnTo>
                  <a:lnTo>
                    <a:pt x="8138350" y="161544"/>
                  </a:lnTo>
                  <a:lnTo>
                    <a:pt x="8138236" y="159893"/>
                  </a:lnTo>
                  <a:lnTo>
                    <a:pt x="8138185" y="159004"/>
                  </a:lnTo>
                  <a:lnTo>
                    <a:pt x="8139455" y="155702"/>
                  </a:lnTo>
                  <a:lnTo>
                    <a:pt x="8142122" y="153035"/>
                  </a:lnTo>
                  <a:lnTo>
                    <a:pt x="8144916" y="150368"/>
                  </a:lnTo>
                  <a:lnTo>
                    <a:pt x="8148218" y="149098"/>
                  </a:lnTo>
                  <a:lnTo>
                    <a:pt x="8157896" y="149733"/>
                  </a:lnTo>
                  <a:lnTo>
                    <a:pt x="8156207" y="149733"/>
                  </a:lnTo>
                  <a:lnTo>
                    <a:pt x="8159902" y="151638"/>
                  </a:lnTo>
                  <a:lnTo>
                    <a:pt x="8163839" y="155702"/>
                  </a:lnTo>
                  <a:lnTo>
                    <a:pt x="8168157" y="159893"/>
                  </a:lnTo>
                  <a:lnTo>
                    <a:pt x="8170443" y="163957"/>
                  </a:lnTo>
                  <a:lnTo>
                    <a:pt x="8170875" y="170815"/>
                  </a:lnTo>
                  <a:lnTo>
                    <a:pt x="8170951" y="171831"/>
                  </a:lnTo>
                  <a:lnTo>
                    <a:pt x="8170951" y="151447"/>
                  </a:lnTo>
                  <a:lnTo>
                    <a:pt x="8169300" y="149733"/>
                  </a:lnTo>
                  <a:lnTo>
                    <a:pt x="8168640" y="149098"/>
                  </a:lnTo>
                  <a:lnTo>
                    <a:pt x="8164093" y="144653"/>
                  </a:lnTo>
                  <a:lnTo>
                    <a:pt x="8158632" y="141986"/>
                  </a:lnTo>
                  <a:lnTo>
                    <a:pt x="8146897" y="141986"/>
                  </a:lnTo>
                  <a:lnTo>
                    <a:pt x="8130934" y="163957"/>
                  </a:lnTo>
                  <a:lnTo>
                    <a:pt x="8130705" y="166751"/>
                  </a:lnTo>
                  <a:lnTo>
                    <a:pt x="8161807" y="189103"/>
                  </a:lnTo>
                  <a:lnTo>
                    <a:pt x="8166887" y="186817"/>
                  </a:lnTo>
                  <a:lnTo>
                    <a:pt x="8171459" y="182372"/>
                  </a:lnTo>
                  <a:lnTo>
                    <a:pt x="8171942" y="181864"/>
                  </a:lnTo>
                  <a:lnTo>
                    <a:pt x="8174253" y="179451"/>
                  </a:lnTo>
                  <a:lnTo>
                    <a:pt x="8176285" y="176276"/>
                  </a:lnTo>
                  <a:lnTo>
                    <a:pt x="8177301" y="172466"/>
                  </a:lnTo>
                  <a:lnTo>
                    <a:pt x="8178444" y="168783"/>
                  </a:lnTo>
                  <a:close/>
                </a:path>
                <a:path w="9090025" h="247014">
                  <a:moveTo>
                    <a:pt x="8207273" y="145034"/>
                  </a:moveTo>
                  <a:lnTo>
                    <a:pt x="8205559" y="141224"/>
                  </a:lnTo>
                  <a:lnTo>
                    <a:pt x="8187207" y="100330"/>
                  </a:lnTo>
                  <a:lnTo>
                    <a:pt x="8181492" y="106045"/>
                  </a:lnTo>
                  <a:lnTo>
                    <a:pt x="8194065" y="132969"/>
                  </a:lnTo>
                  <a:lnTo>
                    <a:pt x="8195589" y="136271"/>
                  </a:lnTo>
                  <a:lnTo>
                    <a:pt x="8196986" y="139065"/>
                  </a:lnTo>
                  <a:lnTo>
                    <a:pt x="8198256" y="141224"/>
                  </a:lnTo>
                  <a:lnTo>
                    <a:pt x="8195335" y="139573"/>
                  </a:lnTo>
                  <a:lnTo>
                    <a:pt x="8192414" y="138049"/>
                  </a:lnTo>
                  <a:lnTo>
                    <a:pt x="8189620" y="136779"/>
                  </a:lnTo>
                  <a:lnTo>
                    <a:pt x="8163204" y="124333"/>
                  </a:lnTo>
                  <a:lnTo>
                    <a:pt x="8157362" y="130175"/>
                  </a:lnTo>
                  <a:lnTo>
                    <a:pt x="8202181" y="150253"/>
                  </a:lnTo>
                  <a:lnTo>
                    <a:pt x="8207273" y="145034"/>
                  </a:lnTo>
                  <a:close/>
                </a:path>
                <a:path w="9090025" h="247014">
                  <a:moveTo>
                    <a:pt x="8225688" y="99822"/>
                  </a:moveTo>
                  <a:lnTo>
                    <a:pt x="8220227" y="94234"/>
                  </a:lnTo>
                  <a:lnTo>
                    <a:pt x="8203336" y="111125"/>
                  </a:lnTo>
                  <a:lnTo>
                    <a:pt x="8208797" y="116713"/>
                  </a:lnTo>
                  <a:lnTo>
                    <a:pt x="8225688" y="99822"/>
                  </a:lnTo>
                  <a:close/>
                </a:path>
                <a:path w="9090025" h="247014">
                  <a:moveTo>
                    <a:pt x="8272170" y="80137"/>
                  </a:moveTo>
                  <a:lnTo>
                    <a:pt x="8266963" y="74803"/>
                  </a:lnTo>
                  <a:lnTo>
                    <a:pt x="8244992" y="96774"/>
                  </a:lnTo>
                  <a:lnTo>
                    <a:pt x="8244726" y="95631"/>
                  </a:lnTo>
                  <a:lnTo>
                    <a:pt x="8244611" y="95123"/>
                  </a:lnTo>
                  <a:lnTo>
                    <a:pt x="8244484" y="85598"/>
                  </a:lnTo>
                  <a:lnTo>
                    <a:pt x="8245043" y="80137"/>
                  </a:lnTo>
                  <a:lnTo>
                    <a:pt x="8245119" y="79502"/>
                  </a:lnTo>
                  <a:lnTo>
                    <a:pt x="8245437" y="74803"/>
                  </a:lnTo>
                  <a:lnTo>
                    <a:pt x="8245805" y="65786"/>
                  </a:lnTo>
                  <a:lnTo>
                    <a:pt x="8245665" y="63754"/>
                  </a:lnTo>
                  <a:lnTo>
                    <a:pt x="8245551" y="61214"/>
                  </a:lnTo>
                  <a:lnTo>
                    <a:pt x="8245462" y="59436"/>
                  </a:lnTo>
                  <a:lnTo>
                    <a:pt x="8244865" y="56515"/>
                  </a:lnTo>
                  <a:lnTo>
                    <a:pt x="8243595" y="53467"/>
                  </a:lnTo>
                  <a:lnTo>
                    <a:pt x="8242935" y="51816"/>
                  </a:lnTo>
                  <a:lnTo>
                    <a:pt x="8242833" y="51562"/>
                  </a:lnTo>
                  <a:lnTo>
                    <a:pt x="8241779" y="50038"/>
                  </a:lnTo>
                  <a:lnTo>
                    <a:pt x="8241436" y="49530"/>
                  </a:lnTo>
                  <a:lnTo>
                    <a:pt x="8239658" y="47625"/>
                  </a:lnTo>
                  <a:lnTo>
                    <a:pt x="8236102" y="44196"/>
                  </a:lnTo>
                  <a:lnTo>
                    <a:pt x="8231911" y="42418"/>
                  </a:lnTo>
                  <a:lnTo>
                    <a:pt x="8222132" y="42672"/>
                  </a:lnTo>
                  <a:lnTo>
                    <a:pt x="8206499" y="61214"/>
                  </a:lnTo>
                  <a:lnTo>
                    <a:pt x="8206410" y="62357"/>
                  </a:lnTo>
                  <a:lnTo>
                    <a:pt x="8206321" y="63754"/>
                  </a:lnTo>
                  <a:lnTo>
                    <a:pt x="8206219" y="65786"/>
                  </a:lnTo>
                  <a:lnTo>
                    <a:pt x="8206130" y="67437"/>
                  </a:lnTo>
                  <a:lnTo>
                    <a:pt x="8207908" y="72136"/>
                  </a:lnTo>
                  <a:lnTo>
                    <a:pt x="8211718" y="76708"/>
                  </a:lnTo>
                  <a:lnTo>
                    <a:pt x="8217941" y="71628"/>
                  </a:lnTo>
                  <a:lnTo>
                    <a:pt x="8215147" y="68834"/>
                  </a:lnTo>
                  <a:lnTo>
                    <a:pt x="8213750" y="65786"/>
                  </a:lnTo>
                  <a:lnTo>
                    <a:pt x="8213750" y="59436"/>
                  </a:lnTo>
                  <a:lnTo>
                    <a:pt x="8215020" y="56515"/>
                  </a:lnTo>
                  <a:lnTo>
                    <a:pt x="8217687" y="53848"/>
                  </a:lnTo>
                  <a:lnTo>
                    <a:pt x="8220227" y="51435"/>
                  </a:lnTo>
                  <a:lnTo>
                    <a:pt x="8223021" y="50038"/>
                  </a:lnTo>
                  <a:lnTo>
                    <a:pt x="8229117" y="50038"/>
                  </a:lnTo>
                  <a:lnTo>
                    <a:pt x="8237880" y="62357"/>
                  </a:lnTo>
                  <a:lnTo>
                    <a:pt x="8238414" y="65786"/>
                  </a:lnTo>
                  <a:lnTo>
                    <a:pt x="8238388" y="72898"/>
                  </a:lnTo>
                  <a:lnTo>
                    <a:pt x="8237499" y="81661"/>
                  </a:lnTo>
                  <a:lnTo>
                    <a:pt x="8237144" y="85598"/>
                  </a:lnTo>
                  <a:lnTo>
                    <a:pt x="8242706" y="109728"/>
                  </a:lnTo>
                  <a:lnTo>
                    <a:pt x="8255597" y="96774"/>
                  </a:lnTo>
                  <a:lnTo>
                    <a:pt x="8272170" y="80137"/>
                  </a:lnTo>
                  <a:close/>
                </a:path>
                <a:path w="9090025" h="247014">
                  <a:moveTo>
                    <a:pt x="8307730" y="44577"/>
                  </a:moveTo>
                  <a:lnTo>
                    <a:pt x="8302523" y="39243"/>
                  </a:lnTo>
                  <a:lnTo>
                    <a:pt x="8280552" y="61214"/>
                  </a:lnTo>
                  <a:lnTo>
                    <a:pt x="8280286" y="60071"/>
                  </a:lnTo>
                  <a:lnTo>
                    <a:pt x="8280171" y="59563"/>
                  </a:lnTo>
                  <a:lnTo>
                    <a:pt x="8280133" y="49149"/>
                  </a:lnTo>
                  <a:lnTo>
                    <a:pt x="8280451" y="46101"/>
                  </a:lnTo>
                  <a:lnTo>
                    <a:pt x="8280565" y="44958"/>
                  </a:lnTo>
                  <a:lnTo>
                    <a:pt x="8280679" y="43942"/>
                  </a:lnTo>
                  <a:lnTo>
                    <a:pt x="8281136" y="37338"/>
                  </a:lnTo>
                  <a:lnTo>
                    <a:pt x="8281340" y="33274"/>
                  </a:lnTo>
                  <a:lnTo>
                    <a:pt x="8281365" y="30226"/>
                  </a:lnTo>
                  <a:lnTo>
                    <a:pt x="8281187" y="27559"/>
                  </a:lnTo>
                  <a:lnTo>
                    <a:pt x="8281060" y="24003"/>
                  </a:lnTo>
                  <a:lnTo>
                    <a:pt x="8280425" y="20955"/>
                  </a:lnTo>
                  <a:lnTo>
                    <a:pt x="8279409" y="18542"/>
                  </a:lnTo>
                  <a:lnTo>
                    <a:pt x="8278393" y="16002"/>
                  </a:lnTo>
                  <a:lnTo>
                    <a:pt x="8277339" y="14478"/>
                  </a:lnTo>
                  <a:lnTo>
                    <a:pt x="8276996" y="13970"/>
                  </a:lnTo>
                  <a:lnTo>
                    <a:pt x="8275218" y="12065"/>
                  </a:lnTo>
                  <a:lnTo>
                    <a:pt x="8271662" y="8636"/>
                  </a:lnTo>
                  <a:lnTo>
                    <a:pt x="8267763" y="6985"/>
                  </a:lnTo>
                  <a:lnTo>
                    <a:pt x="8262645" y="6985"/>
                  </a:lnTo>
                  <a:lnTo>
                    <a:pt x="8241690" y="31877"/>
                  </a:lnTo>
                  <a:lnTo>
                    <a:pt x="8243265" y="36068"/>
                  </a:lnTo>
                  <a:lnTo>
                    <a:pt x="8243570" y="36703"/>
                  </a:lnTo>
                  <a:lnTo>
                    <a:pt x="8247278" y="41148"/>
                  </a:lnTo>
                  <a:lnTo>
                    <a:pt x="8253501" y="36068"/>
                  </a:lnTo>
                  <a:lnTo>
                    <a:pt x="8250707" y="33274"/>
                  </a:lnTo>
                  <a:lnTo>
                    <a:pt x="8249310" y="30226"/>
                  </a:lnTo>
                  <a:lnTo>
                    <a:pt x="8249310" y="24003"/>
                  </a:lnTo>
                  <a:lnTo>
                    <a:pt x="8249806" y="22733"/>
                  </a:lnTo>
                  <a:lnTo>
                    <a:pt x="8258581" y="14478"/>
                  </a:lnTo>
                  <a:lnTo>
                    <a:pt x="8264969" y="14478"/>
                  </a:lnTo>
                  <a:lnTo>
                    <a:pt x="8267344" y="15494"/>
                  </a:lnTo>
                  <a:lnTo>
                    <a:pt x="8271535" y="19685"/>
                  </a:lnTo>
                  <a:lnTo>
                    <a:pt x="8272932" y="22733"/>
                  </a:lnTo>
                  <a:lnTo>
                    <a:pt x="8273440" y="26797"/>
                  </a:lnTo>
                  <a:lnTo>
                    <a:pt x="8273974" y="30226"/>
                  </a:lnTo>
                  <a:lnTo>
                    <a:pt x="8273948" y="37338"/>
                  </a:lnTo>
                  <a:lnTo>
                    <a:pt x="8273275" y="43942"/>
                  </a:lnTo>
                  <a:lnTo>
                    <a:pt x="8272780" y="49149"/>
                  </a:lnTo>
                  <a:lnTo>
                    <a:pt x="8278266" y="74168"/>
                  </a:lnTo>
                  <a:lnTo>
                    <a:pt x="8291157" y="61214"/>
                  </a:lnTo>
                  <a:lnTo>
                    <a:pt x="8307730" y="44577"/>
                  </a:lnTo>
                  <a:close/>
                </a:path>
                <a:path w="9090025" h="247014">
                  <a:moveTo>
                    <a:pt x="8336813" y="209931"/>
                  </a:moveTo>
                  <a:lnTo>
                    <a:pt x="8297697" y="162941"/>
                  </a:lnTo>
                  <a:lnTo>
                    <a:pt x="8291855" y="169291"/>
                  </a:lnTo>
                  <a:lnTo>
                    <a:pt x="8325129" y="202311"/>
                  </a:lnTo>
                  <a:lnTo>
                    <a:pt x="8326907" y="204851"/>
                  </a:lnTo>
                  <a:lnTo>
                    <a:pt x="8328431" y="207391"/>
                  </a:lnTo>
                  <a:lnTo>
                    <a:pt x="8328558" y="209931"/>
                  </a:lnTo>
                  <a:lnTo>
                    <a:pt x="8327796" y="212471"/>
                  </a:lnTo>
                  <a:lnTo>
                    <a:pt x="8326780" y="215011"/>
                  </a:lnTo>
                  <a:lnTo>
                    <a:pt x="8325383" y="216281"/>
                  </a:lnTo>
                  <a:lnTo>
                    <a:pt x="8323351" y="217551"/>
                  </a:lnTo>
                  <a:lnTo>
                    <a:pt x="8321065" y="218821"/>
                  </a:lnTo>
                  <a:lnTo>
                    <a:pt x="8316366" y="218821"/>
                  </a:lnTo>
                  <a:lnTo>
                    <a:pt x="8313318" y="217551"/>
                  </a:lnTo>
                  <a:lnTo>
                    <a:pt x="8309762" y="213741"/>
                  </a:lnTo>
                  <a:lnTo>
                    <a:pt x="8305190" y="220091"/>
                  </a:lnTo>
                  <a:lnTo>
                    <a:pt x="8309508" y="223901"/>
                  </a:lnTo>
                  <a:lnTo>
                    <a:pt x="8313953" y="226441"/>
                  </a:lnTo>
                  <a:lnTo>
                    <a:pt x="8322589" y="226441"/>
                  </a:lnTo>
                  <a:lnTo>
                    <a:pt x="8326780" y="225171"/>
                  </a:lnTo>
                  <a:lnTo>
                    <a:pt x="8333257" y="218821"/>
                  </a:lnTo>
                  <a:lnTo>
                    <a:pt x="8335035" y="216281"/>
                  </a:lnTo>
                  <a:lnTo>
                    <a:pt x="8336813" y="209931"/>
                  </a:lnTo>
                  <a:close/>
                </a:path>
                <a:path w="9090025" h="247014">
                  <a:moveTo>
                    <a:pt x="8379358" y="170561"/>
                  </a:moveTo>
                  <a:lnTo>
                    <a:pt x="8377453" y="170561"/>
                  </a:lnTo>
                  <a:lnTo>
                    <a:pt x="8375675" y="169291"/>
                  </a:lnTo>
                  <a:lnTo>
                    <a:pt x="8374151" y="168021"/>
                  </a:lnTo>
                  <a:lnTo>
                    <a:pt x="8372500" y="168021"/>
                  </a:lnTo>
                  <a:lnTo>
                    <a:pt x="8369198" y="164211"/>
                  </a:lnTo>
                  <a:lnTo>
                    <a:pt x="8366658" y="161671"/>
                  </a:lnTo>
                  <a:lnTo>
                    <a:pt x="8364118" y="159131"/>
                  </a:lnTo>
                  <a:lnTo>
                    <a:pt x="8363356" y="158356"/>
                  </a:lnTo>
                  <a:lnTo>
                    <a:pt x="8363356" y="173101"/>
                  </a:lnTo>
                  <a:lnTo>
                    <a:pt x="8363356" y="175641"/>
                  </a:lnTo>
                  <a:lnTo>
                    <a:pt x="8362594" y="178181"/>
                  </a:lnTo>
                  <a:lnTo>
                    <a:pt x="8361959" y="180721"/>
                  </a:lnTo>
                  <a:lnTo>
                    <a:pt x="8360562" y="183261"/>
                  </a:lnTo>
                  <a:lnTo>
                    <a:pt x="8356244" y="187071"/>
                  </a:lnTo>
                  <a:lnTo>
                    <a:pt x="8354085" y="188341"/>
                  </a:lnTo>
                  <a:lnTo>
                    <a:pt x="8348243" y="188341"/>
                  </a:lnTo>
                  <a:lnTo>
                    <a:pt x="8346719" y="185801"/>
                  </a:lnTo>
                  <a:lnTo>
                    <a:pt x="8345830" y="185801"/>
                  </a:lnTo>
                  <a:lnTo>
                    <a:pt x="8345195" y="184531"/>
                  </a:lnTo>
                  <a:lnTo>
                    <a:pt x="8344941" y="183261"/>
                  </a:lnTo>
                  <a:lnTo>
                    <a:pt x="8344560" y="181991"/>
                  </a:lnTo>
                  <a:lnTo>
                    <a:pt x="8344687" y="180721"/>
                  </a:lnTo>
                  <a:lnTo>
                    <a:pt x="8345322" y="179451"/>
                  </a:lnTo>
                  <a:lnTo>
                    <a:pt x="8345830" y="178181"/>
                  </a:lnTo>
                  <a:lnTo>
                    <a:pt x="8346973" y="175641"/>
                  </a:lnTo>
                  <a:lnTo>
                    <a:pt x="8349005" y="173101"/>
                  </a:lnTo>
                  <a:lnTo>
                    <a:pt x="8352434" y="168021"/>
                  </a:lnTo>
                  <a:lnTo>
                    <a:pt x="8354720" y="164211"/>
                  </a:lnTo>
                  <a:lnTo>
                    <a:pt x="8355863" y="161671"/>
                  </a:lnTo>
                  <a:lnTo>
                    <a:pt x="8360308" y="166751"/>
                  </a:lnTo>
                  <a:lnTo>
                    <a:pt x="8361832" y="168021"/>
                  </a:lnTo>
                  <a:lnTo>
                    <a:pt x="8362467" y="170561"/>
                  </a:lnTo>
                  <a:lnTo>
                    <a:pt x="8363356" y="173101"/>
                  </a:lnTo>
                  <a:lnTo>
                    <a:pt x="8363356" y="158356"/>
                  </a:lnTo>
                  <a:lnTo>
                    <a:pt x="8357971" y="152781"/>
                  </a:lnTo>
                  <a:lnTo>
                    <a:pt x="8354339" y="148971"/>
                  </a:lnTo>
                  <a:lnTo>
                    <a:pt x="8352561" y="147701"/>
                  </a:lnTo>
                  <a:lnTo>
                    <a:pt x="8351418" y="147701"/>
                  </a:lnTo>
                  <a:lnTo>
                    <a:pt x="8349640" y="146431"/>
                  </a:lnTo>
                  <a:lnTo>
                    <a:pt x="8347735" y="145161"/>
                  </a:lnTo>
                  <a:lnTo>
                    <a:pt x="8342147" y="145161"/>
                  </a:lnTo>
                  <a:lnTo>
                    <a:pt x="8337321" y="147701"/>
                  </a:lnTo>
                  <a:lnTo>
                    <a:pt x="8334781" y="148971"/>
                  </a:lnTo>
                  <a:lnTo>
                    <a:pt x="8329193" y="155321"/>
                  </a:lnTo>
                  <a:lnTo>
                    <a:pt x="8327161" y="157861"/>
                  </a:lnTo>
                  <a:lnTo>
                    <a:pt x="8324367" y="162941"/>
                  </a:lnTo>
                  <a:lnTo>
                    <a:pt x="8323859" y="166751"/>
                  </a:lnTo>
                  <a:lnTo>
                    <a:pt x="8324240" y="169291"/>
                  </a:lnTo>
                  <a:lnTo>
                    <a:pt x="8324367" y="170561"/>
                  </a:lnTo>
                  <a:lnTo>
                    <a:pt x="8324494" y="171831"/>
                  </a:lnTo>
                  <a:lnTo>
                    <a:pt x="8325510" y="174371"/>
                  </a:lnTo>
                  <a:lnTo>
                    <a:pt x="8327288" y="176911"/>
                  </a:lnTo>
                  <a:lnTo>
                    <a:pt x="8333511" y="171831"/>
                  </a:lnTo>
                  <a:lnTo>
                    <a:pt x="8331733" y="169291"/>
                  </a:lnTo>
                  <a:lnTo>
                    <a:pt x="8331098" y="166751"/>
                  </a:lnTo>
                  <a:lnTo>
                    <a:pt x="8341258" y="152781"/>
                  </a:lnTo>
                  <a:lnTo>
                    <a:pt x="8345830" y="152781"/>
                  </a:lnTo>
                  <a:lnTo>
                    <a:pt x="8347862" y="154051"/>
                  </a:lnTo>
                  <a:lnTo>
                    <a:pt x="8350402" y="156591"/>
                  </a:lnTo>
                  <a:lnTo>
                    <a:pt x="8350783" y="156591"/>
                  </a:lnTo>
                  <a:lnTo>
                    <a:pt x="8351545" y="157861"/>
                  </a:lnTo>
                  <a:lnTo>
                    <a:pt x="8350148" y="160401"/>
                  </a:lnTo>
                  <a:lnTo>
                    <a:pt x="8347608" y="164211"/>
                  </a:lnTo>
                  <a:lnTo>
                    <a:pt x="8341766" y="171831"/>
                  </a:lnTo>
                  <a:lnTo>
                    <a:pt x="8340369" y="174371"/>
                  </a:lnTo>
                  <a:lnTo>
                    <a:pt x="8338591" y="176911"/>
                  </a:lnTo>
                  <a:lnTo>
                    <a:pt x="8337829" y="179451"/>
                  </a:lnTo>
                  <a:lnTo>
                    <a:pt x="8337321" y="181991"/>
                  </a:lnTo>
                  <a:lnTo>
                    <a:pt x="8337194" y="184531"/>
                  </a:lnTo>
                  <a:lnTo>
                    <a:pt x="8337702" y="187071"/>
                  </a:lnTo>
                  <a:lnTo>
                    <a:pt x="8338337" y="188341"/>
                  </a:lnTo>
                  <a:lnTo>
                    <a:pt x="8339480" y="190881"/>
                  </a:lnTo>
                  <a:lnTo>
                    <a:pt x="8341004" y="192151"/>
                  </a:lnTo>
                  <a:lnTo>
                    <a:pt x="8343671" y="194691"/>
                  </a:lnTo>
                  <a:lnTo>
                    <a:pt x="8346846" y="195961"/>
                  </a:lnTo>
                  <a:lnTo>
                    <a:pt x="8354212" y="195961"/>
                  </a:lnTo>
                  <a:lnTo>
                    <a:pt x="8357768" y="194691"/>
                  </a:lnTo>
                  <a:lnTo>
                    <a:pt x="8368436" y="175641"/>
                  </a:lnTo>
                  <a:lnTo>
                    <a:pt x="8368563" y="174371"/>
                  </a:lnTo>
                  <a:lnTo>
                    <a:pt x="8370214" y="175641"/>
                  </a:lnTo>
                  <a:lnTo>
                    <a:pt x="8371992" y="175641"/>
                  </a:lnTo>
                  <a:lnTo>
                    <a:pt x="8373643" y="176911"/>
                  </a:lnTo>
                  <a:lnTo>
                    <a:pt x="8375929" y="174371"/>
                  </a:lnTo>
                  <a:lnTo>
                    <a:pt x="8379358" y="170561"/>
                  </a:lnTo>
                  <a:close/>
                </a:path>
                <a:path w="9090025" h="247014">
                  <a:moveTo>
                    <a:pt x="8413267" y="137541"/>
                  </a:moveTo>
                  <a:lnTo>
                    <a:pt x="8393455" y="117221"/>
                  </a:lnTo>
                  <a:lnTo>
                    <a:pt x="8390915" y="114681"/>
                  </a:lnTo>
                  <a:lnTo>
                    <a:pt x="8389010" y="113411"/>
                  </a:lnTo>
                  <a:lnTo>
                    <a:pt x="8387740" y="112141"/>
                  </a:lnTo>
                  <a:lnTo>
                    <a:pt x="8383930" y="109601"/>
                  </a:lnTo>
                  <a:lnTo>
                    <a:pt x="8377834" y="109601"/>
                  </a:lnTo>
                  <a:lnTo>
                    <a:pt x="8373262" y="112141"/>
                  </a:lnTo>
                  <a:lnTo>
                    <a:pt x="8371103" y="113411"/>
                  </a:lnTo>
                  <a:lnTo>
                    <a:pt x="8364626" y="119761"/>
                  </a:lnTo>
                  <a:lnTo>
                    <a:pt x="8362975" y="124841"/>
                  </a:lnTo>
                  <a:lnTo>
                    <a:pt x="8364118" y="131191"/>
                  </a:lnTo>
                  <a:lnTo>
                    <a:pt x="8359546" y="126111"/>
                  </a:lnTo>
                  <a:lnTo>
                    <a:pt x="8354593" y="131191"/>
                  </a:lnTo>
                  <a:lnTo>
                    <a:pt x="8386978" y="162941"/>
                  </a:lnTo>
                  <a:lnTo>
                    <a:pt x="8392439" y="157861"/>
                  </a:lnTo>
                  <a:lnTo>
                    <a:pt x="8374786" y="140081"/>
                  </a:lnTo>
                  <a:lnTo>
                    <a:pt x="8370595" y="136271"/>
                  </a:lnTo>
                  <a:lnTo>
                    <a:pt x="8368690" y="132461"/>
                  </a:lnTo>
                  <a:lnTo>
                    <a:pt x="8368754" y="131191"/>
                  </a:lnTo>
                  <a:lnTo>
                    <a:pt x="8368817" y="129921"/>
                  </a:lnTo>
                  <a:lnTo>
                    <a:pt x="8369071" y="126111"/>
                  </a:lnTo>
                  <a:lnTo>
                    <a:pt x="8370341" y="123571"/>
                  </a:lnTo>
                  <a:lnTo>
                    <a:pt x="8374151" y="119761"/>
                  </a:lnTo>
                  <a:lnTo>
                    <a:pt x="8375802" y="118491"/>
                  </a:lnTo>
                  <a:lnTo>
                    <a:pt x="8377580" y="118491"/>
                  </a:lnTo>
                  <a:lnTo>
                    <a:pt x="8379231" y="117221"/>
                  </a:lnTo>
                  <a:lnTo>
                    <a:pt x="8380882" y="118491"/>
                  </a:lnTo>
                  <a:lnTo>
                    <a:pt x="8384057" y="118491"/>
                  </a:lnTo>
                  <a:lnTo>
                    <a:pt x="8385835" y="121031"/>
                  </a:lnTo>
                  <a:lnTo>
                    <a:pt x="8388121" y="122301"/>
                  </a:lnTo>
                  <a:lnTo>
                    <a:pt x="8407806" y="142621"/>
                  </a:lnTo>
                  <a:lnTo>
                    <a:pt x="8413267" y="137541"/>
                  </a:lnTo>
                  <a:close/>
                </a:path>
                <a:path w="9090025" h="247014">
                  <a:moveTo>
                    <a:pt x="8422792" y="100711"/>
                  </a:moveTo>
                  <a:lnTo>
                    <a:pt x="8417204" y="95631"/>
                  </a:lnTo>
                  <a:lnTo>
                    <a:pt x="8400440" y="112141"/>
                  </a:lnTo>
                  <a:lnTo>
                    <a:pt x="8405901" y="117221"/>
                  </a:lnTo>
                  <a:lnTo>
                    <a:pt x="8422792" y="100711"/>
                  </a:lnTo>
                  <a:close/>
                </a:path>
                <a:path w="9090025" h="247014">
                  <a:moveTo>
                    <a:pt x="8470417" y="80391"/>
                  </a:moveTo>
                  <a:lnTo>
                    <a:pt x="8465083" y="75311"/>
                  </a:lnTo>
                  <a:lnTo>
                    <a:pt x="8443112" y="96901"/>
                  </a:lnTo>
                  <a:lnTo>
                    <a:pt x="8442731" y="95631"/>
                  </a:lnTo>
                  <a:lnTo>
                    <a:pt x="8442604" y="93091"/>
                  </a:lnTo>
                  <a:lnTo>
                    <a:pt x="8442477" y="91821"/>
                  </a:lnTo>
                  <a:lnTo>
                    <a:pt x="8442477" y="89281"/>
                  </a:lnTo>
                  <a:lnTo>
                    <a:pt x="8442642" y="86741"/>
                  </a:lnTo>
                  <a:lnTo>
                    <a:pt x="8443036" y="81661"/>
                  </a:lnTo>
                  <a:lnTo>
                    <a:pt x="8443138" y="80391"/>
                  </a:lnTo>
                  <a:lnTo>
                    <a:pt x="8443239" y="79121"/>
                  </a:lnTo>
                  <a:lnTo>
                    <a:pt x="8443874" y="72771"/>
                  </a:lnTo>
                  <a:lnTo>
                    <a:pt x="8443747" y="62611"/>
                  </a:lnTo>
                  <a:lnTo>
                    <a:pt x="8443620" y="60071"/>
                  </a:lnTo>
                  <a:lnTo>
                    <a:pt x="8442985" y="56261"/>
                  </a:lnTo>
                  <a:lnTo>
                    <a:pt x="8440953" y="51181"/>
                  </a:lnTo>
                  <a:lnTo>
                    <a:pt x="8439556" y="49911"/>
                  </a:lnTo>
                  <a:lnTo>
                    <a:pt x="8437778" y="47371"/>
                  </a:lnTo>
                  <a:lnTo>
                    <a:pt x="8434349" y="43561"/>
                  </a:lnTo>
                  <a:lnTo>
                    <a:pt x="8430031" y="42291"/>
                  </a:lnTo>
                  <a:lnTo>
                    <a:pt x="8420379" y="42291"/>
                  </a:lnTo>
                  <a:lnTo>
                    <a:pt x="8404758" y="60071"/>
                  </a:lnTo>
                  <a:lnTo>
                    <a:pt x="8404631" y="62611"/>
                  </a:lnTo>
                  <a:lnTo>
                    <a:pt x="8404428" y="65151"/>
                  </a:lnTo>
                  <a:lnTo>
                    <a:pt x="8404339" y="66421"/>
                  </a:lnTo>
                  <a:lnTo>
                    <a:pt x="8404250" y="67691"/>
                  </a:lnTo>
                  <a:lnTo>
                    <a:pt x="8406028" y="71501"/>
                  </a:lnTo>
                  <a:lnTo>
                    <a:pt x="8409838" y="76581"/>
                  </a:lnTo>
                  <a:lnTo>
                    <a:pt x="8416061" y="71501"/>
                  </a:lnTo>
                  <a:lnTo>
                    <a:pt x="8413267" y="68961"/>
                  </a:lnTo>
                  <a:lnTo>
                    <a:pt x="8411870" y="65151"/>
                  </a:lnTo>
                  <a:lnTo>
                    <a:pt x="8411870" y="58801"/>
                  </a:lnTo>
                  <a:lnTo>
                    <a:pt x="8413267" y="56261"/>
                  </a:lnTo>
                  <a:lnTo>
                    <a:pt x="8418347" y="51181"/>
                  </a:lnTo>
                  <a:lnTo>
                    <a:pt x="8421141" y="49911"/>
                  </a:lnTo>
                  <a:lnTo>
                    <a:pt x="8427237" y="49911"/>
                  </a:lnTo>
                  <a:lnTo>
                    <a:pt x="8429904" y="51181"/>
                  </a:lnTo>
                  <a:lnTo>
                    <a:pt x="8432063" y="53721"/>
                  </a:lnTo>
                  <a:lnTo>
                    <a:pt x="8434095" y="54991"/>
                  </a:lnTo>
                  <a:lnTo>
                    <a:pt x="8435492" y="58801"/>
                  </a:lnTo>
                  <a:lnTo>
                    <a:pt x="8436546" y="65151"/>
                  </a:lnTo>
                  <a:lnTo>
                    <a:pt x="8436635" y="72771"/>
                  </a:lnTo>
                  <a:lnTo>
                    <a:pt x="8436000" y="79121"/>
                  </a:lnTo>
                  <a:lnTo>
                    <a:pt x="8435873" y="80391"/>
                  </a:lnTo>
                  <a:lnTo>
                    <a:pt x="8435746" y="81661"/>
                  </a:lnTo>
                  <a:lnTo>
                    <a:pt x="8435264" y="85471"/>
                  </a:lnTo>
                  <a:lnTo>
                    <a:pt x="8435365" y="96901"/>
                  </a:lnTo>
                  <a:lnTo>
                    <a:pt x="8440826" y="109601"/>
                  </a:lnTo>
                  <a:lnTo>
                    <a:pt x="8453691" y="96901"/>
                  </a:lnTo>
                  <a:lnTo>
                    <a:pt x="8470417" y="80391"/>
                  </a:lnTo>
                  <a:close/>
                </a:path>
                <a:path w="9090025" h="247014">
                  <a:moveTo>
                    <a:pt x="8497849" y="41021"/>
                  </a:moveTo>
                  <a:lnTo>
                    <a:pt x="8495944" y="35941"/>
                  </a:lnTo>
                  <a:lnTo>
                    <a:pt x="8494674" y="34671"/>
                  </a:lnTo>
                  <a:lnTo>
                    <a:pt x="8492134" y="32131"/>
                  </a:lnTo>
                  <a:lnTo>
                    <a:pt x="8489213" y="29591"/>
                  </a:lnTo>
                  <a:lnTo>
                    <a:pt x="8486038" y="27051"/>
                  </a:lnTo>
                  <a:lnTo>
                    <a:pt x="8476005" y="27051"/>
                  </a:lnTo>
                  <a:lnTo>
                    <a:pt x="8472703" y="29591"/>
                  </a:lnTo>
                  <a:lnTo>
                    <a:pt x="8473846" y="25781"/>
                  </a:lnTo>
                  <a:lnTo>
                    <a:pt x="8473973" y="24511"/>
                  </a:lnTo>
                  <a:lnTo>
                    <a:pt x="8474100" y="23241"/>
                  </a:lnTo>
                  <a:lnTo>
                    <a:pt x="8473592" y="20701"/>
                  </a:lnTo>
                  <a:lnTo>
                    <a:pt x="8472957" y="18161"/>
                  </a:lnTo>
                  <a:lnTo>
                    <a:pt x="8472386" y="16891"/>
                  </a:lnTo>
                  <a:lnTo>
                    <a:pt x="8471814" y="15621"/>
                  </a:lnTo>
                  <a:lnTo>
                    <a:pt x="8469782" y="14351"/>
                  </a:lnTo>
                  <a:lnTo>
                    <a:pt x="8467750" y="11811"/>
                  </a:lnTo>
                  <a:lnTo>
                    <a:pt x="8465337" y="10541"/>
                  </a:lnTo>
                  <a:lnTo>
                    <a:pt x="8462416" y="10541"/>
                  </a:lnTo>
                  <a:lnTo>
                    <a:pt x="8459495" y="9271"/>
                  </a:lnTo>
                  <a:lnTo>
                    <a:pt x="8456574" y="9271"/>
                  </a:lnTo>
                  <a:lnTo>
                    <a:pt x="8439112" y="29591"/>
                  </a:lnTo>
                  <a:lnTo>
                    <a:pt x="8439010" y="30861"/>
                  </a:lnTo>
                  <a:lnTo>
                    <a:pt x="8438921" y="32131"/>
                  </a:lnTo>
                  <a:lnTo>
                    <a:pt x="8440191" y="35941"/>
                  </a:lnTo>
                  <a:lnTo>
                    <a:pt x="8443239" y="41021"/>
                  </a:lnTo>
                  <a:lnTo>
                    <a:pt x="8449716" y="35941"/>
                  </a:lnTo>
                  <a:lnTo>
                    <a:pt x="8447430" y="33401"/>
                  </a:lnTo>
                  <a:lnTo>
                    <a:pt x="8446287" y="29591"/>
                  </a:lnTo>
                  <a:lnTo>
                    <a:pt x="8446414" y="27051"/>
                  </a:lnTo>
                  <a:lnTo>
                    <a:pt x="8446541" y="24511"/>
                  </a:lnTo>
                  <a:lnTo>
                    <a:pt x="8447557" y="21971"/>
                  </a:lnTo>
                  <a:lnTo>
                    <a:pt x="8451875" y="18161"/>
                  </a:lnTo>
                  <a:lnTo>
                    <a:pt x="8454288" y="16891"/>
                  </a:lnTo>
                  <a:lnTo>
                    <a:pt x="8462035" y="16891"/>
                  </a:lnTo>
                  <a:lnTo>
                    <a:pt x="8466607" y="21971"/>
                  </a:lnTo>
                  <a:lnTo>
                    <a:pt x="8467496" y="24511"/>
                  </a:lnTo>
                  <a:lnTo>
                    <a:pt x="8466226" y="30861"/>
                  </a:lnTo>
                  <a:lnTo>
                    <a:pt x="8464702" y="33401"/>
                  </a:lnTo>
                  <a:lnTo>
                    <a:pt x="8461908" y="35941"/>
                  </a:lnTo>
                  <a:lnTo>
                    <a:pt x="8461400" y="37211"/>
                  </a:lnTo>
                  <a:lnTo>
                    <a:pt x="8465718" y="42291"/>
                  </a:lnTo>
                  <a:lnTo>
                    <a:pt x="8466861" y="41021"/>
                  </a:lnTo>
                  <a:lnTo>
                    <a:pt x="8467877" y="38481"/>
                  </a:lnTo>
                  <a:lnTo>
                    <a:pt x="8468893" y="37211"/>
                  </a:lnTo>
                  <a:lnTo>
                    <a:pt x="8471433" y="35941"/>
                  </a:lnTo>
                  <a:lnTo>
                    <a:pt x="8474354" y="34671"/>
                  </a:lnTo>
                  <a:lnTo>
                    <a:pt x="8480958" y="34671"/>
                  </a:lnTo>
                  <a:lnTo>
                    <a:pt x="8483879" y="35941"/>
                  </a:lnTo>
                  <a:lnTo>
                    <a:pt x="8489086" y="41021"/>
                  </a:lnTo>
                  <a:lnTo>
                    <a:pt x="8490356" y="43561"/>
                  </a:lnTo>
                  <a:lnTo>
                    <a:pt x="8490356" y="51181"/>
                  </a:lnTo>
                  <a:lnTo>
                    <a:pt x="8489086" y="53721"/>
                  </a:lnTo>
                  <a:lnTo>
                    <a:pt x="8484387" y="58801"/>
                  </a:lnTo>
                  <a:lnTo>
                    <a:pt x="8481847" y="60071"/>
                  </a:lnTo>
                  <a:lnTo>
                    <a:pt x="8476005" y="60071"/>
                  </a:lnTo>
                  <a:lnTo>
                    <a:pt x="8472703" y="58801"/>
                  </a:lnTo>
                  <a:lnTo>
                    <a:pt x="8469020" y="56261"/>
                  </a:lnTo>
                  <a:lnTo>
                    <a:pt x="8464194" y="62611"/>
                  </a:lnTo>
                  <a:lnTo>
                    <a:pt x="8468258" y="66421"/>
                  </a:lnTo>
                  <a:lnTo>
                    <a:pt x="8472830" y="67691"/>
                  </a:lnTo>
                  <a:lnTo>
                    <a:pt x="8482736" y="66421"/>
                  </a:lnTo>
                  <a:lnTo>
                    <a:pt x="8487054" y="65151"/>
                  </a:lnTo>
                  <a:lnTo>
                    <a:pt x="8490991" y="61341"/>
                  </a:lnTo>
                  <a:lnTo>
                    <a:pt x="8492096" y="60071"/>
                  </a:lnTo>
                  <a:lnTo>
                    <a:pt x="8495436" y="56261"/>
                  </a:lnTo>
                  <a:lnTo>
                    <a:pt x="8497595" y="51181"/>
                  </a:lnTo>
                  <a:lnTo>
                    <a:pt x="8497722" y="46101"/>
                  </a:lnTo>
                  <a:lnTo>
                    <a:pt x="8497849" y="41021"/>
                  </a:lnTo>
                  <a:close/>
                </a:path>
                <a:path w="9090025" h="247014">
                  <a:moveTo>
                    <a:pt x="8553983" y="194056"/>
                  </a:moveTo>
                  <a:lnTo>
                    <a:pt x="8521954" y="162306"/>
                  </a:lnTo>
                  <a:lnTo>
                    <a:pt x="8509152" y="149606"/>
                  </a:lnTo>
                  <a:lnTo>
                    <a:pt x="8501278" y="157226"/>
                  </a:lnTo>
                  <a:lnTo>
                    <a:pt x="8521598" y="199136"/>
                  </a:lnTo>
                  <a:lnTo>
                    <a:pt x="8523757" y="202946"/>
                  </a:lnTo>
                  <a:lnTo>
                    <a:pt x="8525281" y="206756"/>
                  </a:lnTo>
                  <a:lnTo>
                    <a:pt x="8526424" y="208026"/>
                  </a:lnTo>
                  <a:lnTo>
                    <a:pt x="8521598" y="205486"/>
                  </a:lnTo>
                  <a:lnTo>
                    <a:pt x="8517661" y="204216"/>
                  </a:lnTo>
                  <a:lnTo>
                    <a:pt x="8495271" y="192786"/>
                  </a:lnTo>
                  <a:lnTo>
                    <a:pt x="8475370" y="182626"/>
                  </a:lnTo>
                  <a:lnTo>
                    <a:pt x="8466480" y="191516"/>
                  </a:lnTo>
                  <a:lnTo>
                    <a:pt x="8511311" y="235966"/>
                  </a:lnTo>
                  <a:lnTo>
                    <a:pt x="8516899" y="230886"/>
                  </a:lnTo>
                  <a:lnTo>
                    <a:pt x="8478926" y="192786"/>
                  </a:lnTo>
                  <a:lnTo>
                    <a:pt x="8529853" y="218186"/>
                  </a:lnTo>
                  <a:lnTo>
                    <a:pt x="8535187" y="213106"/>
                  </a:lnTo>
                  <a:lnTo>
                    <a:pt x="8532749" y="208026"/>
                  </a:lnTo>
                  <a:lnTo>
                    <a:pt x="8510803" y="162306"/>
                  </a:lnTo>
                  <a:lnTo>
                    <a:pt x="8548268" y="199136"/>
                  </a:lnTo>
                  <a:lnTo>
                    <a:pt x="8553983" y="194056"/>
                  </a:lnTo>
                  <a:close/>
                </a:path>
                <a:path w="9090025" h="247014">
                  <a:moveTo>
                    <a:pt x="8591575" y="155956"/>
                  </a:moveTo>
                  <a:lnTo>
                    <a:pt x="8589543" y="155956"/>
                  </a:lnTo>
                  <a:lnTo>
                    <a:pt x="8587765" y="154686"/>
                  </a:lnTo>
                  <a:lnTo>
                    <a:pt x="8584717" y="152146"/>
                  </a:lnTo>
                  <a:lnTo>
                    <a:pt x="8581288" y="149606"/>
                  </a:lnTo>
                  <a:lnTo>
                    <a:pt x="8578812" y="147066"/>
                  </a:lnTo>
                  <a:lnTo>
                    <a:pt x="8575446" y="143624"/>
                  </a:lnTo>
                  <a:lnTo>
                    <a:pt x="8575446" y="158496"/>
                  </a:lnTo>
                  <a:lnTo>
                    <a:pt x="8575446" y="161036"/>
                  </a:lnTo>
                  <a:lnTo>
                    <a:pt x="8574811" y="163576"/>
                  </a:lnTo>
                  <a:lnTo>
                    <a:pt x="8574049" y="166116"/>
                  </a:lnTo>
                  <a:lnTo>
                    <a:pt x="8572652" y="168656"/>
                  </a:lnTo>
                  <a:lnTo>
                    <a:pt x="8570493" y="169926"/>
                  </a:lnTo>
                  <a:lnTo>
                    <a:pt x="8568334" y="172466"/>
                  </a:lnTo>
                  <a:lnTo>
                    <a:pt x="8566302" y="173736"/>
                  </a:lnTo>
                  <a:lnTo>
                    <a:pt x="8562111" y="173736"/>
                  </a:lnTo>
                  <a:lnTo>
                    <a:pt x="8560333" y="172466"/>
                  </a:lnTo>
                  <a:lnTo>
                    <a:pt x="8557920" y="171196"/>
                  </a:lnTo>
                  <a:lnTo>
                    <a:pt x="8557285" y="169926"/>
                  </a:lnTo>
                  <a:lnTo>
                    <a:pt x="8557031" y="168656"/>
                  </a:lnTo>
                  <a:lnTo>
                    <a:pt x="8556650" y="167386"/>
                  </a:lnTo>
                  <a:lnTo>
                    <a:pt x="8556904" y="166116"/>
                  </a:lnTo>
                  <a:lnTo>
                    <a:pt x="8557920" y="163576"/>
                  </a:lnTo>
                  <a:lnTo>
                    <a:pt x="8559190" y="161036"/>
                  </a:lnTo>
                  <a:lnTo>
                    <a:pt x="8561095" y="158496"/>
                  </a:lnTo>
                  <a:lnTo>
                    <a:pt x="8564524" y="153416"/>
                  </a:lnTo>
                  <a:lnTo>
                    <a:pt x="8566810" y="149606"/>
                  </a:lnTo>
                  <a:lnTo>
                    <a:pt x="8567953" y="147066"/>
                  </a:lnTo>
                  <a:lnTo>
                    <a:pt x="8572398" y="152146"/>
                  </a:lnTo>
                  <a:lnTo>
                    <a:pt x="8573922" y="153416"/>
                  </a:lnTo>
                  <a:lnTo>
                    <a:pt x="8575446" y="158496"/>
                  </a:lnTo>
                  <a:lnTo>
                    <a:pt x="8575446" y="143624"/>
                  </a:lnTo>
                  <a:lnTo>
                    <a:pt x="8570138" y="138176"/>
                  </a:lnTo>
                  <a:lnTo>
                    <a:pt x="8566429" y="134366"/>
                  </a:lnTo>
                  <a:lnTo>
                    <a:pt x="8564651" y="133096"/>
                  </a:lnTo>
                  <a:lnTo>
                    <a:pt x="8563508" y="131826"/>
                  </a:lnTo>
                  <a:lnTo>
                    <a:pt x="8561730" y="131826"/>
                  </a:lnTo>
                  <a:lnTo>
                    <a:pt x="8559825" y="130556"/>
                  </a:lnTo>
                  <a:lnTo>
                    <a:pt x="8554237" y="130556"/>
                  </a:lnTo>
                  <a:lnTo>
                    <a:pt x="8549411" y="133096"/>
                  </a:lnTo>
                  <a:lnTo>
                    <a:pt x="8546871" y="134366"/>
                  </a:lnTo>
                  <a:lnTo>
                    <a:pt x="8544077" y="136906"/>
                  </a:lnTo>
                  <a:lnTo>
                    <a:pt x="8541283" y="140716"/>
                  </a:lnTo>
                  <a:lnTo>
                    <a:pt x="8539251" y="143256"/>
                  </a:lnTo>
                  <a:lnTo>
                    <a:pt x="8537854" y="145796"/>
                  </a:lnTo>
                  <a:lnTo>
                    <a:pt x="8536584" y="148336"/>
                  </a:lnTo>
                  <a:lnTo>
                    <a:pt x="8535949" y="152146"/>
                  </a:lnTo>
                  <a:lnTo>
                    <a:pt x="8536330" y="153416"/>
                  </a:lnTo>
                  <a:lnTo>
                    <a:pt x="8536407" y="154686"/>
                  </a:lnTo>
                  <a:lnTo>
                    <a:pt x="8536495" y="155956"/>
                  </a:lnTo>
                  <a:lnTo>
                    <a:pt x="8536584" y="157226"/>
                  </a:lnTo>
                  <a:lnTo>
                    <a:pt x="8537600" y="159766"/>
                  </a:lnTo>
                  <a:lnTo>
                    <a:pt x="8539505" y="162306"/>
                  </a:lnTo>
                  <a:lnTo>
                    <a:pt x="8545601" y="157226"/>
                  </a:lnTo>
                  <a:lnTo>
                    <a:pt x="8543823" y="154686"/>
                  </a:lnTo>
                  <a:lnTo>
                    <a:pt x="8543188" y="152146"/>
                  </a:lnTo>
                  <a:lnTo>
                    <a:pt x="8543442" y="149606"/>
                  </a:lnTo>
                  <a:lnTo>
                    <a:pt x="8543823" y="147066"/>
                  </a:lnTo>
                  <a:lnTo>
                    <a:pt x="8545220" y="145796"/>
                  </a:lnTo>
                  <a:lnTo>
                    <a:pt x="8550554" y="140716"/>
                  </a:lnTo>
                  <a:lnTo>
                    <a:pt x="8553348" y="138176"/>
                  </a:lnTo>
                  <a:lnTo>
                    <a:pt x="8557920" y="138176"/>
                  </a:lnTo>
                  <a:lnTo>
                    <a:pt x="8559952" y="139446"/>
                  </a:lnTo>
                  <a:lnTo>
                    <a:pt x="8562238" y="141986"/>
                  </a:lnTo>
                  <a:lnTo>
                    <a:pt x="8562873" y="141986"/>
                  </a:lnTo>
                  <a:lnTo>
                    <a:pt x="8563635" y="143256"/>
                  </a:lnTo>
                  <a:lnTo>
                    <a:pt x="8562238" y="145796"/>
                  </a:lnTo>
                  <a:lnTo>
                    <a:pt x="8559698" y="149606"/>
                  </a:lnTo>
                  <a:lnTo>
                    <a:pt x="8555761" y="154686"/>
                  </a:lnTo>
                  <a:lnTo>
                    <a:pt x="8553856" y="157226"/>
                  </a:lnTo>
                  <a:lnTo>
                    <a:pt x="8552459" y="159766"/>
                  </a:lnTo>
                  <a:lnTo>
                    <a:pt x="8551697" y="159766"/>
                  </a:lnTo>
                  <a:lnTo>
                    <a:pt x="8550681" y="162306"/>
                  </a:lnTo>
                  <a:lnTo>
                    <a:pt x="8549919" y="164846"/>
                  </a:lnTo>
                  <a:lnTo>
                    <a:pt x="8549411" y="167386"/>
                  </a:lnTo>
                  <a:lnTo>
                    <a:pt x="8549284" y="169926"/>
                  </a:lnTo>
                  <a:lnTo>
                    <a:pt x="8549919" y="172466"/>
                  </a:lnTo>
                  <a:lnTo>
                    <a:pt x="8550427" y="173736"/>
                  </a:lnTo>
                  <a:lnTo>
                    <a:pt x="8551570" y="176276"/>
                  </a:lnTo>
                  <a:lnTo>
                    <a:pt x="8553094" y="177546"/>
                  </a:lnTo>
                  <a:lnTo>
                    <a:pt x="8555888" y="180086"/>
                  </a:lnTo>
                  <a:lnTo>
                    <a:pt x="8559063" y="181356"/>
                  </a:lnTo>
                  <a:lnTo>
                    <a:pt x="8566302" y="181356"/>
                  </a:lnTo>
                  <a:lnTo>
                    <a:pt x="8580476" y="162306"/>
                  </a:lnTo>
                  <a:lnTo>
                    <a:pt x="8580564" y="161036"/>
                  </a:lnTo>
                  <a:lnTo>
                    <a:pt x="8580653" y="159766"/>
                  </a:lnTo>
                  <a:lnTo>
                    <a:pt x="8582431" y="161036"/>
                  </a:lnTo>
                  <a:lnTo>
                    <a:pt x="8584082" y="161036"/>
                  </a:lnTo>
                  <a:lnTo>
                    <a:pt x="8585733" y="162306"/>
                  </a:lnTo>
                  <a:lnTo>
                    <a:pt x="8588070" y="159766"/>
                  </a:lnTo>
                  <a:lnTo>
                    <a:pt x="8591575" y="155956"/>
                  </a:lnTo>
                  <a:close/>
                </a:path>
                <a:path w="9090025" h="247014">
                  <a:moveTo>
                    <a:pt x="8603513" y="144526"/>
                  </a:moveTo>
                  <a:lnTo>
                    <a:pt x="8584209" y="125476"/>
                  </a:lnTo>
                  <a:lnTo>
                    <a:pt x="8582304" y="122936"/>
                  </a:lnTo>
                  <a:lnTo>
                    <a:pt x="8580145" y="117856"/>
                  </a:lnTo>
                  <a:lnTo>
                    <a:pt x="8579764" y="116586"/>
                  </a:lnTo>
                  <a:lnTo>
                    <a:pt x="8580272" y="114046"/>
                  </a:lnTo>
                  <a:lnTo>
                    <a:pt x="8581034" y="111506"/>
                  </a:lnTo>
                  <a:lnTo>
                    <a:pt x="8583574" y="108966"/>
                  </a:lnTo>
                  <a:lnTo>
                    <a:pt x="8585225" y="108966"/>
                  </a:lnTo>
                  <a:lnTo>
                    <a:pt x="8587384" y="107696"/>
                  </a:lnTo>
                  <a:lnTo>
                    <a:pt x="8584209" y="101346"/>
                  </a:lnTo>
                  <a:lnTo>
                    <a:pt x="8581161" y="101346"/>
                  </a:lnTo>
                  <a:lnTo>
                    <a:pt x="8574049" y="111506"/>
                  </a:lnTo>
                  <a:lnTo>
                    <a:pt x="8574430" y="114046"/>
                  </a:lnTo>
                  <a:lnTo>
                    <a:pt x="8575446" y="117856"/>
                  </a:lnTo>
                  <a:lnTo>
                    <a:pt x="8570493" y="112776"/>
                  </a:lnTo>
                  <a:lnTo>
                    <a:pt x="8565540" y="117856"/>
                  </a:lnTo>
                  <a:lnTo>
                    <a:pt x="8597925" y="149606"/>
                  </a:lnTo>
                  <a:lnTo>
                    <a:pt x="8603513" y="144526"/>
                  </a:lnTo>
                  <a:close/>
                </a:path>
                <a:path w="9090025" h="247014">
                  <a:moveTo>
                    <a:pt x="8619769" y="101346"/>
                  </a:moveTo>
                  <a:lnTo>
                    <a:pt x="8614308" y="96266"/>
                  </a:lnTo>
                  <a:lnTo>
                    <a:pt x="8597417" y="112776"/>
                  </a:lnTo>
                  <a:lnTo>
                    <a:pt x="8602878" y="117856"/>
                  </a:lnTo>
                  <a:lnTo>
                    <a:pt x="8619769" y="101346"/>
                  </a:lnTo>
                  <a:close/>
                </a:path>
                <a:path w="9090025" h="247014">
                  <a:moveTo>
                    <a:pt x="8667394" y="81026"/>
                  </a:moveTo>
                  <a:lnTo>
                    <a:pt x="8662060" y="74676"/>
                  </a:lnTo>
                  <a:lnTo>
                    <a:pt x="8640216" y="97536"/>
                  </a:lnTo>
                  <a:lnTo>
                    <a:pt x="8639835" y="94996"/>
                  </a:lnTo>
                  <a:lnTo>
                    <a:pt x="8639708" y="86106"/>
                  </a:lnTo>
                  <a:lnTo>
                    <a:pt x="8640635" y="74676"/>
                  </a:lnTo>
                  <a:lnTo>
                    <a:pt x="8640737" y="73406"/>
                  </a:lnTo>
                  <a:lnTo>
                    <a:pt x="8640851" y="63246"/>
                  </a:lnTo>
                  <a:lnTo>
                    <a:pt x="8640674" y="60706"/>
                  </a:lnTo>
                  <a:lnTo>
                    <a:pt x="8640597" y="59436"/>
                  </a:lnTo>
                  <a:lnTo>
                    <a:pt x="8639962" y="56896"/>
                  </a:lnTo>
                  <a:lnTo>
                    <a:pt x="8638946" y="54356"/>
                  </a:lnTo>
                  <a:lnTo>
                    <a:pt x="8638057" y="51816"/>
                  </a:lnTo>
                  <a:lnTo>
                    <a:pt x="8637359" y="50546"/>
                  </a:lnTo>
                  <a:lnTo>
                    <a:pt x="8636660" y="49276"/>
                  </a:lnTo>
                  <a:lnTo>
                    <a:pt x="8631326" y="44196"/>
                  </a:lnTo>
                  <a:lnTo>
                    <a:pt x="8627135" y="42926"/>
                  </a:lnTo>
                  <a:lnTo>
                    <a:pt x="8617356" y="42926"/>
                  </a:lnTo>
                  <a:lnTo>
                    <a:pt x="8612784" y="45466"/>
                  </a:lnTo>
                  <a:lnTo>
                    <a:pt x="8604148" y="54356"/>
                  </a:lnTo>
                  <a:lnTo>
                    <a:pt x="8601862" y="58166"/>
                  </a:lnTo>
                  <a:lnTo>
                    <a:pt x="8601735" y="60706"/>
                  </a:lnTo>
                  <a:lnTo>
                    <a:pt x="8601608" y="63246"/>
                  </a:lnTo>
                  <a:lnTo>
                    <a:pt x="8601481" y="65786"/>
                  </a:lnTo>
                  <a:lnTo>
                    <a:pt x="8601354" y="68326"/>
                  </a:lnTo>
                  <a:lnTo>
                    <a:pt x="8603005" y="72136"/>
                  </a:lnTo>
                  <a:lnTo>
                    <a:pt x="8606815" y="77216"/>
                  </a:lnTo>
                  <a:lnTo>
                    <a:pt x="8613038" y="72136"/>
                  </a:lnTo>
                  <a:lnTo>
                    <a:pt x="8610371" y="69596"/>
                  </a:lnTo>
                  <a:lnTo>
                    <a:pt x="8608974" y="65786"/>
                  </a:lnTo>
                  <a:lnTo>
                    <a:pt x="8608974" y="59436"/>
                  </a:lnTo>
                  <a:lnTo>
                    <a:pt x="8610244" y="56896"/>
                  </a:lnTo>
                  <a:lnTo>
                    <a:pt x="8612911" y="54356"/>
                  </a:lnTo>
                  <a:lnTo>
                    <a:pt x="8615324" y="51816"/>
                  </a:lnTo>
                  <a:lnTo>
                    <a:pt x="8618118" y="50546"/>
                  </a:lnTo>
                  <a:lnTo>
                    <a:pt x="8624214" y="50546"/>
                  </a:lnTo>
                  <a:lnTo>
                    <a:pt x="8633549" y="65786"/>
                  </a:lnTo>
                  <a:lnTo>
                    <a:pt x="8633485" y="74676"/>
                  </a:lnTo>
                  <a:lnTo>
                    <a:pt x="8632342" y="86106"/>
                  </a:lnTo>
                  <a:lnTo>
                    <a:pt x="8632419" y="97536"/>
                  </a:lnTo>
                  <a:lnTo>
                    <a:pt x="8632596" y="100076"/>
                  </a:lnTo>
                  <a:lnTo>
                    <a:pt x="8633358" y="102616"/>
                  </a:lnTo>
                  <a:lnTo>
                    <a:pt x="8634628" y="105156"/>
                  </a:lnTo>
                  <a:lnTo>
                    <a:pt x="8635390" y="107696"/>
                  </a:lnTo>
                  <a:lnTo>
                    <a:pt x="8636406" y="108966"/>
                  </a:lnTo>
                  <a:lnTo>
                    <a:pt x="8637803" y="110236"/>
                  </a:lnTo>
                  <a:lnTo>
                    <a:pt x="8650668" y="97536"/>
                  </a:lnTo>
                  <a:lnTo>
                    <a:pt x="8667394" y="81026"/>
                  </a:lnTo>
                  <a:close/>
                </a:path>
                <a:path w="9090025" h="247014">
                  <a:moveTo>
                    <a:pt x="8694953" y="40386"/>
                  </a:moveTo>
                  <a:lnTo>
                    <a:pt x="8693048" y="36576"/>
                  </a:lnTo>
                  <a:lnTo>
                    <a:pt x="8690419" y="34036"/>
                  </a:lnTo>
                  <a:lnTo>
                    <a:pt x="8689111" y="32766"/>
                  </a:lnTo>
                  <a:lnTo>
                    <a:pt x="8687156" y="30226"/>
                  </a:lnTo>
                  <a:lnTo>
                    <a:pt x="8686190" y="28956"/>
                  </a:lnTo>
                  <a:lnTo>
                    <a:pt x="8683142" y="27686"/>
                  </a:lnTo>
                  <a:lnTo>
                    <a:pt x="8679713" y="27686"/>
                  </a:lnTo>
                  <a:lnTo>
                    <a:pt x="8676284" y="26416"/>
                  </a:lnTo>
                  <a:lnTo>
                    <a:pt x="8672982" y="27686"/>
                  </a:lnTo>
                  <a:lnTo>
                    <a:pt x="8669680" y="30226"/>
                  </a:lnTo>
                  <a:lnTo>
                    <a:pt x="8670823" y="26416"/>
                  </a:lnTo>
                  <a:lnTo>
                    <a:pt x="8670950" y="25146"/>
                  </a:lnTo>
                  <a:lnTo>
                    <a:pt x="8671077" y="23876"/>
                  </a:lnTo>
                  <a:lnTo>
                    <a:pt x="8670061" y="18796"/>
                  </a:lnTo>
                  <a:lnTo>
                    <a:pt x="8669426" y="17526"/>
                  </a:lnTo>
                  <a:lnTo>
                    <a:pt x="8668791" y="16256"/>
                  </a:lnTo>
                  <a:lnTo>
                    <a:pt x="8666886" y="13716"/>
                  </a:lnTo>
                  <a:lnTo>
                    <a:pt x="8664854" y="12446"/>
                  </a:lnTo>
                  <a:lnTo>
                    <a:pt x="8662314" y="11176"/>
                  </a:lnTo>
                  <a:lnTo>
                    <a:pt x="8659393" y="9906"/>
                  </a:lnTo>
                  <a:lnTo>
                    <a:pt x="8653551" y="9906"/>
                  </a:lnTo>
                  <a:lnTo>
                    <a:pt x="8650376" y="11176"/>
                  </a:lnTo>
                  <a:lnTo>
                    <a:pt x="8647328" y="11176"/>
                  </a:lnTo>
                  <a:lnTo>
                    <a:pt x="8644534" y="13716"/>
                  </a:lnTo>
                  <a:lnTo>
                    <a:pt x="8638565" y="20066"/>
                  </a:lnTo>
                  <a:lnTo>
                    <a:pt x="8636660" y="23876"/>
                  </a:lnTo>
                  <a:lnTo>
                    <a:pt x="8636546" y="25146"/>
                  </a:lnTo>
                  <a:lnTo>
                    <a:pt x="8636432" y="26416"/>
                  </a:lnTo>
                  <a:lnTo>
                    <a:pt x="8636330" y="27686"/>
                  </a:lnTo>
                  <a:lnTo>
                    <a:pt x="8636216" y="28956"/>
                  </a:lnTo>
                  <a:lnTo>
                    <a:pt x="8636114" y="30226"/>
                  </a:lnTo>
                  <a:lnTo>
                    <a:pt x="8636000" y="31496"/>
                  </a:lnTo>
                  <a:lnTo>
                    <a:pt x="8635898" y="32766"/>
                  </a:lnTo>
                  <a:lnTo>
                    <a:pt x="8637295" y="36576"/>
                  </a:lnTo>
                  <a:lnTo>
                    <a:pt x="8640216" y="40386"/>
                  </a:lnTo>
                  <a:lnTo>
                    <a:pt x="8646693" y="36576"/>
                  </a:lnTo>
                  <a:lnTo>
                    <a:pt x="8644407" y="32766"/>
                  </a:lnTo>
                  <a:lnTo>
                    <a:pt x="8643391" y="30226"/>
                  </a:lnTo>
                  <a:lnTo>
                    <a:pt x="8651392" y="17526"/>
                  </a:lnTo>
                  <a:lnTo>
                    <a:pt x="8659012" y="17526"/>
                  </a:lnTo>
                  <a:lnTo>
                    <a:pt x="8663584" y="22606"/>
                  </a:lnTo>
                  <a:lnTo>
                    <a:pt x="8664600" y="25146"/>
                  </a:lnTo>
                  <a:lnTo>
                    <a:pt x="8663965" y="28956"/>
                  </a:lnTo>
                  <a:lnTo>
                    <a:pt x="8663203" y="31496"/>
                  </a:lnTo>
                  <a:lnTo>
                    <a:pt x="8661806" y="34036"/>
                  </a:lnTo>
                  <a:lnTo>
                    <a:pt x="8659393" y="36576"/>
                  </a:lnTo>
                  <a:lnTo>
                    <a:pt x="8658885" y="36576"/>
                  </a:lnTo>
                  <a:lnTo>
                    <a:pt x="8658504" y="37846"/>
                  </a:lnTo>
                  <a:lnTo>
                    <a:pt x="8662695" y="42926"/>
                  </a:lnTo>
                  <a:lnTo>
                    <a:pt x="8663838" y="40386"/>
                  </a:lnTo>
                  <a:lnTo>
                    <a:pt x="8664854" y="39116"/>
                  </a:lnTo>
                  <a:lnTo>
                    <a:pt x="8665997" y="37846"/>
                  </a:lnTo>
                  <a:lnTo>
                    <a:pt x="8668537" y="35306"/>
                  </a:lnTo>
                  <a:lnTo>
                    <a:pt x="8671458" y="34036"/>
                  </a:lnTo>
                  <a:lnTo>
                    <a:pt x="8677935" y="34036"/>
                  </a:lnTo>
                  <a:lnTo>
                    <a:pt x="8680856" y="35306"/>
                  </a:lnTo>
                  <a:lnTo>
                    <a:pt x="8686063" y="40386"/>
                  </a:lnTo>
                  <a:lnTo>
                    <a:pt x="8687333" y="44196"/>
                  </a:lnTo>
                  <a:lnTo>
                    <a:pt x="8687460" y="51816"/>
                  </a:lnTo>
                  <a:lnTo>
                    <a:pt x="8686063" y="54356"/>
                  </a:lnTo>
                  <a:lnTo>
                    <a:pt x="8681364" y="59436"/>
                  </a:lnTo>
                  <a:lnTo>
                    <a:pt x="8678824" y="60706"/>
                  </a:lnTo>
                  <a:lnTo>
                    <a:pt x="8672982" y="60706"/>
                  </a:lnTo>
                  <a:lnTo>
                    <a:pt x="8669680" y="59436"/>
                  </a:lnTo>
                  <a:lnTo>
                    <a:pt x="8665997" y="56896"/>
                  </a:lnTo>
                  <a:lnTo>
                    <a:pt x="8661171" y="63246"/>
                  </a:lnTo>
                  <a:lnTo>
                    <a:pt x="8665362" y="65786"/>
                  </a:lnTo>
                  <a:lnTo>
                    <a:pt x="8669807" y="68326"/>
                  </a:lnTo>
                  <a:lnTo>
                    <a:pt x="8679713" y="67056"/>
                  </a:lnTo>
                  <a:lnTo>
                    <a:pt x="8684158" y="65786"/>
                  </a:lnTo>
                  <a:lnTo>
                    <a:pt x="8688870" y="60706"/>
                  </a:lnTo>
                  <a:lnTo>
                    <a:pt x="8692413" y="56896"/>
                  </a:lnTo>
                  <a:lnTo>
                    <a:pt x="8694699" y="51816"/>
                  </a:lnTo>
                  <a:lnTo>
                    <a:pt x="8694826" y="46736"/>
                  </a:lnTo>
                  <a:lnTo>
                    <a:pt x="8694903" y="42926"/>
                  </a:lnTo>
                  <a:lnTo>
                    <a:pt x="8694953" y="40386"/>
                  </a:lnTo>
                  <a:close/>
                </a:path>
                <a:path w="9090025" h="247014">
                  <a:moveTo>
                    <a:pt x="8740800" y="204597"/>
                  </a:moveTo>
                  <a:lnTo>
                    <a:pt x="8708860" y="172847"/>
                  </a:lnTo>
                  <a:lnTo>
                    <a:pt x="8696096" y="160147"/>
                  </a:lnTo>
                  <a:lnTo>
                    <a:pt x="8688095" y="167779"/>
                  </a:lnTo>
                  <a:lnTo>
                    <a:pt x="8708542" y="209677"/>
                  </a:lnTo>
                  <a:lnTo>
                    <a:pt x="8710701" y="213487"/>
                  </a:lnTo>
                  <a:lnTo>
                    <a:pt x="8712225" y="217297"/>
                  </a:lnTo>
                  <a:lnTo>
                    <a:pt x="8713368" y="218579"/>
                  </a:lnTo>
                  <a:lnTo>
                    <a:pt x="8711463" y="218579"/>
                  </a:lnTo>
                  <a:lnTo>
                    <a:pt x="8704605" y="214757"/>
                  </a:lnTo>
                  <a:lnTo>
                    <a:pt x="8682215" y="203327"/>
                  </a:lnTo>
                  <a:lnTo>
                    <a:pt x="8662314" y="193179"/>
                  </a:lnTo>
                  <a:lnTo>
                    <a:pt x="8653424" y="202057"/>
                  </a:lnTo>
                  <a:lnTo>
                    <a:pt x="8698128" y="246507"/>
                  </a:lnTo>
                  <a:lnTo>
                    <a:pt x="8703843" y="241427"/>
                  </a:lnTo>
                  <a:lnTo>
                    <a:pt x="8665743" y="203327"/>
                  </a:lnTo>
                  <a:lnTo>
                    <a:pt x="8716797" y="228727"/>
                  </a:lnTo>
                  <a:lnTo>
                    <a:pt x="8722131" y="223647"/>
                  </a:lnTo>
                  <a:lnTo>
                    <a:pt x="8719693" y="218579"/>
                  </a:lnTo>
                  <a:lnTo>
                    <a:pt x="8697747" y="172847"/>
                  </a:lnTo>
                  <a:lnTo>
                    <a:pt x="8735212" y="209677"/>
                  </a:lnTo>
                  <a:lnTo>
                    <a:pt x="8740800" y="204597"/>
                  </a:lnTo>
                  <a:close/>
                </a:path>
                <a:path w="9090025" h="247014">
                  <a:moveTo>
                    <a:pt x="8778392" y="166497"/>
                  </a:moveTo>
                  <a:lnTo>
                    <a:pt x="8776487" y="166497"/>
                  </a:lnTo>
                  <a:lnTo>
                    <a:pt x="8774709" y="165227"/>
                  </a:lnTo>
                  <a:lnTo>
                    <a:pt x="8773185" y="163957"/>
                  </a:lnTo>
                  <a:lnTo>
                    <a:pt x="8768232" y="160147"/>
                  </a:lnTo>
                  <a:lnTo>
                    <a:pt x="8765692" y="157607"/>
                  </a:lnTo>
                  <a:lnTo>
                    <a:pt x="8763152" y="155079"/>
                  </a:lnTo>
                  <a:lnTo>
                    <a:pt x="8762390" y="154305"/>
                  </a:lnTo>
                  <a:lnTo>
                    <a:pt x="8762390" y="169037"/>
                  </a:lnTo>
                  <a:lnTo>
                    <a:pt x="8762390" y="171577"/>
                  </a:lnTo>
                  <a:lnTo>
                    <a:pt x="8761628" y="174129"/>
                  </a:lnTo>
                  <a:lnTo>
                    <a:pt x="8760993" y="176657"/>
                  </a:lnTo>
                  <a:lnTo>
                    <a:pt x="8759469" y="177927"/>
                  </a:lnTo>
                  <a:lnTo>
                    <a:pt x="8757437" y="180479"/>
                  </a:lnTo>
                  <a:lnTo>
                    <a:pt x="8755278" y="183007"/>
                  </a:lnTo>
                  <a:lnTo>
                    <a:pt x="8753119" y="184277"/>
                  </a:lnTo>
                  <a:lnTo>
                    <a:pt x="8749055" y="184277"/>
                  </a:lnTo>
                  <a:lnTo>
                    <a:pt x="8747277" y="183007"/>
                  </a:lnTo>
                  <a:lnTo>
                    <a:pt x="8744737" y="180479"/>
                  </a:lnTo>
                  <a:lnTo>
                    <a:pt x="8744229" y="180479"/>
                  </a:lnTo>
                  <a:lnTo>
                    <a:pt x="8743848" y="179197"/>
                  </a:lnTo>
                  <a:lnTo>
                    <a:pt x="8743721" y="176657"/>
                  </a:lnTo>
                  <a:lnTo>
                    <a:pt x="8744229" y="174129"/>
                  </a:lnTo>
                  <a:lnTo>
                    <a:pt x="8744864" y="172847"/>
                  </a:lnTo>
                  <a:lnTo>
                    <a:pt x="8746007" y="171577"/>
                  </a:lnTo>
                  <a:lnTo>
                    <a:pt x="8748039" y="169037"/>
                  </a:lnTo>
                  <a:lnTo>
                    <a:pt x="8751341" y="163957"/>
                  </a:lnTo>
                  <a:lnTo>
                    <a:pt x="8753754" y="160147"/>
                  </a:lnTo>
                  <a:lnTo>
                    <a:pt x="8754897" y="157607"/>
                  </a:lnTo>
                  <a:lnTo>
                    <a:pt x="8759342" y="162687"/>
                  </a:lnTo>
                  <a:lnTo>
                    <a:pt x="8760866" y="163957"/>
                  </a:lnTo>
                  <a:lnTo>
                    <a:pt x="8762390" y="169037"/>
                  </a:lnTo>
                  <a:lnTo>
                    <a:pt x="8762390" y="154305"/>
                  </a:lnTo>
                  <a:lnTo>
                    <a:pt x="8757006" y="148729"/>
                  </a:lnTo>
                  <a:lnTo>
                    <a:pt x="8753373" y="144907"/>
                  </a:lnTo>
                  <a:lnTo>
                    <a:pt x="8751595" y="143637"/>
                  </a:lnTo>
                  <a:lnTo>
                    <a:pt x="8750452" y="142379"/>
                  </a:lnTo>
                  <a:lnTo>
                    <a:pt x="8748674" y="141097"/>
                  </a:lnTo>
                  <a:lnTo>
                    <a:pt x="8741054" y="141097"/>
                  </a:lnTo>
                  <a:lnTo>
                    <a:pt x="8738768" y="142379"/>
                  </a:lnTo>
                  <a:lnTo>
                    <a:pt x="8736355" y="143637"/>
                  </a:lnTo>
                  <a:lnTo>
                    <a:pt x="8722893" y="161429"/>
                  </a:lnTo>
                  <a:lnTo>
                    <a:pt x="8723274" y="163957"/>
                  </a:lnTo>
                  <a:lnTo>
                    <a:pt x="8723401" y="165227"/>
                  </a:lnTo>
                  <a:lnTo>
                    <a:pt x="8723528" y="166497"/>
                  </a:lnTo>
                  <a:lnTo>
                    <a:pt x="8724544" y="170307"/>
                  </a:lnTo>
                  <a:lnTo>
                    <a:pt x="8726322" y="172847"/>
                  </a:lnTo>
                  <a:lnTo>
                    <a:pt x="8732418" y="167779"/>
                  </a:lnTo>
                  <a:lnTo>
                    <a:pt x="8730767" y="165227"/>
                  </a:lnTo>
                  <a:lnTo>
                    <a:pt x="8730132" y="162687"/>
                  </a:lnTo>
                  <a:lnTo>
                    <a:pt x="8730259" y="161429"/>
                  </a:lnTo>
                  <a:lnTo>
                    <a:pt x="8730386" y="160147"/>
                  </a:lnTo>
                  <a:lnTo>
                    <a:pt x="8730767" y="157607"/>
                  </a:lnTo>
                  <a:lnTo>
                    <a:pt x="8732164" y="156337"/>
                  </a:lnTo>
                  <a:lnTo>
                    <a:pt x="8737498" y="149987"/>
                  </a:lnTo>
                  <a:lnTo>
                    <a:pt x="8740292" y="148729"/>
                  </a:lnTo>
                  <a:lnTo>
                    <a:pt x="8744864" y="148729"/>
                  </a:lnTo>
                  <a:lnTo>
                    <a:pt x="8746896" y="149987"/>
                  </a:lnTo>
                  <a:lnTo>
                    <a:pt x="8749182" y="152527"/>
                  </a:lnTo>
                  <a:lnTo>
                    <a:pt x="8749817" y="152527"/>
                  </a:lnTo>
                  <a:lnTo>
                    <a:pt x="8739403" y="169037"/>
                  </a:lnTo>
                  <a:lnTo>
                    <a:pt x="8738641" y="170307"/>
                  </a:lnTo>
                  <a:lnTo>
                    <a:pt x="8737498" y="172847"/>
                  </a:lnTo>
                  <a:lnTo>
                    <a:pt x="8736863" y="174129"/>
                  </a:lnTo>
                  <a:lnTo>
                    <a:pt x="8736101" y="179197"/>
                  </a:lnTo>
                  <a:lnTo>
                    <a:pt x="8736228" y="180479"/>
                  </a:lnTo>
                  <a:lnTo>
                    <a:pt x="8736736" y="183007"/>
                  </a:lnTo>
                  <a:lnTo>
                    <a:pt x="8737371" y="184277"/>
                  </a:lnTo>
                  <a:lnTo>
                    <a:pt x="8738514" y="186829"/>
                  </a:lnTo>
                  <a:lnTo>
                    <a:pt x="8740038" y="188087"/>
                  </a:lnTo>
                  <a:lnTo>
                    <a:pt x="8742705" y="190627"/>
                  </a:lnTo>
                  <a:lnTo>
                    <a:pt x="8745880" y="191897"/>
                  </a:lnTo>
                  <a:lnTo>
                    <a:pt x="8753246" y="191897"/>
                  </a:lnTo>
                  <a:lnTo>
                    <a:pt x="8756802" y="189357"/>
                  </a:lnTo>
                  <a:lnTo>
                    <a:pt x="8767470" y="171577"/>
                  </a:lnTo>
                  <a:lnTo>
                    <a:pt x="8767597" y="170307"/>
                  </a:lnTo>
                  <a:lnTo>
                    <a:pt x="8769248" y="171577"/>
                  </a:lnTo>
                  <a:lnTo>
                    <a:pt x="8771026" y="171577"/>
                  </a:lnTo>
                  <a:lnTo>
                    <a:pt x="8772677" y="172847"/>
                  </a:lnTo>
                  <a:lnTo>
                    <a:pt x="8774963" y="170307"/>
                  </a:lnTo>
                  <a:lnTo>
                    <a:pt x="8778392" y="166497"/>
                  </a:lnTo>
                  <a:close/>
                </a:path>
                <a:path w="9090025" h="247014">
                  <a:moveTo>
                    <a:pt x="8805062" y="162687"/>
                  </a:moveTo>
                  <a:lnTo>
                    <a:pt x="8804935" y="161429"/>
                  </a:lnTo>
                  <a:lnTo>
                    <a:pt x="8804808" y="160147"/>
                  </a:lnTo>
                  <a:lnTo>
                    <a:pt x="8804046" y="157607"/>
                  </a:lnTo>
                  <a:lnTo>
                    <a:pt x="8803411" y="155079"/>
                  </a:lnTo>
                  <a:lnTo>
                    <a:pt x="8802014" y="151257"/>
                  </a:lnTo>
                  <a:lnTo>
                    <a:pt x="8799728" y="146177"/>
                  </a:lnTo>
                  <a:lnTo>
                    <a:pt x="8797963" y="142379"/>
                  </a:lnTo>
                  <a:lnTo>
                    <a:pt x="8779154" y="101727"/>
                  </a:lnTo>
                  <a:lnTo>
                    <a:pt x="8773566" y="106807"/>
                  </a:lnTo>
                  <a:lnTo>
                    <a:pt x="8785631" y="132207"/>
                  </a:lnTo>
                  <a:lnTo>
                    <a:pt x="8787155" y="136029"/>
                  </a:lnTo>
                  <a:lnTo>
                    <a:pt x="8788806" y="138557"/>
                  </a:lnTo>
                  <a:lnTo>
                    <a:pt x="8790711" y="142379"/>
                  </a:lnTo>
                  <a:lnTo>
                    <a:pt x="8787409" y="139827"/>
                  </a:lnTo>
                  <a:lnTo>
                    <a:pt x="8780805" y="137287"/>
                  </a:lnTo>
                  <a:lnTo>
                    <a:pt x="8755278" y="124587"/>
                  </a:lnTo>
                  <a:lnTo>
                    <a:pt x="8749436" y="130937"/>
                  </a:lnTo>
                  <a:lnTo>
                    <a:pt x="8794140" y="151257"/>
                  </a:lnTo>
                  <a:lnTo>
                    <a:pt x="8794521" y="152527"/>
                  </a:lnTo>
                  <a:lnTo>
                    <a:pt x="8795029" y="152527"/>
                  </a:lnTo>
                  <a:lnTo>
                    <a:pt x="8796426" y="156337"/>
                  </a:lnTo>
                  <a:lnTo>
                    <a:pt x="8797188" y="157607"/>
                  </a:lnTo>
                  <a:lnTo>
                    <a:pt x="8797696" y="160147"/>
                  </a:lnTo>
                  <a:lnTo>
                    <a:pt x="8797696" y="161429"/>
                  </a:lnTo>
                  <a:lnTo>
                    <a:pt x="8797315" y="162687"/>
                  </a:lnTo>
                  <a:lnTo>
                    <a:pt x="8797061" y="163957"/>
                  </a:lnTo>
                  <a:lnTo>
                    <a:pt x="8796299" y="163957"/>
                  </a:lnTo>
                  <a:lnTo>
                    <a:pt x="8794140" y="166497"/>
                  </a:lnTo>
                  <a:lnTo>
                    <a:pt x="8792870" y="167779"/>
                  </a:lnTo>
                  <a:lnTo>
                    <a:pt x="8791346" y="169037"/>
                  </a:lnTo>
                  <a:lnTo>
                    <a:pt x="8797188" y="172847"/>
                  </a:lnTo>
                  <a:lnTo>
                    <a:pt x="8798966" y="171577"/>
                  </a:lnTo>
                  <a:lnTo>
                    <a:pt x="8800363" y="171577"/>
                  </a:lnTo>
                  <a:lnTo>
                    <a:pt x="8803157" y="167779"/>
                  </a:lnTo>
                  <a:lnTo>
                    <a:pt x="8804173" y="166497"/>
                  </a:lnTo>
                  <a:lnTo>
                    <a:pt x="8804681" y="163957"/>
                  </a:lnTo>
                  <a:lnTo>
                    <a:pt x="8805062" y="162687"/>
                  </a:lnTo>
                  <a:close/>
                </a:path>
                <a:path w="9090025" h="247014">
                  <a:moveTo>
                    <a:pt x="8817508" y="100457"/>
                  </a:moveTo>
                  <a:lnTo>
                    <a:pt x="8811920" y="95377"/>
                  </a:lnTo>
                  <a:lnTo>
                    <a:pt x="8795156" y="111887"/>
                  </a:lnTo>
                  <a:lnTo>
                    <a:pt x="8800617" y="118237"/>
                  </a:lnTo>
                  <a:lnTo>
                    <a:pt x="8817508" y="100457"/>
                  </a:lnTo>
                  <a:close/>
                </a:path>
                <a:path w="9090025" h="247014">
                  <a:moveTo>
                    <a:pt x="8865133" y="80137"/>
                  </a:moveTo>
                  <a:lnTo>
                    <a:pt x="8859799" y="75057"/>
                  </a:lnTo>
                  <a:lnTo>
                    <a:pt x="8837828" y="96647"/>
                  </a:lnTo>
                  <a:lnTo>
                    <a:pt x="8837447" y="95377"/>
                  </a:lnTo>
                  <a:lnTo>
                    <a:pt x="8837447" y="85229"/>
                  </a:lnTo>
                  <a:lnTo>
                    <a:pt x="8838590" y="72529"/>
                  </a:lnTo>
                  <a:lnTo>
                    <a:pt x="8838463" y="63627"/>
                  </a:lnTo>
                  <a:lnTo>
                    <a:pt x="8824747" y="42037"/>
                  </a:lnTo>
                  <a:lnTo>
                    <a:pt x="8815095" y="43307"/>
                  </a:lnTo>
                  <a:lnTo>
                    <a:pt x="8810396" y="44577"/>
                  </a:lnTo>
                  <a:lnTo>
                    <a:pt x="8806205" y="49657"/>
                  </a:lnTo>
                  <a:lnTo>
                    <a:pt x="8801887" y="53479"/>
                  </a:lnTo>
                  <a:lnTo>
                    <a:pt x="8799601" y="58547"/>
                  </a:lnTo>
                  <a:lnTo>
                    <a:pt x="8799512" y="59829"/>
                  </a:lnTo>
                  <a:lnTo>
                    <a:pt x="8799424" y="61087"/>
                  </a:lnTo>
                  <a:lnTo>
                    <a:pt x="8799347" y="62357"/>
                  </a:lnTo>
                  <a:lnTo>
                    <a:pt x="8799246" y="63627"/>
                  </a:lnTo>
                  <a:lnTo>
                    <a:pt x="8799157" y="64897"/>
                  </a:lnTo>
                  <a:lnTo>
                    <a:pt x="8799055" y="66179"/>
                  </a:lnTo>
                  <a:lnTo>
                    <a:pt x="8798966" y="67437"/>
                  </a:lnTo>
                  <a:lnTo>
                    <a:pt x="8800744" y="72529"/>
                  </a:lnTo>
                  <a:lnTo>
                    <a:pt x="8804554" y="76327"/>
                  </a:lnTo>
                  <a:lnTo>
                    <a:pt x="8810777" y="71247"/>
                  </a:lnTo>
                  <a:lnTo>
                    <a:pt x="8807983" y="68707"/>
                  </a:lnTo>
                  <a:lnTo>
                    <a:pt x="8806586" y="66179"/>
                  </a:lnTo>
                  <a:lnTo>
                    <a:pt x="8806586" y="59829"/>
                  </a:lnTo>
                  <a:lnTo>
                    <a:pt x="8807983" y="56007"/>
                  </a:lnTo>
                  <a:lnTo>
                    <a:pt x="8813063" y="50927"/>
                  </a:lnTo>
                  <a:lnTo>
                    <a:pt x="8815857" y="49657"/>
                  </a:lnTo>
                  <a:lnTo>
                    <a:pt x="8821953" y="49657"/>
                  </a:lnTo>
                  <a:lnTo>
                    <a:pt x="8831478" y="66179"/>
                  </a:lnTo>
                  <a:lnTo>
                    <a:pt x="8831453" y="67437"/>
                  </a:lnTo>
                  <a:lnTo>
                    <a:pt x="8831351" y="72529"/>
                  </a:lnTo>
                  <a:lnTo>
                    <a:pt x="8829827" y="87757"/>
                  </a:lnTo>
                  <a:lnTo>
                    <a:pt x="8829700" y="91579"/>
                  </a:lnTo>
                  <a:lnTo>
                    <a:pt x="8829954" y="95377"/>
                  </a:lnTo>
                  <a:lnTo>
                    <a:pt x="8835542" y="109347"/>
                  </a:lnTo>
                  <a:lnTo>
                    <a:pt x="8848407" y="96647"/>
                  </a:lnTo>
                  <a:lnTo>
                    <a:pt x="8865133" y="80137"/>
                  </a:lnTo>
                  <a:close/>
                </a:path>
                <a:path w="9090025" h="247014">
                  <a:moveTo>
                    <a:pt x="8892565" y="40779"/>
                  </a:moveTo>
                  <a:lnTo>
                    <a:pt x="8890660" y="35687"/>
                  </a:lnTo>
                  <a:lnTo>
                    <a:pt x="8889390" y="34429"/>
                  </a:lnTo>
                  <a:lnTo>
                    <a:pt x="8886850" y="31877"/>
                  </a:lnTo>
                  <a:lnTo>
                    <a:pt x="8883929" y="29337"/>
                  </a:lnTo>
                  <a:lnTo>
                    <a:pt x="8880754" y="26797"/>
                  </a:lnTo>
                  <a:lnTo>
                    <a:pt x="8870721" y="26797"/>
                  </a:lnTo>
                  <a:lnTo>
                    <a:pt x="8867419" y="29337"/>
                  </a:lnTo>
                  <a:lnTo>
                    <a:pt x="8868562" y="26797"/>
                  </a:lnTo>
                  <a:lnTo>
                    <a:pt x="8868689" y="25527"/>
                  </a:lnTo>
                  <a:lnTo>
                    <a:pt x="8868816" y="24257"/>
                  </a:lnTo>
                  <a:lnTo>
                    <a:pt x="8868308" y="20447"/>
                  </a:lnTo>
                  <a:lnTo>
                    <a:pt x="8867673" y="17907"/>
                  </a:lnTo>
                  <a:lnTo>
                    <a:pt x="8866530" y="16637"/>
                  </a:lnTo>
                  <a:lnTo>
                    <a:pt x="8862466" y="11557"/>
                  </a:lnTo>
                  <a:lnTo>
                    <a:pt x="8860053" y="10287"/>
                  </a:lnTo>
                  <a:lnTo>
                    <a:pt x="8857132" y="10287"/>
                  </a:lnTo>
                  <a:lnTo>
                    <a:pt x="8854211" y="9029"/>
                  </a:lnTo>
                  <a:lnTo>
                    <a:pt x="8851290" y="9029"/>
                  </a:lnTo>
                  <a:lnTo>
                    <a:pt x="8848115" y="10287"/>
                  </a:lnTo>
                  <a:lnTo>
                    <a:pt x="8834018" y="28079"/>
                  </a:lnTo>
                  <a:lnTo>
                    <a:pt x="8833891" y="29337"/>
                  </a:lnTo>
                  <a:lnTo>
                    <a:pt x="8833764" y="30607"/>
                  </a:lnTo>
                  <a:lnTo>
                    <a:pt x="8833637" y="31877"/>
                  </a:lnTo>
                  <a:lnTo>
                    <a:pt x="8834907" y="36957"/>
                  </a:lnTo>
                  <a:lnTo>
                    <a:pt x="8837955" y="40779"/>
                  </a:lnTo>
                  <a:lnTo>
                    <a:pt x="8844432" y="35687"/>
                  </a:lnTo>
                  <a:lnTo>
                    <a:pt x="8842146" y="33147"/>
                  </a:lnTo>
                  <a:lnTo>
                    <a:pt x="8841003" y="30607"/>
                  </a:lnTo>
                  <a:lnTo>
                    <a:pt x="8849004" y="16637"/>
                  </a:lnTo>
                  <a:lnTo>
                    <a:pt x="8854465" y="16637"/>
                  </a:lnTo>
                  <a:lnTo>
                    <a:pt x="8856751" y="17907"/>
                  </a:lnTo>
                  <a:lnTo>
                    <a:pt x="8861323" y="21729"/>
                  </a:lnTo>
                  <a:lnTo>
                    <a:pt x="8862212" y="25527"/>
                  </a:lnTo>
                  <a:lnTo>
                    <a:pt x="8860942" y="30607"/>
                  </a:lnTo>
                  <a:lnTo>
                    <a:pt x="8859418" y="34429"/>
                  </a:lnTo>
                  <a:lnTo>
                    <a:pt x="8857132" y="36957"/>
                  </a:lnTo>
                  <a:lnTo>
                    <a:pt x="8856116" y="36957"/>
                  </a:lnTo>
                  <a:lnTo>
                    <a:pt x="8860434" y="42037"/>
                  </a:lnTo>
                  <a:lnTo>
                    <a:pt x="8861577" y="40779"/>
                  </a:lnTo>
                  <a:lnTo>
                    <a:pt x="8863609" y="38227"/>
                  </a:lnTo>
                  <a:lnTo>
                    <a:pt x="8866149" y="35687"/>
                  </a:lnTo>
                  <a:lnTo>
                    <a:pt x="8869070" y="34429"/>
                  </a:lnTo>
                  <a:lnTo>
                    <a:pt x="8875674" y="34429"/>
                  </a:lnTo>
                  <a:lnTo>
                    <a:pt x="8878595" y="35687"/>
                  </a:lnTo>
                  <a:lnTo>
                    <a:pt x="8883802" y="40779"/>
                  </a:lnTo>
                  <a:lnTo>
                    <a:pt x="8885072" y="43307"/>
                  </a:lnTo>
                  <a:lnTo>
                    <a:pt x="8885072" y="50927"/>
                  </a:lnTo>
                  <a:lnTo>
                    <a:pt x="8883802" y="53479"/>
                  </a:lnTo>
                  <a:lnTo>
                    <a:pt x="8879103" y="58547"/>
                  </a:lnTo>
                  <a:lnTo>
                    <a:pt x="8876563" y="59829"/>
                  </a:lnTo>
                  <a:lnTo>
                    <a:pt x="8870721" y="59829"/>
                  </a:lnTo>
                  <a:lnTo>
                    <a:pt x="8867419" y="58547"/>
                  </a:lnTo>
                  <a:lnTo>
                    <a:pt x="8863736" y="56007"/>
                  </a:lnTo>
                  <a:lnTo>
                    <a:pt x="8858910" y="62357"/>
                  </a:lnTo>
                  <a:lnTo>
                    <a:pt x="8862974" y="66179"/>
                  </a:lnTo>
                  <a:lnTo>
                    <a:pt x="8867546" y="67437"/>
                  </a:lnTo>
                  <a:lnTo>
                    <a:pt x="8877325" y="67437"/>
                  </a:lnTo>
                  <a:lnTo>
                    <a:pt x="8881770" y="64897"/>
                  </a:lnTo>
                  <a:lnTo>
                    <a:pt x="8885707" y="61087"/>
                  </a:lnTo>
                  <a:lnTo>
                    <a:pt x="8887181" y="59829"/>
                  </a:lnTo>
                  <a:lnTo>
                    <a:pt x="8890152" y="57277"/>
                  </a:lnTo>
                  <a:lnTo>
                    <a:pt x="8892311" y="52197"/>
                  </a:lnTo>
                  <a:lnTo>
                    <a:pt x="8892438" y="45847"/>
                  </a:lnTo>
                  <a:lnTo>
                    <a:pt x="8892565" y="40779"/>
                  </a:lnTo>
                  <a:close/>
                </a:path>
                <a:path w="9090025" h="247014">
                  <a:moveTo>
                    <a:pt x="8950096" y="188087"/>
                  </a:moveTo>
                  <a:lnTo>
                    <a:pt x="8949969" y="185039"/>
                  </a:lnTo>
                  <a:lnTo>
                    <a:pt x="8947683" y="179197"/>
                  </a:lnTo>
                  <a:lnTo>
                    <a:pt x="8945270" y="175768"/>
                  </a:lnTo>
                  <a:lnTo>
                    <a:pt x="8941460" y="172085"/>
                  </a:lnTo>
                  <a:lnTo>
                    <a:pt x="8910980" y="141605"/>
                  </a:lnTo>
                  <a:lnTo>
                    <a:pt x="8905138" y="147447"/>
                  </a:lnTo>
                  <a:lnTo>
                    <a:pt x="8938412" y="180848"/>
                  </a:lnTo>
                  <a:lnTo>
                    <a:pt x="8940190" y="183007"/>
                  </a:lnTo>
                  <a:lnTo>
                    <a:pt x="8941714" y="186055"/>
                  </a:lnTo>
                  <a:lnTo>
                    <a:pt x="8941778" y="188087"/>
                  </a:lnTo>
                  <a:lnTo>
                    <a:pt x="8941079" y="191262"/>
                  </a:lnTo>
                  <a:lnTo>
                    <a:pt x="8940063" y="192913"/>
                  </a:lnTo>
                  <a:lnTo>
                    <a:pt x="8938666" y="194437"/>
                  </a:lnTo>
                  <a:lnTo>
                    <a:pt x="8936634" y="196469"/>
                  </a:lnTo>
                  <a:lnTo>
                    <a:pt x="8934348" y="197358"/>
                  </a:lnTo>
                  <a:lnTo>
                    <a:pt x="8934209" y="197358"/>
                  </a:lnTo>
                  <a:lnTo>
                    <a:pt x="8929649" y="197104"/>
                  </a:lnTo>
                  <a:lnTo>
                    <a:pt x="8926601" y="195453"/>
                  </a:lnTo>
                  <a:lnTo>
                    <a:pt x="8923045" y="192151"/>
                  </a:lnTo>
                  <a:lnTo>
                    <a:pt x="8918473" y="198247"/>
                  </a:lnTo>
                  <a:lnTo>
                    <a:pt x="8922791" y="202692"/>
                  </a:lnTo>
                  <a:lnTo>
                    <a:pt x="8927236" y="205105"/>
                  </a:lnTo>
                  <a:lnTo>
                    <a:pt x="8931554" y="205232"/>
                  </a:lnTo>
                  <a:lnTo>
                    <a:pt x="8935872" y="205486"/>
                  </a:lnTo>
                  <a:lnTo>
                    <a:pt x="8940063" y="203581"/>
                  </a:lnTo>
                  <a:lnTo>
                    <a:pt x="8943873" y="199644"/>
                  </a:lnTo>
                  <a:lnTo>
                    <a:pt x="8946159" y="197358"/>
                  </a:lnTo>
                  <a:lnTo>
                    <a:pt x="8946413" y="197104"/>
                  </a:lnTo>
                  <a:lnTo>
                    <a:pt x="8946858" y="196469"/>
                  </a:lnTo>
                  <a:lnTo>
                    <a:pt x="8948318" y="194183"/>
                  </a:lnTo>
                  <a:lnTo>
                    <a:pt x="8950096" y="188087"/>
                  </a:lnTo>
                  <a:close/>
                </a:path>
                <a:path w="9090025" h="247014">
                  <a:moveTo>
                    <a:pt x="8990863" y="151130"/>
                  </a:moveTo>
                  <a:lnTo>
                    <a:pt x="8958478" y="118745"/>
                  </a:lnTo>
                  <a:lnTo>
                    <a:pt x="8953017" y="124206"/>
                  </a:lnTo>
                  <a:lnTo>
                    <a:pt x="8973083" y="144399"/>
                  </a:lnTo>
                  <a:lnTo>
                    <a:pt x="8974861" y="146812"/>
                  </a:lnTo>
                  <a:lnTo>
                    <a:pt x="8976639" y="150876"/>
                  </a:lnTo>
                  <a:lnTo>
                    <a:pt x="8976766" y="153035"/>
                  </a:lnTo>
                  <a:lnTo>
                    <a:pt x="8976131" y="155321"/>
                  </a:lnTo>
                  <a:lnTo>
                    <a:pt x="8975560" y="157480"/>
                  </a:lnTo>
                  <a:lnTo>
                    <a:pt x="8975496" y="157734"/>
                  </a:lnTo>
                  <a:lnTo>
                    <a:pt x="8974480" y="159639"/>
                  </a:lnTo>
                  <a:lnTo>
                    <a:pt x="8971178" y="162941"/>
                  </a:lnTo>
                  <a:lnTo>
                    <a:pt x="8969032" y="164084"/>
                  </a:lnTo>
                  <a:lnTo>
                    <a:pt x="8968321" y="164084"/>
                  </a:lnTo>
                  <a:lnTo>
                    <a:pt x="8965463" y="164465"/>
                  </a:lnTo>
                  <a:lnTo>
                    <a:pt x="8963558" y="164084"/>
                  </a:lnTo>
                  <a:lnTo>
                    <a:pt x="8961780" y="162941"/>
                  </a:lnTo>
                  <a:lnTo>
                    <a:pt x="8960510" y="162179"/>
                  </a:lnTo>
                  <a:lnTo>
                    <a:pt x="8958478" y="160401"/>
                  </a:lnTo>
                  <a:lnTo>
                    <a:pt x="8955684" y="157480"/>
                  </a:lnTo>
                  <a:lnTo>
                    <a:pt x="8937650" y="139573"/>
                  </a:lnTo>
                  <a:lnTo>
                    <a:pt x="8932189" y="145034"/>
                  </a:lnTo>
                  <a:lnTo>
                    <a:pt x="8952255" y="165100"/>
                  </a:lnTo>
                  <a:lnTo>
                    <a:pt x="8954541" y="167513"/>
                  </a:lnTo>
                  <a:lnTo>
                    <a:pt x="8961831" y="172085"/>
                  </a:lnTo>
                  <a:lnTo>
                    <a:pt x="8962149" y="172085"/>
                  </a:lnTo>
                  <a:lnTo>
                    <a:pt x="8963431" y="172339"/>
                  </a:lnTo>
                  <a:lnTo>
                    <a:pt x="8965463" y="172593"/>
                  </a:lnTo>
                  <a:lnTo>
                    <a:pt x="8967495" y="172339"/>
                  </a:lnTo>
                  <a:lnTo>
                    <a:pt x="8969908" y="171323"/>
                  </a:lnTo>
                  <a:lnTo>
                    <a:pt x="8972321" y="170434"/>
                  </a:lnTo>
                  <a:lnTo>
                    <a:pt x="8974480" y="169037"/>
                  </a:lnTo>
                  <a:lnTo>
                    <a:pt x="8979052" y="164465"/>
                  </a:lnTo>
                  <a:lnTo>
                    <a:pt x="8980576" y="162941"/>
                  </a:lnTo>
                  <a:lnTo>
                    <a:pt x="8980894" y="162179"/>
                  </a:lnTo>
                  <a:lnTo>
                    <a:pt x="8982265" y="157734"/>
                  </a:lnTo>
                  <a:lnTo>
                    <a:pt x="8982354" y="157480"/>
                  </a:lnTo>
                  <a:lnTo>
                    <a:pt x="8981211" y="151384"/>
                  </a:lnTo>
                  <a:lnTo>
                    <a:pt x="8985910" y="156083"/>
                  </a:lnTo>
                  <a:lnTo>
                    <a:pt x="8990609" y="151384"/>
                  </a:lnTo>
                  <a:lnTo>
                    <a:pt x="8990863" y="151130"/>
                  </a:lnTo>
                  <a:close/>
                </a:path>
                <a:path w="9090025" h="247014">
                  <a:moveTo>
                    <a:pt x="9005595" y="136398"/>
                  </a:moveTo>
                  <a:lnTo>
                    <a:pt x="8960891" y="91694"/>
                  </a:lnTo>
                  <a:lnTo>
                    <a:pt x="8955430" y="97155"/>
                  </a:lnTo>
                  <a:lnTo>
                    <a:pt x="9000134" y="141859"/>
                  </a:lnTo>
                  <a:lnTo>
                    <a:pt x="9005595" y="136398"/>
                  </a:lnTo>
                  <a:close/>
                </a:path>
                <a:path w="9090025" h="247014">
                  <a:moveTo>
                    <a:pt x="9015628" y="99568"/>
                  </a:moveTo>
                  <a:lnTo>
                    <a:pt x="9010040" y="94107"/>
                  </a:lnTo>
                  <a:lnTo>
                    <a:pt x="8993149" y="110998"/>
                  </a:lnTo>
                  <a:lnTo>
                    <a:pt x="8998737" y="116459"/>
                  </a:lnTo>
                  <a:lnTo>
                    <a:pt x="9015628" y="99568"/>
                  </a:lnTo>
                  <a:close/>
                </a:path>
                <a:path w="9090025" h="247014">
                  <a:moveTo>
                    <a:pt x="9034628" y="56261"/>
                  </a:moveTo>
                  <a:lnTo>
                    <a:pt x="9033472" y="53340"/>
                  </a:lnTo>
                  <a:lnTo>
                    <a:pt x="9032811" y="51562"/>
                  </a:lnTo>
                  <a:lnTo>
                    <a:pt x="9032773" y="51435"/>
                  </a:lnTo>
                  <a:lnTo>
                    <a:pt x="9031783" y="49911"/>
                  </a:lnTo>
                  <a:lnTo>
                    <a:pt x="9031376" y="49276"/>
                  </a:lnTo>
                  <a:lnTo>
                    <a:pt x="9026042" y="43942"/>
                  </a:lnTo>
                  <a:lnTo>
                    <a:pt x="9022169" y="42418"/>
                  </a:lnTo>
                  <a:lnTo>
                    <a:pt x="9016898" y="42418"/>
                  </a:lnTo>
                  <a:lnTo>
                    <a:pt x="8996324" y="62484"/>
                  </a:lnTo>
                  <a:lnTo>
                    <a:pt x="8996134" y="64770"/>
                  </a:lnTo>
                  <a:lnTo>
                    <a:pt x="8996032" y="67437"/>
                  </a:lnTo>
                  <a:lnTo>
                    <a:pt x="8997518" y="71374"/>
                  </a:lnTo>
                  <a:lnTo>
                    <a:pt x="8997823" y="72009"/>
                  </a:lnTo>
                  <a:lnTo>
                    <a:pt x="9001531" y="76454"/>
                  </a:lnTo>
                  <a:lnTo>
                    <a:pt x="9007754" y="71374"/>
                  </a:lnTo>
                  <a:lnTo>
                    <a:pt x="9005087" y="68580"/>
                  </a:lnTo>
                  <a:lnTo>
                    <a:pt x="9003805" y="65913"/>
                  </a:lnTo>
                  <a:lnTo>
                    <a:pt x="9003690" y="59436"/>
                  </a:lnTo>
                  <a:lnTo>
                    <a:pt x="9003906" y="58801"/>
                  </a:lnTo>
                  <a:lnTo>
                    <a:pt x="9004897" y="56515"/>
                  </a:lnTo>
                  <a:lnTo>
                    <a:pt x="9026423" y="56515"/>
                  </a:lnTo>
                  <a:lnTo>
                    <a:pt x="9026309" y="56261"/>
                  </a:lnTo>
                  <a:lnTo>
                    <a:pt x="9005087" y="56261"/>
                  </a:lnTo>
                  <a:lnTo>
                    <a:pt x="9007983" y="53340"/>
                  </a:lnTo>
                  <a:lnTo>
                    <a:pt x="9010040" y="51181"/>
                  </a:lnTo>
                  <a:lnTo>
                    <a:pt x="9012834" y="49911"/>
                  </a:lnTo>
                  <a:lnTo>
                    <a:pt x="9019261" y="49911"/>
                  </a:lnTo>
                  <a:lnTo>
                    <a:pt x="9021597" y="50800"/>
                  </a:lnTo>
                  <a:lnTo>
                    <a:pt x="9023756" y="53086"/>
                  </a:lnTo>
                  <a:lnTo>
                    <a:pt x="9025788" y="55118"/>
                  </a:lnTo>
                  <a:lnTo>
                    <a:pt x="9026309" y="56261"/>
                  </a:lnTo>
                  <a:lnTo>
                    <a:pt x="9034628" y="56261"/>
                  </a:lnTo>
                  <a:close/>
                </a:path>
                <a:path w="9090025" h="247014">
                  <a:moveTo>
                    <a:pt x="9062110" y="80010"/>
                  </a:moveTo>
                  <a:lnTo>
                    <a:pt x="9056776" y="74676"/>
                  </a:lnTo>
                  <a:lnTo>
                    <a:pt x="9034932" y="96647"/>
                  </a:lnTo>
                  <a:lnTo>
                    <a:pt x="9034666" y="95504"/>
                  </a:lnTo>
                  <a:lnTo>
                    <a:pt x="9034551" y="94996"/>
                  </a:lnTo>
                  <a:lnTo>
                    <a:pt x="9034424" y="85344"/>
                  </a:lnTo>
                  <a:lnTo>
                    <a:pt x="9035504" y="72644"/>
                  </a:lnTo>
                  <a:lnTo>
                    <a:pt x="9035529" y="62484"/>
                  </a:lnTo>
                  <a:lnTo>
                    <a:pt x="9035339" y="59944"/>
                  </a:lnTo>
                  <a:lnTo>
                    <a:pt x="9035313" y="59436"/>
                  </a:lnTo>
                  <a:lnTo>
                    <a:pt x="9034704" y="56515"/>
                  </a:lnTo>
                  <a:lnTo>
                    <a:pt x="9026423" y="56515"/>
                  </a:lnTo>
                  <a:lnTo>
                    <a:pt x="9027185" y="58166"/>
                  </a:lnTo>
                  <a:lnTo>
                    <a:pt x="9028214" y="64770"/>
                  </a:lnTo>
                  <a:lnTo>
                    <a:pt x="9028328" y="72644"/>
                  </a:lnTo>
                  <a:lnTo>
                    <a:pt x="9027439" y="81534"/>
                  </a:lnTo>
                  <a:lnTo>
                    <a:pt x="9026804" y="87249"/>
                  </a:lnTo>
                  <a:lnTo>
                    <a:pt x="9026677" y="91694"/>
                  </a:lnTo>
                  <a:lnTo>
                    <a:pt x="9026677" y="91948"/>
                  </a:lnTo>
                  <a:lnTo>
                    <a:pt x="9026804" y="93218"/>
                  </a:lnTo>
                  <a:lnTo>
                    <a:pt x="9026906" y="94107"/>
                  </a:lnTo>
                  <a:lnTo>
                    <a:pt x="9026995" y="94996"/>
                  </a:lnTo>
                  <a:lnTo>
                    <a:pt x="9027058" y="95504"/>
                  </a:lnTo>
                  <a:lnTo>
                    <a:pt x="9027312" y="99060"/>
                  </a:lnTo>
                  <a:lnTo>
                    <a:pt x="9028074" y="102362"/>
                  </a:lnTo>
                  <a:lnTo>
                    <a:pt x="9029344" y="105029"/>
                  </a:lnTo>
                  <a:lnTo>
                    <a:pt x="9030106" y="106807"/>
                  </a:lnTo>
                  <a:lnTo>
                    <a:pt x="9031122" y="108204"/>
                  </a:lnTo>
                  <a:lnTo>
                    <a:pt x="9032519" y="109474"/>
                  </a:lnTo>
                  <a:lnTo>
                    <a:pt x="9045397" y="96647"/>
                  </a:lnTo>
                  <a:lnTo>
                    <a:pt x="9062110" y="80010"/>
                  </a:lnTo>
                  <a:close/>
                </a:path>
                <a:path w="9090025" h="247014">
                  <a:moveTo>
                    <a:pt x="9089669" y="40386"/>
                  </a:moveTo>
                  <a:lnTo>
                    <a:pt x="9087764" y="35687"/>
                  </a:lnTo>
                  <a:lnTo>
                    <a:pt x="9086113" y="34036"/>
                  </a:lnTo>
                  <a:lnTo>
                    <a:pt x="9083827" y="31750"/>
                  </a:lnTo>
                  <a:lnTo>
                    <a:pt x="9081033" y="29083"/>
                  </a:lnTo>
                  <a:lnTo>
                    <a:pt x="9077858" y="27178"/>
                  </a:lnTo>
                  <a:lnTo>
                    <a:pt x="9074429" y="26797"/>
                  </a:lnTo>
                  <a:lnTo>
                    <a:pt x="9071000" y="26289"/>
                  </a:lnTo>
                  <a:lnTo>
                    <a:pt x="9067140" y="27178"/>
                  </a:lnTo>
                  <a:lnTo>
                    <a:pt x="9067482" y="27178"/>
                  </a:lnTo>
                  <a:lnTo>
                    <a:pt x="9064396" y="29083"/>
                  </a:lnTo>
                  <a:lnTo>
                    <a:pt x="9065489" y="26289"/>
                  </a:lnTo>
                  <a:lnTo>
                    <a:pt x="9065666" y="24765"/>
                  </a:lnTo>
                  <a:lnTo>
                    <a:pt x="9065692" y="22860"/>
                  </a:lnTo>
                  <a:lnTo>
                    <a:pt x="9064777" y="18161"/>
                  </a:lnTo>
                  <a:lnTo>
                    <a:pt x="9063850" y="16510"/>
                  </a:lnTo>
                  <a:lnTo>
                    <a:pt x="9063507" y="15875"/>
                  </a:lnTo>
                  <a:lnTo>
                    <a:pt x="9061602" y="13970"/>
                  </a:lnTo>
                  <a:lnTo>
                    <a:pt x="9059570" y="11811"/>
                  </a:lnTo>
                  <a:lnTo>
                    <a:pt x="9057030" y="10541"/>
                  </a:lnTo>
                  <a:lnTo>
                    <a:pt x="9054109" y="9779"/>
                  </a:lnTo>
                  <a:lnTo>
                    <a:pt x="9051315" y="9017"/>
                  </a:lnTo>
                  <a:lnTo>
                    <a:pt x="9048267" y="9144"/>
                  </a:lnTo>
                  <a:lnTo>
                    <a:pt x="9031033" y="26797"/>
                  </a:lnTo>
                  <a:lnTo>
                    <a:pt x="9030932" y="27940"/>
                  </a:lnTo>
                  <a:lnTo>
                    <a:pt x="9030843" y="29083"/>
                  </a:lnTo>
                  <a:lnTo>
                    <a:pt x="9030767" y="29845"/>
                  </a:lnTo>
                  <a:lnTo>
                    <a:pt x="9030678" y="30988"/>
                  </a:lnTo>
                  <a:lnTo>
                    <a:pt x="9030614" y="31750"/>
                  </a:lnTo>
                  <a:lnTo>
                    <a:pt x="9031719" y="35179"/>
                  </a:lnTo>
                  <a:lnTo>
                    <a:pt x="9031757" y="35306"/>
                  </a:lnTo>
                  <a:lnTo>
                    <a:pt x="9031884" y="35687"/>
                  </a:lnTo>
                  <a:lnTo>
                    <a:pt x="9032011" y="36068"/>
                  </a:lnTo>
                  <a:lnTo>
                    <a:pt x="9034932" y="40386"/>
                  </a:lnTo>
                  <a:lnTo>
                    <a:pt x="9041219" y="36068"/>
                  </a:lnTo>
                  <a:lnTo>
                    <a:pt x="9041498" y="36068"/>
                  </a:lnTo>
                  <a:lnTo>
                    <a:pt x="9039123" y="32766"/>
                  </a:lnTo>
                  <a:lnTo>
                    <a:pt x="9038107" y="29845"/>
                  </a:lnTo>
                  <a:lnTo>
                    <a:pt x="9038234" y="24384"/>
                  </a:lnTo>
                  <a:lnTo>
                    <a:pt x="9039314" y="21971"/>
                  </a:lnTo>
                  <a:lnTo>
                    <a:pt x="9042298" y="18923"/>
                  </a:lnTo>
                  <a:lnTo>
                    <a:pt x="9043568" y="17653"/>
                  </a:lnTo>
                  <a:lnTo>
                    <a:pt x="9046108" y="16510"/>
                  </a:lnTo>
                  <a:lnTo>
                    <a:pt x="9051722" y="16510"/>
                  </a:lnTo>
                  <a:lnTo>
                    <a:pt x="9053728" y="17399"/>
                  </a:lnTo>
                  <a:lnTo>
                    <a:pt x="9058300" y="21971"/>
                  </a:lnTo>
                  <a:lnTo>
                    <a:pt x="9059316" y="24765"/>
                  </a:lnTo>
                  <a:lnTo>
                    <a:pt x="9058681" y="27940"/>
                  </a:lnTo>
                  <a:lnTo>
                    <a:pt x="9057919" y="30988"/>
                  </a:lnTo>
                  <a:lnTo>
                    <a:pt x="9056522" y="33655"/>
                  </a:lnTo>
                  <a:lnTo>
                    <a:pt x="9053601" y="36576"/>
                  </a:lnTo>
                  <a:lnTo>
                    <a:pt x="9053220" y="36830"/>
                  </a:lnTo>
                  <a:lnTo>
                    <a:pt x="9057399" y="42303"/>
                  </a:lnTo>
                  <a:lnTo>
                    <a:pt x="9058554" y="40386"/>
                  </a:lnTo>
                  <a:lnTo>
                    <a:pt x="9059570" y="38862"/>
                  </a:lnTo>
                  <a:lnTo>
                    <a:pt x="9060713" y="37846"/>
                  </a:lnTo>
                  <a:lnTo>
                    <a:pt x="9063253" y="35306"/>
                  </a:lnTo>
                  <a:lnTo>
                    <a:pt x="9066174" y="34036"/>
                  </a:lnTo>
                  <a:lnTo>
                    <a:pt x="9072943" y="34036"/>
                  </a:lnTo>
                  <a:lnTo>
                    <a:pt x="9075572" y="35179"/>
                  </a:lnTo>
                  <a:lnTo>
                    <a:pt x="9080779" y="40386"/>
                  </a:lnTo>
                  <a:lnTo>
                    <a:pt x="9082049" y="43434"/>
                  </a:lnTo>
                  <a:lnTo>
                    <a:pt x="9082113" y="50800"/>
                  </a:lnTo>
                  <a:lnTo>
                    <a:pt x="9081059" y="53086"/>
                  </a:lnTo>
                  <a:lnTo>
                    <a:pt x="9080944" y="53340"/>
                  </a:lnTo>
                  <a:lnTo>
                    <a:pt x="9080652" y="53848"/>
                  </a:lnTo>
                  <a:lnTo>
                    <a:pt x="9078239" y="56261"/>
                  </a:lnTo>
                  <a:lnTo>
                    <a:pt x="9077985" y="56261"/>
                  </a:lnTo>
                  <a:lnTo>
                    <a:pt x="9077985" y="56515"/>
                  </a:lnTo>
                  <a:lnTo>
                    <a:pt x="9076080" y="58420"/>
                  </a:lnTo>
                  <a:lnTo>
                    <a:pt x="9073286" y="59817"/>
                  </a:lnTo>
                  <a:lnTo>
                    <a:pt x="9070619" y="59817"/>
                  </a:lnTo>
                  <a:lnTo>
                    <a:pt x="9067698" y="59944"/>
                  </a:lnTo>
                  <a:lnTo>
                    <a:pt x="9064396" y="58801"/>
                  </a:lnTo>
                  <a:lnTo>
                    <a:pt x="9061082" y="56515"/>
                  </a:lnTo>
                  <a:lnTo>
                    <a:pt x="9077985" y="56515"/>
                  </a:lnTo>
                  <a:lnTo>
                    <a:pt x="9077985" y="56261"/>
                  </a:lnTo>
                  <a:lnTo>
                    <a:pt x="9060713" y="56261"/>
                  </a:lnTo>
                  <a:lnTo>
                    <a:pt x="9034628" y="56261"/>
                  </a:lnTo>
                  <a:lnTo>
                    <a:pt x="9034729" y="56515"/>
                  </a:lnTo>
                  <a:lnTo>
                    <a:pt x="9060510" y="56515"/>
                  </a:lnTo>
                  <a:lnTo>
                    <a:pt x="9055887" y="62484"/>
                  </a:lnTo>
                  <a:lnTo>
                    <a:pt x="9060078" y="65913"/>
                  </a:lnTo>
                  <a:lnTo>
                    <a:pt x="9064523" y="67437"/>
                  </a:lnTo>
                  <a:lnTo>
                    <a:pt x="9074429" y="66929"/>
                  </a:lnTo>
                  <a:lnTo>
                    <a:pt x="9078874" y="64770"/>
                  </a:lnTo>
                  <a:lnTo>
                    <a:pt x="9083700" y="59944"/>
                  </a:lnTo>
                  <a:lnTo>
                    <a:pt x="9087129" y="56515"/>
                  </a:lnTo>
                  <a:lnTo>
                    <a:pt x="9089415" y="51562"/>
                  </a:lnTo>
                  <a:lnTo>
                    <a:pt x="9089542" y="45974"/>
                  </a:lnTo>
                  <a:lnTo>
                    <a:pt x="9089669" y="40386"/>
                  </a:lnTo>
                  <a:close/>
                </a:path>
              </a:pathLst>
            </a:custGeom>
            <a:solidFill>
              <a:srgbClr val="0D0D0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831847" y="3770376"/>
              <a:ext cx="243840" cy="0"/>
            </a:xfrm>
            <a:custGeom>
              <a:avLst/>
              <a:gdLst/>
              <a:ahLst/>
              <a:cxnLst/>
              <a:rect l="l" t="t" r="r" b="b"/>
              <a:pathLst>
                <a:path w="243839" h="0">
                  <a:moveTo>
                    <a:pt x="0" y="0"/>
                  </a:moveTo>
                  <a:lnTo>
                    <a:pt x="243839" y="0"/>
                  </a:lnTo>
                </a:path>
              </a:pathLst>
            </a:custGeom>
            <a:ln w="127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3332988" y="3770376"/>
              <a:ext cx="243840" cy="0"/>
            </a:xfrm>
            <a:custGeom>
              <a:avLst/>
              <a:gdLst/>
              <a:ahLst/>
              <a:cxnLst/>
              <a:rect l="l" t="t" r="r" b="b"/>
              <a:pathLst>
                <a:path w="243839" h="0">
                  <a:moveTo>
                    <a:pt x="0" y="0"/>
                  </a:moveTo>
                  <a:lnTo>
                    <a:pt x="243839" y="0"/>
                  </a:lnTo>
                </a:path>
              </a:pathLst>
            </a:custGeom>
            <a:ln w="1270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4648200" y="3770376"/>
              <a:ext cx="243840" cy="0"/>
            </a:xfrm>
            <a:custGeom>
              <a:avLst/>
              <a:gdLst/>
              <a:ahLst/>
              <a:cxnLst/>
              <a:rect l="l" t="t" r="r" b="b"/>
              <a:pathLst>
                <a:path w="243839" h="0">
                  <a:moveTo>
                    <a:pt x="0" y="0"/>
                  </a:moveTo>
                  <a:lnTo>
                    <a:pt x="243839" y="0"/>
                  </a:lnTo>
                </a:path>
              </a:pathLst>
            </a:custGeom>
            <a:ln w="127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6867143" y="3770376"/>
              <a:ext cx="243840" cy="0"/>
            </a:xfrm>
            <a:custGeom>
              <a:avLst/>
              <a:gdLst/>
              <a:ahLst/>
              <a:cxnLst/>
              <a:rect l="l" t="t" r="r" b="b"/>
              <a:pathLst>
                <a:path w="243840" h="0">
                  <a:moveTo>
                    <a:pt x="0" y="0"/>
                  </a:moveTo>
                  <a:lnTo>
                    <a:pt x="243839" y="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92023" y="775716"/>
              <a:ext cx="9747885" cy="3116580"/>
            </a:xfrm>
            <a:custGeom>
              <a:avLst/>
              <a:gdLst/>
              <a:ahLst/>
              <a:cxnLst/>
              <a:rect l="l" t="t" r="r" b="b"/>
              <a:pathLst>
                <a:path w="9747885" h="3116579">
                  <a:moveTo>
                    <a:pt x="0" y="3116580"/>
                  </a:moveTo>
                  <a:lnTo>
                    <a:pt x="9747504" y="3116580"/>
                  </a:lnTo>
                  <a:lnTo>
                    <a:pt x="9747504" y="0"/>
                  </a:lnTo>
                  <a:lnTo>
                    <a:pt x="0" y="0"/>
                  </a:lnTo>
                  <a:lnTo>
                    <a:pt x="0" y="3116580"/>
                  </a:lnTo>
                  <a:close/>
                </a:path>
              </a:pathLst>
            </a:custGeom>
            <a:ln w="12700">
              <a:solidFill>
                <a:srgbClr val="E7E6E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3698747" y="667512"/>
              <a:ext cx="2734310" cy="190500"/>
            </a:xfrm>
            <a:custGeom>
              <a:avLst/>
              <a:gdLst/>
              <a:ahLst/>
              <a:cxnLst/>
              <a:rect l="l" t="t" r="r" b="b"/>
              <a:pathLst>
                <a:path w="2734310" h="190500">
                  <a:moveTo>
                    <a:pt x="2734055" y="0"/>
                  </a:moveTo>
                  <a:lnTo>
                    <a:pt x="0" y="0"/>
                  </a:lnTo>
                  <a:lnTo>
                    <a:pt x="0" y="190500"/>
                  </a:lnTo>
                  <a:lnTo>
                    <a:pt x="2734055" y="190500"/>
                  </a:lnTo>
                  <a:lnTo>
                    <a:pt x="273405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3974972" y="663701"/>
            <a:ext cx="2192020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b="1">
                <a:latin typeface="Arial"/>
                <a:cs typeface="Arial"/>
              </a:rPr>
              <a:t>Energy</a:t>
            </a:r>
            <a:r>
              <a:rPr dirty="0" sz="1150" spc="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Pressure</a:t>
            </a:r>
            <a:r>
              <a:rPr dirty="0" sz="1150" spc="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Points</a:t>
            </a:r>
            <a:r>
              <a:rPr dirty="0" sz="1150" spc="15" b="1">
                <a:latin typeface="Arial"/>
                <a:cs typeface="Arial"/>
              </a:rPr>
              <a:t> </a:t>
            </a:r>
            <a:r>
              <a:rPr dirty="0" sz="1150" spc="-10" b="1">
                <a:latin typeface="Arial"/>
                <a:cs typeface="Arial"/>
              </a:rPr>
              <a:t>(Naira)</a:t>
            </a:r>
            <a:endParaRPr sz="1150">
              <a:latin typeface="Arial"/>
              <a:cs typeface="Arial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7124827" y="3698494"/>
            <a:ext cx="154813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Liquefied</a:t>
            </a:r>
            <a:r>
              <a:rPr dirty="0" sz="700" spc="-3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Petroleum</a:t>
            </a:r>
            <a:r>
              <a:rPr dirty="0" sz="700" spc="-2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Gas</a:t>
            </a:r>
            <a:r>
              <a:rPr dirty="0" sz="700" spc="-2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(5KG)</a:t>
            </a:r>
            <a:r>
              <a:rPr dirty="0" sz="700" spc="5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700" spc="-20">
                <a:latin typeface="Arial MT"/>
                <a:cs typeface="Arial MT"/>
              </a:rPr>
              <a:t>(RHA)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4905883" y="3699764"/>
            <a:ext cx="16960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Automotive</a:t>
            </a:r>
            <a:r>
              <a:rPr dirty="0" sz="700" spc="-2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Gas</a:t>
            </a:r>
            <a:r>
              <a:rPr dirty="0" sz="700" spc="-2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Oil</a:t>
            </a:r>
            <a:r>
              <a:rPr dirty="0" sz="700" spc="-2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(Diesel)</a:t>
            </a:r>
            <a:r>
              <a:rPr dirty="0" sz="700" spc="-1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per</a:t>
            </a:r>
            <a:r>
              <a:rPr dirty="0" sz="700" spc="-1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litre</a:t>
            </a:r>
            <a:r>
              <a:rPr dirty="0" sz="700" spc="-3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latin typeface="Arial MT"/>
                <a:cs typeface="Arial MT"/>
              </a:rPr>
              <a:t>(LHA)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3591305" y="3698494"/>
            <a:ext cx="78486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PMS</a:t>
            </a:r>
            <a:r>
              <a:rPr dirty="0" sz="700" spc="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per</a:t>
            </a:r>
            <a:r>
              <a:rPr dirty="0" sz="700" spc="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0D0D0D"/>
                </a:solidFill>
                <a:latin typeface="Arial MT"/>
                <a:cs typeface="Arial MT"/>
              </a:rPr>
              <a:t>litre</a:t>
            </a:r>
            <a:r>
              <a:rPr dirty="0" sz="700" spc="-7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latin typeface="Arial MT"/>
                <a:cs typeface="Arial MT"/>
              </a:rPr>
              <a:t>(LHA)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2088260" y="3698494"/>
            <a:ext cx="98171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Kerosene</a:t>
            </a:r>
            <a:r>
              <a:rPr dirty="0" sz="700" spc="-2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per</a:t>
            </a:r>
            <a:r>
              <a:rPr dirty="0" sz="700" spc="-2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litre</a:t>
            </a:r>
            <a:r>
              <a:rPr dirty="0" sz="700" spc="-2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latin typeface="Arial MT"/>
                <a:cs typeface="Arial MT"/>
              </a:rPr>
              <a:t>(LHA)</a:t>
            </a:r>
            <a:endParaRPr sz="700">
              <a:latin typeface="Arial MT"/>
              <a:cs typeface="Arial MT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7956804" y="1219200"/>
            <a:ext cx="1370330" cy="674370"/>
            <a:chOff x="7956804" y="1219200"/>
            <a:chExt cx="1370330" cy="674370"/>
          </a:xfrm>
        </p:grpSpPr>
        <p:pic>
          <p:nvPicPr>
            <p:cNvPr id="27" name="object 2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56804" y="1219200"/>
              <a:ext cx="76200" cy="174116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250680" y="1656587"/>
              <a:ext cx="76200" cy="236982"/>
            </a:xfrm>
            <a:prstGeom prst="rect">
              <a:avLst/>
            </a:prstGeom>
          </p:spPr>
        </p:pic>
      </p:grpSp>
      <p:sp>
        <p:nvSpPr>
          <p:cNvPr id="29" name="object 29" descr=""/>
          <p:cNvSpPr txBox="1"/>
          <p:nvPr/>
        </p:nvSpPr>
        <p:spPr>
          <a:xfrm>
            <a:off x="202488" y="3888485"/>
            <a:ext cx="1996439" cy="140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0" i="1">
                <a:latin typeface="Arial"/>
                <a:cs typeface="Arial"/>
              </a:rPr>
              <a:t>LHS – Left</a:t>
            </a:r>
            <a:r>
              <a:rPr dirty="0" sz="750" spc="-20" i="1">
                <a:latin typeface="Arial"/>
                <a:cs typeface="Arial"/>
              </a:rPr>
              <a:t> </a:t>
            </a:r>
            <a:r>
              <a:rPr dirty="0" sz="750" i="1">
                <a:latin typeface="Arial"/>
                <a:cs typeface="Arial"/>
              </a:rPr>
              <a:t>Hand</a:t>
            </a:r>
            <a:r>
              <a:rPr dirty="0" sz="750" spc="-20" i="1">
                <a:latin typeface="Arial"/>
                <a:cs typeface="Arial"/>
              </a:rPr>
              <a:t> </a:t>
            </a:r>
            <a:r>
              <a:rPr dirty="0" sz="750" i="1">
                <a:latin typeface="Arial"/>
                <a:cs typeface="Arial"/>
              </a:rPr>
              <a:t>Side,</a:t>
            </a:r>
            <a:r>
              <a:rPr dirty="0" sz="750" spc="-20" i="1">
                <a:latin typeface="Arial"/>
                <a:cs typeface="Arial"/>
              </a:rPr>
              <a:t> </a:t>
            </a:r>
            <a:r>
              <a:rPr dirty="0" sz="750" i="1">
                <a:latin typeface="Arial"/>
                <a:cs typeface="Arial"/>
              </a:rPr>
              <a:t>RHS</a:t>
            </a:r>
            <a:r>
              <a:rPr dirty="0" sz="750" spc="5" i="1">
                <a:latin typeface="Arial"/>
                <a:cs typeface="Arial"/>
              </a:rPr>
              <a:t> </a:t>
            </a:r>
            <a:r>
              <a:rPr dirty="0" sz="750" i="1">
                <a:latin typeface="Arial"/>
                <a:cs typeface="Arial"/>
              </a:rPr>
              <a:t>–</a:t>
            </a:r>
            <a:r>
              <a:rPr dirty="0" sz="750" spc="15" i="1">
                <a:latin typeface="Arial"/>
                <a:cs typeface="Arial"/>
              </a:rPr>
              <a:t> </a:t>
            </a:r>
            <a:r>
              <a:rPr dirty="0" sz="750" i="1">
                <a:latin typeface="Arial"/>
                <a:cs typeface="Arial"/>
              </a:rPr>
              <a:t>Right</a:t>
            </a:r>
            <a:r>
              <a:rPr dirty="0" sz="750" spc="-25" i="1">
                <a:latin typeface="Arial"/>
                <a:cs typeface="Arial"/>
              </a:rPr>
              <a:t> </a:t>
            </a:r>
            <a:r>
              <a:rPr dirty="0" sz="750" i="1">
                <a:latin typeface="Arial"/>
                <a:cs typeface="Arial"/>
              </a:rPr>
              <a:t>Hand</a:t>
            </a:r>
            <a:r>
              <a:rPr dirty="0" sz="750" spc="-15" i="1">
                <a:latin typeface="Arial"/>
                <a:cs typeface="Arial"/>
              </a:rPr>
              <a:t> </a:t>
            </a:r>
            <a:r>
              <a:rPr dirty="0" sz="750" spc="-20" i="1">
                <a:latin typeface="Arial"/>
                <a:cs typeface="Arial"/>
              </a:rPr>
              <a:t>Side</a:t>
            </a:r>
            <a:endParaRPr sz="750">
              <a:latin typeface="Arial"/>
              <a:cs typeface="Arial"/>
            </a:endParaRPr>
          </a:p>
        </p:txBody>
      </p:sp>
      <p:sp>
        <p:nvSpPr>
          <p:cNvPr id="30" name="object 30" descr=""/>
          <p:cNvSpPr/>
          <p:nvPr/>
        </p:nvSpPr>
        <p:spPr>
          <a:xfrm>
            <a:off x="9086036" y="1952370"/>
            <a:ext cx="462280" cy="1435100"/>
          </a:xfrm>
          <a:custGeom>
            <a:avLst/>
            <a:gdLst/>
            <a:ahLst/>
            <a:cxnLst/>
            <a:rect l="l" t="t" r="r" b="b"/>
            <a:pathLst>
              <a:path w="462279" h="1435100">
                <a:moveTo>
                  <a:pt x="458141" y="703706"/>
                </a:moveTo>
                <a:lnTo>
                  <a:pt x="452939" y="634694"/>
                </a:lnTo>
                <a:lnTo>
                  <a:pt x="445836" y="567660"/>
                </a:lnTo>
                <a:lnTo>
                  <a:pt x="436944" y="502897"/>
                </a:lnTo>
                <a:lnTo>
                  <a:pt x="426378" y="440702"/>
                </a:lnTo>
                <a:lnTo>
                  <a:pt x="414249" y="381368"/>
                </a:lnTo>
                <a:lnTo>
                  <a:pt x="400671" y="325192"/>
                </a:lnTo>
                <a:lnTo>
                  <a:pt x="385757" y="272468"/>
                </a:lnTo>
                <a:lnTo>
                  <a:pt x="369620" y="223492"/>
                </a:lnTo>
                <a:lnTo>
                  <a:pt x="352374" y="178557"/>
                </a:lnTo>
                <a:lnTo>
                  <a:pt x="334130" y="137960"/>
                </a:lnTo>
                <a:lnTo>
                  <a:pt x="315003" y="101995"/>
                </a:lnTo>
                <a:lnTo>
                  <a:pt x="274549" y="45141"/>
                </a:lnTo>
                <a:lnTo>
                  <a:pt x="231917" y="10356"/>
                </a:lnTo>
                <a:lnTo>
                  <a:pt x="188012" y="0"/>
                </a:lnTo>
                <a:lnTo>
                  <a:pt x="166350" y="4610"/>
                </a:lnTo>
                <a:lnTo>
                  <a:pt x="126009" y="32509"/>
                </a:lnTo>
                <a:lnTo>
                  <a:pt x="90162" y="83271"/>
                </a:lnTo>
                <a:lnTo>
                  <a:pt x="59428" y="154449"/>
                </a:lnTo>
                <a:lnTo>
                  <a:pt x="46171" y="196929"/>
                </a:lnTo>
                <a:lnTo>
                  <a:pt x="34425" y="243594"/>
                </a:lnTo>
                <a:lnTo>
                  <a:pt x="24267" y="294139"/>
                </a:lnTo>
                <a:lnTo>
                  <a:pt x="15773" y="348258"/>
                </a:lnTo>
                <a:lnTo>
                  <a:pt x="9023" y="405645"/>
                </a:lnTo>
                <a:lnTo>
                  <a:pt x="4092" y="465993"/>
                </a:lnTo>
                <a:lnTo>
                  <a:pt x="1058" y="528997"/>
                </a:lnTo>
                <a:lnTo>
                  <a:pt x="0" y="594351"/>
                </a:lnTo>
                <a:lnTo>
                  <a:pt x="993" y="661749"/>
                </a:lnTo>
                <a:lnTo>
                  <a:pt x="4116" y="730884"/>
                </a:lnTo>
                <a:lnTo>
                  <a:pt x="9296" y="799897"/>
                </a:lnTo>
                <a:lnTo>
                  <a:pt x="16381" y="866931"/>
                </a:lnTo>
                <a:lnTo>
                  <a:pt x="25256" y="931694"/>
                </a:lnTo>
                <a:lnTo>
                  <a:pt x="35808" y="993889"/>
                </a:lnTo>
                <a:lnTo>
                  <a:pt x="47925" y="1053223"/>
                </a:lnTo>
                <a:lnTo>
                  <a:pt x="61493" y="1109399"/>
                </a:lnTo>
                <a:lnTo>
                  <a:pt x="76398" y="1162123"/>
                </a:lnTo>
                <a:lnTo>
                  <a:pt x="92528" y="1211099"/>
                </a:lnTo>
                <a:lnTo>
                  <a:pt x="109769" y="1256034"/>
                </a:lnTo>
                <a:lnTo>
                  <a:pt x="128008" y="1296631"/>
                </a:lnTo>
                <a:lnTo>
                  <a:pt x="147132" y="1332596"/>
                </a:lnTo>
                <a:lnTo>
                  <a:pt x="187582" y="1389450"/>
                </a:lnTo>
                <a:lnTo>
                  <a:pt x="230212" y="1424235"/>
                </a:lnTo>
                <a:lnTo>
                  <a:pt x="274118" y="1434591"/>
                </a:lnTo>
                <a:lnTo>
                  <a:pt x="295780" y="1429981"/>
                </a:lnTo>
                <a:lnTo>
                  <a:pt x="336121" y="1402082"/>
                </a:lnTo>
                <a:lnTo>
                  <a:pt x="371971" y="1351320"/>
                </a:lnTo>
                <a:lnTo>
                  <a:pt x="402711" y="1280142"/>
                </a:lnTo>
                <a:lnTo>
                  <a:pt x="415972" y="1237662"/>
                </a:lnTo>
                <a:lnTo>
                  <a:pt x="427723" y="1190997"/>
                </a:lnTo>
                <a:lnTo>
                  <a:pt x="437889" y="1140452"/>
                </a:lnTo>
                <a:lnTo>
                  <a:pt x="446391" y="1086333"/>
                </a:lnTo>
                <a:lnTo>
                  <a:pt x="453152" y="1028946"/>
                </a:lnTo>
                <a:lnTo>
                  <a:pt x="458094" y="968598"/>
                </a:lnTo>
                <a:lnTo>
                  <a:pt x="461142" y="905594"/>
                </a:lnTo>
                <a:lnTo>
                  <a:pt x="462217" y="840240"/>
                </a:lnTo>
                <a:lnTo>
                  <a:pt x="461242" y="772842"/>
                </a:lnTo>
                <a:lnTo>
                  <a:pt x="458141" y="703706"/>
                </a:lnTo>
                <a:close/>
              </a:path>
            </a:pathLst>
          </a:custGeom>
          <a:ln w="3175">
            <a:solidFill>
              <a:srgbClr val="000000"/>
            </a:solidFill>
            <a:prstDash val="lgDashDot"/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 txBox="1"/>
          <p:nvPr/>
        </p:nvSpPr>
        <p:spPr>
          <a:xfrm>
            <a:off x="6553581" y="810895"/>
            <a:ext cx="3317875" cy="8356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774065">
              <a:lnSpc>
                <a:spcPct val="100000"/>
              </a:lnSpc>
              <a:spcBef>
                <a:spcPts val="105"/>
              </a:spcBef>
            </a:pPr>
            <a:r>
              <a:rPr dirty="0" sz="750">
                <a:solidFill>
                  <a:srgbClr val="040C28"/>
                </a:solidFill>
                <a:latin typeface="Arial MT"/>
                <a:cs typeface="Arial MT"/>
              </a:rPr>
              <a:t>Brent crude</a:t>
            </a:r>
            <a:r>
              <a:rPr dirty="0" sz="750" spc="-15">
                <a:solidFill>
                  <a:srgbClr val="040C28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040C28"/>
                </a:solidFill>
                <a:latin typeface="Arial MT"/>
                <a:cs typeface="Arial MT"/>
              </a:rPr>
              <a:t>oil</a:t>
            </a:r>
            <a:r>
              <a:rPr dirty="0" sz="750" spc="-5">
                <a:solidFill>
                  <a:srgbClr val="040C28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040C28"/>
                </a:solidFill>
                <a:latin typeface="Arial MT"/>
                <a:cs typeface="Arial MT"/>
              </a:rPr>
              <a:t>price</a:t>
            </a:r>
            <a:r>
              <a:rPr dirty="0" sz="750" spc="-15">
                <a:solidFill>
                  <a:srgbClr val="040C28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040C28"/>
                </a:solidFill>
                <a:latin typeface="Arial MT"/>
                <a:cs typeface="Arial MT"/>
              </a:rPr>
              <a:t>recorded</a:t>
            </a:r>
            <a:r>
              <a:rPr dirty="0" sz="750" spc="-35">
                <a:solidFill>
                  <a:srgbClr val="040C28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040C28"/>
                </a:solidFill>
                <a:latin typeface="Arial MT"/>
                <a:cs typeface="Arial MT"/>
              </a:rPr>
              <a:t>an</a:t>
            </a:r>
            <a:r>
              <a:rPr dirty="0" sz="750" spc="15">
                <a:solidFill>
                  <a:srgbClr val="040C28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040C28"/>
                </a:solidFill>
                <a:latin typeface="Arial MT"/>
                <a:cs typeface="Arial MT"/>
              </a:rPr>
              <a:t>eight-year</a:t>
            </a:r>
            <a:r>
              <a:rPr dirty="0" sz="750" spc="-15">
                <a:solidFill>
                  <a:srgbClr val="040C28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040C28"/>
                </a:solidFill>
                <a:latin typeface="Arial MT"/>
                <a:cs typeface="Arial MT"/>
              </a:rPr>
              <a:t>high</a:t>
            </a:r>
            <a:r>
              <a:rPr dirty="0" sz="750" spc="-15">
                <a:solidFill>
                  <a:srgbClr val="040C28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040C28"/>
                </a:solidFill>
                <a:latin typeface="Arial MT"/>
                <a:cs typeface="Arial MT"/>
              </a:rPr>
              <a:t>of</a:t>
            </a:r>
            <a:r>
              <a:rPr dirty="0" sz="750" spc="15">
                <a:solidFill>
                  <a:srgbClr val="040C28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040C28"/>
                </a:solidFill>
                <a:latin typeface="Arial MT"/>
                <a:cs typeface="Arial MT"/>
              </a:rPr>
              <a:t>USD140 </a:t>
            </a:r>
            <a:r>
              <a:rPr dirty="0" sz="750">
                <a:solidFill>
                  <a:srgbClr val="040C28"/>
                </a:solidFill>
                <a:latin typeface="Arial MT"/>
                <a:cs typeface="Arial MT"/>
              </a:rPr>
              <a:t>per</a:t>
            </a:r>
            <a:r>
              <a:rPr dirty="0" sz="750" spc="-15">
                <a:solidFill>
                  <a:srgbClr val="040C28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040C28"/>
                </a:solidFill>
                <a:latin typeface="Arial MT"/>
                <a:cs typeface="Arial MT"/>
              </a:rPr>
              <a:t>barrel</a:t>
            </a:r>
            <a:r>
              <a:rPr dirty="0" sz="750" spc="-25">
                <a:solidFill>
                  <a:srgbClr val="040C28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040C28"/>
                </a:solidFill>
                <a:latin typeface="Arial MT"/>
                <a:cs typeface="Arial MT"/>
              </a:rPr>
              <a:t>in March</a:t>
            </a:r>
            <a:r>
              <a:rPr dirty="0" sz="750" spc="-25">
                <a:solidFill>
                  <a:srgbClr val="040C28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040C28"/>
                </a:solidFill>
                <a:latin typeface="Arial MT"/>
                <a:cs typeface="Arial MT"/>
              </a:rPr>
              <a:t>2022</a:t>
            </a:r>
            <a:r>
              <a:rPr dirty="0" sz="750">
                <a:solidFill>
                  <a:srgbClr val="1F2023"/>
                </a:solidFill>
                <a:latin typeface="Arial MT"/>
                <a:cs typeface="Arial MT"/>
              </a:rPr>
              <a:t>,</a:t>
            </a:r>
            <a:r>
              <a:rPr dirty="0" sz="750" spc="-3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F2023"/>
                </a:solidFill>
                <a:latin typeface="Arial MT"/>
                <a:cs typeface="Arial MT"/>
              </a:rPr>
              <a:t>which</a:t>
            </a:r>
            <a:r>
              <a:rPr dirty="0" sz="750" spc="1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F2023"/>
                </a:solidFill>
                <a:latin typeface="Arial MT"/>
                <a:cs typeface="Arial MT"/>
              </a:rPr>
              <a:t>was</a:t>
            </a:r>
            <a:r>
              <a:rPr dirty="0" sz="750" spc="1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F2023"/>
                </a:solidFill>
                <a:latin typeface="Arial MT"/>
                <a:cs typeface="Arial MT"/>
              </a:rPr>
              <a:t>exclusively</a:t>
            </a:r>
            <a:r>
              <a:rPr dirty="0" sz="750" spc="-2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F2023"/>
                </a:solidFill>
                <a:latin typeface="Arial MT"/>
                <a:cs typeface="Arial MT"/>
              </a:rPr>
              <a:t>due</a:t>
            </a:r>
            <a:r>
              <a:rPr dirty="0" sz="750" spc="-1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F2023"/>
                </a:solidFill>
                <a:latin typeface="Arial MT"/>
                <a:cs typeface="Arial MT"/>
              </a:rPr>
              <a:t>to </a:t>
            </a:r>
            <a:r>
              <a:rPr dirty="0" sz="750" spc="-25">
                <a:solidFill>
                  <a:srgbClr val="1F2023"/>
                </a:solidFill>
                <a:latin typeface="Arial MT"/>
                <a:cs typeface="Arial MT"/>
              </a:rPr>
              <a:t>the</a:t>
            </a:r>
            <a:r>
              <a:rPr dirty="0" sz="750" spc="-10">
                <a:solidFill>
                  <a:srgbClr val="1F2023"/>
                </a:solidFill>
                <a:latin typeface="Arial MT"/>
                <a:cs typeface="Arial MT"/>
              </a:rPr>
              <a:t> Russia–Ukraine</a:t>
            </a:r>
            <a:r>
              <a:rPr dirty="0" sz="750" spc="-2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F2023"/>
                </a:solidFill>
                <a:latin typeface="Arial MT"/>
                <a:cs typeface="Arial MT"/>
              </a:rPr>
              <a:t>war</a:t>
            </a:r>
            <a:r>
              <a:rPr dirty="0" sz="750" spc="5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F2023"/>
                </a:solidFill>
                <a:latin typeface="Arial MT"/>
                <a:cs typeface="Arial MT"/>
              </a:rPr>
              <a:t>which</a:t>
            </a:r>
            <a:r>
              <a:rPr dirty="0" sz="750" spc="3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F2023"/>
                </a:solidFill>
                <a:latin typeface="Arial MT"/>
                <a:cs typeface="Arial MT"/>
              </a:rPr>
              <a:t>disrupted</a:t>
            </a:r>
            <a:r>
              <a:rPr dirty="0" sz="750" spc="-1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F2023"/>
                </a:solidFill>
                <a:latin typeface="Arial MT"/>
                <a:cs typeface="Arial MT"/>
              </a:rPr>
              <a:t>global</a:t>
            </a:r>
            <a:r>
              <a:rPr dirty="0" sz="750" spc="-1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1F2023"/>
                </a:solidFill>
                <a:latin typeface="Arial MT"/>
                <a:cs typeface="Arial MT"/>
              </a:rPr>
              <a:t>supply</a:t>
            </a:r>
            <a:r>
              <a:rPr dirty="0" sz="750" spc="-10">
                <a:solidFill>
                  <a:srgbClr val="1F2023"/>
                </a:solidFill>
                <a:latin typeface="Arial MT"/>
                <a:cs typeface="Arial MT"/>
              </a:rPr>
              <a:t> chains</a:t>
            </a:r>
            <a:endParaRPr sz="750">
              <a:latin typeface="Arial MT"/>
              <a:cs typeface="Arial MT"/>
            </a:endParaRPr>
          </a:p>
          <a:p>
            <a:pPr marL="2344420" marR="5080">
              <a:lnSpc>
                <a:spcPct val="100000"/>
              </a:lnSpc>
              <a:spcBef>
                <a:spcPts val="70"/>
              </a:spcBef>
            </a:pPr>
            <a:r>
              <a:rPr dirty="0" sz="750">
                <a:latin typeface="Arial MT"/>
                <a:cs typeface="Arial MT"/>
              </a:rPr>
              <a:t>The fuel</a:t>
            </a:r>
            <a:r>
              <a:rPr dirty="0" sz="750" spc="-10">
                <a:latin typeface="Arial MT"/>
                <a:cs typeface="Arial MT"/>
              </a:rPr>
              <a:t> subsidy </a:t>
            </a:r>
            <a:r>
              <a:rPr dirty="0" sz="750">
                <a:latin typeface="Arial MT"/>
                <a:cs typeface="Arial MT"/>
              </a:rPr>
              <a:t>removal</a:t>
            </a:r>
            <a:r>
              <a:rPr dirty="0" sz="750" spc="-20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led</a:t>
            </a:r>
            <a:r>
              <a:rPr dirty="0" sz="750" spc="-10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to</a:t>
            </a:r>
            <a:r>
              <a:rPr dirty="0" sz="750" spc="-5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a</a:t>
            </a:r>
            <a:r>
              <a:rPr dirty="0" sz="750" spc="5">
                <a:latin typeface="Arial MT"/>
                <a:cs typeface="Arial MT"/>
              </a:rPr>
              <a:t> </a:t>
            </a:r>
            <a:r>
              <a:rPr dirty="0" sz="750" spc="-20">
                <a:latin typeface="Arial MT"/>
                <a:cs typeface="Arial MT"/>
              </a:rPr>
              <a:t>jump</a:t>
            </a:r>
            <a:r>
              <a:rPr dirty="0" sz="750">
                <a:latin typeface="Arial MT"/>
                <a:cs typeface="Arial MT"/>
              </a:rPr>
              <a:t> in</a:t>
            </a:r>
            <a:r>
              <a:rPr dirty="0" sz="750" spc="5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PMS prices</a:t>
            </a:r>
            <a:r>
              <a:rPr dirty="0" sz="750" spc="-25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by</a:t>
            </a:r>
            <a:r>
              <a:rPr dirty="0" sz="750" spc="-5">
                <a:latin typeface="Arial MT"/>
                <a:cs typeface="Arial MT"/>
              </a:rPr>
              <a:t> </a:t>
            </a:r>
            <a:r>
              <a:rPr dirty="0" sz="750" spc="-20">
                <a:latin typeface="Arial MT"/>
                <a:cs typeface="Arial MT"/>
              </a:rPr>
              <a:t>more</a:t>
            </a:r>
            <a:r>
              <a:rPr dirty="0" sz="750">
                <a:latin typeface="Arial MT"/>
                <a:cs typeface="Arial MT"/>
              </a:rPr>
              <a:t> than</a:t>
            </a:r>
            <a:r>
              <a:rPr dirty="0" sz="750" spc="-10">
                <a:latin typeface="Arial MT"/>
                <a:cs typeface="Arial MT"/>
              </a:rPr>
              <a:t> </a:t>
            </a:r>
            <a:r>
              <a:rPr dirty="0" sz="750" spc="-20">
                <a:latin typeface="Arial MT"/>
                <a:cs typeface="Arial MT"/>
              </a:rPr>
              <a:t>200%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33" name="object 3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Impact</a:t>
            </a:r>
            <a:r>
              <a:rPr dirty="0" spc="35"/>
              <a:t> </a:t>
            </a:r>
            <a:r>
              <a:rPr dirty="0"/>
              <a:t>of</a:t>
            </a:r>
            <a:r>
              <a:rPr dirty="0" spc="50"/>
              <a:t> </a:t>
            </a:r>
            <a:r>
              <a:rPr dirty="0"/>
              <a:t>Global</a:t>
            </a:r>
            <a:r>
              <a:rPr dirty="0" spc="65"/>
              <a:t> </a:t>
            </a:r>
            <a:r>
              <a:rPr dirty="0"/>
              <a:t>Economic</a:t>
            </a:r>
            <a:r>
              <a:rPr dirty="0" spc="30"/>
              <a:t> </a:t>
            </a:r>
            <a:r>
              <a:rPr dirty="0"/>
              <a:t>Trends</a:t>
            </a:r>
            <a:r>
              <a:rPr dirty="0" spc="45"/>
              <a:t> </a:t>
            </a:r>
            <a:r>
              <a:rPr dirty="0"/>
              <a:t>on</a:t>
            </a:r>
            <a:r>
              <a:rPr dirty="0" spc="40"/>
              <a:t> </a:t>
            </a:r>
            <a:r>
              <a:rPr dirty="0"/>
              <a:t>Nigeria’s</a:t>
            </a:r>
            <a:r>
              <a:rPr dirty="0" spc="60"/>
              <a:t> </a:t>
            </a:r>
            <a:r>
              <a:rPr dirty="0"/>
              <a:t>Foreign</a:t>
            </a:r>
            <a:r>
              <a:rPr dirty="0" spc="45"/>
              <a:t> </a:t>
            </a:r>
            <a:r>
              <a:rPr dirty="0"/>
              <a:t>Exchange</a:t>
            </a:r>
            <a:r>
              <a:rPr dirty="0" spc="60"/>
              <a:t> </a:t>
            </a:r>
            <a:r>
              <a:rPr dirty="0" spc="-10"/>
              <a:t>Market</a:t>
            </a:r>
          </a:p>
        </p:txBody>
      </p:sp>
      <p:sp>
        <p:nvSpPr>
          <p:cNvPr id="34" name="object 3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October</a:t>
            </a:r>
            <a:r>
              <a:rPr dirty="0" spc="80"/>
              <a:t> </a:t>
            </a:r>
            <a:r>
              <a:rPr dirty="0" spc="-20"/>
              <a:t>2023</a:t>
            </a:r>
          </a:p>
        </p:txBody>
      </p:sp>
      <p:sp>
        <p:nvSpPr>
          <p:cNvPr id="35" name="object 3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6360">
              <a:lnSpc>
                <a:spcPts val="815"/>
              </a:lnSpc>
            </a:pPr>
            <a:fld id="{81D60167-4931-47E6-BA6A-407CBD079E47}" type="slidenum">
              <a:rPr dirty="0" spc="-50"/>
              <a:t>5</a:t>
            </a:fld>
          </a:p>
        </p:txBody>
      </p:sp>
      <p:sp>
        <p:nvSpPr>
          <p:cNvPr id="32" name="object 3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49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The</a:t>
            </a:r>
            <a:r>
              <a:rPr dirty="0" spc="-45"/>
              <a:t> </a:t>
            </a:r>
            <a:r>
              <a:rPr dirty="0"/>
              <a:t>rise</a:t>
            </a:r>
            <a:r>
              <a:rPr dirty="0" spc="-45"/>
              <a:t> </a:t>
            </a:r>
            <a:r>
              <a:rPr dirty="0"/>
              <a:t>in</a:t>
            </a:r>
            <a:r>
              <a:rPr dirty="0" spc="-45"/>
              <a:t> </a:t>
            </a:r>
            <a:r>
              <a:rPr dirty="0"/>
              <a:t>all</a:t>
            </a:r>
            <a:r>
              <a:rPr dirty="0" spc="-45"/>
              <a:t> </a:t>
            </a:r>
            <a:r>
              <a:rPr dirty="0"/>
              <a:t>energy</a:t>
            </a:r>
            <a:r>
              <a:rPr dirty="0" spc="-40"/>
              <a:t> </a:t>
            </a:r>
            <a:r>
              <a:rPr dirty="0"/>
              <a:t>pressure</a:t>
            </a:r>
            <a:r>
              <a:rPr dirty="0" spc="-35"/>
              <a:t> </a:t>
            </a:r>
            <a:r>
              <a:rPr dirty="0"/>
              <a:t>points</a:t>
            </a:r>
            <a:r>
              <a:rPr dirty="0" spc="-55"/>
              <a:t> </a:t>
            </a:r>
            <a:r>
              <a:rPr dirty="0"/>
              <a:t>may</a:t>
            </a:r>
            <a:r>
              <a:rPr dirty="0" spc="-45"/>
              <a:t> </a:t>
            </a:r>
            <a:r>
              <a:rPr dirty="0"/>
              <a:t>further</a:t>
            </a:r>
            <a:r>
              <a:rPr dirty="0" spc="-40"/>
              <a:t> </a:t>
            </a:r>
            <a:r>
              <a:rPr dirty="0"/>
              <a:t>squeeze</a:t>
            </a:r>
            <a:r>
              <a:rPr dirty="0" spc="-25"/>
              <a:t> </a:t>
            </a:r>
            <a:r>
              <a:rPr dirty="0"/>
              <a:t>consumer’s</a:t>
            </a:r>
            <a:r>
              <a:rPr dirty="0" spc="-40"/>
              <a:t> </a:t>
            </a:r>
            <a:r>
              <a:rPr dirty="0"/>
              <a:t>purchasing</a:t>
            </a:r>
            <a:r>
              <a:rPr dirty="0" spc="-15"/>
              <a:t> </a:t>
            </a:r>
            <a:r>
              <a:rPr dirty="0" spc="-10"/>
              <a:t>power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0160635" cy="3754120"/>
            <a:chOff x="0" y="0"/>
            <a:chExt cx="10160635" cy="3754120"/>
          </a:xfrm>
        </p:grpSpPr>
        <p:sp>
          <p:nvSpPr>
            <p:cNvPr id="3" name="object 3" descr=""/>
            <p:cNvSpPr/>
            <p:nvPr/>
          </p:nvSpPr>
          <p:spPr>
            <a:xfrm>
              <a:off x="202692" y="757427"/>
              <a:ext cx="9770745" cy="2990215"/>
            </a:xfrm>
            <a:custGeom>
              <a:avLst/>
              <a:gdLst/>
              <a:ahLst/>
              <a:cxnLst/>
              <a:rect l="l" t="t" r="r" b="b"/>
              <a:pathLst>
                <a:path w="9770745" h="2990215">
                  <a:moveTo>
                    <a:pt x="0" y="2990088"/>
                  </a:moveTo>
                  <a:lnTo>
                    <a:pt x="9770364" y="2990088"/>
                  </a:lnTo>
                  <a:lnTo>
                    <a:pt x="9770364" y="0"/>
                  </a:lnTo>
                  <a:lnTo>
                    <a:pt x="0" y="0"/>
                  </a:lnTo>
                  <a:lnTo>
                    <a:pt x="0" y="2990088"/>
                  </a:lnTo>
                  <a:close/>
                </a:path>
              </a:pathLst>
            </a:custGeom>
            <a:ln w="12700">
              <a:solidFill>
                <a:srgbClr val="E7E6E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463295" y="2264664"/>
              <a:ext cx="9319260" cy="1242060"/>
            </a:xfrm>
            <a:custGeom>
              <a:avLst/>
              <a:gdLst/>
              <a:ahLst/>
              <a:cxnLst/>
              <a:rect l="l" t="t" r="r" b="b"/>
              <a:pathLst>
                <a:path w="9319260" h="1242060">
                  <a:moveTo>
                    <a:pt x="0" y="0"/>
                  </a:moveTo>
                  <a:lnTo>
                    <a:pt x="9319260" y="0"/>
                  </a:lnTo>
                </a:path>
                <a:path w="9319260" h="1242060">
                  <a:moveTo>
                    <a:pt x="0" y="873252"/>
                  </a:moveTo>
                  <a:lnTo>
                    <a:pt x="0" y="1057656"/>
                  </a:lnTo>
                </a:path>
                <a:path w="9319260" h="1242060">
                  <a:moveTo>
                    <a:pt x="1242060" y="873252"/>
                  </a:moveTo>
                  <a:lnTo>
                    <a:pt x="1242060" y="1057656"/>
                  </a:lnTo>
                </a:path>
                <a:path w="9319260" h="1242060">
                  <a:moveTo>
                    <a:pt x="2485644" y="873252"/>
                  </a:moveTo>
                  <a:lnTo>
                    <a:pt x="2485644" y="1057656"/>
                  </a:lnTo>
                </a:path>
                <a:path w="9319260" h="1242060">
                  <a:moveTo>
                    <a:pt x="3727704" y="873252"/>
                  </a:moveTo>
                  <a:lnTo>
                    <a:pt x="3727704" y="1057656"/>
                  </a:lnTo>
                </a:path>
                <a:path w="9319260" h="1242060">
                  <a:moveTo>
                    <a:pt x="4971288" y="873252"/>
                  </a:moveTo>
                  <a:lnTo>
                    <a:pt x="4971288" y="1057656"/>
                  </a:lnTo>
                </a:path>
                <a:path w="9319260" h="1242060">
                  <a:moveTo>
                    <a:pt x="6213348" y="873252"/>
                  </a:moveTo>
                  <a:lnTo>
                    <a:pt x="6213348" y="1057656"/>
                  </a:lnTo>
                </a:path>
                <a:path w="9319260" h="1242060">
                  <a:moveTo>
                    <a:pt x="7455408" y="873252"/>
                  </a:moveTo>
                  <a:lnTo>
                    <a:pt x="7455408" y="1057656"/>
                  </a:lnTo>
                </a:path>
                <a:path w="9319260" h="1242060">
                  <a:moveTo>
                    <a:pt x="8698992" y="873252"/>
                  </a:moveTo>
                  <a:lnTo>
                    <a:pt x="8698992" y="1057656"/>
                  </a:lnTo>
                </a:path>
                <a:path w="9319260" h="1242060">
                  <a:moveTo>
                    <a:pt x="9319260" y="873252"/>
                  </a:moveTo>
                  <a:lnTo>
                    <a:pt x="9319260" y="1057656"/>
                  </a:lnTo>
                </a:path>
                <a:path w="9319260" h="1242060">
                  <a:moveTo>
                    <a:pt x="0" y="1057656"/>
                  </a:moveTo>
                  <a:lnTo>
                    <a:pt x="0" y="1242060"/>
                  </a:lnTo>
                </a:path>
                <a:path w="9319260" h="1242060">
                  <a:moveTo>
                    <a:pt x="1242060" y="1057656"/>
                  </a:moveTo>
                  <a:lnTo>
                    <a:pt x="1242060" y="1242060"/>
                  </a:lnTo>
                </a:path>
                <a:path w="9319260" h="1242060">
                  <a:moveTo>
                    <a:pt x="2485644" y="1057656"/>
                  </a:moveTo>
                  <a:lnTo>
                    <a:pt x="2485644" y="1242060"/>
                  </a:lnTo>
                </a:path>
                <a:path w="9319260" h="1242060">
                  <a:moveTo>
                    <a:pt x="3727704" y="1057656"/>
                  </a:moveTo>
                  <a:lnTo>
                    <a:pt x="3727704" y="1242060"/>
                  </a:lnTo>
                </a:path>
                <a:path w="9319260" h="1242060">
                  <a:moveTo>
                    <a:pt x="4971288" y="1057656"/>
                  </a:moveTo>
                  <a:lnTo>
                    <a:pt x="4971288" y="1242060"/>
                  </a:lnTo>
                </a:path>
                <a:path w="9319260" h="1242060">
                  <a:moveTo>
                    <a:pt x="6213348" y="1057656"/>
                  </a:moveTo>
                  <a:lnTo>
                    <a:pt x="6213348" y="1242060"/>
                  </a:lnTo>
                </a:path>
                <a:path w="9319260" h="1242060">
                  <a:moveTo>
                    <a:pt x="7455408" y="1057656"/>
                  </a:moveTo>
                  <a:lnTo>
                    <a:pt x="7455408" y="1242060"/>
                  </a:lnTo>
                </a:path>
                <a:path w="9319260" h="1242060">
                  <a:moveTo>
                    <a:pt x="8698992" y="1057656"/>
                  </a:moveTo>
                  <a:lnTo>
                    <a:pt x="8698992" y="1242060"/>
                  </a:lnTo>
                </a:path>
                <a:path w="9319260" h="1242060">
                  <a:moveTo>
                    <a:pt x="9319260" y="1057656"/>
                  </a:moveTo>
                  <a:lnTo>
                    <a:pt x="9319260" y="1242060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17981" y="1705241"/>
              <a:ext cx="9010015" cy="1247775"/>
            </a:xfrm>
            <a:custGeom>
              <a:avLst/>
              <a:gdLst/>
              <a:ahLst/>
              <a:cxnLst/>
              <a:rect l="l" t="t" r="r" b="b"/>
              <a:pathLst>
                <a:path w="9010015" h="1247775">
                  <a:moveTo>
                    <a:pt x="0" y="633082"/>
                  </a:moveTo>
                  <a:lnTo>
                    <a:pt x="51778" y="647959"/>
                  </a:lnTo>
                  <a:lnTo>
                    <a:pt x="103559" y="662781"/>
                  </a:lnTo>
                  <a:lnTo>
                    <a:pt x="155340" y="677595"/>
                  </a:lnTo>
                  <a:lnTo>
                    <a:pt x="207121" y="692452"/>
                  </a:lnTo>
                  <a:lnTo>
                    <a:pt x="258901" y="707400"/>
                  </a:lnTo>
                  <a:lnTo>
                    <a:pt x="310680" y="722490"/>
                  </a:lnTo>
                  <a:lnTo>
                    <a:pt x="355065" y="736956"/>
                  </a:lnTo>
                  <a:lnTo>
                    <a:pt x="399450" y="753388"/>
                  </a:lnTo>
                  <a:lnTo>
                    <a:pt x="443834" y="770362"/>
                  </a:lnTo>
                  <a:lnTo>
                    <a:pt x="488218" y="786455"/>
                  </a:lnTo>
                  <a:lnTo>
                    <a:pt x="532602" y="800241"/>
                  </a:lnTo>
                  <a:lnTo>
                    <a:pt x="576987" y="810297"/>
                  </a:lnTo>
                  <a:lnTo>
                    <a:pt x="621372" y="815200"/>
                  </a:lnTo>
                  <a:lnTo>
                    <a:pt x="673150" y="813622"/>
                  </a:lnTo>
                  <a:lnTo>
                    <a:pt x="724937" y="805712"/>
                  </a:lnTo>
                  <a:lnTo>
                    <a:pt x="776727" y="793371"/>
                  </a:lnTo>
                  <a:lnTo>
                    <a:pt x="828513" y="778501"/>
                  </a:lnTo>
                  <a:lnTo>
                    <a:pt x="880290" y="763003"/>
                  </a:lnTo>
                  <a:lnTo>
                    <a:pt x="932053" y="748779"/>
                  </a:lnTo>
                  <a:lnTo>
                    <a:pt x="983814" y="736202"/>
                  </a:lnTo>
                  <a:lnTo>
                    <a:pt x="1035590" y="723901"/>
                  </a:lnTo>
                  <a:lnTo>
                    <a:pt x="1087374" y="710964"/>
                  </a:lnTo>
                  <a:lnTo>
                    <a:pt x="1139157" y="696483"/>
                  </a:lnTo>
                  <a:lnTo>
                    <a:pt x="1190933" y="679546"/>
                  </a:lnTo>
                  <a:lnTo>
                    <a:pt x="1242695" y="659244"/>
                  </a:lnTo>
                  <a:lnTo>
                    <a:pt x="1287101" y="637345"/>
                  </a:lnTo>
                  <a:lnTo>
                    <a:pt x="1331497" y="611121"/>
                  </a:lnTo>
                  <a:lnTo>
                    <a:pt x="1375886" y="582466"/>
                  </a:lnTo>
                  <a:lnTo>
                    <a:pt x="1420272" y="553276"/>
                  </a:lnTo>
                  <a:lnTo>
                    <a:pt x="1464661" y="525446"/>
                  </a:lnTo>
                  <a:lnTo>
                    <a:pt x="1509057" y="500870"/>
                  </a:lnTo>
                  <a:lnTo>
                    <a:pt x="1553464" y="481444"/>
                  </a:lnTo>
                  <a:lnTo>
                    <a:pt x="1605225" y="466426"/>
                  </a:lnTo>
                  <a:lnTo>
                    <a:pt x="1657001" y="457530"/>
                  </a:lnTo>
                  <a:lnTo>
                    <a:pt x="1708784" y="452218"/>
                  </a:lnTo>
                  <a:lnTo>
                    <a:pt x="1760568" y="447953"/>
                  </a:lnTo>
                  <a:lnTo>
                    <a:pt x="1812344" y="442200"/>
                  </a:lnTo>
                  <a:lnTo>
                    <a:pt x="1864106" y="432422"/>
                  </a:lnTo>
                  <a:lnTo>
                    <a:pt x="1908512" y="419466"/>
                  </a:lnTo>
                  <a:lnTo>
                    <a:pt x="1952905" y="403314"/>
                  </a:lnTo>
                  <a:lnTo>
                    <a:pt x="1997287" y="385542"/>
                  </a:lnTo>
                  <a:lnTo>
                    <a:pt x="2041660" y="367728"/>
                  </a:lnTo>
                  <a:lnTo>
                    <a:pt x="2086026" y="351449"/>
                  </a:lnTo>
                  <a:lnTo>
                    <a:pt x="2130388" y="338282"/>
                  </a:lnTo>
                  <a:lnTo>
                    <a:pt x="2174748" y="329806"/>
                  </a:lnTo>
                  <a:lnTo>
                    <a:pt x="2226554" y="326274"/>
                  </a:lnTo>
                  <a:lnTo>
                    <a:pt x="2278347" y="327759"/>
                  </a:lnTo>
                  <a:lnTo>
                    <a:pt x="2330132" y="332758"/>
                  </a:lnTo>
                  <a:lnTo>
                    <a:pt x="2381917" y="339768"/>
                  </a:lnTo>
                  <a:lnTo>
                    <a:pt x="2433710" y="347286"/>
                  </a:lnTo>
                  <a:lnTo>
                    <a:pt x="2485517" y="353809"/>
                  </a:lnTo>
                  <a:lnTo>
                    <a:pt x="2537278" y="360744"/>
                  </a:lnTo>
                  <a:lnTo>
                    <a:pt x="2589054" y="369495"/>
                  </a:lnTo>
                  <a:lnTo>
                    <a:pt x="2640837" y="378748"/>
                  </a:lnTo>
                  <a:lnTo>
                    <a:pt x="2692621" y="387186"/>
                  </a:lnTo>
                  <a:lnTo>
                    <a:pt x="2744397" y="393493"/>
                  </a:lnTo>
                  <a:lnTo>
                    <a:pt x="2796159" y="396354"/>
                  </a:lnTo>
                  <a:lnTo>
                    <a:pt x="2847965" y="395492"/>
                  </a:lnTo>
                  <a:lnTo>
                    <a:pt x="2899753" y="391829"/>
                  </a:lnTo>
                  <a:lnTo>
                    <a:pt x="2951527" y="386035"/>
                  </a:lnTo>
                  <a:lnTo>
                    <a:pt x="3003291" y="378781"/>
                  </a:lnTo>
                  <a:lnTo>
                    <a:pt x="3055047" y="370736"/>
                  </a:lnTo>
                  <a:lnTo>
                    <a:pt x="3106801" y="362572"/>
                  </a:lnTo>
                  <a:lnTo>
                    <a:pt x="3158607" y="352776"/>
                  </a:lnTo>
                  <a:lnTo>
                    <a:pt x="3210400" y="340511"/>
                  </a:lnTo>
                  <a:lnTo>
                    <a:pt x="3262185" y="327456"/>
                  </a:lnTo>
                  <a:lnTo>
                    <a:pt x="3313970" y="315290"/>
                  </a:lnTo>
                  <a:lnTo>
                    <a:pt x="3365763" y="305692"/>
                  </a:lnTo>
                  <a:lnTo>
                    <a:pt x="3417570" y="300342"/>
                  </a:lnTo>
                  <a:lnTo>
                    <a:pt x="3469331" y="300474"/>
                  </a:lnTo>
                  <a:lnTo>
                    <a:pt x="3521107" y="304918"/>
                  </a:lnTo>
                  <a:lnTo>
                    <a:pt x="3572891" y="311930"/>
                  </a:lnTo>
                  <a:lnTo>
                    <a:pt x="3624674" y="319768"/>
                  </a:lnTo>
                  <a:lnTo>
                    <a:pt x="3676450" y="326688"/>
                  </a:lnTo>
                  <a:lnTo>
                    <a:pt x="3728212" y="330949"/>
                  </a:lnTo>
                  <a:lnTo>
                    <a:pt x="3780018" y="332641"/>
                  </a:lnTo>
                  <a:lnTo>
                    <a:pt x="3831806" y="333183"/>
                  </a:lnTo>
                  <a:lnTo>
                    <a:pt x="3883580" y="332822"/>
                  </a:lnTo>
                  <a:lnTo>
                    <a:pt x="3935344" y="331805"/>
                  </a:lnTo>
                  <a:lnTo>
                    <a:pt x="3987100" y="330378"/>
                  </a:lnTo>
                  <a:lnTo>
                    <a:pt x="4038854" y="328790"/>
                  </a:lnTo>
                  <a:lnTo>
                    <a:pt x="4090660" y="326892"/>
                  </a:lnTo>
                  <a:lnTo>
                    <a:pt x="4142453" y="324528"/>
                  </a:lnTo>
                  <a:lnTo>
                    <a:pt x="4194238" y="321741"/>
                  </a:lnTo>
                  <a:lnTo>
                    <a:pt x="4246023" y="318573"/>
                  </a:lnTo>
                  <a:lnTo>
                    <a:pt x="4297816" y="315067"/>
                  </a:lnTo>
                  <a:lnTo>
                    <a:pt x="4349623" y="311264"/>
                  </a:lnTo>
                  <a:lnTo>
                    <a:pt x="4401384" y="305880"/>
                  </a:lnTo>
                  <a:lnTo>
                    <a:pt x="4453160" y="298545"/>
                  </a:lnTo>
                  <a:lnTo>
                    <a:pt x="4504944" y="290864"/>
                  </a:lnTo>
                  <a:lnTo>
                    <a:pt x="4556727" y="284443"/>
                  </a:lnTo>
                  <a:lnTo>
                    <a:pt x="4608503" y="280886"/>
                  </a:lnTo>
                  <a:lnTo>
                    <a:pt x="4660265" y="281800"/>
                  </a:lnTo>
                  <a:lnTo>
                    <a:pt x="4695246" y="281340"/>
                  </a:lnTo>
                  <a:lnTo>
                    <a:pt x="4733540" y="277315"/>
                  </a:lnTo>
                  <a:lnTo>
                    <a:pt x="4774042" y="272897"/>
                  </a:lnTo>
                  <a:lnTo>
                    <a:pt x="4815649" y="271259"/>
                  </a:lnTo>
                  <a:lnTo>
                    <a:pt x="4857256" y="275574"/>
                  </a:lnTo>
                  <a:lnTo>
                    <a:pt x="4897758" y="289015"/>
                  </a:lnTo>
                  <a:lnTo>
                    <a:pt x="4936052" y="314755"/>
                  </a:lnTo>
                  <a:lnTo>
                    <a:pt x="4971033" y="355968"/>
                  </a:lnTo>
                  <a:lnTo>
                    <a:pt x="5003719" y="419652"/>
                  </a:lnTo>
                  <a:lnTo>
                    <a:pt x="5020063" y="460719"/>
                  </a:lnTo>
                  <a:lnTo>
                    <a:pt x="5036406" y="506809"/>
                  </a:lnTo>
                  <a:lnTo>
                    <a:pt x="5052750" y="557075"/>
                  </a:lnTo>
                  <a:lnTo>
                    <a:pt x="5069095" y="610671"/>
                  </a:lnTo>
                  <a:lnTo>
                    <a:pt x="5085440" y="666751"/>
                  </a:lnTo>
                  <a:lnTo>
                    <a:pt x="5101786" y="724468"/>
                  </a:lnTo>
                  <a:lnTo>
                    <a:pt x="5118133" y="782976"/>
                  </a:lnTo>
                  <a:lnTo>
                    <a:pt x="5134481" y="841430"/>
                  </a:lnTo>
                  <a:lnTo>
                    <a:pt x="5150830" y="898982"/>
                  </a:lnTo>
                  <a:lnTo>
                    <a:pt x="5167180" y="954786"/>
                  </a:lnTo>
                  <a:lnTo>
                    <a:pt x="5183532" y="1007997"/>
                  </a:lnTo>
                  <a:lnTo>
                    <a:pt x="5199885" y="1057768"/>
                  </a:lnTo>
                  <a:lnTo>
                    <a:pt x="5216239" y="1103254"/>
                  </a:lnTo>
                  <a:lnTo>
                    <a:pt x="5232596" y="1143607"/>
                  </a:lnTo>
                  <a:lnTo>
                    <a:pt x="5265314" y="1205531"/>
                  </a:lnTo>
                  <a:lnTo>
                    <a:pt x="5309907" y="1244153"/>
                  </a:lnTo>
                  <a:lnTo>
                    <a:pt x="5338144" y="1247444"/>
                  </a:lnTo>
                  <a:lnTo>
                    <a:pt x="5366385" y="1237544"/>
                  </a:lnTo>
                  <a:lnTo>
                    <a:pt x="5422874" y="1187218"/>
                  </a:lnTo>
                  <a:lnTo>
                    <a:pt x="5451119" y="1151316"/>
                  </a:lnTo>
                  <a:lnTo>
                    <a:pt x="5479365" y="1111272"/>
                  </a:lnTo>
                  <a:lnTo>
                    <a:pt x="5507608" y="1069346"/>
                  </a:lnTo>
                  <a:lnTo>
                    <a:pt x="5535849" y="1027800"/>
                  </a:lnTo>
                  <a:lnTo>
                    <a:pt x="5564086" y="988898"/>
                  </a:lnTo>
                  <a:lnTo>
                    <a:pt x="5592318" y="954900"/>
                  </a:lnTo>
                  <a:lnTo>
                    <a:pt x="5623404" y="918097"/>
                  </a:lnTo>
                  <a:lnTo>
                    <a:pt x="5654483" y="876432"/>
                  </a:lnTo>
                  <a:lnTo>
                    <a:pt x="5685559" y="831403"/>
                  </a:lnTo>
                  <a:lnTo>
                    <a:pt x="5716631" y="784510"/>
                  </a:lnTo>
                  <a:lnTo>
                    <a:pt x="5747702" y="737253"/>
                  </a:lnTo>
                  <a:lnTo>
                    <a:pt x="5778773" y="691132"/>
                  </a:lnTo>
                  <a:lnTo>
                    <a:pt x="5809845" y="647645"/>
                  </a:lnTo>
                  <a:lnTo>
                    <a:pt x="5840921" y="608293"/>
                  </a:lnTo>
                  <a:lnTo>
                    <a:pt x="5872000" y="574575"/>
                  </a:lnTo>
                  <a:lnTo>
                    <a:pt x="5903087" y="547992"/>
                  </a:lnTo>
                  <a:lnTo>
                    <a:pt x="5941901" y="528217"/>
                  </a:lnTo>
                  <a:lnTo>
                    <a:pt x="5980717" y="522022"/>
                  </a:lnTo>
                  <a:lnTo>
                    <a:pt x="6019536" y="524665"/>
                  </a:lnTo>
                  <a:lnTo>
                    <a:pt x="6058360" y="531402"/>
                  </a:lnTo>
                  <a:lnTo>
                    <a:pt x="6097189" y="537491"/>
                  </a:lnTo>
                  <a:lnTo>
                    <a:pt x="6136026" y="538187"/>
                  </a:lnTo>
                  <a:lnTo>
                    <a:pt x="6174872" y="528748"/>
                  </a:lnTo>
                  <a:lnTo>
                    <a:pt x="6213729" y="504431"/>
                  </a:lnTo>
                  <a:lnTo>
                    <a:pt x="6265490" y="441679"/>
                  </a:lnTo>
                  <a:lnTo>
                    <a:pt x="6291377" y="399336"/>
                  </a:lnTo>
                  <a:lnTo>
                    <a:pt x="6317266" y="352092"/>
                  </a:lnTo>
                  <a:lnTo>
                    <a:pt x="6343158" y="301754"/>
                  </a:lnTo>
                  <a:lnTo>
                    <a:pt x="6369049" y="250129"/>
                  </a:lnTo>
                  <a:lnTo>
                    <a:pt x="6394941" y="199026"/>
                  </a:lnTo>
                  <a:lnTo>
                    <a:pt x="6420833" y="150251"/>
                  </a:lnTo>
                  <a:lnTo>
                    <a:pt x="6446722" y="105613"/>
                  </a:lnTo>
                  <a:lnTo>
                    <a:pt x="6472609" y="66919"/>
                  </a:lnTo>
                  <a:lnTo>
                    <a:pt x="6498492" y="35976"/>
                  </a:lnTo>
                  <a:lnTo>
                    <a:pt x="6563227" y="0"/>
                  </a:lnTo>
                  <a:lnTo>
                    <a:pt x="6602075" y="1511"/>
                  </a:lnTo>
                  <a:lnTo>
                    <a:pt x="6640916" y="15047"/>
                  </a:lnTo>
                  <a:lnTo>
                    <a:pt x="6679755" y="36531"/>
                  </a:lnTo>
                  <a:lnTo>
                    <a:pt x="6718594" y="61884"/>
                  </a:lnTo>
                  <a:lnTo>
                    <a:pt x="6757435" y="87029"/>
                  </a:lnTo>
                  <a:lnTo>
                    <a:pt x="6796283" y="107888"/>
                  </a:lnTo>
                  <a:lnTo>
                    <a:pt x="6835140" y="120383"/>
                  </a:lnTo>
                  <a:lnTo>
                    <a:pt x="6886893" y="126061"/>
                  </a:lnTo>
                  <a:lnTo>
                    <a:pt x="6938649" y="126314"/>
                  </a:lnTo>
                  <a:lnTo>
                    <a:pt x="6990413" y="123780"/>
                  </a:lnTo>
                  <a:lnTo>
                    <a:pt x="7042187" y="121098"/>
                  </a:lnTo>
                  <a:lnTo>
                    <a:pt x="7093975" y="120906"/>
                  </a:lnTo>
                  <a:lnTo>
                    <a:pt x="7145782" y="125844"/>
                  </a:lnTo>
                  <a:lnTo>
                    <a:pt x="7190148" y="135957"/>
                  </a:lnTo>
                  <a:lnTo>
                    <a:pt x="7234525" y="150583"/>
                  </a:lnTo>
                  <a:lnTo>
                    <a:pt x="7278909" y="167701"/>
                  </a:lnTo>
                  <a:lnTo>
                    <a:pt x="7323296" y="185293"/>
                  </a:lnTo>
                  <a:lnTo>
                    <a:pt x="7367680" y="201338"/>
                  </a:lnTo>
                  <a:lnTo>
                    <a:pt x="7412057" y="213818"/>
                  </a:lnTo>
                  <a:lnTo>
                    <a:pt x="7456424" y="220713"/>
                  </a:lnTo>
                  <a:lnTo>
                    <a:pt x="7500830" y="219816"/>
                  </a:lnTo>
                  <a:lnTo>
                    <a:pt x="7545226" y="212188"/>
                  </a:lnTo>
                  <a:lnTo>
                    <a:pt x="7589615" y="200708"/>
                  </a:lnTo>
                  <a:lnTo>
                    <a:pt x="7634001" y="188255"/>
                  </a:lnTo>
                  <a:lnTo>
                    <a:pt x="7678390" y="177708"/>
                  </a:lnTo>
                  <a:lnTo>
                    <a:pt x="7722786" y="171947"/>
                  </a:lnTo>
                  <a:lnTo>
                    <a:pt x="7767193" y="173850"/>
                  </a:lnTo>
                  <a:lnTo>
                    <a:pt x="7811559" y="186543"/>
                  </a:lnTo>
                  <a:lnTo>
                    <a:pt x="7855936" y="208511"/>
                  </a:lnTo>
                  <a:lnTo>
                    <a:pt x="7900320" y="235672"/>
                  </a:lnTo>
                  <a:lnTo>
                    <a:pt x="7944707" y="263940"/>
                  </a:lnTo>
                  <a:lnTo>
                    <a:pt x="7989091" y="289234"/>
                  </a:lnTo>
                  <a:lnTo>
                    <a:pt x="8033468" y="307471"/>
                  </a:lnTo>
                  <a:lnTo>
                    <a:pt x="8077835" y="314566"/>
                  </a:lnTo>
                  <a:lnTo>
                    <a:pt x="8122201" y="307070"/>
                  </a:lnTo>
                  <a:lnTo>
                    <a:pt x="8166578" y="287463"/>
                  </a:lnTo>
                  <a:lnTo>
                    <a:pt x="8210962" y="260551"/>
                  </a:lnTo>
                  <a:lnTo>
                    <a:pt x="8255349" y="231143"/>
                  </a:lnTo>
                  <a:lnTo>
                    <a:pt x="8299733" y="204044"/>
                  </a:lnTo>
                  <a:lnTo>
                    <a:pt x="8344110" y="184064"/>
                  </a:lnTo>
                  <a:lnTo>
                    <a:pt x="8388477" y="176009"/>
                  </a:lnTo>
                  <a:lnTo>
                    <a:pt x="8432883" y="182038"/>
                  </a:lnTo>
                  <a:lnTo>
                    <a:pt x="8477279" y="198525"/>
                  </a:lnTo>
                  <a:lnTo>
                    <a:pt x="8521668" y="221759"/>
                  </a:lnTo>
                  <a:lnTo>
                    <a:pt x="8566054" y="248029"/>
                  </a:lnTo>
                  <a:lnTo>
                    <a:pt x="8610443" y="273626"/>
                  </a:lnTo>
                  <a:lnTo>
                    <a:pt x="8654839" y="294841"/>
                  </a:lnTo>
                  <a:lnTo>
                    <a:pt x="8699246" y="307962"/>
                  </a:lnTo>
                  <a:lnTo>
                    <a:pt x="8751007" y="313250"/>
                  </a:lnTo>
                  <a:lnTo>
                    <a:pt x="8802783" y="312124"/>
                  </a:lnTo>
                  <a:lnTo>
                    <a:pt x="8854567" y="306723"/>
                  </a:lnTo>
                  <a:lnTo>
                    <a:pt x="8906350" y="299184"/>
                  </a:lnTo>
                  <a:lnTo>
                    <a:pt x="8958126" y="291646"/>
                  </a:lnTo>
                  <a:lnTo>
                    <a:pt x="9009888" y="286245"/>
                  </a:lnTo>
                </a:path>
              </a:pathLst>
            </a:custGeom>
            <a:ln w="19050">
              <a:solidFill>
                <a:srgbClr val="E02F1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306730" y="1746250"/>
            <a:ext cx="82550" cy="366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50">
                <a:solidFill>
                  <a:srgbClr val="585858"/>
                </a:solidFill>
                <a:latin typeface="Arial MT"/>
                <a:cs typeface="Arial MT"/>
              </a:rPr>
              <a:t>4</a:t>
            </a:r>
            <a:endParaRPr sz="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dirty="0" sz="800" spc="-50">
                <a:solidFill>
                  <a:srgbClr val="585858"/>
                </a:solidFill>
                <a:latin typeface="Arial MT"/>
                <a:cs typeface="Arial MT"/>
              </a:rPr>
              <a:t>2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06730" y="1528318"/>
            <a:ext cx="8255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50">
                <a:solidFill>
                  <a:srgbClr val="585858"/>
                </a:solidFill>
                <a:latin typeface="Arial MT"/>
                <a:cs typeface="Arial MT"/>
              </a:rPr>
              <a:t>6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72897" y="2182749"/>
            <a:ext cx="9438005" cy="11417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6355">
              <a:lnSpc>
                <a:spcPct val="100000"/>
              </a:lnSpc>
              <a:spcBef>
                <a:spcPts val="105"/>
              </a:spcBef>
            </a:pPr>
            <a:r>
              <a:rPr dirty="0" sz="800" spc="-50">
                <a:solidFill>
                  <a:srgbClr val="585858"/>
                </a:solidFill>
                <a:latin typeface="Arial MT"/>
                <a:cs typeface="Arial MT"/>
              </a:rPr>
              <a:t>0</a:t>
            </a:r>
            <a:endParaRPr sz="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dirty="0" sz="800" spc="-10">
                <a:solidFill>
                  <a:srgbClr val="585858"/>
                </a:solidFill>
                <a:latin typeface="Arial MT"/>
                <a:cs typeface="Arial MT"/>
              </a:rPr>
              <a:t>-</a:t>
            </a:r>
            <a:r>
              <a:rPr dirty="0" sz="800" spc="-60">
                <a:solidFill>
                  <a:srgbClr val="585858"/>
                </a:solidFill>
                <a:latin typeface="Arial MT"/>
                <a:cs typeface="Arial MT"/>
              </a:rPr>
              <a:t>2</a:t>
            </a:r>
            <a:endParaRPr sz="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dirty="0" sz="800" spc="-10">
                <a:solidFill>
                  <a:srgbClr val="585858"/>
                </a:solidFill>
                <a:latin typeface="Arial MT"/>
                <a:cs typeface="Arial MT"/>
              </a:rPr>
              <a:t>-</a:t>
            </a:r>
            <a:r>
              <a:rPr dirty="0" sz="800" spc="-60">
                <a:solidFill>
                  <a:srgbClr val="585858"/>
                </a:solidFill>
                <a:latin typeface="Arial MT"/>
                <a:cs typeface="Arial MT"/>
              </a:rPr>
              <a:t>4</a:t>
            </a:r>
            <a:endParaRPr sz="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dirty="0" sz="800" spc="-10">
                <a:solidFill>
                  <a:srgbClr val="585858"/>
                </a:solidFill>
                <a:latin typeface="Arial MT"/>
                <a:cs typeface="Arial MT"/>
              </a:rPr>
              <a:t>-</a:t>
            </a:r>
            <a:r>
              <a:rPr dirty="0" sz="800" spc="-60">
                <a:solidFill>
                  <a:srgbClr val="585858"/>
                </a:solidFill>
                <a:latin typeface="Arial MT"/>
                <a:cs typeface="Arial MT"/>
              </a:rPr>
              <a:t>6</a:t>
            </a:r>
            <a:endParaRPr sz="800">
              <a:latin typeface="Arial MT"/>
              <a:cs typeface="Arial MT"/>
            </a:endParaRPr>
          </a:p>
          <a:p>
            <a:pPr marL="12700">
              <a:lnSpc>
                <a:spcPts val="955"/>
              </a:lnSpc>
              <a:spcBef>
                <a:spcPts val="760"/>
              </a:spcBef>
            </a:pPr>
            <a:r>
              <a:rPr dirty="0" sz="800" spc="-10">
                <a:solidFill>
                  <a:srgbClr val="585858"/>
                </a:solidFill>
                <a:latin typeface="Arial MT"/>
                <a:cs typeface="Arial MT"/>
              </a:rPr>
              <a:t>-</a:t>
            </a:r>
            <a:r>
              <a:rPr dirty="0" sz="800" spc="-60">
                <a:solidFill>
                  <a:srgbClr val="585858"/>
                </a:solidFill>
                <a:latin typeface="Arial MT"/>
                <a:cs typeface="Arial MT"/>
              </a:rPr>
              <a:t>8</a:t>
            </a:r>
            <a:endParaRPr sz="800">
              <a:latin typeface="Arial MT"/>
              <a:cs typeface="Arial MT"/>
            </a:endParaRPr>
          </a:p>
          <a:p>
            <a:pPr marL="278130">
              <a:lnSpc>
                <a:spcPts val="955"/>
              </a:lnSpc>
              <a:tabLst>
                <a:tab pos="588645" algn="l"/>
                <a:tab pos="899160" algn="l"/>
                <a:tab pos="1209675" algn="l"/>
                <a:tab pos="1520190" algn="l"/>
                <a:tab pos="1831339" algn="l"/>
                <a:tab pos="2141855" algn="l"/>
                <a:tab pos="2453005" algn="l"/>
                <a:tab pos="2763520" algn="l"/>
                <a:tab pos="3074035" algn="l"/>
                <a:tab pos="3385185" algn="l"/>
                <a:tab pos="3695700" algn="l"/>
                <a:tab pos="4006215" algn="l"/>
                <a:tab pos="4316730" algn="l"/>
                <a:tab pos="4627880" algn="l"/>
                <a:tab pos="4938395" algn="l"/>
                <a:tab pos="5248910" algn="l"/>
                <a:tab pos="5560060" algn="l"/>
                <a:tab pos="5870575" algn="l"/>
                <a:tab pos="6181725" algn="l"/>
                <a:tab pos="6492240" algn="l"/>
                <a:tab pos="6802755" algn="l"/>
                <a:tab pos="7113270" algn="l"/>
                <a:tab pos="7424420" algn="l"/>
                <a:tab pos="7734934" algn="l"/>
                <a:tab pos="8045450" algn="l"/>
                <a:tab pos="8355965" algn="l"/>
                <a:tab pos="8667115" algn="l"/>
                <a:tab pos="8977630" algn="l"/>
                <a:tab pos="9288780" algn="l"/>
              </a:tabLst>
            </a:pPr>
            <a:r>
              <a:rPr dirty="0" sz="800" spc="-25">
                <a:solidFill>
                  <a:srgbClr val="585858"/>
                </a:solidFill>
                <a:latin typeface="Arial MT"/>
                <a:cs typeface="Arial MT"/>
              </a:rPr>
              <a:t>Q1</a:t>
            </a:r>
            <a:r>
              <a:rPr dirty="0" sz="800">
                <a:solidFill>
                  <a:srgbClr val="585858"/>
                </a:solidFill>
                <a:latin typeface="Arial MT"/>
                <a:cs typeface="Arial MT"/>
              </a:rPr>
              <a:t>	</a:t>
            </a:r>
            <a:r>
              <a:rPr dirty="0" sz="800" spc="-25">
                <a:solidFill>
                  <a:srgbClr val="585858"/>
                </a:solidFill>
                <a:latin typeface="Arial MT"/>
                <a:cs typeface="Arial MT"/>
              </a:rPr>
              <a:t>Q2</a:t>
            </a:r>
            <a:r>
              <a:rPr dirty="0" sz="800">
                <a:solidFill>
                  <a:srgbClr val="585858"/>
                </a:solidFill>
                <a:latin typeface="Arial MT"/>
                <a:cs typeface="Arial MT"/>
              </a:rPr>
              <a:t>	</a:t>
            </a:r>
            <a:r>
              <a:rPr dirty="0" sz="800" spc="-25">
                <a:solidFill>
                  <a:srgbClr val="585858"/>
                </a:solidFill>
                <a:latin typeface="Arial MT"/>
                <a:cs typeface="Arial MT"/>
              </a:rPr>
              <a:t>Q3</a:t>
            </a:r>
            <a:r>
              <a:rPr dirty="0" sz="800">
                <a:solidFill>
                  <a:srgbClr val="585858"/>
                </a:solidFill>
                <a:latin typeface="Arial MT"/>
                <a:cs typeface="Arial MT"/>
              </a:rPr>
              <a:t>	</a:t>
            </a:r>
            <a:r>
              <a:rPr dirty="0" sz="800" spc="-25">
                <a:solidFill>
                  <a:srgbClr val="585858"/>
                </a:solidFill>
                <a:latin typeface="Arial MT"/>
                <a:cs typeface="Arial MT"/>
              </a:rPr>
              <a:t>Q4</a:t>
            </a:r>
            <a:r>
              <a:rPr dirty="0" sz="800">
                <a:solidFill>
                  <a:srgbClr val="585858"/>
                </a:solidFill>
                <a:latin typeface="Arial MT"/>
                <a:cs typeface="Arial MT"/>
              </a:rPr>
              <a:t>	</a:t>
            </a:r>
            <a:r>
              <a:rPr dirty="0" sz="800" spc="-25">
                <a:solidFill>
                  <a:srgbClr val="585858"/>
                </a:solidFill>
                <a:latin typeface="Arial MT"/>
                <a:cs typeface="Arial MT"/>
              </a:rPr>
              <a:t>Q1</a:t>
            </a:r>
            <a:r>
              <a:rPr dirty="0" sz="800">
                <a:solidFill>
                  <a:srgbClr val="585858"/>
                </a:solidFill>
                <a:latin typeface="Arial MT"/>
                <a:cs typeface="Arial MT"/>
              </a:rPr>
              <a:t>	</a:t>
            </a:r>
            <a:r>
              <a:rPr dirty="0" sz="800" spc="-25">
                <a:solidFill>
                  <a:srgbClr val="585858"/>
                </a:solidFill>
                <a:latin typeface="Arial MT"/>
                <a:cs typeface="Arial MT"/>
              </a:rPr>
              <a:t>Q2</a:t>
            </a:r>
            <a:r>
              <a:rPr dirty="0" sz="800">
                <a:solidFill>
                  <a:srgbClr val="585858"/>
                </a:solidFill>
                <a:latin typeface="Arial MT"/>
                <a:cs typeface="Arial MT"/>
              </a:rPr>
              <a:t>	</a:t>
            </a:r>
            <a:r>
              <a:rPr dirty="0" sz="800" spc="-25">
                <a:solidFill>
                  <a:srgbClr val="585858"/>
                </a:solidFill>
                <a:latin typeface="Arial MT"/>
                <a:cs typeface="Arial MT"/>
              </a:rPr>
              <a:t>Q3</a:t>
            </a:r>
            <a:r>
              <a:rPr dirty="0" sz="800">
                <a:solidFill>
                  <a:srgbClr val="585858"/>
                </a:solidFill>
                <a:latin typeface="Arial MT"/>
                <a:cs typeface="Arial MT"/>
              </a:rPr>
              <a:t>	</a:t>
            </a:r>
            <a:r>
              <a:rPr dirty="0" sz="800" spc="-25">
                <a:solidFill>
                  <a:srgbClr val="585858"/>
                </a:solidFill>
                <a:latin typeface="Arial MT"/>
                <a:cs typeface="Arial MT"/>
              </a:rPr>
              <a:t>Q4</a:t>
            </a:r>
            <a:r>
              <a:rPr dirty="0" sz="800">
                <a:solidFill>
                  <a:srgbClr val="585858"/>
                </a:solidFill>
                <a:latin typeface="Arial MT"/>
                <a:cs typeface="Arial MT"/>
              </a:rPr>
              <a:t>	</a:t>
            </a:r>
            <a:r>
              <a:rPr dirty="0" sz="800" spc="-25">
                <a:solidFill>
                  <a:srgbClr val="585858"/>
                </a:solidFill>
                <a:latin typeface="Arial MT"/>
                <a:cs typeface="Arial MT"/>
              </a:rPr>
              <a:t>Q1</a:t>
            </a:r>
            <a:r>
              <a:rPr dirty="0" sz="800">
                <a:solidFill>
                  <a:srgbClr val="585858"/>
                </a:solidFill>
                <a:latin typeface="Arial MT"/>
                <a:cs typeface="Arial MT"/>
              </a:rPr>
              <a:t>	</a:t>
            </a:r>
            <a:r>
              <a:rPr dirty="0" sz="800" spc="-25">
                <a:solidFill>
                  <a:srgbClr val="585858"/>
                </a:solidFill>
                <a:latin typeface="Arial MT"/>
                <a:cs typeface="Arial MT"/>
              </a:rPr>
              <a:t>Q2</a:t>
            </a:r>
            <a:r>
              <a:rPr dirty="0" sz="800">
                <a:solidFill>
                  <a:srgbClr val="585858"/>
                </a:solidFill>
                <a:latin typeface="Arial MT"/>
                <a:cs typeface="Arial MT"/>
              </a:rPr>
              <a:t>	</a:t>
            </a:r>
            <a:r>
              <a:rPr dirty="0" sz="800" spc="-25">
                <a:solidFill>
                  <a:srgbClr val="585858"/>
                </a:solidFill>
                <a:latin typeface="Arial MT"/>
                <a:cs typeface="Arial MT"/>
              </a:rPr>
              <a:t>Q3</a:t>
            </a:r>
            <a:r>
              <a:rPr dirty="0" sz="800">
                <a:solidFill>
                  <a:srgbClr val="585858"/>
                </a:solidFill>
                <a:latin typeface="Arial MT"/>
                <a:cs typeface="Arial MT"/>
              </a:rPr>
              <a:t>	</a:t>
            </a:r>
            <a:r>
              <a:rPr dirty="0" sz="800" spc="-25">
                <a:solidFill>
                  <a:srgbClr val="585858"/>
                </a:solidFill>
                <a:latin typeface="Arial MT"/>
                <a:cs typeface="Arial MT"/>
              </a:rPr>
              <a:t>Q4</a:t>
            </a:r>
            <a:r>
              <a:rPr dirty="0" sz="800">
                <a:solidFill>
                  <a:srgbClr val="585858"/>
                </a:solidFill>
                <a:latin typeface="Arial MT"/>
                <a:cs typeface="Arial MT"/>
              </a:rPr>
              <a:t>	</a:t>
            </a:r>
            <a:r>
              <a:rPr dirty="0" sz="800" spc="-25">
                <a:solidFill>
                  <a:srgbClr val="585858"/>
                </a:solidFill>
                <a:latin typeface="Arial MT"/>
                <a:cs typeface="Arial MT"/>
              </a:rPr>
              <a:t>Q1</a:t>
            </a:r>
            <a:r>
              <a:rPr dirty="0" sz="800">
                <a:solidFill>
                  <a:srgbClr val="585858"/>
                </a:solidFill>
                <a:latin typeface="Arial MT"/>
                <a:cs typeface="Arial MT"/>
              </a:rPr>
              <a:t>	</a:t>
            </a:r>
            <a:r>
              <a:rPr dirty="0" sz="800" spc="-25">
                <a:solidFill>
                  <a:srgbClr val="585858"/>
                </a:solidFill>
                <a:latin typeface="Arial MT"/>
                <a:cs typeface="Arial MT"/>
              </a:rPr>
              <a:t>Q2</a:t>
            </a:r>
            <a:r>
              <a:rPr dirty="0" sz="800">
                <a:solidFill>
                  <a:srgbClr val="585858"/>
                </a:solidFill>
                <a:latin typeface="Arial MT"/>
                <a:cs typeface="Arial MT"/>
              </a:rPr>
              <a:t>	</a:t>
            </a:r>
            <a:r>
              <a:rPr dirty="0" sz="800" spc="-25">
                <a:solidFill>
                  <a:srgbClr val="585858"/>
                </a:solidFill>
                <a:latin typeface="Arial MT"/>
                <a:cs typeface="Arial MT"/>
              </a:rPr>
              <a:t>Q3</a:t>
            </a:r>
            <a:r>
              <a:rPr dirty="0" sz="800">
                <a:solidFill>
                  <a:srgbClr val="585858"/>
                </a:solidFill>
                <a:latin typeface="Arial MT"/>
                <a:cs typeface="Arial MT"/>
              </a:rPr>
              <a:t>	</a:t>
            </a:r>
            <a:r>
              <a:rPr dirty="0" sz="800" spc="-25">
                <a:solidFill>
                  <a:srgbClr val="585858"/>
                </a:solidFill>
                <a:latin typeface="Arial MT"/>
                <a:cs typeface="Arial MT"/>
              </a:rPr>
              <a:t>Q4</a:t>
            </a:r>
            <a:r>
              <a:rPr dirty="0" sz="800">
                <a:solidFill>
                  <a:srgbClr val="585858"/>
                </a:solidFill>
                <a:latin typeface="Arial MT"/>
                <a:cs typeface="Arial MT"/>
              </a:rPr>
              <a:t>	</a:t>
            </a:r>
            <a:r>
              <a:rPr dirty="0" sz="800" spc="-25">
                <a:solidFill>
                  <a:srgbClr val="585858"/>
                </a:solidFill>
                <a:latin typeface="Arial MT"/>
                <a:cs typeface="Arial MT"/>
              </a:rPr>
              <a:t>Q1</a:t>
            </a:r>
            <a:r>
              <a:rPr dirty="0" sz="800">
                <a:solidFill>
                  <a:srgbClr val="585858"/>
                </a:solidFill>
                <a:latin typeface="Arial MT"/>
                <a:cs typeface="Arial MT"/>
              </a:rPr>
              <a:t>	</a:t>
            </a:r>
            <a:r>
              <a:rPr dirty="0" sz="800" spc="-25">
                <a:solidFill>
                  <a:srgbClr val="585858"/>
                </a:solidFill>
                <a:latin typeface="Arial MT"/>
                <a:cs typeface="Arial MT"/>
              </a:rPr>
              <a:t>Q2</a:t>
            </a:r>
            <a:r>
              <a:rPr dirty="0" sz="800">
                <a:solidFill>
                  <a:srgbClr val="585858"/>
                </a:solidFill>
                <a:latin typeface="Arial MT"/>
                <a:cs typeface="Arial MT"/>
              </a:rPr>
              <a:t>	</a:t>
            </a:r>
            <a:r>
              <a:rPr dirty="0" sz="800" spc="-25">
                <a:solidFill>
                  <a:srgbClr val="585858"/>
                </a:solidFill>
                <a:latin typeface="Arial MT"/>
                <a:cs typeface="Arial MT"/>
              </a:rPr>
              <a:t>Q3</a:t>
            </a:r>
            <a:r>
              <a:rPr dirty="0" sz="800">
                <a:solidFill>
                  <a:srgbClr val="585858"/>
                </a:solidFill>
                <a:latin typeface="Arial MT"/>
                <a:cs typeface="Arial MT"/>
              </a:rPr>
              <a:t>	</a:t>
            </a:r>
            <a:r>
              <a:rPr dirty="0" sz="800" spc="-25">
                <a:solidFill>
                  <a:srgbClr val="585858"/>
                </a:solidFill>
                <a:latin typeface="Arial MT"/>
                <a:cs typeface="Arial MT"/>
              </a:rPr>
              <a:t>Q4</a:t>
            </a:r>
            <a:r>
              <a:rPr dirty="0" sz="800">
                <a:solidFill>
                  <a:srgbClr val="585858"/>
                </a:solidFill>
                <a:latin typeface="Arial MT"/>
                <a:cs typeface="Arial MT"/>
              </a:rPr>
              <a:t>	</a:t>
            </a:r>
            <a:r>
              <a:rPr dirty="0" sz="800" spc="-25">
                <a:solidFill>
                  <a:srgbClr val="585858"/>
                </a:solidFill>
                <a:latin typeface="Arial MT"/>
                <a:cs typeface="Arial MT"/>
              </a:rPr>
              <a:t>Q1</a:t>
            </a:r>
            <a:r>
              <a:rPr dirty="0" sz="800">
                <a:solidFill>
                  <a:srgbClr val="585858"/>
                </a:solidFill>
                <a:latin typeface="Arial MT"/>
                <a:cs typeface="Arial MT"/>
              </a:rPr>
              <a:t>	</a:t>
            </a:r>
            <a:r>
              <a:rPr dirty="0" sz="800" spc="-25">
                <a:solidFill>
                  <a:srgbClr val="585858"/>
                </a:solidFill>
                <a:latin typeface="Arial MT"/>
                <a:cs typeface="Arial MT"/>
              </a:rPr>
              <a:t>Q2</a:t>
            </a:r>
            <a:r>
              <a:rPr dirty="0" sz="800">
                <a:solidFill>
                  <a:srgbClr val="585858"/>
                </a:solidFill>
                <a:latin typeface="Arial MT"/>
                <a:cs typeface="Arial MT"/>
              </a:rPr>
              <a:t>	</a:t>
            </a:r>
            <a:r>
              <a:rPr dirty="0" sz="800" spc="-25">
                <a:solidFill>
                  <a:srgbClr val="585858"/>
                </a:solidFill>
                <a:latin typeface="Arial MT"/>
                <a:cs typeface="Arial MT"/>
              </a:rPr>
              <a:t>Q3</a:t>
            </a:r>
            <a:r>
              <a:rPr dirty="0" sz="800">
                <a:solidFill>
                  <a:srgbClr val="585858"/>
                </a:solidFill>
                <a:latin typeface="Arial MT"/>
                <a:cs typeface="Arial MT"/>
              </a:rPr>
              <a:t>	</a:t>
            </a:r>
            <a:r>
              <a:rPr dirty="0" sz="800" spc="-25">
                <a:solidFill>
                  <a:srgbClr val="585858"/>
                </a:solidFill>
                <a:latin typeface="Arial MT"/>
                <a:cs typeface="Arial MT"/>
              </a:rPr>
              <a:t>Q4</a:t>
            </a:r>
            <a:r>
              <a:rPr dirty="0" sz="800">
                <a:solidFill>
                  <a:srgbClr val="585858"/>
                </a:solidFill>
                <a:latin typeface="Arial MT"/>
                <a:cs typeface="Arial MT"/>
              </a:rPr>
              <a:t>	</a:t>
            </a:r>
            <a:r>
              <a:rPr dirty="0" sz="800" spc="-25">
                <a:solidFill>
                  <a:srgbClr val="585858"/>
                </a:solidFill>
                <a:latin typeface="Arial MT"/>
                <a:cs typeface="Arial MT"/>
              </a:rPr>
              <a:t>Q1</a:t>
            </a:r>
            <a:r>
              <a:rPr dirty="0" sz="800">
                <a:solidFill>
                  <a:srgbClr val="585858"/>
                </a:solidFill>
                <a:latin typeface="Arial MT"/>
                <a:cs typeface="Arial MT"/>
              </a:rPr>
              <a:t>	</a:t>
            </a:r>
            <a:r>
              <a:rPr dirty="0" sz="800" spc="-25">
                <a:solidFill>
                  <a:srgbClr val="585858"/>
                </a:solidFill>
                <a:latin typeface="Arial MT"/>
                <a:cs typeface="Arial MT"/>
              </a:rPr>
              <a:t>Q2</a:t>
            </a:r>
            <a:r>
              <a:rPr dirty="0" sz="800">
                <a:solidFill>
                  <a:srgbClr val="585858"/>
                </a:solidFill>
                <a:latin typeface="Arial MT"/>
                <a:cs typeface="Arial MT"/>
              </a:rPr>
              <a:t>	</a:t>
            </a:r>
            <a:r>
              <a:rPr dirty="0" sz="800" spc="-25">
                <a:solidFill>
                  <a:srgbClr val="585858"/>
                </a:solidFill>
                <a:latin typeface="Arial MT"/>
                <a:cs typeface="Arial MT"/>
              </a:rPr>
              <a:t>Q3</a:t>
            </a:r>
            <a:r>
              <a:rPr dirty="0" sz="800">
                <a:solidFill>
                  <a:srgbClr val="585858"/>
                </a:solidFill>
                <a:latin typeface="Arial MT"/>
                <a:cs typeface="Arial MT"/>
              </a:rPr>
              <a:t>	</a:t>
            </a:r>
            <a:r>
              <a:rPr dirty="0" sz="800" spc="-25">
                <a:solidFill>
                  <a:srgbClr val="585858"/>
                </a:solidFill>
                <a:latin typeface="Arial MT"/>
                <a:cs typeface="Arial MT"/>
              </a:rPr>
              <a:t>Q4</a:t>
            </a:r>
            <a:r>
              <a:rPr dirty="0" sz="800">
                <a:solidFill>
                  <a:srgbClr val="585858"/>
                </a:solidFill>
                <a:latin typeface="Arial MT"/>
                <a:cs typeface="Arial MT"/>
              </a:rPr>
              <a:t>	</a:t>
            </a:r>
            <a:r>
              <a:rPr dirty="0" sz="800" spc="-25">
                <a:solidFill>
                  <a:srgbClr val="585858"/>
                </a:solidFill>
                <a:latin typeface="Arial MT"/>
                <a:cs typeface="Arial MT"/>
              </a:rPr>
              <a:t>Q1</a:t>
            </a:r>
            <a:r>
              <a:rPr dirty="0" sz="800">
                <a:solidFill>
                  <a:srgbClr val="585858"/>
                </a:solidFill>
                <a:latin typeface="Arial MT"/>
                <a:cs typeface="Arial MT"/>
              </a:rPr>
              <a:t>	</a:t>
            </a:r>
            <a:r>
              <a:rPr dirty="0" sz="800" spc="-25">
                <a:solidFill>
                  <a:srgbClr val="585858"/>
                </a:solidFill>
                <a:latin typeface="Arial MT"/>
                <a:cs typeface="Arial MT"/>
              </a:rPr>
              <a:t>Q2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959002" y="3360801"/>
            <a:ext cx="25146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0">
                <a:solidFill>
                  <a:srgbClr val="585858"/>
                </a:solidFill>
                <a:latin typeface="Arial MT"/>
                <a:cs typeface="Arial MT"/>
              </a:rPr>
              <a:t>2016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201926" y="3360801"/>
            <a:ext cx="25146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0">
                <a:solidFill>
                  <a:srgbClr val="585858"/>
                </a:solidFill>
                <a:latin typeface="Arial MT"/>
                <a:cs typeface="Arial MT"/>
              </a:rPr>
              <a:t>2017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445002" y="3360801"/>
            <a:ext cx="25146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0">
                <a:solidFill>
                  <a:srgbClr val="585858"/>
                </a:solidFill>
                <a:latin typeface="Arial MT"/>
                <a:cs typeface="Arial MT"/>
              </a:rPr>
              <a:t>2018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687570" y="3360801"/>
            <a:ext cx="25146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0">
                <a:solidFill>
                  <a:srgbClr val="585858"/>
                </a:solidFill>
                <a:latin typeface="Arial MT"/>
                <a:cs typeface="Arial MT"/>
              </a:rPr>
              <a:t>2019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930646" y="3360801"/>
            <a:ext cx="25146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0">
                <a:solidFill>
                  <a:srgbClr val="585858"/>
                </a:solidFill>
                <a:latin typeface="Arial MT"/>
                <a:cs typeface="Arial MT"/>
              </a:rPr>
              <a:t>2020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7173594" y="3360801"/>
            <a:ext cx="25146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0">
                <a:solidFill>
                  <a:srgbClr val="585858"/>
                </a:solidFill>
                <a:latin typeface="Arial MT"/>
                <a:cs typeface="Arial MT"/>
              </a:rPr>
              <a:t>2021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8416290" y="3360801"/>
            <a:ext cx="25146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0">
                <a:solidFill>
                  <a:srgbClr val="585858"/>
                </a:solidFill>
                <a:latin typeface="Arial MT"/>
                <a:cs typeface="Arial MT"/>
              </a:rPr>
              <a:t>2022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9348343" y="3360801"/>
            <a:ext cx="25146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0">
                <a:solidFill>
                  <a:srgbClr val="585858"/>
                </a:solidFill>
                <a:latin typeface="Arial MT"/>
                <a:cs typeface="Arial MT"/>
              </a:rPr>
              <a:t>2023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958405" y="1749551"/>
            <a:ext cx="540385" cy="1282065"/>
            <a:chOff x="958405" y="1749551"/>
            <a:chExt cx="540385" cy="1282065"/>
          </a:xfrm>
        </p:grpSpPr>
        <p:sp>
          <p:nvSpPr>
            <p:cNvPr id="18" name="object 18" descr=""/>
            <p:cNvSpPr/>
            <p:nvPr/>
          </p:nvSpPr>
          <p:spPr>
            <a:xfrm>
              <a:off x="963167" y="1845563"/>
              <a:ext cx="530860" cy="1181100"/>
            </a:xfrm>
            <a:custGeom>
              <a:avLst/>
              <a:gdLst/>
              <a:ahLst/>
              <a:cxnLst/>
              <a:rect l="l" t="t" r="r" b="b"/>
              <a:pathLst>
                <a:path w="530860" h="1181100">
                  <a:moveTo>
                    <a:pt x="0" y="21589"/>
                  </a:moveTo>
                  <a:lnTo>
                    <a:pt x="0" y="1180973"/>
                  </a:lnTo>
                </a:path>
                <a:path w="530860" h="1181100">
                  <a:moveTo>
                    <a:pt x="530351" y="0"/>
                  </a:moveTo>
                  <a:lnTo>
                    <a:pt x="530351" y="1159383"/>
                  </a:lnTo>
                </a:path>
              </a:pathLst>
            </a:custGeom>
            <a:ln w="9525">
              <a:solidFill>
                <a:srgbClr val="0D0D0D"/>
              </a:solidFill>
              <a:prstDash val="sysDashDotDot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10055" y="1749551"/>
              <a:ext cx="62484" cy="138684"/>
            </a:xfrm>
            <a:prstGeom prst="rect">
              <a:avLst/>
            </a:prstGeom>
          </p:spPr>
        </p:pic>
      </p:grpSp>
      <p:sp>
        <p:nvSpPr>
          <p:cNvPr id="20" name="object 20" descr=""/>
          <p:cNvSpPr txBox="1"/>
          <p:nvPr/>
        </p:nvSpPr>
        <p:spPr>
          <a:xfrm>
            <a:off x="667613" y="1361694"/>
            <a:ext cx="1381125" cy="3695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2065" marR="5080">
              <a:lnSpc>
                <a:spcPct val="100000"/>
              </a:lnSpc>
              <a:spcBef>
                <a:spcPts val="105"/>
              </a:spcBef>
            </a:pPr>
            <a:r>
              <a:rPr dirty="0" sz="750">
                <a:latin typeface="Arial MT"/>
                <a:cs typeface="Arial MT"/>
              </a:rPr>
              <a:t>The</a:t>
            </a:r>
            <a:r>
              <a:rPr dirty="0" sz="750" spc="15">
                <a:latin typeface="Arial MT"/>
                <a:cs typeface="Arial MT"/>
              </a:rPr>
              <a:t> </a:t>
            </a:r>
            <a:r>
              <a:rPr dirty="0" sz="750" spc="-10">
                <a:latin typeface="Arial MT"/>
                <a:cs typeface="Arial MT"/>
              </a:rPr>
              <a:t>economic</a:t>
            </a:r>
            <a:r>
              <a:rPr dirty="0" sz="750" spc="-15">
                <a:latin typeface="Arial MT"/>
                <a:cs typeface="Arial MT"/>
              </a:rPr>
              <a:t> </a:t>
            </a:r>
            <a:r>
              <a:rPr dirty="0" sz="750" spc="-10">
                <a:latin typeface="Arial MT"/>
                <a:cs typeface="Arial MT"/>
              </a:rPr>
              <a:t>recession</a:t>
            </a:r>
            <a:r>
              <a:rPr dirty="0" sz="750" spc="-25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in</a:t>
            </a:r>
            <a:r>
              <a:rPr dirty="0" sz="750" spc="20">
                <a:latin typeface="Arial MT"/>
                <a:cs typeface="Arial MT"/>
              </a:rPr>
              <a:t> </a:t>
            </a:r>
            <a:r>
              <a:rPr dirty="0" sz="750" spc="-20">
                <a:latin typeface="Arial MT"/>
                <a:cs typeface="Arial MT"/>
              </a:rPr>
              <a:t>2016</a:t>
            </a:r>
            <a:r>
              <a:rPr dirty="0" sz="750">
                <a:latin typeface="Arial MT"/>
                <a:cs typeface="Arial MT"/>
              </a:rPr>
              <a:t> was</a:t>
            </a:r>
            <a:r>
              <a:rPr dirty="0" sz="750" spc="10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caused</a:t>
            </a:r>
            <a:r>
              <a:rPr dirty="0" sz="750" spc="-45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by</a:t>
            </a:r>
            <a:r>
              <a:rPr dirty="0" sz="750" spc="-15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a</a:t>
            </a:r>
            <a:r>
              <a:rPr dirty="0" sz="750" spc="5">
                <a:latin typeface="Arial MT"/>
                <a:cs typeface="Arial MT"/>
              </a:rPr>
              <a:t> </a:t>
            </a:r>
            <a:r>
              <a:rPr dirty="0" sz="750" spc="-10">
                <a:latin typeface="Arial MT"/>
                <a:cs typeface="Arial MT"/>
              </a:rPr>
              <a:t>decline</a:t>
            </a:r>
            <a:r>
              <a:rPr dirty="0" sz="750" spc="-35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in</a:t>
            </a:r>
            <a:r>
              <a:rPr dirty="0" sz="750" spc="-20">
                <a:latin typeface="Arial MT"/>
                <a:cs typeface="Arial MT"/>
              </a:rPr>
              <a:t> </a:t>
            </a:r>
            <a:r>
              <a:rPr dirty="0" sz="750" spc="-25">
                <a:latin typeface="Arial MT"/>
                <a:cs typeface="Arial MT"/>
              </a:rPr>
              <a:t>oil</a:t>
            </a:r>
            <a:r>
              <a:rPr dirty="0" sz="750">
                <a:latin typeface="Arial MT"/>
                <a:cs typeface="Arial MT"/>
              </a:rPr>
              <a:t> prices</a:t>
            </a:r>
            <a:r>
              <a:rPr dirty="0" sz="750" spc="-25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and</a:t>
            </a:r>
            <a:r>
              <a:rPr dirty="0" sz="750" spc="-20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oil</a:t>
            </a:r>
            <a:r>
              <a:rPr dirty="0" sz="750" spc="5">
                <a:latin typeface="Arial MT"/>
                <a:cs typeface="Arial MT"/>
              </a:rPr>
              <a:t> </a:t>
            </a:r>
            <a:r>
              <a:rPr dirty="0" sz="750" spc="-10">
                <a:latin typeface="Arial MT"/>
                <a:cs typeface="Arial MT"/>
              </a:rPr>
              <a:t>production</a:t>
            </a:r>
            <a:r>
              <a:rPr dirty="0" sz="750" spc="-30">
                <a:latin typeface="Arial MT"/>
                <a:cs typeface="Arial MT"/>
              </a:rPr>
              <a:t> </a:t>
            </a:r>
            <a:r>
              <a:rPr dirty="0" sz="750" spc="-10">
                <a:latin typeface="Arial MT"/>
                <a:cs typeface="Arial MT"/>
              </a:rPr>
              <a:t>shocks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5775769" y="2002535"/>
            <a:ext cx="415290" cy="1450975"/>
            <a:chOff x="5775769" y="2002535"/>
            <a:chExt cx="415290" cy="1450975"/>
          </a:xfrm>
        </p:grpSpPr>
        <p:sp>
          <p:nvSpPr>
            <p:cNvPr id="22" name="object 22" descr=""/>
            <p:cNvSpPr/>
            <p:nvPr/>
          </p:nvSpPr>
          <p:spPr>
            <a:xfrm>
              <a:off x="5780532" y="2267711"/>
              <a:ext cx="405765" cy="1181100"/>
            </a:xfrm>
            <a:custGeom>
              <a:avLst/>
              <a:gdLst/>
              <a:ahLst/>
              <a:cxnLst/>
              <a:rect l="l" t="t" r="r" b="b"/>
              <a:pathLst>
                <a:path w="405764" h="1181100">
                  <a:moveTo>
                    <a:pt x="0" y="21589"/>
                  </a:moveTo>
                  <a:lnTo>
                    <a:pt x="0" y="1180973"/>
                  </a:lnTo>
                </a:path>
                <a:path w="405764" h="1181100">
                  <a:moveTo>
                    <a:pt x="405383" y="0"/>
                  </a:moveTo>
                  <a:lnTo>
                    <a:pt x="405383" y="1159383"/>
                  </a:lnTo>
                </a:path>
              </a:pathLst>
            </a:custGeom>
            <a:ln w="9525">
              <a:solidFill>
                <a:srgbClr val="0D0D0D"/>
              </a:solidFill>
              <a:prstDash val="sysDashDotDot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46648" y="2002535"/>
              <a:ext cx="60960" cy="138684"/>
            </a:xfrm>
            <a:prstGeom prst="rect">
              <a:avLst/>
            </a:prstGeom>
          </p:spPr>
        </p:pic>
      </p:grpSp>
      <p:sp>
        <p:nvSpPr>
          <p:cNvPr id="24" name="object 24" descr=""/>
          <p:cNvSpPr txBox="1"/>
          <p:nvPr/>
        </p:nvSpPr>
        <p:spPr>
          <a:xfrm>
            <a:off x="5253609" y="1376553"/>
            <a:ext cx="1391285" cy="5981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2700" marR="5080" indent="1270">
              <a:lnSpc>
                <a:spcPct val="100000"/>
              </a:lnSpc>
              <a:spcBef>
                <a:spcPts val="105"/>
              </a:spcBef>
            </a:pPr>
            <a:r>
              <a:rPr dirty="0" sz="750" spc="-10">
                <a:latin typeface="Arial MT"/>
                <a:cs typeface="Arial MT"/>
              </a:rPr>
              <a:t>Covid-</a:t>
            </a:r>
            <a:r>
              <a:rPr dirty="0" sz="750">
                <a:latin typeface="Arial MT"/>
                <a:cs typeface="Arial MT"/>
              </a:rPr>
              <a:t>19 </a:t>
            </a:r>
            <a:r>
              <a:rPr dirty="0" sz="750" spc="-10">
                <a:latin typeface="Arial MT"/>
                <a:cs typeface="Arial MT"/>
              </a:rPr>
              <a:t>disruptions</a:t>
            </a:r>
            <a:r>
              <a:rPr dirty="0" sz="750" spc="-5">
                <a:latin typeface="Arial MT"/>
                <a:cs typeface="Arial MT"/>
              </a:rPr>
              <a:t> </a:t>
            </a:r>
            <a:r>
              <a:rPr dirty="0" sz="750" spc="-20">
                <a:latin typeface="Arial MT"/>
                <a:cs typeface="Arial MT"/>
              </a:rPr>
              <a:t>which</a:t>
            </a:r>
            <a:r>
              <a:rPr dirty="0" sz="750">
                <a:latin typeface="Arial MT"/>
                <a:cs typeface="Arial MT"/>
              </a:rPr>
              <a:t> caused</a:t>
            </a:r>
            <a:r>
              <a:rPr dirty="0" sz="750" spc="-30">
                <a:latin typeface="Arial MT"/>
                <a:cs typeface="Arial MT"/>
              </a:rPr>
              <a:t> </a:t>
            </a:r>
            <a:r>
              <a:rPr dirty="0" sz="750" spc="-10">
                <a:latin typeface="Arial MT"/>
                <a:cs typeface="Arial MT"/>
              </a:rPr>
              <a:t>massive breakdown</a:t>
            </a:r>
            <a:r>
              <a:rPr dirty="0" sz="750">
                <a:latin typeface="Arial MT"/>
                <a:cs typeface="Arial MT"/>
              </a:rPr>
              <a:t> </a:t>
            </a:r>
            <a:r>
              <a:rPr dirty="0" sz="750" spc="-25">
                <a:latin typeface="Arial MT"/>
                <a:cs typeface="Arial MT"/>
              </a:rPr>
              <a:t>of</a:t>
            </a:r>
            <a:r>
              <a:rPr dirty="0" sz="750" spc="-10">
                <a:latin typeface="Arial MT"/>
                <a:cs typeface="Arial MT"/>
              </a:rPr>
              <a:t> economic activities </a:t>
            </a:r>
            <a:r>
              <a:rPr dirty="0" sz="750">
                <a:latin typeface="Arial MT"/>
                <a:cs typeface="Arial MT"/>
              </a:rPr>
              <a:t>caused</a:t>
            </a:r>
            <a:r>
              <a:rPr dirty="0" sz="750" spc="-10">
                <a:latin typeface="Arial MT"/>
                <a:cs typeface="Arial MT"/>
              </a:rPr>
              <a:t> </a:t>
            </a:r>
            <a:r>
              <a:rPr dirty="0" sz="750" spc="-25">
                <a:latin typeface="Arial MT"/>
                <a:cs typeface="Arial MT"/>
              </a:rPr>
              <a:t>the</a:t>
            </a:r>
            <a:r>
              <a:rPr dirty="0" sz="750" spc="-10">
                <a:latin typeface="Arial MT"/>
                <a:cs typeface="Arial MT"/>
              </a:rPr>
              <a:t> economy</a:t>
            </a:r>
            <a:r>
              <a:rPr dirty="0" sz="750" spc="-30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to</a:t>
            </a:r>
            <a:r>
              <a:rPr dirty="0" sz="750" spc="10">
                <a:latin typeface="Arial MT"/>
                <a:cs typeface="Arial MT"/>
              </a:rPr>
              <a:t> </a:t>
            </a:r>
            <a:r>
              <a:rPr dirty="0" sz="750" spc="-10">
                <a:latin typeface="Arial MT"/>
                <a:cs typeface="Arial MT"/>
              </a:rPr>
              <a:t>contract</a:t>
            </a:r>
            <a:r>
              <a:rPr dirty="0" sz="750" spc="-30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to</a:t>
            </a:r>
            <a:r>
              <a:rPr dirty="0" sz="750" spc="10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its </a:t>
            </a:r>
            <a:r>
              <a:rPr dirty="0" sz="750" spc="-10">
                <a:latin typeface="Arial MT"/>
                <a:cs typeface="Arial MT"/>
              </a:rPr>
              <a:t>lowest </a:t>
            </a:r>
            <a:r>
              <a:rPr dirty="0" sz="750">
                <a:latin typeface="Arial MT"/>
                <a:cs typeface="Arial MT"/>
              </a:rPr>
              <a:t>level</a:t>
            </a:r>
            <a:r>
              <a:rPr dirty="0" sz="750" spc="-40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in</a:t>
            </a:r>
            <a:r>
              <a:rPr dirty="0" sz="750" spc="-20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over</a:t>
            </a:r>
            <a:r>
              <a:rPr dirty="0" sz="750" spc="-30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10</a:t>
            </a:r>
            <a:r>
              <a:rPr dirty="0" sz="750" spc="-5">
                <a:latin typeface="Arial MT"/>
                <a:cs typeface="Arial MT"/>
              </a:rPr>
              <a:t> </a:t>
            </a:r>
            <a:r>
              <a:rPr dirty="0" sz="750" spc="-10">
                <a:latin typeface="Arial MT"/>
                <a:cs typeface="Arial MT"/>
              </a:rPr>
              <a:t>years.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8941117" y="1685544"/>
            <a:ext cx="415290" cy="1259205"/>
            <a:chOff x="8941117" y="1685544"/>
            <a:chExt cx="415290" cy="1259205"/>
          </a:xfrm>
        </p:grpSpPr>
        <p:sp>
          <p:nvSpPr>
            <p:cNvPr id="26" name="object 26" descr=""/>
            <p:cNvSpPr/>
            <p:nvPr/>
          </p:nvSpPr>
          <p:spPr>
            <a:xfrm>
              <a:off x="8945880" y="1758696"/>
              <a:ext cx="405765" cy="1181100"/>
            </a:xfrm>
            <a:custGeom>
              <a:avLst/>
              <a:gdLst/>
              <a:ahLst/>
              <a:cxnLst/>
              <a:rect l="l" t="t" r="r" b="b"/>
              <a:pathLst>
                <a:path w="405765" h="1181100">
                  <a:moveTo>
                    <a:pt x="0" y="21589"/>
                  </a:moveTo>
                  <a:lnTo>
                    <a:pt x="0" y="1180972"/>
                  </a:lnTo>
                </a:path>
                <a:path w="405765" h="1181100">
                  <a:moveTo>
                    <a:pt x="405384" y="0"/>
                  </a:moveTo>
                  <a:lnTo>
                    <a:pt x="405384" y="1159383"/>
                  </a:lnTo>
                </a:path>
              </a:pathLst>
            </a:custGeom>
            <a:ln w="9525">
              <a:solidFill>
                <a:srgbClr val="0D0D0D"/>
              </a:solidFill>
              <a:prstDash val="sysDashDotDot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99804" y="1685544"/>
              <a:ext cx="60959" cy="138684"/>
            </a:xfrm>
            <a:prstGeom prst="rect">
              <a:avLst/>
            </a:prstGeom>
          </p:spPr>
        </p:pic>
      </p:grpSp>
      <p:sp>
        <p:nvSpPr>
          <p:cNvPr id="28" name="object 28" descr=""/>
          <p:cNvSpPr txBox="1"/>
          <p:nvPr/>
        </p:nvSpPr>
        <p:spPr>
          <a:xfrm>
            <a:off x="8632697" y="1092834"/>
            <a:ext cx="942975" cy="5981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2065" marR="5080" indent="-1905">
              <a:lnSpc>
                <a:spcPct val="100000"/>
              </a:lnSpc>
              <a:spcBef>
                <a:spcPts val="105"/>
              </a:spcBef>
            </a:pPr>
            <a:r>
              <a:rPr dirty="0" sz="750">
                <a:latin typeface="Arial MT"/>
                <a:cs typeface="Arial MT"/>
              </a:rPr>
              <a:t>The</a:t>
            </a:r>
            <a:r>
              <a:rPr dirty="0" sz="750" spc="-10">
                <a:latin typeface="Arial MT"/>
                <a:cs typeface="Arial MT"/>
              </a:rPr>
              <a:t> CBN’s</a:t>
            </a:r>
            <a:r>
              <a:rPr dirty="0" sz="750" spc="-35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policy</a:t>
            </a:r>
            <a:r>
              <a:rPr dirty="0" sz="750" spc="-35">
                <a:latin typeface="Arial MT"/>
                <a:cs typeface="Arial MT"/>
              </a:rPr>
              <a:t> </a:t>
            </a:r>
            <a:r>
              <a:rPr dirty="0" sz="750" spc="-25">
                <a:latin typeface="Arial MT"/>
                <a:cs typeface="Arial MT"/>
              </a:rPr>
              <a:t>on</a:t>
            </a:r>
            <a:r>
              <a:rPr dirty="0" sz="750">
                <a:latin typeface="Arial MT"/>
                <a:cs typeface="Arial MT"/>
              </a:rPr>
              <a:t> naira</a:t>
            </a:r>
            <a:r>
              <a:rPr dirty="0" sz="750" spc="-15">
                <a:latin typeface="Arial MT"/>
                <a:cs typeface="Arial MT"/>
              </a:rPr>
              <a:t> </a:t>
            </a:r>
            <a:r>
              <a:rPr dirty="0" sz="750" spc="-10">
                <a:latin typeface="Arial MT"/>
                <a:cs typeface="Arial MT"/>
              </a:rPr>
              <a:t>redesign </a:t>
            </a:r>
            <a:r>
              <a:rPr dirty="0" sz="750" spc="-25">
                <a:latin typeface="Arial MT"/>
                <a:cs typeface="Arial MT"/>
              </a:rPr>
              <a:t>and</a:t>
            </a:r>
            <a:r>
              <a:rPr dirty="0" sz="750" spc="-10">
                <a:latin typeface="Arial MT"/>
                <a:cs typeface="Arial MT"/>
              </a:rPr>
              <a:t> withdrawal</a:t>
            </a:r>
            <a:r>
              <a:rPr dirty="0" sz="750" spc="30">
                <a:latin typeface="Arial MT"/>
                <a:cs typeface="Arial MT"/>
              </a:rPr>
              <a:t> </a:t>
            </a:r>
            <a:r>
              <a:rPr dirty="0" sz="750" spc="-10">
                <a:latin typeface="Arial MT"/>
                <a:cs typeface="Arial MT"/>
              </a:rPr>
              <a:t>limits </a:t>
            </a:r>
            <a:r>
              <a:rPr dirty="0" sz="750">
                <a:latin typeface="Arial MT"/>
                <a:cs typeface="Arial MT"/>
              </a:rPr>
              <a:t>caused</a:t>
            </a:r>
            <a:r>
              <a:rPr dirty="0" sz="750" spc="-45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a</a:t>
            </a:r>
            <a:r>
              <a:rPr dirty="0" sz="750" spc="10">
                <a:latin typeface="Arial MT"/>
                <a:cs typeface="Arial MT"/>
              </a:rPr>
              <a:t> </a:t>
            </a:r>
            <a:r>
              <a:rPr dirty="0" sz="750" spc="-10">
                <a:latin typeface="Arial MT"/>
                <a:cs typeface="Arial MT"/>
              </a:rPr>
              <a:t>slowdown</a:t>
            </a:r>
            <a:r>
              <a:rPr dirty="0" sz="750" spc="-20">
                <a:latin typeface="Arial MT"/>
                <a:cs typeface="Arial MT"/>
              </a:rPr>
              <a:t> </a:t>
            </a:r>
            <a:r>
              <a:rPr dirty="0" sz="750" spc="-25">
                <a:latin typeface="Arial MT"/>
                <a:cs typeface="Arial MT"/>
              </a:rPr>
              <a:t>in</a:t>
            </a:r>
            <a:r>
              <a:rPr dirty="0" sz="750" spc="-10">
                <a:latin typeface="Arial MT"/>
                <a:cs typeface="Arial MT"/>
              </a:rPr>
              <a:t> economic</a:t>
            </a:r>
            <a:r>
              <a:rPr dirty="0" sz="750">
                <a:latin typeface="Arial MT"/>
                <a:cs typeface="Arial MT"/>
              </a:rPr>
              <a:t> </a:t>
            </a:r>
            <a:r>
              <a:rPr dirty="0" sz="750" spc="-10">
                <a:latin typeface="Arial MT"/>
                <a:cs typeface="Arial MT"/>
              </a:rPr>
              <a:t>activities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29" name="object 29" descr=""/>
          <p:cNvSpPr/>
          <p:nvPr/>
        </p:nvSpPr>
        <p:spPr>
          <a:xfrm>
            <a:off x="3313176" y="658368"/>
            <a:ext cx="3162300" cy="190500"/>
          </a:xfrm>
          <a:custGeom>
            <a:avLst/>
            <a:gdLst/>
            <a:ahLst/>
            <a:cxnLst/>
            <a:rect l="l" t="t" r="r" b="b"/>
            <a:pathLst>
              <a:path w="3162300" h="190500">
                <a:moveTo>
                  <a:pt x="3162300" y="0"/>
                </a:moveTo>
                <a:lnTo>
                  <a:pt x="0" y="0"/>
                </a:lnTo>
                <a:lnTo>
                  <a:pt x="0" y="190500"/>
                </a:lnTo>
                <a:lnTo>
                  <a:pt x="3162300" y="190500"/>
                </a:lnTo>
                <a:lnTo>
                  <a:pt x="31623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 txBox="1"/>
          <p:nvPr/>
        </p:nvSpPr>
        <p:spPr>
          <a:xfrm>
            <a:off x="3331209" y="653542"/>
            <a:ext cx="3139440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b="1">
                <a:latin typeface="Arial"/>
                <a:cs typeface="Arial"/>
              </a:rPr>
              <a:t>The</a:t>
            </a:r>
            <a:r>
              <a:rPr dirty="0" sz="1150" spc="1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Dynamics</a:t>
            </a:r>
            <a:r>
              <a:rPr dirty="0" sz="1150" spc="3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of</a:t>
            </a:r>
            <a:r>
              <a:rPr dirty="0" sz="1150" spc="-1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Nigeria’s</a:t>
            </a:r>
            <a:r>
              <a:rPr dirty="0" sz="1150" spc="-3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GDP</a:t>
            </a:r>
            <a:r>
              <a:rPr dirty="0" sz="1150" spc="-1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Growth</a:t>
            </a:r>
            <a:r>
              <a:rPr dirty="0" sz="1150" spc="-30" b="1">
                <a:latin typeface="Arial"/>
                <a:cs typeface="Arial"/>
              </a:rPr>
              <a:t> </a:t>
            </a:r>
            <a:r>
              <a:rPr dirty="0" sz="1150" spc="-20" b="1">
                <a:latin typeface="Arial"/>
                <a:cs typeface="Arial"/>
              </a:rPr>
              <a:t>Rate</a:t>
            </a:r>
            <a:endParaRPr sz="1150">
              <a:latin typeface="Arial"/>
              <a:cs typeface="Arial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4772025" y="3774694"/>
            <a:ext cx="1076960" cy="1282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50" i="1">
                <a:latin typeface="Arial"/>
                <a:cs typeface="Arial"/>
              </a:rPr>
              <a:t>Source:</a:t>
            </a:r>
            <a:r>
              <a:rPr dirty="0" sz="650" spc="15" i="1">
                <a:latin typeface="Arial"/>
                <a:cs typeface="Arial"/>
              </a:rPr>
              <a:t> </a:t>
            </a:r>
            <a:r>
              <a:rPr dirty="0" sz="650" i="1">
                <a:latin typeface="Arial"/>
                <a:cs typeface="Arial"/>
              </a:rPr>
              <a:t>NBS,</a:t>
            </a:r>
            <a:r>
              <a:rPr dirty="0" sz="650" spc="60" i="1">
                <a:latin typeface="Arial"/>
                <a:cs typeface="Arial"/>
              </a:rPr>
              <a:t> </a:t>
            </a:r>
            <a:r>
              <a:rPr dirty="0" sz="650" i="1">
                <a:latin typeface="Arial"/>
                <a:cs typeface="Arial"/>
              </a:rPr>
              <a:t>PwC</a:t>
            </a:r>
            <a:r>
              <a:rPr dirty="0" sz="650" spc="-5" i="1">
                <a:latin typeface="Arial"/>
                <a:cs typeface="Arial"/>
              </a:rPr>
              <a:t> </a:t>
            </a:r>
            <a:r>
              <a:rPr dirty="0" sz="650" spc="-10" i="1">
                <a:latin typeface="Arial"/>
                <a:cs typeface="Arial"/>
              </a:rPr>
              <a:t>Analysis</a:t>
            </a:r>
            <a:endParaRPr sz="650">
              <a:latin typeface="Arial"/>
              <a:cs typeface="Arial"/>
            </a:endParaRPr>
          </a:p>
        </p:txBody>
      </p:sp>
      <p:sp>
        <p:nvSpPr>
          <p:cNvPr id="32" name="object 32" descr=""/>
          <p:cNvSpPr/>
          <p:nvPr/>
        </p:nvSpPr>
        <p:spPr>
          <a:xfrm>
            <a:off x="179831" y="3982211"/>
            <a:ext cx="9791700" cy="1249680"/>
          </a:xfrm>
          <a:custGeom>
            <a:avLst/>
            <a:gdLst/>
            <a:ahLst/>
            <a:cxnLst/>
            <a:rect l="l" t="t" r="r" b="b"/>
            <a:pathLst>
              <a:path w="9791700" h="1249679">
                <a:moveTo>
                  <a:pt x="0" y="1249680"/>
                </a:moveTo>
                <a:lnTo>
                  <a:pt x="9791573" y="1249680"/>
                </a:lnTo>
                <a:lnTo>
                  <a:pt x="9791573" y="0"/>
                </a:lnTo>
                <a:lnTo>
                  <a:pt x="0" y="0"/>
                </a:lnTo>
                <a:lnTo>
                  <a:pt x="0" y="1249680"/>
                </a:lnTo>
                <a:close/>
              </a:path>
            </a:pathLst>
          </a:custGeom>
          <a:ln w="9524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 txBox="1"/>
          <p:nvPr/>
        </p:nvSpPr>
        <p:spPr>
          <a:xfrm>
            <a:off x="184594" y="4094810"/>
            <a:ext cx="9782175" cy="1092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00660" indent="-142240">
              <a:lnSpc>
                <a:spcPct val="100000"/>
              </a:lnSpc>
              <a:spcBef>
                <a:spcPts val="95"/>
              </a:spcBef>
              <a:buSzPct val="140000"/>
              <a:buChar char="•"/>
              <a:tabLst>
                <a:tab pos="200660" algn="l"/>
              </a:tabLst>
            </a:pP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4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marginal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growth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in GDP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by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b="1">
                <a:latin typeface="Arial"/>
                <a:cs typeface="Arial"/>
              </a:rPr>
              <a:t>2.5%</a:t>
            </a:r>
            <a:r>
              <a:rPr dirty="0" sz="1000" spc="-25" b="1">
                <a:latin typeface="Arial"/>
                <a:cs typeface="Arial"/>
              </a:rPr>
              <a:t> </a:t>
            </a:r>
            <a:r>
              <a:rPr dirty="0" sz="1000">
                <a:latin typeface="Arial MT"/>
                <a:cs typeface="Arial MT"/>
              </a:rPr>
              <a:t>in Q2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2023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from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b="1">
                <a:latin typeface="Arial"/>
                <a:cs typeface="Arial"/>
              </a:rPr>
              <a:t>2.3%</a:t>
            </a:r>
            <a:r>
              <a:rPr dirty="0" sz="1000" spc="-30" b="1">
                <a:latin typeface="Arial"/>
                <a:cs typeface="Arial"/>
              </a:rPr>
              <a:t> </a:t>
            </a:r>
            <a:r>
              <a:rPr dirty="0" sz="1000">
                <a:latin typeface="Arial MT"/>
                <a:cs typeface="Arial MT"/>
              </a:rPr>
              <a:t>in Q1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2023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was</a:t>
            </a:r>
            <a:r>
              <a:rPr dirty="0" sz="1000" spc="-10">
                <a:latin typeface="Arial MT"/>
                <a:cs typeface="Arial MT"/>
              </a:rPr>
              <a:t> caused</a:t>
            </a:r>
            <a:r>
              <a:rPr dirty="0" sz="1000" spc="-5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by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lingering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effect</a:t>
            </a:r>
            <a:r>
              <a:rPr dirty="0" sz="1000" spc="-5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of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cash</a:t>
            </a:r>
            <a:r>
              <a:rPr dirty="0" sz="1000" spc="-4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crunch</a:t>
            </a:r>
            <a:r>
              <a:rPr dirty="0" sz="1000" spc="-5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and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emerging</a:t>
            </a:r>
            <a:r>
              <a:rPr dirty="0" sz="1000" spc="-5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effect</a:t>
            </a:r>
            <a:r>
              <a:rPr dirty="0" sz="1000" spc="-5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of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domestic</a:t>
            </a:r>
            <a:r>
              <a:rPr dirty="0" sz="1000" spc="-5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reforms</a:t>
            </a:r>
            <a:endParaRPr sz="1000">
              <a:latin typeface="Arial MT"/>
              <a:cs typeface="Arial MT"/>
            </a:endParaRPr>
          </a:p>
          <a:p>
            <a:pPr marL="201295">
              <a:lnSpc>
                <a:spcPct val="100000"/>
              </a:lnSpc>
              <a:spcBef>
                <a:spcPts val="5"/>
              </a:spcBef>
            </a:pPr>
            <a:r>
              <a:rPr dirty="0" sz="1000">
                <a:latin typeface="Arial MT"/>
                <a:cs typeface="Arial MT"/>
              </a:rPr>
              <a:t>(</a:t>
            </a:r>
            <a:r>
              <a:rPr dirty="0" sz="1000" b="1">
                <a:latin typeface="Arial"/>
                <a:cs typeface="Arial"/>
              </a:rPr>
              <a:t>subsidy</a:t>
            </a:r>
            <a:r>
              <a:rPr dirty="0" sz="1000" spc="-4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removal</a:t>
            </a:r>
            <a:r>
              <a:rPr dirty="0" sz="1000" spc="-4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and</a:t>
            </a:r>
            <a:r>
              <a:rPr dirty="0" sz="1000" spc="-3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FX</a:t>
            </a:r>
            <a:r>
              <a:rPr dirty="0" sz="1000" spc="-2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liberalisation</a:t>
            </a:r>
            <a:r>
              <a:rPr dirty="0" sz="1000" spc="-10">
                <a:latin typeface="Arial MT"/>
                <a:cs typeface="Arial MT"/>
              </a:rPr>
              <a:t>)</a:t>
            </a:r>
            <a:endParaRPr sz="1000">
              <a:latin typeface="Arial MT"/>
              <a:cs typeface="Arial MT"/>
            </a:endParaRPr>
          </a:p>
          <a:p>
            <a:pPr marL="200025" marR="551180" indent="-142240">
              <a:lnSpc>
                <a:spcPct val="100000"/>
              </a:lnSpc>
              <a:buSzPct val="140000"/>
              <a:buChar char="•"/>
              <a:tabLst>
                <a:tab pos="201295" algn="l"/>
              </a:tabLst>
            </a:pPr>
            <a:r>
              <a:rPr dirty="0" sz="1000">
                <a:latin typeface="Arial MT"/>
                <a:cs typeface="Arial MT"/>
              </a:rPr>
              <a:t>GDP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is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expected</a:t>
            </a:r>
            <a:r>
              <a:rPr dirty="0" sz="1000" spc="-5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to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grow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marginally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in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Q3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2023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due</a:t>
            </a:r>
            <a:r>
              <a:rPr dirty="0" sz="1000" spc="-1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to</a:t>
            </a:r>
            <a:r>
              <a:rPr dirty="0" sz="1000" spc="-1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slowdown</a:t>
            </a:r>
            <a:r>
              <a:rPr dirty="0" sz="1000" spc="2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of</a:t>
            </a:r>
            <a:r>
              <a:rPr dirty="0" sz="1000" spc="-1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economic</a:t>
            </a:r>
            <a:r>
              <a:rPr dirty="0" sz="1000" spc="-2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activities</a:t>
            </a:r>
            <a:r>
              <a:rPr dirty="0" sz="1000" spc="1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occasioned</a:t>
            </a:r>
            <a:r>
              <a:rPr dirty="0" sz="1000" spc="-1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by prevailing</a:t>
            </a:r>
            <a:r>
              <a:rPr dirty="0" sz="1000" spc="1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macroeconomic</a:t>
            </a:r>
            <a:r>
              <a:rPr dirty="0" sz="1000" spc="-3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1F2023"/>
                </a:solidFill>
                <a:latin typeface="Arial MT"/>
                <a:cs typeface="Arial MT"/>
              </a:rPr>
              <a:t>headwinds</a:t>
            </a:r>
            <a:r>
              <a:rPr dirty="0" sz="1000" spc="-10">
                <a:latin typeface="Arial MT"/>
                <a:cs typeface="Arial MT"/>
              </a:rPr>
              <a:t>. </a:t>
            </a:r>
            <a:r>
              <a:rPr dirty="0" sz="1000" b="1">
                <a:latin typeface="Arial"/>
                <a:cs typeface="Arial"/>
              </a:rPr>
              <a:t>PwC</a:t>
            </a:r>
            <a:r>
              <a:rPr dirty="0" sz="1000" spc="-2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projects</a:t>
            </a:r>
            <a:r>
              <a:rPr dirty="0" sz="1000" spc="-45" b="1">
                <a:latin typeface="Arial"/>
                <a:cs typeface="Arial"/>
              </a:rPr>
              <a:t> </a:t>
            </a:r>
            <a:r>
              <a:rPr dirty="0" sz="1000" spc="-20" b="1">
                <a:latin typeface="Arial"/>
                <a:cs typeface="Arial"/>
              </a:rPr>
              <a:t>2.8% </a:t>
            </a:r>
            <a:r>
              <a:rPr dirty="0" sz="1000" spc="-20" b="1">
                <a:latin typeface="Arial"/>
                <a:cs typeface="Arial"/>
              </a:rPr>
              <a:t>	</a:t>
            </a:r>
            <a:r>
              <a:rPr dirty="0" sz="1000" b="1">
                <a:latin typeface="Arial"/>
                <a:cs typeface="Arial"/>
              </a:rPr>
              <a:t>growth</a:t>
            </a:r>
            <a:r>
              <a:rPr dirty="0" sz="1000" spc="-5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rate</a:t>
            </a:r>
            <a:r>
              <a:rPr dirty="0" sz="1000" spc="-3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for</a:t>
            </a:r>
            <a:r>
              <a:rPr dirty="0" sz="1000" spc="-3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Nigeria</a:t>
            </a:r>
            <a:r>
              <a:rPr dirty="0" sz="1000" spc="-4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in</a:t>
            </a:r>
            <a:r>
              <a:rPr dirty="0" sz="1000" spc="-4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2023</a:t>
            </a:r>
            <a:r>
              <a:rPr dirty="0" sz="1000" spc="-4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and</a:t>
            </a:r>
            <a:r>
              <a:rPr dirty="0" sz="1000" spc="25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3%</a:t>
            </a:r>
            <a:r>
              <a:rPr dirty="0" sz="1000" spc="-3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in</a:t>
            </a:r>
            <a:r>
              <a:rPr dirty="0" sz="1000" spc="-25" b="1">
                <a:latin typeface="Arial"/>
                <a:cs typeface="Arial"/>
              </a:rPr>
              <a:t> </a:t>
            </a:r>
            <a:r>
              <a:rPr dirty="0" sz="1000" spc="-20" b="1">
                <a:latin typeface="Arial"/>
                <a:cs typeface="Arial"/>
              </a:rPr>
              <a:t>2024</a:t>
            </a:r>
            <a:endParaRPr sz="1000">
              <a:latin typeface="Arial"/>
              <a:cs typeface="Arial"/>
            </a:endParaRPr>
          </a:p>
          <a:p>
            <a:pPr marL="200025" marR="280035" indent="-142240">
              <a:lnSpc>
                <a:spcPct val="100000"/>
              </a:lnSpc>
              <a:buSzPct val="140000"/>
              <a:buChar char="•"/>
              <a:tabLst>
                <a:tab pos="201295" algn="l"/>
              </a:tabLst>
            </a:pPr>
            <a:r>
              <a:rPr dirty="0" sz="1000" spc="-10">
                <a:latin typeface="Arial MT"/>
                <a:cs typeface="Arial MT"/>
              </a:rPr>
              <a:t>Transportation</a:t>
            </a:r>
            <a:r>
              <a:rPr dirty="0" sz="1000" spc="-55">
                <a:latin typeface="Arial MT"/>
                <a:cs typeface="Arial MT"/>
              </a:rPr>
              <a:t> </a:t>
            </a:r>
            <a:r>
              <a:rPr dirty="0" sz="1000" spc="-10" b="1">
                <a:latin typeface="Arial"/>
                <a:cs typeface="Arial"/>
              </a:rPr>
              <a:t>(-</a:t>
            </a:r>
            <a:r>
              <a:rPr dirty="0" sz="1000" b="1">
                <a:latin typeface="Arial"/>
                <a:cs typeface="Arial"/>
              </a:rPr>
              <a:t>50.6%</a:t>
            </a:r>
            <a:r>
              <a:rPr dirty="0" sz="1000">
                <a:latin typeface="Arial MT"/>
                <a:cs typeface="Arial MT"/>
              </a:rPr>
              <a:t>)</a:t>
            </a:r>
            <a:r>
              <a:rPr dirty="0" sz="1000" spc="25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and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Mining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&amp;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quarrying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10" b="1">
                <a:latin typeface="Arial"/>
                <a:cs typeface="Arial"/>
              </a:rPr>
              <a:t>(-</a:t>
            </a:r>
            <a:r>
              <a:rPr dirty="0" sz="1000" b="1">
                <a:latin typeface="Arial"/>
                <a:cs typeface="Arial"/>
              </a:rPr>
              <a:t>12.2%)</a:t>
            </a:r>
            <a:r>
              <a:rPr dirty="0" sz="1000" spc="-20" b="1">
                <a:latin typeface="Arial"/>
                <a:cs typeface="Arial"/>
              </a:rPr>
              <a:t> </a:t>
            </a:r>
            <a:r>
              <a:rPr dirty="0" sz="1000">
                <a:latin typeface="Arial MT"/>
                <a:cs typeface="Arial MT"/>
              </a:rPr>
              <a:t>sectors</a:t>
            </a:r>
            <a:r>
              <a:rPr dirty="0" sz="1000" spc="-4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recorded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growth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contractions</a:t>
            </a:r>
            <a:r>
              <a:rPr dirty="0" sz="1000" spc="-4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while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agriculture</a:t>
            </a:r>
            <a:r>
              <a:rPr dirty="0" sz="1000" spc="-5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(</a:t>
            </a:r>
            <a:r>
              <a:rPr dirty="0" sz="1000" b="1">
                <a:latin typeface="Arial"/>
                <a:cs typeface="Arial"/>
              </a:rPr>
              <a:t>1.5%</a:t>
            </a:r>
            <a:r>
              <a:rPr dirty="0" sz="1000">
                <a:latin typeface="Arial MT"/>
                <a:cs typeface="Arial MT"/>
              </a:rPr>
              <a:t>),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real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estate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(</a:t>
            </a:r>
            <a:r>
              <a:rPr dirty="0" sz="1000" b="1">
                <a:latin typeface="Arial"/>
                <a:cs typeface="Arial"/>
              </a:rPr>
              <a:t>1.9%</a:t>
            </a:r>
            <a:r>
              <a:rPr dirty="0" sz="1000">
                <a:latin typeface="Arial MT"/>
                <a:cs typeface="Arial MT"/>
              </a:rPr>
              <a:t>),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and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manufacturing</a:t>
            </a:r>
            <a:r>
              <a:rPr dirty="0" sz="1000" spc="-5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(</a:t>
            </a:r>
            <a:r>
              <a:rPr dirty="0" sz="1000" spc="-10" b="1">
                <a:latin typeface="Arial"/>
                <a:cs typeface="Arial"/>
              </a:rPr>
              <a:t>2.2%</a:t>
            </a:r>
            <a:r>
              <a:rPr dirty="0" sz="1000" spc="-10">
                <a:latin typeface="Arial MT"/>
                <a:cs typeface="Arial MT"/>
              </a:rPr>
              <a:t>) </a:t>
            </a:r>
            <a:r>
              <a:rPr dirty="0" sz="1000" spc="-10">
                <a:latin typeface="Arial MT"/>
                <a:cs typeface="Arial MT"/>
              </a:rPr>
              <a:t>	</a:t>
            </a:r>
            <a:r>
              <a:rPr dirty="0" sz="1000">
                <a:latin typeface="Arial MT"/>
                <a:cs typeface="Arial MT"/>
              </a:rPr>
              <a:t>recorded</a:t>
            </a:r>
            <a:r>
              <a:rPr dirty="0" sz="1000" spc="-7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slow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growth.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5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negative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growth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in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mining</a:t>
            </a:r>
            <a:r>
              <a:rPr dirty="0" sz="1000" spc="-5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and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quarrying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sector</a:t>
            </a:r>
            <a:r>
              <a:rPr dirty="0" sz="1000" spc="-6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is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due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to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b="1">
                <a:latin typeface="Arial"/>
                <a:cs typeface="Arial"/>
              </a:rPr>
              <a:t>business</a:t>
            </a:r>
            <a:r>
              <a:rPr dirty="0" sz="1000" spc="-6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contractions</a:t>
            </a:r>
            <a:r>
              <a:rPr dirty="0" sz="1000" spc="-5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in</a:t>
            </a:r>
            <a:r>
              <a:rPr dirty="0" sz="1000" spc="-2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the</a:t>
            </a:r>
            <a:r>
              <a:rPr dirty="0" sz="1000" spc="-3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oil</a:t>
            </a:r>
            <a:r>
              <a:rPr dirty="0" sz="1000" spc="-4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and</a:t>
            </a:r>
            <a:r>
              <a:rPr dirty="0" sz="1000" spc="-2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gas</a:t>
            </a:r>
            <a:r>
              <a:rPr dirty="0" sz="1000" spc="-4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sector,</a:t>
            </a:r>
            <a:r>
              <a:rPr dirty="0" sz="1000" spc="22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while</a:t>
            </a:r>
            <a:r>
              <a:rPr dirty="0" sz="1000" spc="-6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the</a:t>
            </a:r>
            <a:r>
              <a:rPr dirty="0" sz="1000" spc="-3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increase</a:t>
            </a:r>
            <a:r>
              <a:rPr dirty="0" sz="1000" spc="-6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in</a:t>
            </a:r>
            <a:r>
              <a:rPr dirty="0" sz="1000" spc="-20" b="1">
                <a:latin typeface="Arial"/>
                <a:cs typeface="Arial"/>
              </a:rPr>
              <a:t> </a:t>
            </a:r>
            <a:r>
              <a:rPr dirty="0" sz="1000" spc="-25" b="1">
                <a:latin typeface="Arial"/>
                <a:cs typeface="Arial"/>
              </a:rPr>
              <a:t>PMS </a:t>
            </a:r>
            <a:r>
              <a:rPr dirty="0" sz="1000" spc="-25" b="1">
                <a:latin typeface="Arial"/>
                <a:cs typeface="Arial"/>
              </a:rPr>
              <a:t>	</a:t>
            </a:r>
            <a:r>
              <a:rPr dirty="0" sz="1000" b="1">
                <a:latin typeface="Arial"/>
                <a:cs typeface="Arial"/>
              </a:rPr>
              <a:t>prices</a:t>
            </a:r>
            <a:r>
              <a:rPr dirty="0" sz="1000" spc="-3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accounts</a:t>
            </a:r>
            <a:r>
              <a:rPr dirty="0" sz="1000" spc="-3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for</a:t>
            </a:r>
            <a:r>
              <a:rPr dirty="0" sz="1000" spc="-1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the</a:t>
            </a:r>
            <a:r>
              <a:rPr dirty="0" sz="1000" spc="-2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contraction</a:t>
            </a:r>
            <a:r>
              <a:rPr dirty="0" sz="1000" spc="-2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in</a:t>
            </a:r>
            <a:r>
              <a:rPr dirty="0" sz="1000" spc="-1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the</a:t>
            </a:r>
            <a:r>
              <a:rPr dirty="0" sz="1000" spc="-10" b="1">
                <a:latin typeface="Arial"/>
                <a:cs typeface="Arial"/>
              </a:rPr>
              <a:t> transportation</a:t>
            </a:r>
            <a:r>
              <a:rPr dirty="0" sz="1000" spc="-4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sector</a:t>
            </a:r>
            <a:endParaRPr sz="1000">
              <a:latin typeface="Arial"/>
              <a:cs typeface="Arial"/>
            </a:endParaRPr>
          </a:p>
        </p:txBody>
      </p:sp>
      <p:sp>
        <p:nvSpPr>
          <p:cNvPr id="36" name="object 3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Impact</a:t>
            </a:r>
            <a:r>
              <a:rPr dirty="0" spc="35"/>
              <a:t> </a:t>
            </a:r>
            <a:r>
              <a:rPr dirty="0"/>
              <a:t>of</a:t>
            </a:r>
            <a:r>
              <a:rPr dirty="0" spc="50"/>
              <a:t> </a:t>
            </a:r>
            <a:r>
              <a:rPr dirty="0"/>
              <a:t>Global</a:t>
            </a:r>
            <a:r>
              <a:rPr dirty="0" spc="65"/>
              <a:t> </a:t>
            </a:r>
            <a:r>
              <a:rPr dirty="0"/>
              <a:t>Economic</a:t>
            </a:r>
            <a:r>
              <a:rPr dirty="0" spc="30"/>
              <a:t> </a:t>
            </a:r>
            <a:r>
              <a:rPr dirty="0"/>
              <a:t>Trends</a:t>
            </a:r>
            <a:r>
              <a:rPr dirty="0" spc="45"/>
              <a:t> </a:t>
            </a:r>
            <a:r>
              <a:rPr dirty="0"/>
              <a:t>on</a:t>
            </a:r>
            <a:r>
              <a:rPr dirty="0" spc="40"/>
              <a:t> </a:t>
            </a:r>
            <a:r>
              <a:rPr dirty="0"/>
              <a:t>Nigeria’s</a:t>
            </a:r>
            <a:r>
              <a:rPr dirty="0" spc="60"/>
              <a:t> </a:t>
            </a:r>
            <a:r>
              <a:rPr dirty="0"/>
              <a:t>Foreign</a:t>
            </a:r>
            <a:r>
              <a:rPr dirty="0" spc="45"/>
              <a:t> </a:t>
            </a:r>
            <a:r>
              <a:rPr dirty="0"/>
              <a:t>Exchange</a:t>
            </a:r>
            <a:r>
              <a:rPr dirty="0" spc="60"/>
              <a:t> </a:t>
            </a:r>
            <a:r>
              <a:rPr dirty="0" spc="-10"/>
              <a:t>Market</a:t>
            </a:r>
          </a:p>
        </p:txBody>
      </p:sp>
      <p:sp>
        <p:nvSpPr>
          <p:cNvPr id="37" name="object 3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October</a:t>
            </a:r>
            <a:r>
              <a:rPr dirty="0" spc="80"/>
              <a:t> </a:t>
            </a:r>
            <a:r>
              <a:rPr dirty="0" spc="-20"/>
              <a:t>2023</a:t>
            </a:r>
          </a:p>
        </p:txBody>
      </p:sp>
      <p:sp>
        <p:nvSpPr>
          <p:cNvPr id="38" name="object 3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6360">
              <a:lnSpc>
                <a:spcPts val="815"/>
              </a:lnSpc>
            </a:pPr>
            <a:fld id="{81D60167-4931-47E6-BA6A-407CBD079E47}" type="slidenum">
              <a:rPr dirty="0" spc="-50"/>
              <a:t>5</a:t>
            </a:fld>
          </a:p>
        </p:txBody>
      </p:sp>
      <p:sp>
        <p:nvSpPr>
          <p:cNvPr id="34" name="object 34" descr=""/>
          <p:cNvSpPr txBox="1"/>
          <p:nvPr/>
        </p:nvSpPr>
        <p:spPr>
          <a:xfrm>
            <a:off x="179831" y="3925836"/>
            <a:ext cx="9791700" cy="161925"/>
          </a:xfrm>
          <a:prstGeom prst="rect">
            <a:avLst/>
          </a:prstGeom>
          <a:solidFill>
            <a:srgbClr val="5F5F5F"/>
          </a:solidFill>
        </p:spPr>
        <p:txBody>
          <a:bodyPr wrap="square" lIns="0" tIns="254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0"/>
              </a:spcBef>
            </a:pP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Insights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49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Slowdown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GDP</a:t>
            </a:r>
            <a:r>
              <a:rPr dirty="0" spc="-35"/>
              <a:t> </a:t>
            </a:r>
            <a:r>
              <a:rPr dirty="0"/>
              <a:t>growth</a:t>
            </a:r>
            <a:r>
              <a:rPr dirty="0" spc="-40"/>
              <a:t> </a:t>
            </a:r>
            <a:r>
              <a:rPr dirty="0"/>
              <a:t>in</a:t>
            </a:r>
            <a:r>
              <a:rPr dirty="0" spc="-40"/>
              <a:t> </a:t>
            </a:r>
            <a:r>
              <a:rPr dirty="0"/>
              <a:t>Q2</a:t>
            </a:r>
            <a:r>
              <a:rPr dirty="0" spc="-40"/>
              <a:t> </a:t>
            </a:r>
            <a:r>
              <a:rPr dirty="0"/>
              <a:t>2023</a:t>
            </a:r>
            <a:r>
              <a:rPr dirty="0" spc="-10"/>
              <a:t> </a:t>
            </a:r>
            <a:r>
              <a:rPr dirty="0"/>
              <a:t>to</a:t>
            </a:r>
            <a:r>
              <a:rPr dirty="0" spc="-45"/>
              <a:t> </a:t>
            </a:r>
            <a:r>
              <a:rPr dirty="0"/>
              <a:t>2.5%</a:t>
            </a:r>
            <a:r>
              <a:rPr dirty="0" spc="-20"/>
              <a:t> </a:t>
            </a:r>
            <a:r>
              <a:rPr dirty="0"/>
              <a:t>was</a:t>
            </a:r>
            <a:r>
              <a:rPr dirty="0" spc="-45"/>
              <a:t> </a:t>
            </a:r>
            <a:r>
              <a:rPr dirty="0"/>
              <a:t>attributed</a:t>
            </a:r>
            <a:r>
              <a:rPr dirty="0" spc="-15"/>
              <a:t> </a:t>
            </a:r>
            <a:r>
              <a:rPr dirty="0"/>
              <a:t>to</a:t>
            </a:r>
            <a:r>
              <a:rPr dirty="0" spc="-45"/>
              <a:t> </a:t>
            </a:r>
            <a:r>
              <a:rPr dirty="0"/>
              <a:t>continued</a:t>
            </a:r>
            <a:r>
              <a:rPr dirty="0" spc="-20"/>
              <a:t> </a:t>
            </a:r>
            <a:r>
              <a:rPr dirty="0"/>
              <a:t>effect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naira</a:t>
            </a:r>
            <a:r>
              <a:rPr dirty="0" spc="-20"/>
              <a:t> </a:t>
            </a:r>
            <a:r>
              <a:rPr dirty="0"/>
              <a:t>redesign</a:t>
            </a:r>
            <a:r>
              <a:rPr dirty="0" spc="-10"/>
              <a:t> policy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775959" y="1002791"/>
            <a:ext cx="265430" cy="3558540"/>
          </a:xfrm>
          <a:custGeom>
            <a:avLst/>
            <a:gdLst/>
            <a:ahLst/>
            <a:cxnLst/>
            <a:rect l="l" t="t" r="r" b="b"/>
            <a:pathLst>
              <a:path w="265429" h="3558540">
                <a:moveTo>
                  <a:pt x="0" y="0"/>
                </a:moveTo>
                <a:lnTo>
                  <a:pt x="0" y="3558540"/>
                </a:lnTo>
                <a:lnTo>
                  <a:pt x="265175" y="17792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2237994" y="592277"/>
            <a:ext cx="131635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Dominant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sectors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396240" y="4719828"/>
            <a:ext cx="5209540" cy="76200"/>
          </a:xfrm>
          <a:custGeom>
            <a:avLst/>
            <a:gdLst/>
            <a:ahLst/>
            <a:cxnLst/>
            <a:rect l="l" t="t" r="r" b="b"/>
            <a:pathLst>
              <a:path w="520954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5209540" h="76200">
                <a:moveTo>
                  <a:pt x="5133213" y="0"/>
                </a:moveTo>
                <a:lnTo>
                  <a:pt x="5133213" y="76200"/>
                </a:lnTo>
                <a:lnTo>
                  <a:pt x="5196713" y="44450"/>
                </a:lnTo>
                <a:lnTo>
                  <a:pt x="5145913" y="44450"/>
                </a:lnTo>
                <a:lnTo>
                  <a:pt x="5145913" y="31750"/>
                </a:lnTo>
                <a:lnTo>
                  <a:pt x="5196713" y="31750"/>
                </a:lnTo>
                <a:lnTo>
                  <a:pt x="5133213" y="0"/>
                </a:lnTo>
                <a:close/>
              </a:path>
              <a:path w="5209540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5209540" h="76200">
                <a:moveTo>
                  <a:pt x="5133213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5133213" y="44450"/>
                </a:lnTo>
                <a:lnTo>
                  <a:pt x="5133213" y="31750"/>
                </a:lnTo>
                <a:close/>
              </a:path>
              <a:path w="5209540" h="76200">
                <a:moveTo>
                  <a:pt x="5196713" y="31750"/>
                </a:moveTo>
                <a:lnTo>
                  <a:pt x="5145913" y="31750"/>
                </a:lnTo>
                <a:lnTo>
                  <a:pt x="5145913" y="44450"/>
                </a:lnTo>
                <a:lnTo>
                  <a:pt x="5196713" y="44450"/>
                </a:lnTo>
                <a:lnTo>
                  <a:pt x="5209413" y="38100"/>
                </a:lnTo>
                <a:lnTo>
                  <a:pt x="5196713" y="31750"/>
                </a:lnTo>
                <a:close/>
              </a:path>
            </a:pathLst>
          </a:custGeom>
          <a:solidFill>
            <a:srgbClr val="0D0D0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2449448" y="4746142"/>
            <a:ext cx="10179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Small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spc="-10" b="1">
                <a:latin typeface="Arial"/>
                <a:cs typeface="Arial"/>
              </a:rPr>
              <a:t>sectors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509016" y="1037844"/>
            <a:ext cx="5096510" cy="3526790"/>
            <a:chOff x="509016" y="1037844"/>
            <a:chExt cx="5096510" cy="3526790"/>
          </a:xfrm>
        </p:grpSpPr>
        <p:sp>
          <p:nvSpPr>
            <p:cNvPr id="7" name="object 7" descr=""/>
            <p:cNvSpPr/>
            <p:nvPr/>
          </p:nvSpPr>
          <p:spPr>
            <a:xfrm>
              <a:off x="3102864" y="1037844"/>
              <a:ext cx="2494915" cy="1731645"/>
            </a:xfrm>
            <a:custGeom>
              <a:avLst/>
              <a:gdLst/>
              <a:ahLst/>
              <a:cxnLst/>
              <a:rect l="l" t="t" r="r" b="b"/>
              <a:pathLst>
                <a:path w="2494915" h="1731645">
                  <a:moveTo>
                    <a:pt x="2494788" y="0"/>
                  </a:moveTo>
                  <a:lnTo>
                    <a:pt x="0" y="0"/>
                  </a:lnTo>
                  <a:lnTo>
                    <a:pt x="0" y="1731263"/>
                  </a:lnTo>
                  <a:lnTo>
                    <a:pt x="2494788" y="1731263"/>
                  </a:lnTo>
                  <a:lnTo>
                    <a:pt x="2494788" y="0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509016" y="1037844"/>
              <a:ext cx="2502535" cy="1731645"/>
            </a:xfrm>
            <a:custGeom>
              <a:avLst/>
              <a:gdLst/>
              <a:ahLst/>
              <a:cxnLst/>
              <a:rect l="l" t="t" r="r" b="b"/>
              <a:pathLst>
                <a:path w="2502535" h="1731645">
                  <a:moveTo>
                    <a:pt x="2502408" y="0"/>
                  </a:moveTo>
                  <a:lnTo>
                    <a:pt x="0" y="0"/>
                  </a:lnTo>
                  <a:lnTo>
                    <a:pt x="0" y="1731263"/>
                  </a:lnTo>
                  <a:lnTo>
                    <a:pt x="2502408" y="1731263"/>
                  </a:lnTo>
                  <a:lnTo>
                    <a:pt x="2502408" y="0"/>
                  </a:lnTo>
                  <a:close/>
                </a:path>
              </a:pathLst>
            </a:custGeom>
            <a:solidFill>
              <a:srgbClr val="DB52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509016" y="2833116"/>
              <a:ext cx="2502535" cy="1731645"/>
            </a:xfrm>
            <a:custGeom>
              <a:avLst/>
              <a:gdLst/>
              <a:ahLst/>
              <a:cxnLst/>
              <a:rect l="l" t="t" r="r" b="b"/>
              <a:pathLst>
                <a:path w="2502535" h="1731645">
                  <a:moveTo>
                    <a:pt x="2502408" y="0"/>
                  </a:moveTo>
                  <a:lnTo>
                    <a:pt x="0" y="0"/>
                  </a:lnTo>
                  <a:lnTo>
                    <a:pt x="0" y="1731264"/>
                  </a:lnTo>
                  <a:lnTo>
                    <a:pt x="2502408" y="1731264"/>
                  </a:lnTo>
                  <a:lnTo>
                    <a:pt x="2502408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102864" y="2833116"/>
              <a:ext cx="2502535" cy="1731645"/>
            </a:xfrm>
            <a:custGeom>
              <a:avLst/>
              <a:gdLst/>
              <a:ahLst/>
              <a:cxnLst/>
              <a:rect l="l" t="t" r="r" b="b"/>
              <a:pathLst>
                <a:path w="2502535" h="1731645">
                  <a:moveTo>
                    <a:pt x="2502408" y="0"/>
                  </a:moveTo>
                  <a:lnTo>
                    <a:pt x="0" y="0"/>
                  </a:lnTo>
                  <a:lnTo>
                    <a:pt x="0" y="1731264"/>
                  </a:lnTo>
                  <a:lnTo>
                    <a:pt x="2502408" y="1731264"/>
                  </a:lnTo>
                  <a:lnTo>
                    <a:pt x="2502408" y="0"/>
                  </a:lnTo>
                  <a:close/>
                </a:path>
              </a:pathLst>
            </a:custGeom>
            <a:solidFill>
              <a:srgbClr val="D9395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2476500" y="2329179"/>
              <a:ext cx="1167765" cy="972819"/>
            </a:xfrm>
            <a:custGeom>
              <a:avLst/>
              <a:gdLst/>
              <a:ahLst/>
              <a:cxnLst/>
              <a:rect l="l" t="t" r="r" b="b"/>
              <a:pathLst>
                <a:path w="1167764" h="972820">
                  <a:moveTo>
                    <a:pt x="1167384" y="60071"/>
                  </a:moveTo>
                  <a:lnTo>
                    <a:pt x="1106805" y="60071"/>
                  </a:lnTo>
                  <a:lnTo>
                    <a:pt x="1106805" y="912749"/>
                  </a:lnTo>
                  <a:lnTo>
                    <a:pt x="1167384" y="912749"/>
                  </a:lnTo>
                  <a:lnTo>
                    <a:pt x="1167384" y="60071"/>
                  </a:lnTo>
                  <a:close/>
                </a:path>
                <a:path w="1167764" h="972820">
                  <a:moveTo>
                    <a:pt x="1167384" y="0"/>
                  </a:moveTo>
                  <a:lnTo>
                    <a:pt x="0" y="0"/>
                  </a:lnTo>
                  <a:lnTo>
                    <a:pt x="0" y="59690"/>
                  </a:lnTo>
                  <a:lnTo>
                    <a:pt x="0" y="913130"/>
                  </a:lnTo>
                  <a:lnTo>
                    <a:pt x="0" y="972820"/>
                  </a:lnTo>
                  <a:lnTo>
                    <a:pt x="1167384" y="972820"/>
                  </a:lnTo>
                  <a:lnTo>
                    <a:pt x="1167384" y="913130"/>
                  </a:lnTo>
                  <a:lnTo>
                    <a:pt x="60579" y="913130"/>
                  </a:lnTo>
                  <a:lnTo>
                    <a:pt x="60579" y="59690"/>
                  </a:lnTo>
                  <a:lnTo>
                    <a:pt x="1167384" y="59690"/>
                  </a:lnTo>
                  <a:lnTo>
                    <a:pt x="11673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2638044" y="2443987"/>
            <a:ext cx="2387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solidFill>
                  <a:srgbClr val="FFFFFF"/>
                </a:solidFill>
                <a:latin typeface="Arial MT"/>
                <a:cs typeface="Arial MT"/>
              </a:rPr>
              <a:t>01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3215385" y="2433065"/>
            <a:ext cx="2387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solidFill>
                  <a:srgbClr val="FFFFFF"/>
                </a:solidFill>
                <a:latin typeface="Arial MT"/>
                <a:cs typeface="Arial MT"/>
              </a:rPr>
              <a:t>02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638044" y="2893517"/>
            <a:ext cx="81851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579755" algn="l"/>
              </a:tabLst>
            </a:pPr>
            <a:r>
              <a:rPr dirty="0" sz="1600" spc="-25">
                <a:solidFill>
                  <a:srgbClr val="FFFFFF"/>
                </a:solidFill>
                <a:latin typeface="Arial MT"/>
                <a:cs typeface="Arial MT"/>
              </a:rPr>
              <a:t>03</a:t>
            </a:r>
            <a:r>
              <a:rPr dirty="0" sz="160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dirty="0" sz="1600" spc="-25">
                <a:solidFill>
                  <a:srgbClr val="FFFFFF"/>
                </a:solidFill>
                <a:latin typeface="Arial MT"/>
                <a:cs typeface="Arial MT"/>
              </a:rPr>
              <a:t>04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664463" y="2379217"/>
            <a:ext cx="4817745" cy="861060"/>
            <a:chOff x="664463" y="2379217"/>
            <a:chExt cx="4817745" cy="861060"/>
          </a:xfrm>
        </p:grpSpPr>
        <p:pic>
          <p:nvPicPr>
            <p:cNvPr id="16" name="object 1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4463" y="2379217"/>
              <a:ext cx="289560" cy="283210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664464" y="2409189"/>
              <a:ext cx="4817745" cy="831215"/>
            </a:xfrm>
            <a:custGeom>
              <a:avLst/>
              <a:gdLst/>
              <a:ahLst/>
              <a:cxnLst/>
              <a:rect l="l" t="t" r="r" b="b"/>
              <a:pathLst>
                <a:path w="4817745" h="831214">
                  <a:moveTo>
                    <a:pt x="289560" y="528574"/>
                  </a:moveTo>
                  <a:lnTo>
                    <a:pt x="277164" y="528574"/>
                  </a:lnTo>
                  <a:lnTo>
                    <a:pt x="277164" y="541274"/>
                  </a:lnTo>
                  <a:lnTo>
                    <a:pt x="277164" y="600964"/>
                  </a:lnTo>
                  <a:lnTo>
                    <a:pt x="277164" y="818134"/>
                  </a:lnTo>
                  <a:lnTo>
                    <a:pt x="12306" y="818134"/>
                  </a:lnTo>
                  <a:lnTo>
                    <a:pt x="12306" y="758456"/>
                  </a:lnTo>
                  <a:lnTo>
                    <a:pt x="118427" y="758456"/>
                  </a:lnTo>
                  <a:lnTo>
                    <a:pt x="118948" y="760984"/>
                  </a:lnTo>
                  <a:lnTo>
                    <a:pt x="119557" y="762254"/>
                  </a:lnTo>
                  <a:lnTo>
                    <a:pt x="120345" y="764806"/>
                  </a:lnTo>
                  <a:lnTo>
                    <a:pt x="121208" y="766064"/>
                  </a:lnTo>
                  <a:lnTo>
                    <a:pt x="122250" y="768604"/>
                  </a:lnTo>
                  <a:lnTo>
                    <a:pt x="123367" y="769874"/>
                  </a:lnTo>
                  <a:lnTo>
                    <a:pt x="124675" y="771156"/>
                  </a:lnTo>
                  <a:lnTo>
                    <a:pt x="126060" y="773684"/>
                  </a:lnTo>
                  <a:lnTo>
                    <a:pt x="127101" y="773684"/>
                  </a:lnTo>
                  <a:lnTo>
                    <a:pt x="128143" y="774954"/>
                  </a:lnTo>
                  <a:lnTo>
                    <a:pt x="130390" y="777506"/>
                  </a:lnTo>
                  <a:lnTo>
                    <a:pt x="131610" y="777506"/>
                  </a:lnTo>
                  <a:lnTo>
                    <a:pt x="134035" y="778764"/>
                  </a:lnTo>
                  <a:lnTo>
                    <a:pt x="136639" y="780034"/>
                  </a:lnTo>
                  <a:lnTo>
                    <a:pt x="139319" y="781304"/>
                  </a:lnTo>
                  <a:lnTo>
                    <a:pt x="154393" y="781304"/>
                  </a:lnTo>
                  <a:lnTo>
                    <a:pt x="156311" y="780034"/>
                  </a:lnTo>
                  <a:lnTo>
                    <a:pt x="158216" y="780034"/>
                  </a:lnTo>
                  <a:lnTo>
                    <a:pt x="159943" y="778764"/>
                  </a:lnTo>
                  <a:lnTo>
                    <a:pt x="161772" y="777506"/>
                  </a:lnTo>
                  <a:lnTo>
                    <a:pt x="177622" y="794004"/>
                  </a:lnTo>
                  <a:lnTo>
                    <a:pt x="186385" y="785114"/>
                  </a:lnTo>
                  <a:lnTo>
                    <a:pt x="170434" y="768604"/>
                  </a:lnTo>
                  <a:lnTo>
                    <a:pt x="171132" y="767334"/>
                  </a:lnTo>
                  <a:lnTo>
                    <a:pt x="171653" y="766064"/>
                  </a:lnTo>
                  <a:lnTo>
                    <a:pt x="172250" y="764806"/>
                  </a:lnTo>
                  <a:lnTo>
                    <a:pt x="173558" y="760984"/>
                  </a:lnTo>
                  <a:lnTo>
                    <a:pt x="174155" y="758456"/>
                  </a:lnTo>
                  <a:lnTo>
                    <a:pt x="277164" y="758456"/>
                  </a:lnTo>
                  <a:lnTo>
                    <a:pt x="277164" y="745756"/>
                  </a:lnTo>
                  <a:lnTo>
                    <a:pt x="174332" y="745756"/>
                  </a:lnTo>
                  <a:lnTo>
                    <a:pt x="173901" y="743204"/>
                  </a:lnTo>
                  <a:lnTo>
                    <a:pt x="173202" y="741934"/>
                  </a:lnTo>
                  <a:lnTo>
                    <a:pt x="172427" y="739406"/>
                  </a:lnTo>
                  <a:lnTo>
                    <a:pt x="171564" y="738124"/>
                  </a:lnTo>
                  <a:lnTo>
                    <a:pt x="170522" y="735584"/>
                  </a:lnTo>
                  <a:lnTo>
                    <a:pt x="169303" y="734314"/>
                  </a:lnTo>
                  <a:lnTo>
                    <a:pt x="168008" y="731774"/>
                  </a:lnTo>
                  <a:lnTo>
                    <a:pt x="166535" y="730504"/>
                  </a:lnTo>
                  <a:lnTo>
                    <a:pt x="165493" y="729234"/>
                  </a:lnTo>
                  <a:lnTo>
                    <a:pt x="164363" y="729234"/>
                  </a:lnTo>
                  <a:lnTo>
                    <a:pt x="162547" y="727214"/>
                  </a:lnTo>
                  <a:lnTo>
                    <a:pt x="162547" y="750824"/>
                  </a:lnTo>
                  <a:lnTo>
                    <a:pt x="162547" y="753364"/>
                  </a:lnTo>
                  <a:lnTo>
                    <a:pt x="152577" y="767334"/>
                  </a:lnTo>
                  <a:lnTo>
                    <a:pt x="151015" y="768604"/>
                  </a:lnTo>
                  <a:lnTo>
                    <a:pt x="141566" y="768604"/>
                  </a:lnTo>
                  <a:lnTo>
                    <a:pt x="140093" y="767334"/>
                  </a:lnTo>
                  <a:lnTo>
                    <a:pt x="138620" y="767334"/>
                  </a:lnTo>
                  <a:lnTo>
                    <a:pt x="130048" y="753364"/>
                  </a:lnTo>
                  <a:lnTo>
                    <a:pt x="130048" y="750824"/>
                  </a:lnTo>
                  <a:lnTo>
                    <a:pt x="130302" y="748284"/>
                  </a:lnTo>
                  <a:lnTo>
                    <a:pt x="130657" y="747014"/>
                  </a:lnTo>
                  <a:lnTo>
                    <a:pt x="131254" y="745756"/>
                  </a:lnTo>
                  <a:lnTo>
                    <a:pt x="131864" y="744474"/>
                  </a:lnTo>
                  <a:lnTo>
                    <a:pt x="132727" y="741934"/>
                  </a:lnTo>
                  <a:lnTo>
                    <a:pt x="133680" y="740664"/>
                  </a:lnTo>
                  <a:lnTo>
                    <a:pt x="134810" y="739406"/>
                  </a:lnTo>
                  <a:lnTo>
                    <a:pt x="136029" y="738124"/>
                  </a:lnTo>
                  <a:lnTo>
                    <a:pt x="137325" y="738124"/>
                  </a:lnTo>
                  <a:lnTo>
                    <a:pt x="138709" y="736854"/>
                  </a:lnTo>
                  <a:lnTo>
                    <a:pt x="140182" y="735584"/>
                  </a:lnTo>
                  <a:lnTo>
                    <a:pt x="152488" y="735584"/>
                  </a:lnTo>
                  <a:lnTo>
                    <a:pt x="155270" y="738124"/>
                  </a:lnTo>
                  <a:lnTo>
                    <a:pt x="156552" y="738124"/>
                  </a:lnTo>
                  <a:lnTo>
                    <a:pt x="157861" y="739406"/>
                  </a:lnTo>
                  <a:lnTo>
                    <a:pt x="158889" y="740664"/>
                  </a:lnTo>
                  <a:lnTo>
                    <a:pt x="159854" y="741934"/>
                  </a:lnTo>
                  <a:lnTo>
                    <a:pt x="160731" y="744474"/>
                  </a:lnTo>
                  <a:lnTo>
                    <a:pt x="161417" y="745756"/>
                  </a:lnTo>
                  <a:lnTo>
                    <a:pt x="161937" y="747014"/>
                  </a:lnTo>
                  <a:lnTo>
                    <a:pt x="162293" y="748284"/>
                  </a:lnTo>
                  <a:lnTo>
                    <a:pt x="162547" y="750824"/>
                  </a:lnTo>
                  <a:lnTo>
                    <a:pt x="162547" y="727214"/>
                  </a:lnTo>
                  <a:lnTo>
                    <a:pt x="162102" y="726706"/>
                  </a:lnTo>
                  <a:lnTo>
                    <a:pt x="160896" y="726706"/>
                  </a:lnTo>
                  <a:lnTo>
                    <a:pt x="159600" y="725424"/>
                  </a:lnTo>
                  <a:lnTo>
                    <a:pt x="158381" y="724154"/>
                  </a:lnTo>
                  <a:lnTo>
                    <a:pt x="155790" y="724154"/>
                  </a:lnTo>
                  <a:lnTo>
                    <a:pt x="153098" y="722884"/>
                  </a:lnTo>
                  <a:lnTo>
                    <a:pt x="149021" y="721614"/>
                  </a:lnTo>
                  <a:lnTo>
                    <a:pt x="143560" y="721614"/>
                  </a:lnTo>
                  <a:lnTo>
                    <a:pt x="139496" y="722884"/>
                  </a:lnTo>
                  <a:lnTo>
                    <a:pt x="136804" y="724154"/>
                  </a:lnTo>
                  <a:lnTo>
                    <a:pt x="134200" y="724154"/>
                  </a:lnTo>
                  <a:lnTo>
                    <a:pt x="132994" y="725424"/>
                  </a:lnTo>
                  <a:lnTo>
                    <a:pt x="130568" y="726706"/>
                  </a:lnTo>
                  <a:lnTo>
                    <a:pt x="129349" y="727964"/>
                  </a:lnTo>
                  <a:lnTo>
                    <a:pt x="128231" y="729234"/>
                  </a:lnTo>
                  <a:lnTo>
                    <a:pt x="127101" y="729234"/>
                  </a:lnTo>
                  <a:lnTo>
                    <a:pt x="126060" y="730504"/>
                  </a:lnTo>
                  <a:lnTo>
                    <a:pt x="124587" y="731774"/>
                  </a:lnTo>
                  <a:lnTo>
                    <a:pt x="123291" y="734314"/>
                  </a:lnTo>
                  <a:lnTo>
                    <a:pt x="122072" y="735584"/>
                  </a:lnTo>
                  <a:lnTo>
                    <a:pt x="121031" y="738124"/>
                  </a:lnTo>
                  <a:lnTo>
                    <a:pt x="120167" y="739406"/>
                  </a:lnTo>
                  <a:lnTo>
                    <a:pt x="119380" y="741934"/>
                  </a:lnTo>
                  <a:lnTo>
                    <a:pt x="118783" y="743204"/>
                  </a:lnTo>
                  <a:lnTo>
                    <a:pt x="118262" y="745756"/>
                  </a:lnTo>
                  <a:lnTo>
                    <a:pt x="12306" y="745756"/>
                  </a:lnTo>
                  <a:lnTo>
                    <a:pt x="12306" y="686054"/>
                  </a:lnTo>
                  <a:lnTo>
                    <a:pt x="181965" y="686054"/>
                  </a:lnTo>
                  <a:lnTo>
                    <a:pt x="182397" y="688606"/>
                  </a:lnTo>
                  <a:lnTo>
                    <a:pt x="183083" y="689864"/>
                  </a:lnTo>
                  <a:lnTo>
                    <a:pt x="183870" y="692404"/>
                  </a:lnTo>
                  <a:lnTo>
                    <a:pt x="184734" y="693674"/>
                  </a:lnTo>
                  <a:lnTo>
                    <a:pt x="185775" y="696214"/>
                  </a:lnTo>
                  <a:lnTo>
                    <a:pt x="186905" y="697484"/>
                  </a:lnTo>
                  <a:lnTo>
                    <a:pt x="188201" y="700024"/>
                  </a:lnTo>
                  <a:lnTo>
                    <a:pt x="189674" y="701306"/>
                  </a:lnTo>
                  <a:lnTo>
                    <a:pt x="191757" y="703834"/>
                  </a:lnTo>
                  <a:lnTo>
                    <a:pt x="192874" y="703834"/>
                  </a:lnTo>
                  <a:lnTo>
                    <a:pt x="194005" y="705104"/>
                  </a:lnTo>
                  <a:lnTo>
                    <a:pt x="195224" y="705104"/>
                  </a:lnTo>
                  <a:lnTo>
                    <a:pt x="197650" y="707656"/>
                  </a:lnTo>
                  <a:lnTo>
                    <a:pt x="201549" y="708914"/>
                  </a:lnTo>
                  <a:lnTo>
                    <a:pt x="204317" y="708914"/>
                  </a:lnTo>
                  <a:lnTo>
                    <a:pt x="205701" y="710184"/>
                  </a:lnTo>
                  <a:lnTo>
                    <a:pt x="214033" y="710184"/>
                  </a:lnTo>
                  <a:lnTo>
                    <a:pt x="216027" y="708914"/>
                  </a:lnTo>
                  <a:lnTo>
                    <a:pt x="218059" y="708914"/>
                  </a:lnTo>
                  <a:lnTo>
                    <a:pt x="219964" y="707656"/>
                  </a:lnTo>
                  <a:lnTo>
                    <a:pt x="221780" y="707656"/>
                  </a:lnTo>
                  <a:lnTo>
                    <a:pt x="223608" y="706374"/>
                  </a:lnTo>
                  <a:lnTo>
                    <a:pt x="225336" y="705104"/>
                  </a:lnTo>
                  <a:lnTo>
                    <a:pt x="241287" y="721614"/>
                  </a:lnTo>
                  <a:lnTo>
                    <a:pt x="250037" y="712724"/>
                  </a:lnTo>
                  <a:lnTo>
                    <a:pt x="235305" y="697484"/>
                  </a:lnTo>
                  <a:lnTo>
                    <a:pt x="234086" y="696214"/>
                  </a:lnTo>
                  <a:lnTo>
                    <a:pt x="237909" y="686054"/>
                  </a:lnTo>
                  <a:lnTo>
                    <a:pt x="277164" y="686054"/>
                  </a:lnTo>
                  <a:lnTo>
                    <a:pt x="277164" y="673354"/>
                  </a:lnTo>
                  <a:lnTo>
                    <a:pt x="237909" y="673354"/>
                  </a:lnTo>
                  <a:lnTo>
                    <a:pt x="237388" y="670814"/>
                  </a:lnTo>
                  <a:lnTo>
                    <a:pt x="236778" y="669556"/>
                  </a:lnTo>
                  <a:lnTo>
                    <a:pt x="236004" y="667004"/>
                  </a:lnTo>
                  <a:lnTo>
                    <a:pt x="235127" y="665734"/>
                  </a:lnTo>
                  <a:lnTo>
                    <a:pt x="234086" y="663206"/>
                  </a:lnTo>
                  <a:lnTo>
                    <a:pt x="232968" y="661924"/>
                  </a:lnTo>
                  <a:lnTo>
                    <a:pt x="231660" y="660654"/>
                  </a:lnTo>
                  <a:lnTo>
                    <a:pt x="229146" y="658114"/>
                  </a:lnTo>
                  <a:lnTo>
                    <a:pt x="226199" y="654799"/>
                  </a:lnTo>
                  <a:lnTo>
                    <a:pt x="226199" y="678434"/>
                  </a:lnTo>
                  <a:lnTo>
                    <a:pt x="226199" y="680974"/>
                  </a:lnTo>
                  <a:lnTo>
                    <a:pt x="225945" y="683514"/>
                  </a:lnTo>
                  <a:lnTo>
                    <a:pt x="225602" y="684784"/>
                  </a:lnTo>
                  <a:lnTo>
                    <a:pt x="225082" y="686054"/>
                  </a:lnTo>
                  <a:lnTo>
                    <a:pt x="223608" y="689864"/>
                  </a:lnTo>
                  <a:lnTo>
                    <a:pt x="222656" y="691134"/>
                  </a:lnTo>
                  <a:lnTo>
                    <a:pt x="221526" y="692404"/>
                  </a:lnTo>
                  <a:lnTo>
                    <a:pt x="220306" y="693674"/>
                  </a:lnTo>
                  <a:lnTo>
                    <a:pt x="219011" y="693674"/>
                  </a:lnTo>
                  <a:lnTo>
                    <a:pt x="217627" y="694956"/>
                  </a:lnTo>
                  <a:lnTo>
                    <a:pt x="216192" y="696214"/>
                  </a:lnTo>
                  <a:lnTo>
                    <a:pt x="213156" y="696214"/>
                  </a:lnTo>
                  <a:lnTo>
                    <a:pt x="211518" y="697484"/>
                  </a:lnTo>
                  <a:lnTo>
                    <a:pt x="208305" y="697484"/>
                  </a:lnTo>
                  <a:lnTo>
                    <a:pt x="206743" y="696214"/>
                  </a:lnTo>
                  <a:lnTo>
                    <a:pt x="205193" y="696214"/>
                  </a:lnTo>
                  <a:lnTo>
                    <a:pt x="202247" y="694956"/>
                  </a:lnTo>
                  <a:lnTo>
                    <a:pt x="200850" y="693674"/>
                  </a:lnTo>
                  <a:lnTo>
                    <a:pt x="199555" y="693674"/>
                  </a:lnTo>
                  <a:lnTo>
                    <a:pt x="197307" y="691134"/>
                  </a:lnTo>
                  <a:lnTo>
                    <a:pt x="196342" y="689864"/>
                  </a:lnTo>
                  <a:lnTo>
                    <a:pt x="195478" y="687324"/>
                  </a:lnTo>
                  <a:lnTo>
                    <a:pt x="194868" y="686054"/>
                  </a:lnTo>
                  <a:lnTo>
                    <a:pt x="194271" y="684784"/>
                  </a:lnTo>
                  <a:lnTo>
                    <a:pt x="193916" y="683514"/>
                  </a:lnTo>
                  <a:lnTo>
                    <a:pt x="193662" y="680974"/>
                  </a:lnTo>
                  <a:lnTo>
                    <a:pt x="193662" y="678434"/>
                  </a:lnTo>
                  <a:lnTo>
                    <a:pt x="193916" y="677164"/>
                  </a:lnTo>
                  <a:lnTo>
                    <a:pt x="194271" y="674624"/>
                  </a:lnTo>
                  <a:lnTo>
                    <a:pt x="202323" y="664464"/>
                  </a:lnTo>
                  <a:lnTo>
                    <a:pt x="203796" y="664464"/>
                  </a:lnTo>
                  <a:lnTo>
                    <a:pt x="205270" y="663206"/>
                  </a:lnTo>
                  <a:lnTo>
                    <a:pt x="214553" y="663206"/>
                  </a:lnTo>
                  <a:lnTo>
                    <a:pt x="216027" y="664464"/>
                  </a:lnTo>
                  <a:lnTo>
                    <a:pt x="217538" y="664464"/>
                  </a:lnTo>
                  <a:lnTo>
                    <a:pt x="225945" y="677164"/>
                  </a:lnTo>
                  <a:lnTo>
                    <a:pt x="226199" y="678434"/>
                  </a:lnTo>
                  <a:lnTo>
                    <a:pt x="226199" y="654799"/>
                  </a:lnTo>
                  <a:lnTo>
                    <a:pt x="225767" y="654304"/>
                  </a:lnTo>
                  <a:lnTo>
                    <a:pt x="224561" y="654304"/>
                  </a:lnTo>
                  <a:lnTo>
                    <a:pt x="223253" y="653034"/>
                  </a:lnTo>
                  <a:lnTo>
                    <a:pt x="222046" y="653034"/>
                  </a:lnTo>
                  <a:lnTo>
                    <a:pt x="220738" y="651764"/>
                  </a:lnTo>
                  <a:lnTo>
                    <a:pt x="218147" y="651764"/>
                  </a:lnTo>
                  <a:lnTo>
                    <a:pt x="216712" y="650506"/>
                  </a:lnTo>
                  <a:lnTo>
                    <a:pt x="204406" y="650506"/>
                  </a:lnTo>
                  <a:lnTo>
                    <a:pt x="200418" y="651764"/>
                  </a:lnTo>
                  <a:lnTo>
                    <a:pt x="199123" y="651764"/>
                  </a:lnTo>
                  <a:lnTo>
                    <a:pt x="197815" y="653034"/>
                  </a:lnTo>
                  <a:lnTo>
                    <a:pt x="196608" y="653034"/>
                  </a:lnTo>
                  <a:lnTo>
                    <a:pt x="192963" y="655574"/>
                  </a:lnTo>
                  <a:lnTo>
                    <a:pt x="190715" y="658114"/>
                  </a:lnTo>
                  <a:lnTo>
                    <a:pt x="188290" y="660654"/>
                  </a:lnTo>
                  <a:lnTo>
                    <a:pt x="186982" y="661924"/>
                  </a:lnTo>
                  <a:lnTo>
                    <a:pt x="185864" y="663206"/>
                  </a:lnTo>
                  <a:lnTo>
                    <a:pt x="183870" y="667004"/>
                  </a:lnTo>
                  <a:lnTo>
                    <a:pt x="183083" y="669556"/>
                  </a:lnTo>
                  <a:lnTo>
                    <a:pt x="182486" y="670814"/>
                  </a:lnTo>
                  <a:lnTo>
                    <a:pt x="181965" y="673354"/>
                  </a:lnTo>
                  <a:lnTo>
                    <a:pt x="12306" y="673354"/>
                  </a:lnTo>
                  <a:lnTo>
                    <a:pt x="12306" y="613664"/>
                  </a:lnTo>
                  <a:lnTo>
                    <a:pt x="43942" y="613664"/>
                  </a:lnTo>
                  <a:lnTo>
                    <a:pt x="44373" y="616204"/>
                  </a:lnTo>
                  <a:lnTo>
                    <a:pt x="45072" y="617474"/>
                  </a:lnTo>
                  <a:lnTo>
                    <a:pt x="45847" y="620014"/>
                  </a:lnTo>
                  <a:lnTo>
                    <a:pt x="46710" y="621284"/>
                  </a:lnTo>
                  <a:lnTo>
                    <a:pt x="47752" y="623824"/>
                  </a:lnTo>
                  <a:lnTo>
                    <a:pt x="48971" y="625106"/>
                  </a:lnTo>
                  <a:lnTo>
                    <a:pt x="50266" y="627634"/>
                  </a:lnTo>
                  <a:lnTo>
                    <a:pt x="51650" y="628904"/>
                  </a:lnTo>
                  <a:lnTo>
                    <a:pt x="52692" y="630174"/>
                  </a:lnTo>
                  <a:lnTo>
                    <a:pt x="53822" y="630174"/>
                  </a:lnTo>
                  <a:lnTo>
                    <a:pt x="54952" y="631456"/>
                  </a:lnTo>
                  <a:lnTo>
                    <a:pt x="56159" y="632714"/>
                  </a:lnTo>
                  <a:lnTo>
                    <a:pt x="58585" y="633984"/>
                  </a:lnTo>
                  <a:lnTo>
                    <a:pt x="59804" y="633984"/>
                  </a:lnTo>
                  <a:lnTo>
                    <a:pt x="61099" y="635254"/>
                  </a:lnTo>
                  <a:lnTo>
                    <a:pt x="62395" y="635254"/>
                  </a:lnTo>
                  <a:lnTo>
                    <a:pt x="63792" y="636524"/>
                  </a:lnTo>
                  <a:lnTo>
                    <a:pt x="67779" y="636524"/>
                  </a:lnTo>
                  <a:lnTo>
                    <a:pt x="69164" y="637806"/>
                  </a:lnTo>
                  <a:lnTo>
                    <a:pt x="73977" y="637806"/>
                  </a:lnTo>
                  <a:lnTo>
                    <a:pt x="75958" y="636524"/>
                  </a:lnTo>
                  <a:lnTo>
                    <a:pt x="79946" y="636524"/>
                  </a:lnTo>
                  <a:lnTo>
                    <a:pt x="81864" y="635254"/>
                  </a:lnTo>
                  <a:lnTo>
                    <a:pt x="83769" y="635254"/>
                  </a:lnTo>
                  <a:lnTo>
                    <a:pt x="87401" y="632714"/>
                  </a:lnTo>
                  <a:lnTo>
                    <a:pt x="103263" y="649224"/>
                  </a:lnTo>
                  <a:lnTo>
                    <a:pt x="112014" y="640334"/>
                  </a:lnTo>
                  <a:lnTo>
                    <a:pt x="104648" y="632714"/>
                  </a:lnTo>
                  <a:lnTo>
                    <a:pt x="96075" y="623824"/>
                  </a:lnTo>
                  <a:lnTo>
                    <a:pt x="99974" y="613664"/>
                  </a:lnTo>
                  <a:lnTo>
                    <a:pt x="277164" y="613664"/>
                  </a:lnTo>
                  <a:lnTo>
                    <a:pt x="277164" y="600964"/>
                  </a:lnTo>
                  <a:lnTo>
                    <a:pt x="99885" y="600964"/>
                  </a:lnTo>
                  <a:lnTo>
                    <a:pt x="99364" y="598424"/>
                  </a:lnTo>
                  <a:lnTo>
                    <a:pt x="98755" y="597154"/>
                  </a:lnTo>
                  <a:lnTo>
                    <a:pt x="97980" y="594614"/>
                  </a:lnTo>
                  <a:lnTo>
                    <a:pt x="97116" y="593356"/>
                  </a:lnTo>
                  <a:lnTo>
                    <a:pt x="96075" y="590804"/>
                  </a:lnTo>
                  <a:lnTo>
                    <a:pt x="94945" y="589534"/>
                  </a:lnTo>
                  <a:lnTo>
                    <a:pt x="93649" y="588264"/>
                  </a:lnTo>
                  <a:lnTo>
                    <a:pt x="92252" y="585724"/>
                  </a:lnTo>
                  <a:lnTo>
                    <a:pt x="91135" y="584454"/>
                  </a:lnTo>
                  <a:lnTo>
                    <a:pt x="90093" y="584454"/>
                  </a:lnTo>
                  <a:lnTo>
                    <a:pt x="88874" y="583184"/>
                  </a:lnTo>
                  <a:lnTo>
                    <a:pt x="88188" y="582409"/>
                  </a:lnTo>
                  <a:lnTo>
                    <a:pt x="88188" y="606056"/>
                  </a:lnTo>
                  <a:lnTo>
                    <a:pt x="88188" y="608584"/>
                  </a:lnTo>
                  <a:lnTo>
                    <a:pt x="85585" y="616204"/>
                  </a:lnTo>
                  <a:lnTo>
                    <a:pt x="84543" y="618756"/>
                  </a:lnTo>
                  <a:lnTo>
                    <a:pt x="83502" y="620014"/>
                  </a:lnTo>
                  <a:lnTo>
                    <a:pt x="82296" y="621284"/>
                  </a:lnTo>
                  <a:lnTo>
                    <a:pt x="80899" y="621284"/>
                  </a:lnTo>
                  <a:lnTo>
                    <a:pt x="79514" y="622554"/>
                  </a:lnTo>
                  <a:lnTo>
                    <a:pt x="78130" y="622554"/>
                  </a:lnTo>
                  <a:lnTo>
                    <a:pt x="76568" y="623824"/>
                  </a:lnTo>
                  <a:lnTo>
                    <a:pt x="67259" y="623824"/>
                  </a:lnTo>
                  <a:lnTo>
                    <a:pt x="64312" y="622554"/>
                  </a:lnTo>
                  <a:lnTo>
                    <a:pt x="62915" y="621284"/>
                  </a:lnTo>
                  <a:lnTo>
                    <a:pt x="61620" y="621284"/>
                  </a:lnTo>
                  <a:lnTo>
                    <a:pt x="60413" y="620014"/>
                  </a:lnTo>
                  <a:lnTo>
                    <a:pt x="59283" y="618756"/>
                  </a:lnTo>
                  <a:lnTo>
                    <a:pt x="58331" y="616204"/>
                  </a:lnTo>
                  <a:lnTo>
                    <a:pt x="57543" y="614934"/>
                  </a:lnTo>
                  <a:lnTo>
                    <a:pt x="56857" y="613664"/>
                  </a:lnTo>
                  <a:lnTo>
                    <a:pt x="56337" y="612406"/>
                  </a:lnTo>
                  <a:lnTo>
                    <a:pt x="55905" y="611124"/>
                  </a:lnTo>
                  <a:lnTo>
                    <a:pt x="55638" y="608584"/>
                  </a:lnTo>
                  <a:lnTo>
                    <a:pt x="55638" y="606056"/>
                  </a:lnTo>
                  <a:lnTo>
                    <a:pt x="58331" y="598424"/>
                  </a:lnTo>
                  <a:lnTo>
                    <a:pt x="59283" y="595884"/>
                  </a:lnTo>
                  <a:lnTo>
                    <a:pt x="60413" y="595884"/>
                  </a:lnTo>
                  <a:lnTo>
                    <a:pt x="61620" y="594614"/>
                  </a:lnTo>
                  <a:lnTo>
                    <a:pt x="62915" y="593356"/>
                  </a:lnTo>
                  <a:lnTo>
                    <a:pt x="64312" y="592074"/>
                  </a:lnTo>
                  <a:lnTo>
                    <a:pt x="65786" y="592074"/>
                  </a:lnTo>
                  <a:lnTo>
                    <a:pt x="67259" y="590804"/>
                  </a:lnTo>
                  <a:lnTo>
                    <a:pt x="76568" y="590804"/>
                  </a:lnTo>
                  <a:lnTo>
                    <a:pt x="78130" y="592074"/>
                  </a:lnTo>
                  <a:lnTo>
                    <a:pt x="80899" y="593356"/>
                  </a:lnTo>
                  <a:lnTo>
                    <a:pt x="83502" y="595884"/>
                  </a:lnTo>
                  <a:lnTo>
                    <a:pt x="84543" y="595884"/>
                  </a:lnTo>
                  <a:lnTo>
                    <a:pt x="85585" y="598424"/>
                  </a:lnTo>
                  <a:lnTo>
                    <a:pt x="88188" y="606056"/>
                  </a:lnTo>
                  <a:lnTo>
                    <a:pt x="88188" y="582409"/>
                  </a:lnTo>
                  <a:lnTo>
                    <a:pt x="87757" y="581914"/>
                  </a:lnTo>
                  <a:lnTo>
                    <a:pt x="86537" y="581914"/>
                  </a:lnTo>
                  <a:lnTo>
                    <a:pt x="85331" y="580656"/>
                  </a:lnTo>
                  <a:lnTo>
                    <a:pt x="80124" y="578104"/>
                  </a:lnTo>
                  <a:lnTo>
                    <a:pt x="74752" y="578104"/>
                  </a:lnTo>
                  <a:lnTo>
                    <a:pt x="73367" y="576834"/>
                  </a:lnTo>
                  <a:lnTo>
                    <a:pt x="70548" y="576834"/>
                  </a:lnTo>
                  <a:lnTo>
                    <a:pt x="69164" y="578104"/>
                  </a:lnTo>
                  <a:lnTo>
                    <a:pt x="63792" y="578104"/>
                  </a:lnTo>
                  <a:lnTo>
                    <a:pt x="62395" y="579374"/>
                  </a:lnTo>
                  <a:lnTo>
                    <a:pt x="61099" y="579374"/>
                  </a:lnTo>
                  <a:lnTo>
                    <a:pt x="59804" y="580656"/>
                  </a:lnTo>
                  <a:lnTo>
                    <a:pt x="57378" y="581914"/>
                  </a:lnTo>
                  <a:lnTo>
                    <a:pt x="56159" y="581914"/>
                  </a:lnTo>
                  <a:lnTo>
                    <a:pt x="54952" y="583184"/>
                  </a:lnTo>
                  <a:lnTo>
                    <a:pt x="53822" y="584454"/>
                  </a:lnTo>
                  <a:lnTo>
                    <a:pt x="52692" y="584454"/>
                  </a:lnTo>
                  <a:lnTo>
                    <a:pt x="50266" y="588264"/>
                  </a:lnTo>
                  <a:lnTo>
                    <a:pt x="48971" y="589534"/>
                  </a:lnTo>
                  <a:lnTo>
                    <a:pt x="47840" y="590804"/>
                  </a:lnTo>
                  <a:lnTo>
                    <a:pt x="46799" y="593356"/>
                  </a:lnTo>
                  <a:lnTo>
                    <a:pt x="45847" y="594614"/>
                  </a:lnTo>
                  <a:lnTo>
                    <a:pt x="44462" y="598424"/>
                  </a:lnTo>
                  <a:lnTo>
                    <a:pt x="43942" y="600964"/>
                  </a:lnTo>
                  <a:lnTo>
                    <a:pt x="12306" y="600964"/>
                  </a:lnTo>
                  <a:lnTo>
                    <a:pt x="12306" y="541274"/>
                  </a:lnTo>
                  <a:lnTo>
                    <a:pt x="277164" y="541274"/>
                  </a:lnTo>
                  <a:lnTo>
                    <a:pt x="277164" y="528574"/>
                  </a:lnTo>
                  <a:lnTo>
                    <a:pt x="0" y="528574"/>
                  </a:lnTo>
                  <a:lnTo>
                    <a:pt x="0" y="830834"/>
                  </a:lnTo>
                  <a:lnTo>
                    <a:pt x="289560" y="830834"/>
                  </a:lnTo>
                  <a:lnTo>
                    <a:pt x="289560" y="818134"/>
                  </a:lnTo>
                  <a:lnTo>
                    <a:pt x="289560" y="758456"/>
                  </a:lnTo>
                  <a:lnTo>
                    <a:pt x="289560" y="541274"/>
                  </a:lnTo>
                  <a:lnTo>
                    <a:pt x="289560" y="528574"/>
                  </a:lnTo>
                  <a:close/>
                </a:path>
                <a:path w="4817745" h="831214">
                  <a:moveTo>
                    <a:pt x="4523219" y="216662"/>
                  </a:moveTo>
                  <a:lnTo>
                    <a:pt x="4507992" y="216662"/>
                  </a:lnTo>
                  <a:lnTo>
                    <a:pt x="4507992" y="228854"/>
                  </a:lnTo>
                  <a:lnTo>
                    <a:pt x="4523219" y="228854"/>
                  </a:lnTo>
                  <a:lnTo>
                    <a:pt x="4523219" y="216662"/>
                  </a:lnTo>
                  <a:close/>
                </a:path>
                <a:path w="4817745" h="831214">
                  <a:moveTo>
                    <a:pt x="4552188" y="216662"/>
                  </a:moveTo>
                  <a:lnTo>
                    <a:pt x="4536948" y="216662"/>
                  </a:lnTo>
                  <a:lnTo>
                    <a:pt x="4536948" y="228854"/>
                  </a:lnTo>
                  <a:lnTo>
                    <a:pt x="4552188" y="228854"/>
                  </a:lnTo>
                  <a:lnTo>
                    <a:pt x="4552188" y="216662"/>
                  </a:lnTo>
                  <a:close/>
                </a:path>
                <a:path w="4817745" h="831214">
                  <a:moveTo>
                    <a:pt x="4581131" y="216662"/>
                  </a:moveTo>
                  <a:lnTo>
                    <a:pt x="4565904" y="216662"/>
                  </a:lnTo>
                  <a:lnTo>
                    <a:pt x="4565904" y="228854"/>
                  </a:lnTo>
                  <a:lnTo>
                    <a:pt x="4581131" y="228854"/>
                  </a:lnTo>
                  <a:lnTo>
                    <a:pt x="4581131" y="216662"/>
                  </a:lnTo>
                  <a:close/>
                </a:path>
                <a:path w="4817745" h="831214">
                  <a:moveTo>
                    <a:pt x="4610100" y="216662"/>
                  </a:moveTo>
                  <a:lnTo>
                    <a:pt x="4594860" y="216662"/>
                  </a:lnTo>
                  <a:lnTo>
                    <a:pt x="4594860" y="228854"/>
                  </a:lnTo>
                  <a:lnTo>
                    <a:pt x="4610100" y="228854"/>
                  </a:lnTo>
                  <a:lnTo>
                    <a:pt x="4610100" y="216662"/>
                  </a:lnTo>
                  <a:close/>
                </a:path>
                <a:path w="4817745" h="831214">
                  <a:moveTo>
                    <a:pt x="4639043" y="216662"/>
                  </a:moveTo>
                  <a:lnTo>
                    <a:pt x="4623816" y="216662"/>
                  </a:lnTo>
                  <a:lnTo>
                    <a:pt x="4623816" y="228854"/>
                  </a:lnTo>
                  <a:lnTo>
                    <a:pt x="4639043" y="228854"/>
                  </a:lnTo>
                  <a:lnTo>
                    <a:pt x="4639043" y="216662"/>
                  </a:lnTo>
                  <a:close/>
                </a:path>
                <a:path w="4817745" h="831214">
                  <a:moveTo>
                    <a:pt x="4648200" y="198374"/>
                  </a:moveTo>
                  <a:lnTo>
                    <a:pt x="4632960" y="198374"/>
                  </a:lnTo>
                  <a:lnTo>
                    <a:pt x="4632960" y="210566"/>
                  </a:lnTo>
                  <a:lnTo>
                    <a:pt x="4648200" y="210566"/>
                  </a:lnTo>
                  <a:lnTo>
                    <a:pt x="4648200" y="198374"/>
                  </a:lnTo>
                  <a:close/>
                </a:path>
                <a:path w="4817745" h="831214">
                  <a:moveTo>
                    <a:pt x="4648200" y="172466"/>
                  </a:moveTo>
                  <a:lnTo>
                    <a:pt x="4632960" y="172466"/>
                  </a:lnTo>
                  <a:lnTo>
                    <a:pt x="4632960" y="184658"/>
                  </a:lnTo>
                  <a:lnTo>
                    <a:pt x="4648200" y="184658"/>
                  </a:lnTo>
                  <a:lnTo>
                    <a:pt x="4648200" y="172466"/>
                  </a:lnTo>
                  <a:close/>
                </a:path>
                <a:path w="4817745" h="831214">
                  <a:moveTo>
                    <a:pt x="4648200" y="145034"/>
                  </a:moveTo>
                  <a:lnTo>
                    <a:pt x="4632960" y="145034"/>
                  </a:lnTo>
                  <a:lnTo>
                    <a:pt x="4632960" y="158750"/>
                  </a:lnTo>
                  <a:lnTo>
                    <a:pt x="4648200" y="158750"/>
                  </a:lnTo>
                  <a:lnTo>
                    <a:pt x="4648200" y="145034"/>
                  </a:lnTo>
                  <a:close/>
                </a:path>
                <a:path w="4817745" h="831214">
                  <a:moveTo>
                    <a:pt x="4648200" y="119126"/>
                  </a:moveTo>
                  <a:lnTo>
                    <a:pt x="4632960" y="119126"/>
                  </a:lnTo>
                  <a:lnTo>
                    <a:pt x="4632960" y="132842"/>
                  </a:lnTo>
                  <a:lnTo>
                    <a:pt x="4648200" y="132842"/>
                  </a:lnTo>
                  <a:lnTo>
                    <a:pt x="4648200" y="119126"/>
                  </a:lnTo>
                  <a:close/>
                </a:path>
                <a:path w="4817745" h="831214">
                  <a:moveTo>
                    <a:pt x="4648200" y="93218"/>
                  </a:moveTo>
                  <a:lnTo>
                    <a:pt x="4632960" y="93218"/>
                  </a:lnTo>
                  <a:lnTo>
                    <a:pt x="4632960" y="106934"/>
                  </a:lnTo>
                  <a:lnTo>
                    <a:pt x="4648200" y="106934"/>
                  </a:lnTo>
                  <a:lnTo>
                    <a:pt x="4648200" y="93218"/>
                  </a:lnTo>
                  <a:close/>
                </a:path>
                <a:path w="4817745" h="831214">
                  <a:moveTo>
                    <a:pt x="4658855" y="77978"/>
                  </a:moveTo>
                  <a:lnTo>
                    <a:pt x="4645152" y="77978"/>
                  </a:lnTo>
                  <a:lnTo>
                    <a:pt x="4645152" y="90170"/>
                  </a:lnTo>
                  <a:lnTo>
                    <a:pt x="4658855" y="90170"/>
                  </a:lnTo>
                  <a:lnTo>
                    <a:pt x="4658855" y="77978"/>
                  </a:lnTo>
                  <a:close/>
                </a:path>
                <a:path w="4817745" h="831214">
                  <a:moveTo>
                    <a:pt x="4687824" y="77978"/>
                  </a:moveTo>
                  <a:lnTo>
                    <a:pt x="4674108" y="77978"/>
                  </a:lnTo>
                  <a:lnTo>
                    <a:pt x="4674108" y="90170"/>
                  </a:lnTo>
                  <a:lnTo>
                    <a:pt x="4687824" y="90170"/>
                  </a:lnTo>
                  <a:lnTo>
                    <a:pt x="4687824" y="77978"/>
                  </a:lnTo>
                  <a:close/>
                </a:path>
                <a:path w="4817745" h="831214">
                  <a:moveTo>
                    <a:pt x="4716767" y="77978"/>
                  </a:moveTo>
                  <a:lnTo>
                    <a:pt x="4703064" y="77978"/>
                  </a:lnTo>
                  <a:lnTo>
                    <a:pt x="4703064" y="90170"/>
                  </a:lnTo>
                  <a:lnTo>
                    <a:pt x="4716767" y="90170"/>
                  </a:lnTo>
                  <a:lnTo>
                    <a:pt x="4716767" y="77978"/>
                  </a:lnTo>
                  <a:close/>
                </a:path>
                <a:path w="4817745" h="831214">
                  <a:moveTo>
                    <a:pt x="4767072" y="85344"/>
                  </a:moveTo>
                  <a:lnTo>
                    <a:pt x="4765814" y="84201"/>
                  </a:lnTo>
                  <a:lnTo>
                    <a:pt x="4746879" y="67005"/>
                  </a:lnTo>
                  <a:lnTo>
                    <a:pt x="4746879" y="85344"/>
                  </a:lnTo>
                  <a:lnTo>
                    <a:pt x="4745609" y="86360"/>
                  </a:lnTo>
                  <a:lnTo>
                    <a:pt x="4745609" y="84201"/>
                  </a:lnTo>
                  <a:lnTo>
                    <a:pt x="4746879" y="85344"/>
                  </a:lnTo>
                  <a:lnTo>
                    <a:pt x="4746879" y="67005"/>
                  </a:lnTo>
                  <a:lnTo>
                    <a:pt x="4732147" y="53606"/>
                  </a:lnTo>
                  <a:lnTo>
                    <a:pt x="4722114" y="62865"/>
                  </a:lnTo>
                  <a:lnTo>
                    <a:pt x="4738497" y="77724"/>
                  </a:lnTo>
                  <a:lnTo>
                    <a:pt x="4731258" y="77724"/>
                  </a:lnTo>
                  <a:lnTo>
                    <a:pt x="4731258" y="90551"/>
                  </a:lnTo>
                  <a:lnTo>
                    <a:pt x="4740910" y="90551"/>
                  </a:lnTo>
                  <a:lnTo>
                    <a:pt x="4721352" y="108331"/>
                  </a:lnTo>
                  <a:lnTo>
                    <a:pt x="4731512" y="117602"/>
                  </a:lnTo>
                  <a:lnTo>
                    <a:pt x="4765941" y="86360"/>
                  </a:lnTo>
                  <a:lnTo>
                    <a:pt x="4767072" y="85344"/>
                  </a:lnTo>
                  <a:close/>
                </a:path>
                <a:path w="4817745" h="831214">
                  <a:moveTo>
                    <a:pt x="4808220" y="0"/>
                  </a:moveTo>
                  <a:lnTo>
                    <a:pt x="4793488" y="0"/>
                  </a:lnTo>
                  <a:lnTo>
                    <a:pt x="4793488" y="13970"/>
                  </a:lnTo>
                  <a:lnTo>
                    <a:pt x="4793488" y="162560"/>
                  </a:lnTo>
                  <a:lnTo>
                    <a:pt x="4707763" y="162560"/>
                  </a:lnTo>
                  <a:lnTo>
                    <a:pt x="4707763" y="175260"/>
                  </a:lnTo>
                  <a:lnTo>
                    <a:pt x="4707763" y="293370"/>
                  </a:lnTo>
                  <a:lnTo>
                    <a:pt x="4480052" y="293370"/>
                  </a:lnTo>
                  <a:lnTo>
                    <a:pt x="4480052" y="228600"/>
                  </a:lnTo>
                  <a:lnTo>
                    <a:pt x="4490212" y="228600"/>
                  </a:lnTo>
                  <a:lnTo>
                    <a:pt x="4490212" y="215900"/>
                  </a:lnTo>
                  <a:lnTo>
                    <a:pt x="4480052" y="215900"/>
                  </a:lnTo>
                  <a:lnTo>
                    <a:pt x="4480052" y="143510"/>
                  </a:lnTo>
                  <a:lnTo>
                    <a:pt x="4570984" y="143510"/>
                  </a:lnTo>
                  <a:lnTo>
                    <a:pt x="4570984" y="130810"/>
                  </a:lnTo>
                  <a:lnTo>
                    <a:pt x="4480052" y="130810"/>
                  </a:lnTo>
                  <a:lnTo>
                    <a:pt x="4480052" y="13970"/>
                  </a:lnTo>
                  <a:lnTo>
                    <a:pt x="4556379" y="13970"/>
                  </a:lnTo>
                  <a:lnTo>
                    <a:pt x="4556379" y="130683"/>
                  </a:lnTo>
                  <a:lnTo>
                    <a:pt x="4570984" y="130683"/>
                  </a:lnTo>
                  <a:lnTo>
                    <a:pt x="4570984" y="13970"/>
                  </a:lnTo>
                  <a:lnTo>
                    <a:pt x="4793488" y="13970"/>
                  </a:lnTo>
                  <a:lnTo>
                    <a:pt x="4793488" y="0"/>
                  </a:lnTo>
                  <a:lnTo>
                    <a:pt x="4465320" y="0"/>
                  </a:lnTo>
                  <a:lnTo>
                    <a:pt x="4465320" y="13970"/>
                  </a:lnTo>
                  <a:lnTo>
                    <a:pt x="4465320" y="130810"/>
                  </a:lnTo>
                  <a:lnTo>
                    <a:pt x="4465320" y="306070"/>
                  </a:lnTo>
                  <a:lnTo>
                    <a:pt x="4808220" y="306070"/>
                  </a:lnTo>
                  <a:lnTo>
                    <a:pt x="4808220" y="293497"/>
                  </a:lnTo>
                  <a:lnTo>
                    <a:pt x="4808220" y="293370"/>
                  </a:lnTo>
                  <a:lnTo>
                    <a:pt x="4808220" y="175641"/>
                  </a:lnTo>
                  <a:lnTo>
                    <a:pt x="4793488" y="175641"/>
                  </a:lnTo>
                  <a:lnTo>
                    <a:pt x="4793488" y="293370"/>
                  </a:lnTo>
                  <a:lnTo>
                    <a:pt x="4722368" y="293370"/>
                  </a:lnTo>
                  <a:lnTo>
                    <a:pt x="4722368" y="175260"/>
                  </a:lnTo>
                  <a:lnTo>
                    <a:pt x="4808220" y="175260"/>
                  </a:lnTo>
                  <a:lnTo>
                    <a:pt x="4808220" y="162560"/>
                  </a:lnTo>
                  <a:lnTo>
                    <a:pt x="4808220" y="13970"/>
                  </a:lnTo>
                  <a:lnTo>
                    <a:pt x="4808220" y="0"/>
                  </a:lnTo>
                  <a:close/>
                </a:path>
                <a:path w="4817745" h="831214">
                  <a:moveTo>
                    <a:pt x="4817364" y="478790"/>
                  </a:moveTo>
                  <a:lnTo>
                    <a:pt x="4802251" y="478790"/>
                  </a:lnTo>
                  <a:lnTo>
                    <a:pt x="4802251" y="566674"/>
                  </a:lnTo>
                  <a:lnTo>
                    <a:pt x="4802251" y="807085"/>
                  </a:lnTo>
                  <a:lnTo>
                    <a:pt x="4557395" y="807085"/>
                  </a:lnTo>
                  <a:lnTo>
                    <a:pt x="4562729" y="805434"/>
                  </a:lnTo>
                  <a:lnTo>
                    <a:pt x="4566031" y="804418"/>
                  </a:lnTo>
                  <a:lnTo>
                    <a:pt x="4575048" y="801497"/>
                  </a:lnTo>
                  <a:lnTo>
                    <a:pt x="4584319" y="798195"/>
                  </a:lnTo>
                  <a:lnTo>
                    <a:pt x="4588891" y="796417"/>
                  </a:lnTo>
                  <a:lnTo>
                    <a:pt x="4593717" y="794639"/>
                  </a:lnTo>
                  <a:lnTo>
                    <a:pt x="4598111" y="792734"/>
                  </a:lnTo>
                  <a:lnTo>
                    <a:pt x="4603242" y="790702"/>
                  </a:lnTo>
                  <a:lnTo>
                    <a:pt x="4612894" y="786384"/>
                  </a:lnTo>
                  <a:lnTo>
                    <a:pt x="4647438" y="768096"/>
                  </a:lnTo>
                  <a:lnTo>
                    <a:pt x="4682109" y="744601"/>
                  </a:lnTo>
                  <a:lnTo>
                    <a:pt x="4684750" y="742442"/>
                  </a:lnTo>
                  <a:lnTo>
                    <a:pt x="4686935" y="740664"/>
                  </a:lnTo>
                  <a:lnTo>
                    <a:pt x="4720209" y="710057"/>
                  </a:lnTo>
                  <a:lnTo>
                    <a:pt x="4748403" y="676148"/>
                  </a:lnTo>
                  <a:lnTo>
                    <a:pt x="4749165" y="675005"/>
                  </a:lnTo>
                  <a:lnTo>
                    <a:pt x="4751832" y="671068"/>
                  </a:lnTo>
                  <a:lnTo>
                    <a:pt x="4755261" y="666242"/>
                  </a:lnTo>
                  <a:lnTo>
                    <a:pt x="4758563" y="661289"/>
                  </a:lnTo>
                  <a:lnTo>
                    <a:pt x="4759122" y="660400"/>
                  </a:lnTo>
                  <a:lnTo>
                    <a:pt x="4761738" y="656336"/>
                  </a:lnTo>
                  <a:lnTo>
                    <a:pt x="4764659" y="651256"/>
                  </a:lnTo>
                  <a:lnTo>
                    <a:pt x="4767707" y="646430"/>
                  </a:lnTo>
                  <a:lnTo>
                    <a:pt x="4773295" y="636524"/>
                  </a:lnTo>
                  <a:lnTo>
                    <a:pt x="4775835" y="631571"/>
                  </a:lnTo>
                  <a:lnTo>
                    <a:pt x="4783010" y="617220"/>
                  </a:lnTo>
                  <a:lnTo>
                    <a:pt x="4785233" y="612267"/>
                  </a:lnTo>
                  <a:lnTo>
                    <a:pt x="4787392" y="607568"/>
                  </a:lnTo>
                  <a:lnTo>
                    <a:pt x="4789297" y="602742"/>
                  </a:lnTo>
                  <a:lnTo>
                    <a:pt x="4791202" y="598043"/>
                  </a:lnTo>
                  <a:lnTo>
                    <a:pt x="4793119" y="592963"/>
                  </a:lnTo>
                  <a:lnTo>
                    <a:pt x="4796536" y="584200"/>
                  </a:lnTo>
                  <a:lnTo>
                    <a:pt x="4799584" y="575310"/>
                  </a:lnTo>
                  <a:lnTo>
                    <a:pt x="4802251" y="566674"/>
                  </a:lnTo>
                  <a:lnTo>
                    <a:pt x="4802251" y="478790"/>
                  </a:lnTo>
                  <a:lnTo>
                    <a:pt x="4800473" y="478790"/>
                  </a:lnTo>
                  <a:lnTo>
                    <a:pt x="4800473" y="504952"/>
                  </a:lnTo>
                  <a:lnTo>
                    <a:pt x="4799203" y="512699"/>
                  </a:lnTo>
                  <a:lnTo>
                    <a:pt x="4796663" y="526542"/>
                  </a:lnTo>
                  <a:lnTo>
                    <a:pt x="4794377" y="536956"/>
                  </a:lnTo>
                  <a:lnTo>
                    <a:pt x="4792980" y="542544"/>
                  </a:lnTo>
                  <a:lnTo>
                    <a:pt x="4791583" y="548259"/>
                  </a:lnTo>
                  <a:lnTo>
                    <a:pt x="4779518" y="586232"/>
                  </a:lnTo>
                  <a:lnTo>
                    <a:pt x="4776851" y="592963"/>
                  </a:lnTo>
                  <a:lnTo>
                    <a:pt x="4770628" y="592963"/>
                  </a:lnTo>
                  <a:lnTo>
                    <a:pt x="4770628" y="607568"/>
                  </a:lnTo>
                  <a:lnTo>
                    <a:pt x="4749673" y="647065"/>
                  </a:lnTo>
                  <a:lnTo>
                    <a:pt x="4741037" y="660400"/>
                  </a:lnTo>
                  <a:lnTo>
                    <a:pt x="4730496" y="660400"/>
                  </a:lnTo>
                  <a:lnTo>
                    <a:pt x="4730496" y="675005"/>
                  </a:lnTo>
                  <a:lnTo>
                    <a:pt x="4700270" y="709041"/>
                  </a:lnTo>
                  <a:lnTo>
                    <a:pt x="4684522" y="723265"/>
                  </a:lnTo>
                  <a:lnTo>
                    <a:pt x="4679188" y="727837"/>
                  </a:lnTo>
                  <a:lnTo>
                    <a:pt x="4659757" y="727837"/>
                  </a:lnTo>
                  <a:lnTo>
                    <a:pt x="4659757" y="742442"/>
                  </a:lnTo>
                  <a:lnTo>
                    <a:pt x="4653661" y="746633"/>
                  </a:lnTo>
                  <a:lnTo>
                    <a:pt x="4641342" y="754380"/>
                  </a:lnTo>
                  <a:lnTo>
                    <a:pt x="4635119" y="757936"/>
                  </a:lnTo>
                  <a:lnTo>
                    <a:pt x="4629023" y="761492"/>
                  </a:lnTo>
                  <a:lnTo>
                    <a:pt x="4592574" y="778764"/>
                  </a:lnTo>
                  <a:lnTo>
                    <a:pt x="4586732" y="781304"/>
                  </a:lnTo>
                  <a:lnTo>
                    <a:pt x="4580763" y="783463"/>
                  </a:lnTo>
                  <a:lnTo>
                    <a:pt x="4575048" y="785622"/>
                  </a:lnTo>
                  <a:lnTo>
                    <a:pt x="4563745" y="789432"/>
                  </a:lnTo>
                  <a:lnTo>
                    <a:pt x="4558157" y="791083"/>
                  </a:lnTo>
                  <a:lnTo>
                    <a:pt x="4552823" y="792734"/>
                  </a:lnTo>
                  <a:lnTo>
                    <a:pt x="4547616" y="794258"/>
                  </a:lnTo>
                  <a:lnTo>
                    <a:pt x="4505960" y="803402"/>
                  </a:lnTo>
                  <a:lnTo>
                    <a:pt x="4491990" y="805434"/>
                  </a:lnTo>
                  <a:lnTo>
                    <a:pt x="4503712" y="794004"/>
                  </a:lnTo>
                  <a:lnTo>
                    <a:pt x="4556633" y="742442"/>
                  </a:lnTo>
                  <a:lnTo>
                    <a:pt x="4659757" y="742442"/>
                  </a:lnTo>
                  <a:lnTo>
                    <a:pt x="4659757" y="727837"/>
                  </a:lnTo>
                  <a:lnTo>
                    <a:pt x="4571619" y="727837"/>
                  </a:lnTo>
                  <a:lnTo>
                    <a:pt x="4582299" y="717423"/>
                  </a:lnTo>
                  <a:lnTo>
                    <a:pt x="4625848" y="675005"/>
                  </a:lnTo>
                  <a:lnTo>
                    <a:pt x="4730496" y="675005"/>
                  </a:lnTo>
                  <a:lnTo>
                    <a:pt x="4730496" y="660400"/>
                  </a:lnTo>
                  <a:lnTo>
                    <a:pt x="4640834" y="660400"/>
                  </a:lnTo>
                  <a:lnTo>
                    <a:pt x="4651514" y="649986"/>
                  </a:lnTo>
                  <a:lnTo>
                    <a:pt x="4695063" y="607568"/>
                  </a:lnTo>
                  <a:lnTo>
                    <a:pt x="4770628" y="607568"/>
                  </a:lnTo>
                  <a:lnTo>
                    <a:pt x="4770628" y="592963"/>
                  </a:lnTo>
                  <a:lnTo>
                    <a:pt x="4710049" y="592963"/>
                  </a:lnTo>
                  <a:lnTo>
                    <a:pt x="4720742" y="582549"/>
                  </a:lnTo>
                  <a:lnTo>
                    <a:pt x="4800473" y="504952"/>
                  </a:lnTo>
                  <a:lnTo>
                    <a:pt x="4800473" y="478790"/>
                  </a:lnTo>
                  <a:lnTo>
                    <a:pt x="4789043" y="478790"/>
                  </a:lnTo>
                  <a:lnTo>
                    <a:pt x="4789043" y="495300"/>
                  </a:lnTo>
                  <a:lnTo>
                    <a:pt x="4699381" y="582549"/>
                  </a:lnTo>
                  <a:lnTo>
                    <a:pt x="4699381" y="524002"/>
                  </a:lnTo>
                  <a:lnTo>
                    <a:pt x="4699381" y="517906"/>
                  </a:lnTo>
                  <a:lnTo>
                    <a:pt x="4706239" y="515366"/>
                  </a:lnTo>
                  <a:lnTo>
                    <a:pt x="4744720" y="503682"/>
                  </a:lnTo>
                  <a:lnTo>
                    <a:pt x="4750562" y="502285"/>
                  </a:lnTo>
                  <a:lnTo>
                    <a:pt x="4756150" y="500888"/>
                  </a:lnTo>
                  <a:lnTo>
                    <a:pt x="4761611" y="499872"/>
                  </a:lnTo>
                  <a:lnTo>
                    <a:pt x="4766818" y="498729"/>
                  </a:lnTo>
                  <a:lnTo>
                    <a:pt x="4771771" y="497840"/>
                  </a:lnTo>
                  <a:lnTo>
                    <a:pt x="4780915" y="496443"/>
                  </a:lnTo>
                  <a:lnTo>
                    <a:pt x="4789043" y="495300"/>
                  </a:lnTo>
                  <a:lnTo>
                    <a:pt x="4789043" y="478790"/>
                  </a:lnTo>
                  <a:lnTo>
                    <a:pt x="4725289" y="478790"/>
                  </a:lnTo>
                  <a:lnTo>
                    <a:pt x="4725289" y="493395"/>
                  </a:lnTo>
                  <a:lnTo>
                    <a:pt x="4716526" y="496062"/>
                  </a:lnTo>
                  <a:lnTo>
                    <a:pt x="4707509" y="498983"/>
                  </a:lnTo>
                  <a:lnTo>
                    <a:pt x="4698365" y="502285"/>
                  </a:lnTo>
                  <a:lnTo>
                    <a:pt x="4688967" y="505841"/>
                  </a:lnTo>
                  <a:lnTo>
                    <a:pt x="4684395" y="507771"/>
                  </a:lnTo>
                  <a:lnTo>
                    <a:pt x="4684395" y="524002"/>
                  </a:lnTo>
                  <a:lnTo>
                    <a:pt x="4684395" y="597154"/>
                  </a:lnTo>
                  <a:lnTo>
                    <a:pt x="4630293" y="649986"/>
                  </a:lnTo>
                  <a:lnTo>
                    <a:pt x="4630293" y="563499"/>
                  </a:lnTo>
                  <a:lnTo>
                    <a:pt x="4630293" y="553085"/>
                  </a:lnTo>
                  <a:lnTo>
                    <a:pt x="4664329" y="533400"/>
                  </a:lnTo>
                  <a:lnTo>
                    <a:pt x="4684395" y="524002"/>
                  </a:lnTo>
                  <a:lnTo>
                    <a:pt x="4684395" y="507771"/>
                  </a:lnTo>
                  <a:lnTo>
                    <a:pt x="4645152" y="526542"/>
                  </a:lnTo>
                  <a:lnTo>
                    <a:pt x="4615307" y="545211"/>
                  </a:lnTo>
                  <a:lnTo>
                    <a:pt x="4615307" y="563499"/>
                  </a:lnTo>
                  <a:lnTo>
                    <a:pt x="4615307" y="664591"/>
                  </a:lnTo>
                  <a:lnTo>
                    <a:pt x="4561078" y="717423"/>
                  </a:lnTo>
                  <a:lnTo>
                    <a:pt x="4561078" y="633730"/>
                  </a:lnTo>
                  <a:lnTo>
                    <a:pt x="4561078" y="614553"/>
                  </a:lnTo>
                  <a:lnTo>
                    <a:pt x="4566031" y="608584"/>
                  </a:lnTo>
                  <a:lnTo>
                    <a:pt x="4571238" y="602742"/>
                  </a:lnTo>
                  <a:lnTo>
                    <a:pt x="4576572" y="597154"/>
                  </a:lnTo>
                  <a:lnTo>
                    <a:pt x="4582414" y="591439"/>
                  </a:lnTo>
                  <a:lnTo>
                    <a:pt x="4586351" y="587502"/>
                  </a:lnTo>
                  <a:lnTo>
                    <a:pt x="4615307" y="563499"/>
                  </a:lnTo>
                  <a:lnTo>
                    <a:pt x="4615307" y="545211"/>
                  </a:lnTo>
                  <a:lnTo>
                    <a:pt x="4581271" y="572135"/>
                  </a:lnTo>
                  <a:lnTo>
                    <a:pt x="4558665" y="594614"/>
                  </a:lnTo>
                  <a:lnTo>
                    <a:pt x="4552442" y="601345"/>
                  </a:lnTo>
                  <a:lnTo>
                    <a:pt x="4546727" y="608330"/>
                  </a:lnTo>
                  <a:lnTo>
                    <a:pt x="4545965" y="608330"/>
                  </a:lnTo>
                  <a:lnTo>
                    <a:pt x="4545965" y="609219"/>
                  </a:lnTo>
                  <a:lnTo>
                    <a:pt x="4545965" y="633730"/>
                  </a:lnTo>
                  <a:lnTo>
                    <a:pt x="4545965" y="732028"/>
                  </a:lnTo>
                  <a:lnTo>
                    <a:pt x="4482465" y="794004"/>
                  </a:lnTo>
                  <a:lnTo>
                    <a:pt x="4490212" y="754888"/>
                  </a:lnTo>
                  <a:lnTo>
                    <a:pt x="4494314" y="740664"/>
                  </a:lnTo>
                  <a:lnTo>
                    <a:pt x="4495927" y="735330"/>
                  </a:lnTo>
                  <a:lnTo>
                    <a:pt x="4496422" y="733806"/>
                  </a:lnTo>
                  <a:lnTo>
                    <a:pt x="4497578" y="730250"/>
                  </a:lnTo>
                  <a:lnTo>
                    <a:pt x="4499356" y="724916"/>
                  </a:lnTo>
                  <a:lnTo>
                    <a:pt x="4515231" y="686054"/>
                  </a:lnTo>
                  <a:lnTo>
                    <a:pt x="4521073" y="674624"/>
                  </a:lnTo>
                  <a:lnTo>
                    <a:pt x="4524121" y="668782"/>
                  </a:lnTo>
                  <a:lnTo>
                    <a:pt x="4545965" y="633730"/>
                  </a:lnTo>
                  <a:lnTo>
                    <a:pt x="4545965" y="609219"/>
                  </a:lnTo>
                  <a:lnTo>
                    <a:pt x="4542790" y="613156"/>
                  </a:lnTo>
                  <a:lnTo>
                    <a:pt x="4539704" y="617093"/>
                  </a:lnTo>
                  <a:lnTo>
                    <a:pt x="4536694" y="621157"/>
                  </a:lnTo>
                  <a:lnTo>
                    <a:pt x="4533773" y="625221"/>
                  </a:lnTo>
                  <a:lnTo>
                    <a:pt x="4530852" y="629158"/>
                  </a:lnTo>
                  <a:lnTo>
                    <a:pt x="4528058" y="633222"/>
                  </a:lnTo>
                  <a:lnTo>
                    <a:pt x="4525391" y="637286"/>
                  </a:lnTo>
                  <a:lnTo>
                    <a:pt x="4522724" y="641223"/>
                  </a:lnTo>
                  <a:lnTo>
                    <a:pt x="4500626" y="681355"/>
                  </a:lnTo>
                  <a:lnTo>
                    <a:pt x="4485043" y="719455"/>
                  </a:lnTo>
                  <a:lnTo>
                    <a:pt x="4480306" y="733806"/>
                  </a:lnTo>
                  <a:lnTo>
                    <a:pt x="4480306" y="493395"/>
                  </a:lnTo>
                  <a:lnTo>
                    <a:pt x="4725289" y="493395"/>
                  </a:lnTo>
                  <a:lnTo>
                    <a:pt x="4725289" y="478790"/>
                  </a:lnTo>
                  <a:lnTo>
                    <a:pt x="4465320" y="478790"/>
                  </a:lnTo>
                  <a:lnTo>
                    <a:pt x="4465320" y="821690"/>
                  </a:lnTo>
                  <a:lnTo>
                    <a:pt x="4817364" y="821690"/>
                  </a:lnTo>
                  <a:lnTo>
                    <a:pt x="4817364" y="807085"/>
                  </a:lnTo>
                  <a:lnTo>
                    <a:pt x="4817364" y="566674"/>
                  </a:lnTo>
                  <a:lnTo>
                    <a:pt x="4817364" y="504952"/>
                  </a:lnTo>
                  <a:lnTo>
                    <a:pt x="4817364" y="495300"/>
                  </a:lnTo>
                  <a:lnTo>
                    <a:pt x="4817364" y="493395"/>
                  </a:lnTo>
                  <a:lnTo>
                    <a:pt x="4817364" y="47879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/>
          <p:nvPr/>
        </p:nvSpPr>
        <p:spPr>
          <a:xfrm>
            <a:off x="269747" y="754380"/>
            <a:ext cx="5327015" cy="76200"/>
          </a:xfrm>
          <a:custGeom>
            <a:avLst/>
            <a:gdLst/>
            <a:ahLst/>
            <a:cxnLst/>
            <a:rect l="l" t="t" r="r" b="b"/>
            <a:pathLst>
              <a:path w="5327015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5327015" h="76200">
                <a:moveTo>
                  <a:pt x="5250561" y="0"/>
                </a:moveTo>
                <a:lnTo>
                  <a:pt x="5250561" y="76200"/>
                </a:lnTo>
                <a:lnTo>
                  <a:pt x="5314061" y="44450"/>
                </a:lnTo>
                <a:lnTo>
                  <a:pt x="5263261" y="44450"/>
                </a:lnTo>
                <a:lnTo>
                  <a:pt x="5263261" y="31750"/>
                </a:lnTo>
                <a:lnTo>
                  <a:pt x="5314061" y="31750"/>
                </a:lnTo>
                <a:lnTo>
                  <a:pt x="5250561" y="0"/>
                </a:lnTo>
                <a:close/>
              </a:path>
              <a:path w="5327015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5327015" h="76200">
                <a:moveTo>
                  <a:pt x="5250561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5250561" y="44450"/>
                </a:lnTo>
                <a:lnTo>
                  <a:pt x="5250561" y="31750"/>
                </a:lnTo>
                <a:close/>
              </a:path>
              <a:path w="5327015" h="76200">
                <a:moveTo>
                  <a:pt x="5314061" y="31750"/>
                </a:moveTo>
                <a:lnTo>
                  <a:pt x="5263261" y="31750"/>
                </a:lnTo>
                <a:lnTo>
                  <a:pt x="5263261" y="44450"/>
                </a:lnTo>
                <a:lnTo>
                  <a:pt x="5314061" y="44450"/>
                </a:lnTo>
                <a:lnTo>
                  <a:pt x="5326761" y="38100"/>
                </a:lnTo>
                <a:lnTo>
                  <a:pt x="5314061" y="31750"/>
                </a:lnTo>
                <a:close/>
              </a:path>
            </a:pathLst>
          </a:custGeom>
          <a:solidFill>
            <a:srgbClr val="0D0D0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1251000" y="833754"/>
            <a:ext cx="74676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Arial MT"/>
                <a:cs typeface="Arial MT"/>
              </a:rPr>
              <a:t>Fast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growing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1" name="object 3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Impact</a:t>
            </a:r>
            <a:r>
              <a:rPr dirty="0" spc="35"/>
              <a:t> </a:t>
            </a:r>
            <a:r>
              <a:rPr dirty="0"/>
              <a:t>of</a:t>
            </a:r>
            <a:r>
              <a:rPr dirty="0" spc="50"/>
              <a:t> </a:t>
            </a:r>
            <a:r>
              <a:rPr dirty="0"/>
              <a:t>Global</a:t>
            </a:r>
            <a:r>
              <a:rPr dirty="0" spc="65"/>
              <a:t> </a:t>
            </a:r>
            <a:r>
              <a:rPr dirty="0"/>
              <a:t>Economic</a:t>
            </a:r>
            <a:r>
              <a:rPr dirty="0" spc="30"/>
              <a:t> </a:t>
            </a:r>
            <a:r>
              <a:rPr dirty="0"/>
              <a:t>Trends</a:t>
            </a:r>
            <a:r>
              <a:rPr dirty="0" spc="45"/>
              <a:t> </a:t>
            </a:r>
            <a:r>
              <a:rPr dirty="0"/>
              <a:t>on</a:t>
            </a:r>
            <a:r>
              <a:rPr dirty="0" spc="40"/>
              <a:t> </a:t>
            </a:r>
            <a:r>
              <a:rPr dirty="0"/>
              <a:t>Nigeria’s</a:t>
            </a:r>
            <a:r>
              <a:rPr dirty="0" spc="60"/>
              <a:t> </a:t>
            </a:r>
            <a:r>
              <a:rPr dirty="0"/>
              <a:t>Foreign</a:t>
            </a:r>
            <a:r>
              <a:rPr dirty="0" spc="45"/>
              <a:t> </a:t>
            </a:r>
            <a:r>
              <a:rPr dirty="0"/>
              <a:t>Exchange</a:t>
            </a:r>
            <a:r>
              <a:rPr dirty="0" spc="60"/>
              <a:t> </a:t>
            </a:r>
            <a:r>
              <a:rPr dirty="0" spc="-10"/>
              <a:t>Market</a:t>
            </a:r>
          </a:p>
        </p:txBody>
      </p:sp>
      <p:sp>
        <p:nvSpPr>
          <p:cNvPr id="32" name="object 32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October</a:t>
            </a:r>
            <a:r>
              <a:rPr dirty="0" spc="80"/>
              <a:t> </a:t>
            </a:r>
            <a:r>
              <a:rPr dirty="0" spc="-20"/>
              <a:t>2023</a:t>
            </a:r>
          </a:p>
        </p:txBody>
      </p:sp>
      <p:sp>
        <p:nvSpPr>
          <p:cNvPr id="33" name="object 3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6360">
              <a:lnSpc>
                <a:spcPts val="815"/>
              </a:lnSpc>
            </a:pPr>
            <a:fld id="{81D60167-4931-47E6-BA6A-407CBD079E47}" type="slidenum">
              <a:rPr dirty="0" spc="-50"/>
              <a:t>5</a:t>
            </a:fld>
          </a:p>
        </p:txBody>
      </p:sp>
      <p:sp>
        <p:nvSpPr>
          <p:cNvPr id="20" name="object 20" descr=""/>
          <p:cNvSpPr txBox="1"/>
          <p:nvPr/>
        </p:nvSpPr>
        <p:spPr>
          <a:xfrm>
            <a:off x="3842130" y="833754"/>
            <a:ext cx="77787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Arial MT"/>
                <a:cs typeface="Arial MT"/>
              </a:rPr>
              <a:t>Slow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growing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164742" y="4537964"/>
            <a:ext cx="74676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Arial MT"/>
                <a:cs typeface="Arial MT"/>
              </a:rPr>
              <a:t>Fast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growing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3699509" y="4529124"/>
            <a:ext cx="119888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Arial MT"/>
                <a:cs typeface="Arial MT"/>
              </a:rPr>
              <a:t>Slow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and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contracting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3250819" y="1390269"/>
            <a:ext cx="1558290" cy="529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85420" indent="-172720">
              <a:lnSpc>
                <a:spcPct val="100000"/>
              </a:lnSpc>
              <a:spcBef>
                <a:spcPts val="105"/>
              </a:spcBef>
              <a:buChar char="•"/>
              <a:tabLst>
                <a:tab pos="185420" algn="l"/>
              </a:tabLst>
            </a:pP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Trade</a:t>
            </a:r>
            <a:r>
              <a:rPr dirty="0" sz="11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–</a:t>
            </a:r>
            <a:r>
              <a:rPr dirty="0" sz="1100" spc="2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FFFFFF"/>
                </a:solidFill>
                <a:latin typeface="Arial MT"/>
                <a:cs typeface="Arial MT"/>
              </a:rPr>
              <a:t>2.4%</a:t>
            </a:r>
            <a:endParaRPr sz="1100">
              <a:latin typeface="Arial MT"/>
              <a:cs typeface="Arial MT"/>
            </a:endParaRPr>
          </a:p>
          <a:p>
            <a:pPr marL="185420" indent="-172720">
              <a:lnSpc>
                <a:spcPct val="100000"/>
              </a:lnSpc>
              <a:buChar char="•"/>
              <a:tabLst>
                <a:tab pos="185420" algn="l"/>
              </a:tabLst>
            </a:pP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Manufacturing</a:t>
            </a:r>
            <a:r>
              <a:rPr dirty="0" sz="11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–</a:t>
            </a:r>
            <a:r>
              <a:rPr dirty="0" sz="11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FFFFFF"/>
                </a:solidFill>
                <a:latin typeface="Arial MT"/>
                <a:cs typeface="Arial MT"/>
              </a:rPr>
              <a:t>2.2%</a:t>
            </a:r>
            <a:endParaRPr sz="1100">
              <a:latin typeface="Arial MT"/>
              <a:cs typeface="Arial MT"/>
            </a:endParaRPr>
          </a:p>
          <a:p>
            <a:pPr marL="185420" indent="-172720">
              <a:lnSpc>
                <a:spcPct val="100000"/>
              </a:lnSpc>
              <a:buChar char="•"/>
              <a:tabLst>
                <a:tab pos="185420" algn="l"/>
              </a:tabLst>
            </a:pP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Agriculture</a:t>
            </a:r>
            <a:r>
              <a:rPr dirty="0" sz="11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–</a:t>
            </a:r>
            <a:r>
              <a:rPr dirty="0" sz="11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FFFFFF"/>
                </a:solidFill>
                <a:latin typeface="Arial MT"/>
                <a:cs typeface="Arial MT"/>
              </a:rPr>
              <a:t>1.5%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605739" y="1399413"/>
            <a:ext cx="1614805" cy="3613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85420" marR="5080" indent="-172720">
              <a:lnSpc>
                <a:spcPct val="100000"/>
              </a:lnSpc>
              <a:spcBef>
                <a:spcPts val="105"/>
              </a:spcBef>
              <a:buChar char="•"/>
              <a:tabLst>
                <a:tab pos="187960" algn="l"/>
              </a:tabLst>
            </a:pP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Information</a:t>
            </a:r>
            <a:r>
              <a:rPr dirty="0" sz="1100" spc="-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50">
                <a:solidFill>
                  <a:srgbClr val="FFFFFF"/>
                </a:solidFill>
                <a:latin typeface="Arial MT"/>
                <a:cs typeface="Arial MT"/>
              </a:rPr>
              <a:t>&amp; </a:t>
            </a:r>
            <a:r>
              <a:rPr dirty="0" sz="1100" spc="-5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communication</a:t>
            </a:r>
            <a:r>
              <a:rPr dirty="0" sz="11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–</a:t>
            </a:r>
            <a:r>
              <a:rPr dirty="0" sz="1100" spc="-20">
                <a:solidFill>
                  <a:srgbClr val="FFFFFF"/>
                </a:solidFill>
                <a:latin typeface="Arial MT"/>
                <a:cs typeface="Arial MT"/>
              </a:rPr>
              <a:t> 8.6%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556361" y="3426714"/>
            <a:ext cx="2193925" cy="696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5420" indent="-172720">
              <a:lnSpc>
                <a:spcPct val="100000"/>
              </a:lnSpc>
              <a:spcBef>
                <a:spcPts val="100"/>
              </a:spcBef>
              <a:buChar char="•"/>
              <a:tabLst>
                <a:tab pos="185420" algn="l"/>
              </a:tabLst>
            </a:pP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Financial</a:t>
            </a:r>
            <a:r>
              <a:rPr dirty="0" sz="110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dirty="0" sz="11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insurance</a:t>
            </a:r>
            <a:r>
              <a:rPr dirty="0" sz="11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–</a:t>
            </a:r>
            <a:r>
              <a:rPr dirty="0" sz="11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 MT"/>
                <a:cs typeface="Arial MT"/>
              </a:rPr>
              <a:t>26.8%</a:t>
            </a:r>
            <a:endParaRPr sz="1100">
              <a:latin typeface="Arial MT"/>
              <a:cs typeface="Arial MT"/>
            </a:endParaRPr>
          </a:p>
          <a:p>
            <a:pPr marL="185420" indent="-172720">
              <a:lnSpc>
                <a:spcPct val="100000"/>
              </a:lnSpc>
              <a:buChar char="•"/>
              <a:tabLst>
                <a:tab pos="185420" algn="l"/>
              </a:tabLst>
            </a:pP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Construction</a:t>
            </a:r>
            <a:r>
              <a:rPr dirty="0" sz="11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–</a:t>
            </a:r>
            <a:r>
              <a:rPr dirty="0" sz="1100" spc="-20">
                <a:solidFill>
                  <a:srgbClr val="FFFFFF"/>
                </a:solidFill>
                <a:latin typeface="Arial MT"/>
                <a:cs typeface="Arial MT"/>
              </a:rPr>
              <a:t> 3.4%</a:t>
            </a:r>
            <a:endParaRPr sz="1100">
              <a:latin typeface="Arial MT"/>
              <a:cs typeface="Arial MT"/>
            </a:endParaRPr>
          </a:p>
          <a:p>
            <a:pPr marL="184785" marR="5080" indent="-172720">
              <a:lnSpc>
                <a:spcPct val="100000"/>
              </a:lnSpc>
              <a:buChar char="•"/>
              <a:tabLst>
                <a:tab pos="187325" algn="l"/>
              </a:tabLst>
            </a:pP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Accommodation</a:t>
            </a:r>
            <a:r>
              <a:rPr dirty="0" sz="11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dirty="0" sz="110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food</a:t>
            </a:r>
            <a:r>
              <a:rPr dirty="0" sz="11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 MT"/>
                <a:cs typeface="Arial MT"/>
              </a:rPr>
              <a:t>services </a:t>
            </a:r>
            <a:r>
              <a:rPr dirty="0" sz="1100" spc="-1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–</a:t>
            </a:r>
            <a:r>
              <a:rPr dirty="0" sz="1100" spc="-20">
                <a:solidFill>
                  <a:srgbClr val="FFFFFF"/>
                </a:solidFill>
                <a:latin typeface="Arial MT"/>
                <a:cs typeface="Arial MT"/>
              </a:rPr>
              <a:t> 3.4%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3192526" y="3323590"/>
            <a:ext cx="2310765" cy="1200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5420" marR="462915" indent="-172720">
              <a:lnSpc>
                <a:spcPct val="100000"/>
              </a:lnSpc>
              <a:spcBef>
                <a:spcPts val="100"/>
              </a:spcBef>
              <a:buChar char="•"/>
              <a:tabLst>
                <a:tab pos="203200" algn="l"/>
              </a:tabLst>
            </a:pP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Transportation</a:t>
            </a:r>
            <a:r>
              <a:rPr dirty="0" sz="11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dirty="0" sz="11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storage</a:t>
            </a:r>
            <a:r>
              <a:rPr dirty="0" sz="1100" spc="-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50">
                <a:solidFill>
                  <a:srgbClr val="FFFFFF"/>
                </a:solidFill>
                <a:latin typeface="Arial MT"/>
                <a:cs typeface="Arial MT"/>
              </a:rPr>
              <a:t>– </a:t>
            </a:r>
            <a:r>
              <a:rPr dirty="0" sz="1100" spc="-5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(-</a:t>
            </a:r>
            <a:r>
              <a:rPr dirty="0" sz="1100" spc="-10">
                <a:solidFill>
                  <a:srgbClr val="FFFFFF"/>
                </a:solidFill>
                <a:latin typeface="Arial MT"/>
                <a:cs typeface="Arial MT"/>
              </a:rPr>
              <a:t>50.6%)</a:t>
            </a:r>
            <a:endParaRPr sz="1100">
              <a:latin typeface="Arial MT"/>
              <a:cs typeface="Arial MT"/>
            </a:endParaRPr>
          </a:p>
          <a:p>
            <a:pPr marL="185420" indent="-172720">
              <a:lnSpc>
                <a:spcPct val="100000"/>
              </a:lnSpc>
              <a:buChar char="•"/>
              <a:tabLst>
                <a:tab pos="185420" algn="l"/>
              </a:tabLst>
            </a:pP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Mining</a:t>
            </a:r>
            <a:r>
              <a:rPr dirty="0" sz="1100" spc="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dirty="0" sz="11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quarrying</a:t>
            </a:r>
            <a:r>
              <a:rPr dirty="0" sz="11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–</a:t>
            </a:r>
            <a:r>
              <a:rPr dirty="0" sz="11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(-</a:t>
            </a:r>
            <a:r>
              <a:rPr dirty="0" sz="1100" spc="-10">
                <a:solidFill>
                  <a:srgbClr val="FFFFFF"/>
                </a:solidFill>
                <a:latin typeface="Arial MT"/>
                <a:cs typeface="Arial MT"/>
              </a:rPr>
              <a:t>12.1%)</a:t>
            </a:r>
            <a:endParaRPr sz="1100">
              <a:latin typeface="Arial MT"/>
              <a:cs typeface="Arial MT"/>
            </a:endParaRPr>
          </a:p>
          <a:p>
            <a:pPr marL="185420" marR="29845" indent="-172720">
              <a:lnSpc>
                <a:spcPct val="100000"/>
              </a:lnSpc>
              <a:buChar char="•"/>
              <a:tabLst>
                <a:tab pos="187960" algn="l"/>
              </a:tabLst>
            </a:pP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Arts,</a:t>
            </a:r>
            <a:r>
              <a:rPr dirty="0" sz="11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entertainment</a:t>
            </a:r>
            <a:r>
              <a:rPr dirty="0" sz="11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dirty="0" sz="110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recreation</a:t>
            </a:r>
            <a:r>
              <a:rPr dirty="0" sz="11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50">
                <a:solidFill>
                  <a:srgbClr val="FFFFFF"/>
                </a:solidFill>
                <a:latin typeface="Arial MT"/>
                <a:cs typeface="Arial MT"/>
              </a:rPr>
              <a:t>– </a:t>
            </a:r>
            <a:r>
              <a:rPr dirty="0" sz="1100" spc="-5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dirty="0" sz="1100" spc="-20">
                <a:solidFill>
                  <a:srgbClr val="FFFFFF"/>
                </a:solidFill>
                <a:latin typeface="Arial MT"/>
                <a:cs typeface="Arial MT"/>
              </a:rPr>
              <a:t>2.5%</a:t>
            </a:r>
            <a:endParaRPr sz="1100">
              <a:latin typeface="Arial MT"/>
              <a:cs typeface="Arial MT"/>
            </a:endParaRPr>
          </a:p>
          <a:p>
            <a:pPr marL="185420" indent="-172720">
              <a:lnSpc>
                <a:spcPct val="100000"/>
              </a:lnSpc>
              <a:buChar char="•"/>
              <a:tabLst>
                <a:tab pos="185420" algn="l"/>
              </a:tabLst>
            </a:pP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Professional,</a:t>
            </a:r>
            <a:r>
              <a:rPr dirty="0" sz="11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scientific</a:t>
            </a:r>
            <a:r>
              <a:rPr dirty="0" sz="11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dirty="0" sz="11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 MT"/>
                <a:cs typeface="Arial MT"/>
              </a:rPr>
              <a:t>technical</a:t>
            </a:r>
            <a:endParaRPr sz="1100">
              <a:latin typeface="Arial MT"/>
              <a:cs typeface="Arial MT"/>
            </a:endParaRPr>
          </a:p>
          <a:p>
            <a:pPr marL="187960">
              <a:lnSpc>
                <a:spcPct val="100000"/>
              </a:lnSpc>
              <a:spcBef>
                <a:spcPts val="5"/>
              </a:spcBef>
            </a:pP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services</a:t>
            </a:r>
            <a:r>
              <a:rPr dirty="0" sz="11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–</a:t>
            </a:r>
            <a:r>
              <a:rPr dirty="0" sz="11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FFFFFF"/>
                </a:solidFill>
                <a:latin typeface="Arial MT"/>
                <a:cs typeface="Arial MT"/>
              </a:rPr>
              <a:t>2.9%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6155435" y="763523"/>
            <a:ext cx="3724910" cy="311150"/>
          </a:xfrm>
          <a:prstGeom prst="rect">
            <a:avLst/>
          </a:prstGeom>
          <a:solidFill>
            <a:srgbClr val="0D0D0D"/>
          </a:solidFill>
        </p:spPr>
        <p:txBody>
          <a:bodyPr wrap="square" lIns="0" tIns="69215" rIns="0" bIns="0" rtlCol="0" vert="horz">
            <a:spAutoFit/>
          </a:bodyPr>
          <a:lstStyle/>
          <a:p>
            <a:pPr marL="142240">
              <a:lnSpc>
                <a:spcPct val="100000"/>
              </a:lnSpc>
              <a:spcBef>
                <a:spcPts val="545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Key</a:t>
            </a:r>
            <a:r>
              <a:rPr dirty="0" sz="1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insights</a:t>
            </a:r>
            <a:endParaRPr sz="1200">
              <a:latin typeface="Arial"/>
              <a:cs typeface="Arial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6155435" y="1074419"/>
            <a:ext cx="3724910" cy="3497579"/>
          </a:xfrm>
          <a:prstGeom prst="rect">
            <a:avLst/>
          </a:prstGeom>
          <a:solidFill>
            <a:srgbClr val="F1F1F1"/>
          </a:solidFill>
        </p:spPr>
        <p:txBody>
          <a:bodyPr wrap="square" lIns="0" tIns="106045" rIns="0" bIns="0" rtlCol="0" vert="horz">
            <a:spAutoFit/>
          </a:bodyPr>
          <a:lstStyle/>
          <a:p>
            <a:pPr marL="302260" marR="309880" indent="-172720">
              <a:lnSpc>
                <a:spcPct val="100000"/>
              </a:lnSpc>
              <a:spcBef>
                <a:spcPts val="835"/>
              </a:spcBef>
              <a:buChar char="•"/>
              <a:tabLst>
                <a:tab pos="302260" algn="l"/>
              </a:tabLst>
            </a:pP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10">
                <a:latin typeface="Arial MT"/>
                <a:cs typeface="Arial MT"/>
              </a:rPr>
              <a:t> information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and</a:t>
            </a:r>
            <a:r>
              <a:rPr dirty="0" sz="1000" spc="-10">
                <a:latin typeface="Arial MT"/>
                <a:cs typeface="Arial MT"/>
              </a:rPr>
              <a:t> communication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sector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is</a:t>
            </a:r>
            <a:r>
              <a:rPr dirty="0" sz="1000" spc="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only </a:t>
            </a:r>
            <a:r>
              <a:rPr dirty="0" sz="1000" b="1">
                <a:latin typeface="Arial"/>
                <a:cs typeface="Arial"/>
              </a:rPr>
              <a:t>dominant</a:t>
            </a:r>
            <a:r>
              <a:rPr dirty="0" sz="1000" spc="-2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sector</a:t>
            </a:r>
            <a:r>
              <a:rPr dirty="0" sz="1000" spc="-2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with</a:t>
            </a:r>
            <a:r>
              <a:rPr dirty="0" sz="1000" spc="-4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a</a:t>
            </a:r>
            <a:r>
              <a:rPr dirty="0" sz="1000" spc="-2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fast</a:t>
            </a:r>
            <a:r>
              <a:rPr dirty="0" sz="1000" spc="-2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growth</a:t>
            </a:r>
            <a:r>
              <a:rPr dirty="0" sz="1000" spc="-3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of</a:t>
            </a:r>
            <a:r>
              <a:rPr dirty="0" sz="1000" spc="-2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8.6%</a:t>
            </a:r>
            <a:r>
              <a:rPr dirty="0" sz="1000">
                <a:latin typeface="Arial MT"/>
                <a:cs typeface="Arial MT"/>
              </a:rPr>
              <a:t>.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The </a:t>
            </a:r>
            <a:r>
              <a:rPr dirty="0" sz="1000">
                <a:latin typeface="Arial MT"/>
                <a:cs typeface="Arial MT"/>
              </a:rPr>
              <a:t>growth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in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sector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may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be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attributed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to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increase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in </a:t>
            </a:r>
            <a:r>
              <a:rPr dirty="0" sz="1000">
                <a:latin typeface="Arial MT"/>
                <a:cs typeface="Arial MT"/>
              </a:rPr>
              <a:t>consumption</a:t>
            </a:r>
            <a:r>
              <a:rPr dirty="0" sz="1000" spc="-4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of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data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services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and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subscriber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number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 MT"/>
              <a:buChar char="•"/>
            </a:pPr>
            <a:endParaRPr sz="1000">
              <a:latin typeface="Arial MT"/>
              <a:cs typeface="Arial MT"/>
            </a:endParaRPr>
          </a:p>
          <a:p>
            <a:pPr marL="302260" marR="226695" indent="-172720">
              <a:lnSpc>
                <a:spcPct val="100000"/>
              </a:lnSpc>
              <a:buChar char="•"/>
              <a:tabLst>
                <a:tab pos="302260" algn="l"/>
              </a:tabLst>
            </a:pPr>
            <a:r>
              <a:rPr dirty="0" sz="1000">
                <a:latin typeface="Arial MT"/>
                <a:cs typeface="Arial MT"/>
              </a:rPr>
              <a:t>Financial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and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insurance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sector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b="1">
                <a:latin typeface="Arial"/>
                <a:cs typeface="Arial"/>
              </a:rPr>
              <a:t>growth</a:t>
            </a:r>
            <a:r>
              <a:rPr dirty="0" sz="1000" spc="-3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of</a:t>
            </a:r>
            <a:r>
              <a:rPr dirty="0" sz="1000" spc="-1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26.8%</a:t>
            </a:r>
            <a:r>
              <a:rPr dirty="0" sz="1000" spc="-2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may</a:t>
            </a:r>
            <a:r>
              <a:rPr dirty="0" sz="1000" spc="-40" b="1">
                <a:latin typeface="Arial"/>
                <a:cs typeface="Arial"/>
              </a:rPr>
              <a:t> </a:t>
            </a:r>
            <a:r>
              <a:rPr dirty="0" sz="1000" spc="-25" b="1">
                <a:latin typeface="Arial"/>
                <a:cs typeface="Arial"/>
              </a:rPr>
              <a:t>be </a:t>
            </a:r>
            <a:r>
              <a:rPr dirty="0" sz="1000" spc="-10" b="1">
                <a:latin typeface="Arial"/>
                <a:cs typeface="Arial"/>
              </a:rPr>
              <a:t>attributed</a:t>
            </a:r>
            <a:r>
              <a:rPr dirty="0" sz="1000" spc="-3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to the</a:t>
            </a:r>
            <a:r>
              <a:rPr dirty="0" sz="1000" spc="-1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rise</a:t>
            </a:r>
            <a:r>
              <a:rPr dirty="0" sz="1000" spc="-3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in</a:t>
            </a:r>
            <a:r>
              <a:rPr dirty="0" sz="1000" spc="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interest</a:t>
            </a:r>
            <a:r>
              <a:rPr dirty="0" sz="1000" spc="-3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income,</a:t>
            </a:r>
            <a:r>
              <a:rPr dirty="0" sz="1000" spc="-3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digital transactions</a:t>
            </a:r>
            <a:r>
              <a:rPr dirty="0" sz="1000" spc="-4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and</a:t>
            </a:r>
            <a:r>
              <a:rPr dirty="0" sz="1000" spc="-1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forex</a:t>
            </a:r>
            <a:r>
              <a:rPr dirty="0" sz="1000" spc="-1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revaluation</a:t>
            </a:r>
            <a:r>
              <a:rPr dirty="0" sz="1000" spc="-2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gains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 MT"/>
              <a:buChar char="•"/>
            </a:pPr>
            <a:endParaRPr sz="1000">
              <a:latin typeface="Arial"/>
              <a:cs typeface="Arial"/>
            </a:endParaRPr>
          </a:p>
          <a:p>
            <a:pPr marL="302260" marR="198120" indent="-172720">
              <a:lnSpc>
                <a:spcPct val="100000"/>
              </a:lnSpc>
              <a:buChar char="•"/>
              <a:tabLst>
                <a:tab pos="302260" algn="l"/>
              </a:tabLst>
            </a:pP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transportation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and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storage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sector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in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Nigeria </a:t>
            </a:r>
            <a:r>
              <a:rPr dirty="0" sz="1000" b="1">
                <a:latin typeface="Arial"/>
                <a:cs typeface="Arial"/>
              </a:rPr>
              <a:t>experienced</a:t>
            </a:r>
            <a:r>
              <a:rPr dirty="0" sz="1000" spc="-4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a</a:t>
            </a:r>
            <a:r>
              <a:rPr dirty="0" sz="1000" spc="-3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significant</a:t>
            </a:r>
            <a:r>
              <a:rPr dirty="0" sz="1000" spc="-3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contraction</a:t>
            </a:r>
            <a:r>
              <a:rPr dirty="0" sz="1000" spc="-3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primarily</a:t>
            </a:r>
            <a:r>
              <a:rPr dirty="0" sz="1000" spc="-3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due</a:t>
            </a:r>
            <a:r>
              <a:rPr dirty="0" sz="1000" spc="-45" b="1">
                <a:latin typeface="Arial"/>
                <a:cs typeface="Arial"/>
              </a:rPr>
              <a:t> </a:t>
            </a:r>
            <a:r>
              <a:rPr dirty="0" sz="1000" spc="-25" b="1">
                <a:latin typeface="Arial"/>
                <a:cs typeface="Arial"/>
              </a:rPr>
              <a:t>to </a:t>
            </a:r>
            <a:r>
              <a:rPr dirty="0" sz="1000" b="1">
                <a:latin typeface="Arial"/>
                <a:cs typeface="Arial"/>
              </a:rPr>
              <a:t>the</a:t>
            </a:r>
            <a:r>
              <a:rPr dirty="0" sz="1000" spc="-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Federal</a:t>
            </a:r>
            <a:r>
              <a:rPr dirty="0" sz="1000" spc="-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Government's</a:t>
            </a:r>
            <a:r>
              <a:rPr dirty="0" sz="1000" spc="-2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removal</a:t>
            </a:r>
            <a:r>
              <a:rPr dirty="0" sz="1000" spc="-3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of the</a:t>
            </a:r>
            <a:r>
              <a:rPr dirty="0" sz="1000" spc="-5" b="1">
                <a:latin typeface="Arial"/>
                <a:cs typeface="Arial"/>
              </a:rPr>
              <a:t> </a:t>
            </a:r>
            <a:r>
              <a:rPr dirty="0" sz="1000" spc="-25" b="1">
                <a:latin typeface="Arial"/>
                <a:cs typeface="Arial"/>
              </a:rPr>
              <a:t>PMS </a:t>
            </a:r>
            <a:r>
              <a:rPr dirty="0" sz="1000" b="1">
                <a:latin typeface="Arial"/>
                <a:cs typeface="Arial"/>
              </a:rPr>
              <a:t>subsidy</a:t>
            </a:r>
            <a:r>
              <a:rPr dirty="0" sz="1000">
                <a:latin typeface="Arial MT"/>
                <a:cs typeface="Arial MT"/>
              </a:rPr>
              <a:t>.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This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decision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resulted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in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higher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PMS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prices, </a:t>
            </a:r>
            <a:r>
              <a:rPr dirty="0" sz="1000">
                <a:latin typeface="Arial MT"/>
                <a:cs typeface="Arial MT"/>
              </a:rPr>
              <a:t>prompting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many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private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car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owners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to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opt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for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public transportation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especially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those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with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lower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income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to </a:t>
            </a:r>
            <a:r>
              <a:rPr dirty="0" sz="1000">
                <a:latin typeface="Arial MT"/>
                <a:cs typeface="Arial MT"/>
              </a:rPr>
              <a:t>reduce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their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travel. As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result,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10" b="1">
                <a:latin typeface="Arial"/>
                <a:cs typeface="Arial"/>
              </a:rPr>
              <a:t>transportation </a:t>
            </a:r>
            <a:r>
              <a:rPr dirty="0" sz="1000" b="1">
                <a:latin typeface="Arial"/>
                <a:cs typeface="Arial"/>
              </a:rPr>
              <a:t>fares</a:t>
            </a:r>
            <a:r>
              <a:rPr dirty="0" sz="1000" spc="-10" b="1">
                <a:latin typeface="Arial"/>
                <a:cs typeface="Arial"/>
              </a:rPr>
              <a:t> </a:t>
            </a:r>
            <a:r>
              <a:rPr dirty="0" sz="1000" spc="-25" b="1">
                <a:latin typeface="Arial"/>
                <a:cs typeface="Arial"/>
              </a:rPr>
              <a:t>for </a:t>
            </a:r>
            <a:r>
              <a:rPr dirty="0" sz="1000" b="1">
                <a:latin typeface="Arial"/>
                <a:cs typeface="Arial"/>
              </a:rPr>
              <a:t>both</a:t>
            </a:r>
            <a:r>
              <a:rPr dirty="0" sz="1000" spc="-1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local</a:t>
            </a:r>
            <a:r>
              <a:rPr dirty="0" sz="1000" spc="-1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and</a:t>
            </a:r>
            <a:r>
              <a:rPr dirty="0" sz="1000" spc="-20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inter-</a:t>
            </a:r>
            <a:r>
              <a:rPr dirty="0" sz="1000" b="1">
                <a:latin typeface="Arial"/>
                <a:cs typeface="Arial"/>
              </a:rPr>
              <a:t>state</a:t>
            </a:r>
            <a:r>
              <a:rPr dirty="0" sz="1000" spc="-2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journeys</a:t>
            </a:r>
            <a:r>
              <a:rPr dirty="0" sz="1000" spc="-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have</a:t>
            </a:r>
            <a:r>
              <a:rPr dirty="0" sz="1000" spc="-30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risen</a:t>
            </a:r>
            <a:r>
              <a:rPr dirty="0" sz="1000" spc="-10">
                <a:latin typeface="Arial MT"/>
                <a:cs typeface="Arial MT"/>
              </a:rPr>
              <a:t>, </a:t>
            </a:r>
            <a:r>
              <a:rPr dirty="0" sz="1000">
                <a:latin typeface="Arial MT"/>
                <a:cs typeface="Arial MT"/>
              </a:rPr>
              <a:t>deterring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many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from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commuting</a:t>
            </a:r>
            <a:r>
              <a:rPr dirty="0" sz="1000" spc="-4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and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impacting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their </a:t>
            </a:r>
            <a:r>
              <a:rPr dirty="0" sz="1000">
                <a:latin typeface="Arial MT"/>
                <a:cs typeface="Arial MT"/>
              </a:rPr>
              <a:t>personal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and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business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activities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587755" y="4928108"/>
            <a:ext cx="636524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 b="1">
                <a:solidFill>
                  <a:srgbClr val="333333"/>
                </a:solidFill>
                <a:latin typeface="Arial"/>
                <a:cs typeface="Arial"/>
              </a:rPr>
              <a:t>*Assumptions</a:t>
            </a:r>
            <a:endParaRPr sz="8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buAutoNum type="arabicPeriod"/>
              <a:tabLst>
                <a:tab pos="240665" algn="l"/>
              </a:tabLst>
            </a:pPr>
            <a:r>
              <a:rPr dirty="0" sz="800">
                <a:latin typeface="Arial MT"/>
                <a:cs typeface="Arial MT"/>
              </a:rPr>
              <a:t>Sectors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with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more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than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or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equal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to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N1trillion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activity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are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classified</a:t>
            </a:r>
            <a:r>
              <a:rPr dirty="0" sz="800" spc="-4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as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dominant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economy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while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sectors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below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N1trillion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are</a:t>
            </a:r>
            <a:r>
              <a:rPr dirty="0" sz="800" spc="4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small</a:t>
            </a:r>
            <a:r>
              <a:rPr dirty="0" sz="800" spc="-4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sectors</a:t>
            </a:r>
            <a:endParaRPr sz="8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buAutoNum type="arabicPeriod"/>
              <a:tabLst>
                <a:tab pos="240665" algn="l"/>
              </a:tabLst>
            </a:pPr>
            <a:r>
              <a:rPr dirty="0" sz="800">
                <a:latin typeface="Arial MT"/>
                <a:cs typeface="Arial MT"/>
              </a:rPr>
              <a:t>Fast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growing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sectors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are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sectors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with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growth rate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more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than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3%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while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slow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growth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rate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are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below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25">
                <a:latin typeface="Arial MT"/>
                <a:cs typeface="Arial MT"/>
              </a:rPr>
              <a:t>3%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49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Information</a:t>
            </a:r>
            <a:r>
              <a:rPr dirty="0" spc="-25"/>
              <a:t> </a:t>
            </a:r>
            <a:r>
              <a:rPr dirty="0"/>
              <a:t>&amp;</a:t>
            </a:r>
            <a:r>
              <a:rPr dirty="0" spc="-50"/>
              <a:t> </a:t>
            </a:r>
            <a:r>
              <a:rPr dirty="0"/>
              <a:t>communication sector</a:t>
            </a:r>
            <a:r>
              <a:rPr dirty="0" spc="-50"/>
              <a:t> </a:t>
            </a:r>
            <a:r>
              <a:rPr dirty="0"/>
              <a:t>is</a:t>
            </a:r>
            <a:r>
              <a:rPr dirty="0" spc="-50"/>
              <a:t> </a:t>
            </a:r>
            <a:r>
              <a:rPr dirty="0"/>
              <a:t>the</a:t>
            </a:r>
            <a:r>
              <a:rPr dirty="0" spc="-45"/>
              <a:t> </a:t>
            </a:r>
            <a:r>
              <a:rPr dirty="0"/>
              <a:t>only</a:t>
            </a:r>
            <a:r>
              <a:rPr dirty="0" spc="-45"/>
              <a:t> </a:t>
            </a:r>
            <a:r>
              <a:rPr dirty="0"/>
              <a:t>fast</a:t>
            </a:r>
            <a:r>
              <a:rPr dirty="0" spc="-30"/>
              <a:t> </a:t>
            </a:r>
            <a:r>
              <a:rPr dirty="0"/>
              <a:t>growing</a:t>
            </a:r>
            <a:r>
              <a:rPr dirty="0" spc="-60"/>
              <a:t> </a:t>
            </a:r>
            <a:r>
              <a:rPr dirty="0"/>
              <a:t>dominant</a:t>
            </a:r>
            <a:r>
              <a:rPr dirty="0" spc="-20"/>
              <a:t> </a:t>
            </a:r>
            <a:r>
              <a:rPr dirty="0" spc="-10"/>
              <a:t>sector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92023" y="842772"/>
            <a:ext cx="4887595" cy="4637405"/>
            <a:chOff x="192023" y="842772"/>
            <a:chExt cx="4887595" cy="4637405"/>
          </a:xfrm>
        </p:grpSpPr>
        <p:sp>
          <p:nvSpPr>
            <p:cNvPr id="3" name="object 3" descr=""/>
            <p:cNvSpPr/>
            <p:nvPr/>
          </p:nvSpPr>
          <p:spPr>
            <a:xfrm>
              <a:off x="192023" y="845820"/>
              <a:ext cx="1403350" cy="1066800"/>
            </a:xfrm>
            <a:custGeom>
              <a:avLst/>
              <a:gdLst/>
              <a:ahLst/>
              <a:cxnLst/>
              <a:rect l="l" t="t" r="r" b="b"/>
              <a:pathLst>
                <a:path w="1403350" h="1066800">
                  <a:moveTo>
                    <a:pt x="1403350" y="0"/>
                  </a:moveTo>
                  <a:lnTo>
                    <a:pt x="0" y="0"/>
                  </a:lnTo>
                  <a:lnTo>
                    <a:pt x="0" y="1066800"/>
                  </a:lnTo>
                  <a:lnTo>
                    <a:pt x="1403350" y="1066800"/>
                  </a:lnTo>
                  <a:lnTo>
                    <a:pt x="1403350" y="0"/>
                  </a:lnTo>
                  <a:close/>
                </a:path>
              </a:pathLst>
            </a:custGeom>
            <a:solidFill>
              <a:srgbClr val="A1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92023" y="1932406"/>
              <a:ext cx="1403350" cy="842644"/>
            </a:xfrm>
            <a:custGeom>
              <a:avLst/>
              <a:gdLst/>
              <a:ahLst/>
              <a:cxnLst/>
              <a:rect l="l" t="t" r="r" b="b"/>
              <a:pathLst>
                <a:path w="1403350" h="842644">
                  <a:moveTo>
                    <a:pt x="1403223" y="0"/>
                  </a:moveTo>
                  <a:lnTo>
                    <a:pt x="0" y="0"/>
                  </a:lnTo>
                  <a:lnTo>
                    <a:pt x="0" y="842416"/>
                  </a:lnTo>
                  <a:lnTo>
                    <a:pt x="1403223" y="842416"/>
                  </a:lnTo>
                  <a:lnTo>
                    <a:pt x="1403223" y="0"/>
                  </a:lnTo>
                  <a:close/>
                </a:path>
              </a:pathLst>
            </a:custGeom>
            <a:solidFill>
              <a:srgbClr val="5F5F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92023" y="2801111"/>
              <a:ext cx="1403985" cy="1363980"/>
            </a:xfrm>
            <a:custGeom>
              <a:avLst/>
              <a:gdLst/>
              <a:ahLst/>
              <a:cxnLst/>
              <a:rect l="l" t="t" r="r" b="b"/>
              <a:pathLst>
                <a:path w="1403985" h="1363979">
                  <a:moveTo>
                    <a:pt x="1403477" y="0"/>
                  </a:moveTo>
                  <a:lnTo>
                    <a:pt x="0" y="0"/>
                  </a:lnTo>
                  <a:lnTo>
                    <a:pt x="0" y="1363599"/>
                  </a:lnTo>
                  <a:lnTo>
                    <a:pt x="1403477" y="1363599"/>
                  </a:lnTo>
                  <a:lnTo>
                    <a:pt x="1403477" y="0"/>
                  </a:lnTo>
                  <a:close/>
                </a:path>
              </a:pathLst>
            </a:custGeom>
            <a:solidFill>
              <a:srgbClr val="04070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92023" y="4204716"/>
              <a:ext cx="1403350" cy="1066800"/>
            </a:xfrm>
            <a:custGeom>
              <a:avLst/>
              <a:gdLst/>
              <a:ahLst/>
              <a:cxnLst/>
              <a:rect l="l" t="t" r="r" b="b"/>
              <a:pathLst>
                <a:path w="1403350" h="1066800">
                  <a:moveTo>
                    <a:pt x="1403350" y="0"/>
                  </a:moveTo>
                  <a:lnTo>
                    <a:pt x="0" y="0"/>
                  </a:lnTo>
                  <a:lnTo>
                    <a:pt x="0" y="1066800"/>
                  </a:lnTo>
                  <a:lnTo>
                    <a:pt x="1403350" y="1066800"/>
                  </a:lnTo>
                  <a:lnTo>
                    <a:pt x="1403350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671828" y="842771"/>
              <a:ext cx="3407410" cy="4637405"/>
            </a:xfrm>
            <a:custGeom>
              <a:avLst/>
              <a:gdLst/>
              <a:ahLst/>
              <a:cxnLst/>
              <a:rect l="l" t="t" r="r" b="b"/>
              <a:pathLst>
                <a:path w="3407410" h="4637405">
                  <a:moveTo>
                    <a:pt x="3389122" y="1965972"/>
                  </a:moveTo>
                  <a:lnTo>
                    <a:pt x="0" y="1965972"/>
                  </a:lnTo>
                  <a:lnTo>
                    <a:pt x="0" y="3321939"/>
                  </a:lnTo>
                  <a:lnTo>
                    <a:pt x="3389122" y="3321939"/>
                  </a:lnTo>
                  <a:lnTo>
                    <a:pt x="3389122" y="1965972"/>
                  </a:lnTo>
                  <a:close/>
                </a:path>
                <a:path w="3407410" h="4637405">
                  <a:moveTo>
                    <a:pt x="3407410" y="3361893"/>
                  </a:moveTo>
                  <a:lnTo>
                    <a:pt x="0" y="3361893"/>
                  </a:lnTo>
                  <a:lnTo>
                    <a:pt x="0" y="4637227"/>
                  </a:lnTo>
                  <a:lnTo>
                    <a:pt x="3407410" y="4637227"/>
                  </a:lnTo>
                  <a:lnTo>
                    <a:pt x="3407410" y="3361893"/>
                  </a:lnTo>
                  <a:close/>
                </a:path>
                <a:path w="3407410" h="4637405">
                  <a:moveTo>
                    <a:pt x="3407410" y="1089609"/>
                  </a:moveTo>
                  <a:lnTo>
                    <a:pt x="0" y="1089609"/>
                  </a:lnTo>
                  <a:lnTo>
                    <a:pt x="0" y="1932178"/>
                  </a:lnTo>
                  <a:lnTo>
                    <a:pt x="3407410" y="1932178"/>
                  </a:lnTo>
                  <a:lnTo>
                    <a:pt x="3407410" y="1089609"/>
                  </a:lnTo>
                  <a:close/>
                </a:path>
                <a:path w="3407410" h="4637405">
                  <a:moveTo>
                    <a:pt x="3407410" y="0"/>
                  </a:moveTo>
                  <a:lnTo>
                    <a:pt x="1524" y="0"/>
                  </a:lnTo>
                  <a:lnTo>
                    <a:pt x="1524" y="1071118"/>
                  </a:lnTo>
                  <a:lnTo>
                    <a:pt x="3407410" y="1071118"/>
                  </a:lnTo>
                  <a:lnTo>
                    <a:pt x="340741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1667001" y="621537"/>
            <a:ext cx="13728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Arial MT"/>
                <a:cs typeface="Arial MT"/>
              </a:rPr>
              <a:t>Key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Assumption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Drivers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575172" y="633729"/>
            <a:ext cx="81280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latin typeface="Arial MT"/>
                <a:cs typeface="Arial MT"/>
              </a:rPr>
              <a:t>Likely</a:t>
            </a:r>
            <a:r>
              <a:rPr dirty="0" sz="1000" spc="-4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Impacts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655309" y="1052576"/>
            <a:ext cx="3910965" cy="4044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03505" marR="5080" indent="-91440">
              <a:lnSpc>
                <a:spcPct val="100000"/>
              </a:lnSpc>
              <a:spcBef>
                <a:spcPts val="105"/>
              </a:spcBef>
              <a:buChar char="•"/>
              <a:tabLst>
                <a:tab pos="103505" algn="l"/>
              </a:tabLst>
            </a:pPr>
            <a:r>
              <a:rPr dirty="0" sz="800" spc="-10">
                <a:latin typeface="Arial MT"/>
                <a:cs typeface="Arial MT"/>
              </a:rPr>
              <a:t>Continued inflationary</a:t>
            </a:r>
            <a:r>
              <a:rPr dirty="0" sz="800" spc="-4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growth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and rise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in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cost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of</a:t>
            </a:r>
            <a:r>
              <a:rPr dirty="0" sz="800" spc="1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living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 b="1">
                <a:latin typeface="Arial"/>
                <a:cs typeface="Arial"/>
              </a:rPr>
              <a:t>may</a:t>
            </a:r>
            <a:r>
              <a:rPr dirty="0" sz="800" spc="-15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lead</a:t>
            </a:r>
            <a:r>
              <a:rPr dirty="0" sz="800" spc="-15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to</a:t>
            </a:r>
            <a:r>
              <a:rPr dirty="0" sz="800" spc="-15" b="1">
                <a:latin typeface="Arial"/>
                <a:cs typeface="Arial"/>
              </a:rPr>
              <a:t> </a:t>
            </a:r>
            <a:r>
              <a:rPr dirty="0" sz="800" spc="-10" b="1">
                <a:latin typeface="Arial"/>
                <a:cs typeface="Arial"/>
              </a:rPr>
              <a:t>marginal</a:t>
            </a:r>
            <a:r>
              <a:rPr dirty="0" sz="800" spc="-40" b="1">
                <a:latin typeface="Arial"/>
                <a:cs typeface="Arial"/>
              </a:rPr>
              <a:t> </a:t>
            </a:r>
            <a:r>
              <a:rPr dirty="0" sz="800" spc="-20" b="1">
                <a:latin typeface="Arial"/>
                <a:cs typeface="Arial"/>
              </a:rPr>
              <a:t>real </a:t>
            </a:r>
            <a:r>
              <a:rPr dirty="0" sz="800" spc="-10" b="1">
                <a:latin typeface="Arial"/>
                <a:cs typeface="Arial"/>
              </a:rPr>
              <a:t>economic</a:t>
            </a:r>
            <a:r>
              <a:rPr dirty="0" sz="800" spc="-30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growth</a:t>
            </a:r>
            <a:r>
              <a:rPr dirty="0" sz="800" spc="-25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in</a:t>
            </a:r>
            <a:r>
              <a:rPr dirty="0" sz="800" spc="5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the </a:t>
            </a:r>
            <a:r>
              <a:rPr dirty="0" sz="800" spc="-10" b="1">
                <a:latin typeface="Arial"/>
                <a:cs typeface="Arial"/>
              </a:rPr>
              <a:t>medium</a:t>
            </a:r>
            <a:r>
              <a:rPr dirty="0" sz="800" spc="-40" b="1">
                <a:latin typeface="Arial"/>
                <a:cs typeface="Arial"/>
              </a:rPr>
              <a:t> </a:t>
            </a:r>
            <a:r>
              <a:rPr dirty="0" sz="800" spc="-20" b="1">
                <a:latin typeface="Arial"/>
                <a:cs typeface="Arial"/>
              </a:rPr>
              <a:t>term</a:t>
            </a:r>
            <a:endParaRPr sz="800">
              <a:latin typeface="Arial"/>
              <a:cs typeface="Arial"/>
            </a:endParaRPr>
          </a:p>
          <a:p>
            <a:pPr marL="104139" indent="-9144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104139" algn="l"/>
              </a:tabLst>
            </a:pPr>
            <a:r>
              <a:rPr dirty="0" sz="800" b="1">
                <a:latin typeface="Arial"/>
                <a:cs typeface="Arial"/>
              </a:rPr>
              <a:t>PwC</a:t>
            </a:r>
            <a:r>
              <a:rPr dirty="0" sz="800" spc="-45" b="1">
                <a:latin typeface="Arial"/>
                <a:cs typeface="Arial"/>
              </a:rPr>
              <a:t> </a:t>
            </a:r>
            <a:r>
              <a:rPr dirty="0" sz="800" spc="-10" b="1">
                <a:latin typeface="Arial"/>
                <a:cs typeface="Arial"/>
              </a:rPr>
              <a:t>projects</a:t>
            </a:r>
            <a:r>
              <a:rPr dirty="0" sz="800" spc="-30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2.8%</a:t>
            </a:r>
            <a:r>
              <a:rPr dirty="0" sz="800" spc="-15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growth</a:t>
            </a:r>
            <a:r>
              <a:rPr dirty="0" sz="800" spc="-55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rate</a:t>
            </a:r>
            <a:r>
              <a:rPr dirty="0" sz="800" spc="-10" b="1">
                <a:latin typeface="Arial"/>
                <a:cs typeface="Arial"/>
              </a:rPr>
              <a:t> </a:t>
            </a:r>
            <a:r>
              <a:rPr dirty="0" sz="800">
                <a:latin typeface="Arial MT"/>
                <a:cs typeface="Arial MT"/>
              </a:rPr>
              <a:t>for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Nigeria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in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2023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and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3%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in</a:t>
            </a:r>
            <a:r>
              <a:rPr dirty="0" sz="800" spc="-20">
                <a:latin typeface="Arial MT"/>
                <a:cs typeface="Arial MT"/>
              </a:rPr>
              <a:t> 2024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696973" y="971169"/>
            <a:ext cx="3149600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3365" marR="5080" indent="-2413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53365" algn="l"/>
              </a:tabLst>
            </a:pPr>
            <a:r>
              <a:rPr dirty="0" sz="900" b="1">
                <a:latin typeface="Arial"/>
                <a:cs typeface="Arial"/>
              </a:rPr>
              <a:t>Inflation</a:t>
            </a:r>
            <a:r>
              <a:rPr dirty="0" sz="900" spc="-1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is</a:t>
            </a:r>
            <a:r>
              <a:rPr dirty="0" sz="900" spc="20" b="1">
                <a:latin typeface="Arial"/>
                <a:cs typeface="Arial"/>
              </a:rPr>
              <a:t> </a:t>
            </a:r>
            <a:r>
              <a:rPr dirty="0" sz="900" spc="-10" b="1">
                <a:latin typeface="Arial"/>
                <a:cs typeface="Arial"/>
              </a:rPr>
              <a:t>expected</a:t>
            </a:r>
            <a:r>
              <a:rPr dirty="0" sz="900" spc="-2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to rise </a:t>
            </a:r>
            <a:r>
              <a:rPr dirty="0" sz="900">
                <a:latin typeface="Arial MT"/>
                <a:cs typeface="Arial MT"/>
              </a:rPr>
              <a:t>in</a:t>
            </a:r>
            <a:r>
              <a:rPr dirty="0" sz="900" spc="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 </a:t>
            </a:r>
            <a:r>
              <a:rPr dirty="0" sz="900" spc="-10">
                <a:latin typeface="Arial MT"/>
                <a:cs typeface="Arial MT"/>
              </a:rPr>
              <a:t>short</a:t>
            </a:r>
            <a:r>
              <a:rPr dirty="0" sz="900" spc="-7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medium-</a:t>
            </a:r>
            <a:r>
              <a:rPr dirty="0" sz="900" spc="-20">
                <a:latin typeface="Arial MT"/>
                <a:cs typeface="Arial MT"/>
              </a:rPr>
              <a:t>term </a:t>
            </a:r>
            <a:r>
              <a:rPr dirty="0" sz="900">
                <a:latin typeface="Arial MT"/>
                <a:cs typeface="Arial MT"/>
              </a:rPr>
              <a:t>on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 basis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increased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petroleum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prices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50">
                <a:latin typeface="Arial MT"/>
                <a:cs typeface="Arial MT"/>
              </a:rPr>
              <a:t>a</a:t>
            </a:r>
            <a:r>
              <a:rPr dirty="0" sz="900" spc="50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devalued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naira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on food,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transport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non-food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prices</a:t>
            </a:r>
            <a:endParaRPr sz="900">
              <a:latin typeface="Arial MT"/>
              <a:cs typeface="Arial MT"/>
            </a:endParaRPr>
          </a:p>
          <a:p>
            <a:pPr marL="253365" marR="29209" indent="-241300">
              <a:lnSpc>
                <a:spcPct val="100000"/>
              </a:lnSpc>
              <a:buChar char="•"/>
              <a:tabLst>
                <a:tab pos="253365" algn="l"/>
              </a:tabLst>
            </a:pPr>
            <a:r>
              <a:rPr dirty="0" sz="900" spc="-10">
                <a:latin typeface="Arial MT"/>
                <a:cs typeface="Arial MT"/>
              </a:rPr>
              <a:t>Petroleum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products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expected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rise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on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back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5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the </a:t>
            </a:r>
            <a:r>
              <a:rPr dirty="0" sz="900">
                <a:latin typeface="Arial MT"/>
                <a:cs typeface="Arial MT"/>
              </a:rPr>
              <a:t>rise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international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oil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price.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This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will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impact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food, transport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core</a:t>
            </a:r>
            <a:r>
              <a:rPr dirty="0" sz="900" spc="-10">
                <a:latin typeface="Arial MT"/>
                <a:cs typeface="Arial MT"/>
              </a:rPr>
              <a:t> inflation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563361" y="878840"/>
            <a:ext cx="42735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D93953"/>
                </a:solidFill>
                <a:latin typeface="Arial"/>
                <a:cs typeface="Arial"/>
              </a:rPr>
              <a:t>Growth</a:t>
            </a:r>
            <a:endParaRPr sz="90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681853" y="1704543"/>
            <a:ext cx="4276090" cy="7842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04139" indent="-91440">
              <a:lnSpc>
                <a:spcPct val="100000"/>
              </a:lnSpc>
              <a:spcBef>
                <a:spcPts val="105"/>
              </a:spcBef>
              <a:buChar char="•"/>
              <a:tabLst>
                <a:tab pos="104139" algn="l"/>
              </a:tabLst>
            </a:pPr>
            <a:r>
              <a:rPr dirty="0" sz="800" spc="-10">
                <a:latin typeface="Arial MT"/>
                <a:cs typeface="Arial MT"/>
              </a:rPr>
              <a:t>Capital reallocation </a:t>
            </a:r>
            <a:r>
              <a:rPr dirty="0" sz="800">
                <a:latin typeface="Arial MT"/>
                <a:cs typeface="Arial MT"/>
              </a:rPr>
              <a:t>from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Nigeria’s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economy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may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continue</a:t>
            </a:r>
            <a:r>
              <a:rPr dirty="0" sz="800">
                <a:latin typeface="Arial MT"/>
                <a:cs typeface="Arial MT"/>
              </a:rPr>
              <a:t> to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impact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foreign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investment</a:t>
            </a:r>
            <a:endParaRPr sz="800">
              <a:latin typeface="Arial MT"/>
              <a:cs typeface="Arial MT"/>
            </a:endParaRPr>
          </a:p>
          <a:p>
            <a:pPr marL="103505">
              <a:lnSpc>
                <a:spcPct val="100000"/>
              </a:lnSpc>
            </a:pPr>
            <a:r>
              <a:rPr dirty="0" sz="800">
                <a:latin typeface="Arial MT"/>
                <a:cs typeface="Arial MT"/>
              </a:rPr>
              <a:t>flows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in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short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to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medium</a:t>
            </a:r>
            <a:r>
              <a:rPr dirty="0" sz="800" spc="-50">
                <a:latin typeface="Arial MT"/>
                <a:cs typeface="Arial MT"/>
              </a:rPr>
              <a:t> </a:t>
            </a:r>
            <a:r>
              <a:rPr dirty="0" sz="800" spc="-20">
                <a:latin typeface="Arial MT"/>
                <a:cs typeface="Arial MT"/>
              </a:rPr>
              <a:t>term</a:t>
            </a:r>
            <a:endParaRPr sz="800">
              <a:latin typeface="Arial MT"/>
              <a:cs typeface="Arial MT"/>
            </a:endParaRPr>
          </a:p>
          <a:p>
            <a:pPr marL="104139" indent="-91440">
              <a:lnSpc>
                <a:spcPct val="100000"/>
              </a:lnSpc>
              <a:spcBef>
                <a:spcPts val="100"/>
              </a:spcBef>
              <a:buChar char="•"/>
              <a:tabLst>
                <a:tab pos="104139" algn="l"/>
              </a:tabLst>
            </a:pPr>
            <a:r>
              <a:rPr dirty="0" sz="800" spc="-10">
                <a:latin typeface="Arial MT"/>
                <a:cs typeface="Arial MT"/>
              </a:rPr>
              <a:t>Investors</a:t>
            </a:r>
            <a:r>
              <a:rPr dirty="0" sz="800" spc="-4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may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adopt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 wait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and see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approach </a:t>
            </a:r>
            <a:r>
              <a:rPr dirty="0" sz="800">
                <a:latin typeface="Arial MT"/>
                <a:cs typeface="Arial MT"/>
              </a:rPr>
              <a:t>due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to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lack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of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forward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guidance </a:t>
            </a:r>
            <a:r>
              <a:rPr dirty="0" sz="800">
                <a:latin typeface="Arial MT"/>
                <a:cs typeface="Arial MT"/>
              </a:rPr>
              <a:t>on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FX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policy</a:t>
            </a:r>
            <a:endParaRPr sz="800">
              <a:latin typeface="Arial MT"/>
              <a:cs typeface="Arial MT"/>
            </a:endParaRPr>
          </a:p>
          <a:p>
            <a:pPr marL="103505">
              <a:lnSpc>
                <a:spcPct val="100000"/>
              </a:lnSpc>
            </a:pPr>
            <a:r>
              <a:rPr dirty="0" sz="800" b="1" i="1">
                <a:latin typeface="Arial"/>
                <a:cs typeface="Arial"/>
              </a:rPr>
              <a:t>(see</a:t>
            </a:r>
            <a:r>
              <a:rPr dirty="0" sz="800" spc="-25" b="1" i="1">
                <a:latin typeface="Arial"/>
                <a:cs typeface="Arial"/>
              </a:rPr>
              <a:t> </a:t>
            </a:r>
            <a:r>
              <a:rPr dirty="0" sz="800" b="1" i="1">
                <a:latin typeface="Arial"/>
                <a:cs typeface="Arial"/>
              </a:rPr>
              <a:t>Page</a:t>
            </a:r>
            <a:r>
              <a:rPr dirty="0" sz="800" spc="-25" b="1" i="1">
                <a:latin typeface="Arial"/>
                <a:cs typeface="Arial"/>
              </a:rPr>
              <a:t> </a:t>
            </a:r>
            <a:r>
              <a:rPr dirty="0" sz="800" spc="-10" b="1" i="1">
                <a:latin typeface="Arial"/>
                <a:cs typeface="Arial"/>
              </a:rPr>
              <a:t>21-</a:t>
            </a:r>
            <a:r>
              <a:rPr dirty="0" sz="800" spc="-25" b="1" i="1">
                <a:latin typeface="Arial"/>
                <a:cs typeface="Arial"/>
              </a:rPr>
              <a:t>25)</a:t>
            </a:r>
            <a:endParaRPr sz="800">
              <a:latin typeface="Arial"/>
              <a:cs typeface="Arial"/>
            </a:endParaRPr>
          </a:p>
          <a:p>
            <a:pPr marL="103505" marR="5080" indent="-9144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103505" algn="l"/>
              </a:tabLst>
            </a:pPr>
            <a:r>
              <a:rPr dirty="0" sz="800" b="1">
                <a:latin typeface="Arial"/>
                <a:cs typeface="Arial"/>
              </a:rPr>
              <a:t>The</a:t>
            </a:r>
            <a:r>
              <a:rPr dirty="0" sz="800" spc="-5" b="1">
                <a:latin typeface="Arial"/>
                <a:cs typeface="Arial"/>
              </a:rPr>
              <a:t> </a:t>
            </a:r>
            <a:r>
              <a:rPr dirty="0" sz="800" spc="-10" b="1">
                <a:latin typeface="Arial"/>
                <a:cs typeface="Arial"/>
              </a:rPr>
              <a:t>unsettled</a:t>
            </a:r>
            <a:r>
              <a:rPr dirty="0" sz="800" spc="-35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FX</a:t>
            </a:r>
            <a:r>
              <a:rPr dirty="0" sz="800" spc="5" b="1">
                <a:latin typeface="Arial"/>
                <a:cs typeface="Arial"/>
              </a:rPr>
              <a:t> </a:t>
            </a:r>
            <a:r>
              <a:rPr dirty="0" sz="800" spc="-10" b="1">
                <a:latin typeface="Arial"/>
                <a:cs typeface="Arial"/>
              </a:rPr>
              <a:t>backlogs</a:t>
            </a:r>
            <a:r>
              <a:rPr dirty="0" sz="800" spc="-25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may</a:t>
            </a:r>
            <a:r>
              <a:rPr dirty="0" sz="800" spc="-5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lead</a:t>
            </a:r>
            <a:r>
              <a:rPr dirty="0" sz="800" spc="-10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to</a:t>
            </a:r>
            <a:r>
              <a:rPr dirty="0" sz="800" spc="-5" b="1">
                <a:latin typeface="Arial"/>
                <a:cs typeface="Arial"/>
              </a:rPr>
              <a:t> </a:t>
            </a:r>
            <a:r>
              <a:rPr dirty="0" sz="800" spc="-10" b="1">
                <a:latin typeface="Arial"/>
                <a:cs typeface="Arial"/>
              </a:rPr>
              <a:t>scarcity</a:t>
            </a:r>
            <a:r>
              <a:rPr dirty="0" sz="800" spc="-15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of goods</a:t>
            </a:r>
            <a:r>
              <a:rPr dirty="0" sz="800" spc="-40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and</a:t>
            </a:r>
            <a:r>
              <a:rPr dirty="0" sz="800" spc="5" b="1">
                <a:latin typeface="Arial"/>
                <a:cs typeface="Arial"/>
              </a:rPr>
              <a:t> </a:t>
            </a:r>
            <a:r>
              <a:rPr dirty="0" sz="800" spc="-10" b="1">
                <a:latin typeface="Arial"/>
                <a:cs typeface="Arial"/>
              </a:rPr>
              <a:t>inputs</a:t>
            </a:r>
            <a:r>
              <a:rPr dirty="0" sz="800" spc="-25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for</a:t>
            </a:r>
            <a:r>
              <a:rPr dirty="0" sz="800" spc="-15" b="1">
                <a:latin typeface="Arial"/>
                <a:cs typeface="Arial"/>
              </a:rPr>
              <a:t> </a:t>
            </a:r>
            <a:r>
              <a:rPr dirty="0" sz="800" spc="-10" b="1">
                <a:latin typeface="Arial"/>
                <a:cs typeface="Arial"/>
              </a:rPr>
              <a:t>manufacturing </a:t>
            </a:r>
            <a:r>
              <a:rPr dirty="0" sz="800" b="1">
                <a:latin typeface="Arial"/>
                <a:cs typeface="Arial"/>
              </a:rPr>
              <a:t>and</a:t>
            </a:r>
            <a:r>
              <a:rPr dirty="0" sz="800" spc="-35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trade</a:t>
            </a:r>
            <a:r>
              <a:rPr dirty="0" sz="800" spc="-40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leading</a:t>
            </a:r>
            <a:r>
              <a:rPr dirty="0" sz="800" spc="-45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to</a:t>
            </a:r>
            <a:r>
              <a:rPr dirty="0" sz="800" spc="-35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further</a:t>
            </a:r>
            <a:r>
              <a:rPr dirty="0" sz="800" spc="-45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increase</a:t>
            </a:r>
            <a:r>
              <a:rPr dirty="0" sz="800" spc="-25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in</a:t>
            </a:r>
            <a:r>
              <a:rPr dirty="0" sz="800" spc="-35" b="1">
                <a:latin typeface="Arial"/>
                <a:cs typeface="Arial"/>
              </a:rPr>
              <a:t> </a:t>
            </a:r>
            <a:r>
              <a:rPr dirty="0" sz="800" spc="-10" b="1">
                <a:latin typeface="Arial"/>
                <a:cs typeface="Arial"/>
              </a:rPr>
              <a:t>prices</a:t>
            </a:r>
            <a:endParaRPr sz="80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563361" y="1556384"/>
            <a:ext cx="6286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D93953"/>
                </a:solidFill>
                <a:latin typeface="Arial"/>
                <a:cs typeface="Arial"/>
              </a:rPr>
              <a:t>Investment</a:t>
            </a:r>
            <a:endParaRPr sz="90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609335" y="3205734"/>
            <a:ext cx="4233545" cy="404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4139" marR="5080" indent="-92075">
              <a:lnSpc>
                <a:spcPct val="100000"/>
              </a:lnSpc>
              <a:spcBef>
                <a:spcPts val="100"/>
              </a:spcBef>
              <a:buChar char="•"/>
              <a:tabLst>
                <a:tab pos="104139" algn="l"/>
              </a:tabLst>
            </a:pPr>
            <a:r>
              <a:rPr dirty="0" sz="800">
                <a:latin typeface="Arial MT"/>
                <a:cs typeface="Arial MT"/>
              </a:rPr>
              <a:t>Rise</a:t>
            </a:r>
            <a:r>
              <a:rPr dirty="0" sz="800" spc="-4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in</a:t>
            </a:r>
            <a:r>
              <a:rPr dirty="0" sz="800" spc="-10">
                <a:latin typeface="Arial MT"/>
                <a:cs typeface="Arial MT"/>
              </a:rPr>
              <a:t> energy,</a:t>
            </a:r>
            <a:r>
              <a:rPr dirty="0" sz="800" spc="4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food,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transportation</a:t>
            </a:r>
            <a:r>
              <a:rPr dirty="0" sz="800" spc="-4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and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import</a:t>
            </a:r>
            <a:r>
              <a:rPr dirty="0" sz="800" spc="-4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costs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may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b="1">
                <a:latin typeface="Arial"/>
                <a:cs typeface="Arial"/>
              </a:rPr>
              <a:t>dampen</a:t>
            </a:r>
            <a:r>
              <a:rPr dirty="0" sz="800" spc="-35" b="1">
                <a:latin typeface="Arial"/>
                <a:cs typeface="Arial"/>
              </a:rPr>
              <a:t> </a:t>
            </a:r>
            <a:r>
              <a:rPr dirty="0" sz="800" spc="-10" b="1">
                <a:latin typeface="Arial"/>
                <a:cs typeface="Arial"/>
              </a:rPr>
              <a:t>consumer</a:t>
            </a:r>
            <a:r>
              <a:rPr dirty="0" sz="800" spc="-50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spending</a:t>
            </a:r>
            <a:r>
              <a:rPr dirty="0" sz="800" spc="-45" b="1">
                <a:latin typeface="Arial"/>
                <a:cs typeface="Arial"/>
              </a:rPr>
              <a:t> </a:t>
            </a:r>
            <a:r>
              <a:rPr dirty="0" sz="800" spc="-25" b="1">
                <a:latin typeface="Arial"/>
                <a:cs typeface="Arial"/>
              </a:rPr>
              <a:t>on</a:t>
            </a:r>
            <a:r>
              <a:rPr dirty="0" sz="800" spc="-10" b="1">
                <a:latin typeface="Arial"/>
                <a:cs typeface="Arial"/>
              </a:rPr>
              <a:t> non-discretionary</a:t>
            </a:r>
            <a:r>
              <a:rPr dirty="0" sz="800" spc="40" b="1">
                <a:latin typeface="Arial"/>
                <a:cs typeface="Arial"/>
              </a:rPr>
              <a:t> </a:t>
            </a:r>
            <a:r>
              <a:rPr dirty="0" sz="800" spc="-20" b="1">
                <a:latin typeface="Arial"/>
                <a:cs typeface="Arial"/>
              </a:rPr>
              <a:t>items</a:t>
            </a:r>
            <a:endParaRPr sz="800">
              <a:latin typeface="Arial"/>
              <a:cs typeface="Arial"/>
            </a:endParaRPr>
          </a:p>
          <a:p>
            <a:pPr marL="104775" indent="-92075">
              <a:lnSpc>
                <a:spcPct val="100000"/>
              </a:lnSpc>
              <a:spcBef>
                <a:spcPts val="100"/>
              </a:spcBef>
              <a:buChar char="•"/>
              <a:tabLst>
                <a:tab pos="104775" algn="l"/>
              </a:tabLst>
            </a:pPr>
            <a:r>
              <a:rPr dirty="0" sz="800">
                <a:latin typeface="Arial MT"/>
                <a:cs typeface="Arial MT"/>
              </a:rPr>
              <a:t>S&amp;P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projects</a:t>
            </a:r>
            <a:r>
              <a:rPr dirty="0" sz="800" spc="-4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2.8%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growth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in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consumption</a:t>
            </a:r>
            <a:r>
              <a:rPr dirty="0" sz="800" spc="-5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demand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in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2023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and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2.9%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in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 spc="-20">
                <a:latin typeface="Arial MT"/>
                <a:cs typeface="Arial MT"/>
              </a:rPr>
              <a:t>2024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563361" y="3029204"/>
            <a:ext cx="106870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D93953"/>
                </a:solidFill>
                <a:latin typeface="Arial"/>
                <a:cs typeface="Arial"/>
              </a:rPr>
              <a:t>Consumer</a:t>
            </a:r>
            <a:r>
              <a:rPr dirty="0" sz="900" spc="-60" b="1">
                <a:solidFill>
                  <a:srgbClr val="D93953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D93953"/>
                </a:solidFill>
                <a:latin typeface="Arial"/>
                <a:cs typeface="Arial"/>
              </a:rPr>
              <a:t>Demand</a:t>
            </a:r>
            <a:endParaRPr sz="900">
              <a:latin typeface="Arial"/>
              <a:cs typeface="Arial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5625846" y="3858259"/>
            <a:ext cx="4194810" cy="10401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3505" marR="143510" indent="-91440">
              <a:lnSpc>
                <a:spcPct val="100000"/>
              </a:lnSpc>
              <a:spcBef>
                <a:spcPts val="100"/>
              </a:spcBef>
              <a:buChar char="•"/>
              <a:tabLst>
                <a:tab pos="103505" algn="l"/>
              </a:tabLst>
            </a:pPr>
            <a:r>
              <a:rPr dirty="0" sz="800">
                <a:latin typeface="Arial MT"/>
                <a:cs typeface="Arial MT"/>
              </a:rPr>
              <a:t>High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FX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rates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may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 b="1">
                <a:latin typeface="Arial"/>
                <a:cs typeface="Arial"/>
              </a:rPr>
              <a:t>drive</a:t>
            </a:r>
            <a:r>
              <a:rPr dirty="0" sz="800" spc="-25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up</a:t>
            </a:r>
            <a:r>
              <a:rPr dirty="0" sz="800" spc="-10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cost</a:t>
            </a:r>
            <a:r>
              <a:rPr dirty="0" sz="800" spc="-5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of</a:t>
            </a:r>
            <a:r>
              <a:rPr dirty="0" sz="800" spc="-20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goods</a:t>
            </a:r>
            <a:r>
              <a:rPr dirty="0" sz="800" spc="-30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&amp;</a:t>
            </a:r>
            <a:r>
              <a:rPr dirty="0" sz="800" spc="-15" b="1">
                <a:latin typeface="Arial"/>
                <a:cs typeface="Arial"/>
              </a:rPr>
              <a:t> </a:t>
            </a:r>
            <a:r>
              <a:rPr dirty="0" sz="800" spc="-10" b="1">
                <a:latin typeface="Arial"/>
                <a:cs typeface="Arial"/>
              </a:rPr>
              <a:t>services</a:t>
            </a:r>
            <a:r>
              <a:rPr dirty="0" sz="800" spc="5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and</a:t>
            </a:r>
            <a:r>
              <a:rPr dirty="0" sz="800" spc="-15" b="1">
                <a:latin typeface="Arial"/>
                <a:cs typeface="Arial"/>
              </a:rPr>
              <a:t> </a:t>
            </a:r>
            <a:r>
              <a:rPr dirty="0" sz="800" spc="-10" b="1">
                <a:latin typeface="Arial"/>
                <a:cs typeface="Arial"/>
              </a:rPr>
              <a:t>impact</a:t>
            </a:r>
            <a:r>
              <a:rPr dirty="0" sz="800" spc="-30" b="1">
                <a:latin typeface="Arial"/>
                <a:cs typeface="Arial"/>
              </a:rPr>
              <a:t> </a:t>
            </a:r>
            <a:r>
              <a:rPr dirty="0" sz="800" spc="-10" b="1">
                <a:latin typeface="Arial"/>
                <a:cs typeface="Arial"/>
              </a:rPr>
              <a:t>negatively</a:t>
            </a:r>
            <a:r>
              <a:rPr dirty="0" sz="800" spc="-30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on</a:t>
            </a:r>
            <a:r>
              <a:rPr dirty="0" sz="800" spc="-20" b="1">
                <a:latin typeface="Arial"/>
                <a:cs typeface="Arial"/>
              </a:rPr>
              <a:t> firm </a:t>
            </a:r>
            <a:r>
              <a:rPr dirty="0" sz="800" spc="-10" b="1">
                <a:latin typeface="Arial"/>
                <a:cs typeface="Arial"/>
              </a:rPr>
              <a:t>performance</a:t>
            </a:r>
            <a:endParaRPr sz="800">
              <a:latin typeface="Arial"/>
              <a:cs typeface="Arial"/>
            </a:endParaRPr>
          </a:p>
          <a:p>
            <a:pPr marL="103505" marR="210185" indent="-9144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103505" algn="l"/>
              </a:tabLst>
            </a:pPr>
            <a:r>
              <a:rPr dirty="0" sz="800" spc="-10" b="1">
                <a:latin typeface="Arial"/>
                <a:cs typeface="Arial"/>
              </a:rPr>
              <a:t>Businesses</a:t>
            </a:r>
            <a:r>
              <a:rPr dirty="0" sz="800" spc="-25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may</a:t>
            </a:r>
            <a:r>
              <a:rPr dirty="0" sz="800" spc="-15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likely</a:t>
            </a:r>
            <a:r>
              <a:rPr dirty="0" sz="800" spc="-20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incur</a:t>
            </a:r>
            <a:r>
              <a:rPr dirty="0" sz="800" spc="-35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losses</a:t>
            </a:r>
            <a:r>
              <a:rPr dirty="0" sz="800" spc="-10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due</a:t>
            </a:r>
            <a:r>
              <a:rPr dirty="0" sz="800" spc="-15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to</a:t>
            </a:r>
            <a:r>
              <a:rPr dirty="0" sz="800" spc="-20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the</a:t>
            </a:r>
            <a:r>
              <a:rPr dirty="0" sz="800" spc="-10" b="1">
                <a:latin typeface="Arial"/>
                <a:cs typeface="Arial"/>
              </a:rPr>
              <a:t> impact</a:t>
            </a:r>
            <a:r>
              <a:rPr dirty="0" sz="800" spc="-30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of</a:t>
            </a:r>
            <a:r>
              <a:rPr dirty="0" sz="800" spc="-25" b="1">
                <a:latin typeface="Arial"/>
                <a:cs typeface="Arial"/>
              </a:rPr>
              <a:t> </a:t>
            </a:r>
            <a:r>
              <a:rPr dirty="0" sz="800" spc="-10" b="1">
                <a:latin typeface="Arial"/>
                <a:cs typeface="Arial"/>
              </a:rPr>
              <a:t>increased</a:t>
            </a:r>
            <a:r>
              <a:rPr dirty="0" sz="800" spc="-20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interest</a:t>
            </a:r>
            <a:r>
              <a:rPr dirty="0" sz="800" spc="-20" b="1">
                <a:latin typeface="Arial"/>
                <a:cs typeface="Arial"/>
              </a:rPr>
              <a:t> </a:t>
            </a:r>
            <a:r>
              <a:rPr dirty="0" sz="800" spc="-10" b="1">
                <a:latin typeface="Arial"/>
                <a:cs typeface="Arial"/>
              </a:rPr>
              <a:t>rates, devaluation</a:t>
            </a:r>
            <a:r>
              <a:rPr dirty="0" sz="800" spc="-30" b="1">
                <a:latin typeface="Arial"/>
                <a:cs typeface="Arial"/>
              </a:rPr>
              <a:t> </a:t>
            </a:r>
            <a:r>
              <a:rPr dirty="0" sz="800" spc="-10" b="1">
                <a:latin typeface="Arial"/>
                <a:cs typeface="Arial"/>
              </a:rPr>
              <a:t>losses,</a:t>
            </a:r>
            <a:r>
              <a:rPr dirty="0" sz="800" spc="5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among</a:t>
            </a:r>
            <a:r>
              <a:rPr dirty="0" sz="800" spc="-20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other</a:t>
            </a:r>
            <a:r>
              <a:rPr dirty="0" sz="800" spc="-5" b="1">
                <a:latin typeface="Arial"/>
                <a:cs typeface="Arial"/>
              </a:rPr>
              <a:t> </a:t>
            </a:r>
            <a:r>
              <a:rPr dirty="0" sz="800" spc="-10" b="1">
                <a:latin typeface="Arial"/>
                <a:cs typeface="Arial"/>
              </a:rPr>
              <a:t>challenges</a:t>
            </a:r>
            <a:endParaRPr sz="800">
              <a:latin typeface="Arial"/>
              <a:cs typeface="Arial"/>
            </a:endParaRPr>
          </a:p>
          <a:p>
            <a:pPr marL="103505" marR="5080" indent="-91440">
              <a:lnSpc>
                <a:spcPct val="100000"/>
              </a:lnSpc>
              <a:spcBef>
                <a:spcPts val="105"/>
              </a:spcBef>
              <a:buChar char="•"/>
              <a:tabLst>
                <a:tab pos="103505" algn="l"/>
              </a:tabLst>
            </a:pP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reintroduction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of BDCs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and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adoption </a:t>
            </a:r>
            <a:r>
              <a:rPr dirty="0" sz="800">
                <a:latin typeface="Arial MT"/>
                <a:cs typeface="Arial MT"/>
              </a:rPr>
              <a:t>of the FX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Price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Verification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System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to </a:t>
            </a:r>
            <a:r>
              <a:rPr dirty="0" sz="800" spc="-10">
                <a:latin typeface="Arial MT"/>
                <a:cs typeface="Arial MT"/>
              </a:rPr>
              <a:t>improve accessibility</a:t>
            </a:r>
            <a:r>
              <a:rPr dirty="0" sz="800" spc="-5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and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accountability</a:t>
            </a:r>
            <a:r>
              <a:rPr dirty="0" sz="800" spc="-5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in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long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term.</a:t>
            </a:r>
            <a:r>
              <a:rPr dirty="0" sz="800" spc="-4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In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short-</a:t>
            </a:r>
            <a:r>
              <a:rPr dirty="0" sz="800">
                <a:latin typeface="Arial MT"/>
                <a:cs typeface="Arial MT"/>
              </a:rPr>
              <a:t>term</a:t>
            </a:r>
            <a:r>
              <a:rPr dirty="0" sz="800" spc="-4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we expect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that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FX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will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still </a:t>
            </a:r>
            <a:r>
              <a:rPr dirty="0" sz="800">
                <a:latin typeface="Arial MT"/>
                <a:cs typeface="Arial MT"/>
              </a:rPr>
              <a:t>be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in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short</a:t>
            </a:r>
            <a:r>
              <a:rPr dirty="0" sz="800" spc="-4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supply</a:t>
            </a:r>
            <a:endParaRPr sz="800">
              <a:latin typeface="Arial MT"/>
              <a:cs typeface="Arial MT"/>
            </a:endParaRPr>
          </a:p>
          <a:p>
            <a:pPr marL="104139" indent="-91440">
              <a:lnSpc>
                <a:spcPct val="100000"/>
              </a:lnSpc>
              <a:spcBef>
                <a:spcPts val="100"/>
              </a:spcBef>
              <a:buChar char="•"/>
              <a:tabLst>
                <a:tab pos="104139" algn="l"/>
              </a:tabLst>
            </a:pPr>
            <a:r>
              <a:rPr dirty="0" sz="800">
                <a:latin typeface="Arial MT"/>
                <a:cs typeface="Arial MT"/>
              </a:rPr>
              <a:t>S&amp;P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projects</a:t>
            </a:r>
            <a:r>
              <a:rPr dirty="0" sz="800" spc="-4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-</a:t>
            </a:r>
            <a:r>
              <a:rPr dirty="0" sz="800">
                <a:latin typeface="Arial MT"/>
                <a:cs typeface="Arial MT"/>
              </a:rPr>
              <a:t>1.6%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in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industrial</a:t>
            </a:r>
            <a:r>
              <a:rPr dirty="0" sz="800" spc="-4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production</a:t>
            </a:r>
            <a:r>
              <a:rPr dirty="0" sz="800" spc="19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in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2023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and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growth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of</a:t>
            </a:r>
            <a:r>
              <a:rPr dirty="0" sz="800" spc="2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6.7%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in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20">
                <a:latin typeface="Arial MT"/>
                <a:cs typeface="Arial MT"/>
              </a:rPr>
              <a:t>2024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5563361" y="3654932"/>
            <a:ext cx="6299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D93953"/>
                </a:solidFill>
                <a:latin typeface="Arial"/>
                <a:cs typeface="Arial"/>
              </a:rPr>
              <a:t>Production</a:t>
            </a:r>
            <a:endParaRPr sz="900">
              <a:latin typeface="Arial"/>
              <a:cs typeface="Arial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5148071" y="1517903"/>
            <a:ext cx="276225" cy="2668270"/>
          </a:xfrm>
          <a:custGeom>
            <a:avLst/>
            <a:gdLst/>
            <a:ahLst/>
            <a:cxnLst/>
            <a:rect l="l" t="t" r="r" b="b"/>
            <a:pathLst>
              <a:path w="276225" h="2668270">
                <a:moveTo>
                  <a:pt x="0" y="0"/>
                </a:moveTo>
                <a:lnTo>
                  <a:pt x="0" y="2668270"/>
                </a:lnTo>
                <a:lnTo>
                  <a:pt x="275716" y="1334135"/>
                </a:lnTo>
                <a:lnTo>
                  <a:pt x="0" y="0"/>
                </a:lnTo>
                <a:close/>
              </a:path>
            </a:pathLst>
          </a:custGeom>
          <a:solidFill>
            <a:srgbClr val="BDBD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283260" y="1420494"/>
            <a:ext cx="115824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000" b="1">
                <a:solidFill>
                  <a:srgbClr val="FFFFFF"/>
                </a:solidFill>
                <a:latin typeface="Arial"/>
                <a:cs typeface="Arial"/>
              </a:rPr>
              <a:t>Prices</a:t>
            </a:r>
            <a:r>
              <a:rPr dirty="0" sz="10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000" spc="-1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FFFFFF"/>
                </a:solidFill>
                <a:latin typeface="Arial"/>
                <a:cs typeface="Arial"/>
              </a:rPr>
              <a:t>markets development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690372" y="946403"/>
            <a:ext cx="255904" cy="2496185"/>
            <a:chOff x="690372" y="946403"/>
            <a:chExt cx="255904" cy="2496185"/>
          </a:xfrm>
        </p:grpSpPr>
        <p:pic>
          <p:nvPicPr>
            <p:cNvPr id="22" name="object 2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6572" y="946403"/>
              <a:ext cx="161404" cy="297180"/>
            </a:xfrm>
            <a:prstGeom prst="rect">
              <a:avLst/>
            </a:prstGeom>
          </p:spPr>
        </p:pic>
        <p:sp>
          <p:nvSpPr>
            <p:cNvPr id="23" name="object 23" descr=""/>
            <p:cNvSpPr/>
            <p:nvPr/>
          </p:nvSpPr>
          <p:spPr>
            <a:xfrm>
              <a:off x="690372" y="2022347"/>
              <a:ext cx="255904" cy="196850"/>
            </a:xfrm>
            <a:custGeom>
              <a:avLst/>
              <a:gdLst/>
              <a:ahLst/>
              <a:cxnLst/>
              <a:rect l="l" t="t" r="r" b="b"/>
              <a:pathLst>
                <a:path w="255905" h="196850">
                  <a:moveTo>
                    <a:pt x="59436" y="0"/>
                  </a:moveTo>
                  <a:lnTo>
                    <a:pt x="27432" y="0"/>
                  </a:lnTo>
                  <a:lnTo>
                    <a:pt x="27432" y="32004"/>
                  </a:lnTo>
                  <a:lnTo>
                    <a:pt x="59436" y="32004"/>
                  </a:lnTo>
                  <a:lnTo>
                    <a:pt x="59436" y="0"/>
                  </a:lnTo>
                  <a:close/>
                </a:path>
                <a:path w="255905" h="196850">
                  <a:moveTo>
                    <a:pt x="92316" y="68961"/>
                  </a:moveTo>
                  <a:lnTo>
                    <a:pt x="90373" y="61468"/>
                  </a:lnTo>
                  <a:lnTo>
                    <a:pt x="87376" y="57785"/>
                  </a:lnTo>
                  <a:lnTo>
                    <a:pt x="84442" y="55499"/>
                  </a:lnTo>
                  <a:lnTo>
                    <a:pt x="81508" y="52451"/>
                  </a:lnTo>
                  <a:lnTo>
                    <a:pt x="71691" y="49530"/>
                  </a:lnTo>
                  <a:lnTo>
                    <a:pt x="66776" y="48768"/>
                  </a:lnTo>
                  <a:lnTo>
                    <a:pt x="24549" y="48768"/>
                  </a:lnTo>
                  <a:lnTo>
                    <a:pt x="0" y="64389"/>
                  </a:lnTo>
                  <a:lnTo>
                    <a:pt x="0" y="117348"/>
                  </a:lnTo>
                  <a:lnTo>
                    <a:pt x="1955" y="119634"/>
                  </a:lnTo>
                  <a:lnTo>
                    <a:pt x="7861" y="121158"/>
                  </a:lnTo>
                  <a:lnTo>
                    <a:pt x="11785" y="120396"/>
                  </a:lnTo>
                  <a:lnTo>
                    <a:pt x="13741" y="119634"/>
                  </a:lnTo>
                  <a:lnTo>
                    <a:pt x="15709" y="117348"/>
                  </a:lnTo>
                  <a:lnTo>
                    <a:pt x="16700" y="114427"/>
                  </a:lnTo>
                  <a:lnTo>
                    <a:pt x="16700" y="72644"/>
                  </a:lnTo>
                  <a:lnTo>
                    <a:pt x="20624" y="72644"/>
                  </a:lnTo>
                  <a:lnTo>
                    <a:pt x="20624" y="187452"/>
                  </a:lnTo>
                  <a:lnTo>
                    <a:pt x="21602" y="191262"/>
                  </a:lnTo>
                  <a:lnTo>
                    <a:pt x="24549" y="194183"/>
                  </a:lnTo>
                  <a:lnTo>
                    <a:pt x="28486" y="195707"/>
                  </a:lnTo>
                  <a:lnTo>
                    <a:pt x="32410" y="196469"/>
                  </a:lnTo>
                  <a:lnTo>
                    <a:pt x="36334" y="195707"/>
                  </a:lnTo>
                  <a:lnTo>
                    <a:pt x="40271" y="193421"/>
                  </a:lnTo>
                  <a:lnTo>
                    <a:pt x="43205" y="191262"/>
                  </a:lnTo>
                  <a:lnTo>
                    <a:pt x="44196" y="187452"/>
                  </a:lnTo>
                  <a:lnTo>
                    <a:pt x="44196" y="120396"/>
                  </a:lnTo>
                  <a:lnTo>
                    <a:pt x="48120" y="120396"/>
                  </a:lnTo>
                  <a:lnTo>
                    <a:pt x="48120" y="187452"/>
                  </a:lnTo>
                  <a:lnTo>
                    <a:pt x="49098" y="191262"/>
                  </a:lnTo>
                  <a:lnTo>
                    <a:pt x="51066" y="193421"/>
                  </a:lnTo>
                  <a:lnTo>
                    <a:pt x="54991" y="195707"/>
                  </a:lnTo>
                  <a:lnTo>
                    <a:pt x="58928" y="196469"/>
                  </a:lnTo>
                  <a:lnTo>
                    <a:pt x="63830" y="195707"/>
                  </a:lnTo>
                  <a:lnTo>
                    <a:pt x="66776" y="194183"/>
                  </a:lnTo>
                  <a:lnTo>
                    <a:pt x="69723" y="191262"/>
                  </a:lnTo>
                  <a:lnTo>
                    <a:pt x="70713" y="187452"/>
                  </a:lnTo>
                  <a:lnTo>
                    <a:pt x="70713" y="72644"/>
                  </a:lnTo>
                  <a:lnTo>
                    <a:pt x="74637" y="72644"/>
                  </a:lnTo>
                  <a:lnTo>
                    <a:pt x="74637" y="114427"/>
                  </a:lnTo>
                  <a:lnTo>
                    <a:pt x="75615" y="117348"/>
                  </a:lnTo>
                  <a:lnTo>
                    <a:pt x="77584" y="119634"/>
                  </a:lnTo>
                  <a:lnTo>
                    <a:pt x="83451" y="121158"/>
                  </a:lnTo>
                  <a:lnTo>
                    <a:pt x="89382" y="119634"/>
                  </a:lnTo>
                  <a:lnTo>
                    <a:pt x="91313" y="117348"/>
                  </a:lnTo>
                  <a:lnTo>
                    <a:pt x="92316" y="114427"/>
                  </a:lnTo>
                  <a:lnTo>
                    <a:pt x="92316" y="68961"/>
                  </a:lnTo>
                  <a:close/>
                </a:path>
                <a:path w="255905" h="196850">
                  <a:moveTo>
                    <a:pt x="136004" y="118694"/>
                  </a:moveTo>
                  <a:lnTo>
                    <a:pt x="115570" y="118694"/>
                  </a:lnTo>
                  <a:lnTo>
                    <a:pt x="115570" y="167513"/>
                  </a:lnTo>
                  <a:lnTo>
                    <a:pt x="136004" y="167513"/>
                  </a:lnTo>
                  <a:lnTo>
                    <a:pt x="136004" y="118694"/>
                  </a:lnTo>
                  <a:close/>
                </a:path>
                <a:path w="255905" h="196850">
                  <a:moveTo>
                    <a:pt x="175933" y="81140"/>
                  </a:moveTo>
                  <a:lnTo>
                    <a:pt x="155498" y="81140"/>
                  </a:lnTo>
                  <a:lnTo>
                    <a:pt x="155498" y="167513"/>
                  </a:lnTo>
                  <a:lnTo>
                    <a:pt x="175933" y="167513"/>
                  </a:lnTo>
                  <a:lnTo>
                    <a:pt x="175933" y="81140"/>
                  </a:lnTo>
                  <a:close/>
                </a:path>
                <a:path w="255905" h="196850">
                  <a:moveTo>
                    <a:pt x="215861" y="53543"/>
                  </a:moveTo>
                  <a:lnTo>
                    <a:pt x="195427" y="53543"/>
                  </a:lnTo>
                  <a:lnTo>
                    <a:pt x="195427" y="167513"/>
                  </a:lnTo>
                  <a:lnTo>
                    <a:pt x="215861" y="167513"/>
                  </a:lnTo>
                  <a:lnTo>
                    <a:pt x="215861" y="53543"/>
                  </a:lnTo>
                  <a:close/>
                </a:path>
                <a:path w="255905" h="196850">
                  <a:moveTo>
                    <a:pt x="255790" y="98132"/>
                  </a:moveTo>
                  <a:lnTo>
                    <a:pt x="235356" y="98132"/>
                  </a:lnTo>
                  <a:lnTo>
                    <a:pt x="235356" y="167513"/>
                  </a:lnTo>
                  <a:lnTo>
                    <a:pt x="255790" y="167513"/>
                  </a:lnTo>
                  <a:lnTo>
                    <a:pt x="255790" y="981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1520" y="3209543"/>
              <a:ext cx="179781" cy="232918"/>
            </a:xfrm>
            <a:prstGeom prst="rect">
              <a:avLst/>
            </a:prstGeom>
          </p:spPr>
        </p:pic>
      </p:grpSp>
      <p:sp>
        <p:nvSpPr>
          <p:cNvPr id="25" name="object 25" descr=""/>
          <p:cNvSpPr txBox="1"/>
          <p:nvPr/>
        </p:nvSpPr>
        <p:spPr>
          <a:xfrm>
            <a:off x="287832" y="3565016"/>
            <a:ext cx="9874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b="1">
                <a:solidFill>
                  <a:srgbClr val="FFFFFF"/>
                </a:solidFill>
                <a:latin typeface="Arial"/>
                <a:cs typeface="Arial"/>
              </a:rPr>
              <a:t>Fiscal</a:t>
            </a:r>
            <a:r>
              <a:rPr dirty="0" sz="10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FFFFFF"/>
                </a:solidFill>
                <a:latin typeface="Arial"/>
                <a:cs typeface="Arial"/>
              </a:rPr>
              <a:t>dynamics</a:t>
            </a:r>
            <a:endParaRPr sz="1000">
              <a:latin typeface="Arial"/>
              <a:cs typeface="Arial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759053" y="3257169"/>
            <a:ext cx="116839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 b="1">
                <a:latin typeface="Arial"/>
                <a:cs typeface="Arial"/>
              </a:rPr>
              <a:t>₦</a:t>
            </a:r>
            <a:endParaRPr sz="1000">
              <a:latin typeface="Arial"/>
              <a:cs typeface="Arial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264668" y="4782718"/>
            <a:ext cx="118491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0" b="1">
                <a:solidFill>
                  <a:srgbClr val="FFFFFF"/>
                </a:solidFill>
                <a:latin typeface="Arial"/>
                <a:cs typeface="Arial"/>
              </a:rPr>
              <a:t>Monetary</a:t>
            </a:r>
            <a:r>
              <a:rPr dirty="0" sz="1000" spc="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FFFFFF"/>
                </a:solidFill>
                <a:latin typeface="Arial"/>
                <a:cs typeface="Arial"/>
              </a:rPr>
              <a:t>dynamics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659891" y="4433315"/>
            <a:ext cx="356870" cy="277495"/>
            <a:chOff x="659891" y="4433315"/>
            <a:chExt cx="356870" cy="277495"/>
          </a:xfrm>
        </p:grpSpPr>
        <p:sp>
          <p:nvSpPr>
            <p:cNvPr id="29" name="object 29" descr=""/>
            <p:cNvSpPr/>
            <p:nvPr/>
          </p:nvSpPr>
          <p:spPr>
            <a:xfrm>
              <a:off x="659892" y="4688420"/>
              <a:ext cx="356870" cy="22225"/>
            </a:xfrm>
            <a:custGeom>
              <a:avLst/>
              <a:gdLst/>
              <a:ahLst/>
              <a:cxnLst/>
              <a:rect l="l" t="t" r="r" b="b"/>
              <a:pathLst>
                <a:path w="356869" h="22225">
                  <a:moveTo>
                    <a:pt x="343357" y="0"/>
                  </a:moveTo>
                  <a:lnTo>
                    <a:pt x="13195" y="0"/>
                  </a:lnTo>
                  <a:lnTo>
                    <a:pt x="13195" y="8763"/>
                  </a:lnTo>
                  <a:lnTo>
                    <a:pt x="343357" y="8763"/>
                  </a:lnTo>
                  <a:lnTo>
                    <a:pt x="343357" y="0"/>
                  </a:lnTo>
                  <a:close/>
                </a:path>
                <a:path w="356869" h="22225">
                  <a:moveTo>
                    <a:pt x="356539" y="8775"/>
                  </a:moveTo>
                  <a:lnTo>
                    <a:pt x="0" y="8775"/>
                  </a:lnTo>
                  <a:lnTo>
                    <a:pt x="0" y="21958"/>
                  </a:lnTo>
                  <a:lnTo>
                    <a:pt x="356539" y="21958"/>
                  </a:lnTo>
                  <a:lnTo>
                    <a:pt x="356539" y="87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5109" y="4477321"/>
              <a:ext cx="321322" cy="211099"/>
            </a:xfrm>
            <a:prstGeom prst="rect">
              <a:avLst/>
            </a:prstGeom>
          </p:spPr>
        </p:pic>
        <p:sp>
          <p:nvSpPr>
            <p:cNvPr id="31" name="object 31" descr=""/>
            <p:cNvSpPr/>
            <p:nvPr/>
          </p:nvSpPr>
          <p:spPr>
            <a:xfrm>
              <a:off x="659891" y="4433315"/>
              <a:ext cx="266700" cy="101600"/>
            </a:xfrm>
            <a:custGeom>
              <a:avLst/>
              <a:gdLst/>
              <a:ahLst/>
              <a:cxnLst/>
              <a:rect l="l" t="t" r="r" b="b"/>
              <a:pathLst>
                <a:path w="266700" h="101600">
                  <a:moveTo>
                    <a:pt x="176098" y="0"/>
                  </a:moveTo>
                  <a:lnTo>
                    <a:pt x="0" y="87934"/>
                  </a:lnTo>
                  <a:lnTo>
                    <a:pt x="13195" y="87934"/>
                  </a:lnTo>
                  <a:lnTo>
                    <a:pt x="13195" y="101130"/>
                  </a:lnTo>
                  <a:lnTo>
                    <a:pt x="92430" y="101130"/>
                  </a:lnTo>
                  <a:lnTo>
                    <a:pt x="106121" y="77368"/>
                  </a:lnTo>
                  <a:lnTo>
                    <a:pt x="125996" y="59385"/>
                  </a:lnTo>
                  <a:lnTo>
                    <a:pt x="150012" y="47980"/>
                  </a:lnTo>
                  <a:lnTo>
                    <a:pt x="176098" y="44005"/>
                  </a:lnTo>
                  <a:lnTo>
                    <a:pt x="266395" y="44005"/>
                  </a:lnTo>
                  <a:lnTo>
                    <a:pt x="1760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0475" y="4485131"/>
              <a:ext cx="152399" cy="138684"/>
            </a:xfrm>
            <a:prstGeom prst="rect">
              <a:avLst/>
            </a:prstGeom>
          </p:spPr>
        </p:pic>
      </p:grpSp>
      <p:sp>
        <p:nvSpPr>
          <p:cNvPr id="33" name="object 33" descr=""/>
          <p:cNvSpPr txBox="1"/>
          <p:nvPr/>
        </p:nvSpPr>
        <p:spPr>
          <a:xfrm>
            <a:off x="787704" y="4493463"/>
            <a:ext cx="9969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50" b="1">
                <a:solidFill>
                  <a:srgbClr val="DB526A"/>
                </a:solidFill>
                <a:latin typeface="Arial"/>
                <a:cs typeface="Arial"/>
              </a:rPr>
              <a:t>₦</a:t>
            </a:r>
            <a:endParaRPr sz="800">
              <a:latin typeface="Arial"/>
              <a:cs typeface="Arial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1696973" y="2070353"/>
            <a:ext cx="302768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3365" marR="5080" indent="-241300">
              <a:lnSpc>
                <a:spcPct val="100000"/>
              </a:lnSpc>
              <a:spcBef>
                <a:spcPts val="100"/>
              </a:spcBef>
              <a:buChar char="•"/>
              <a:tabLst>
                <a:tab pos="253365" algn="l"/>
              </a:tabLst>
            </a:pPr>
            <a:r>
              <a:rPr dirty="0" sz="900">
                <a:latin typeface="Arial MT"/>
                <a:cs typeface="Arial MT"/>
              </a:rPr>
              <a:t>Consumers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are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 b="1">
                <a:latin typeface="Arial"/>
                <a:cs typeface="Arial"/>
              </a:rPr>
              <a:t>expected</a:t>
            </a:r>
            <a:r>
              <a:rPr dirty="0" sz="900" spc="-1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to</a:t>
            </a:r>
            <a:r>
              <a:rPr dirty="0" sz="900" spc="-1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be</a:t>
            </a:r>
            <a:r>
              <a:rPr dirty="0" sz="900" spc="-10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pressured</a:t>
            </a:r>
            <a:r>
              <a:rPr dirty="0" sz="900" spc="22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by</a:t>
            </a:r>
            <a:r>
              <a:rPr dirty="0" sz="900" spc="-10" b="1">
                <a:latin typeface="Arial"/>
                <a:cs typeface="Arial"/>
              </a:rPr>
              <a:t> higher </a:t>
            </a:r>
            <a:r>
              <a:rPr dirty="0" sz="900" b="1">
                <a:latin typeface="Arial"/>
                <a:cs typeface="Arial"/>
              </a:rPr>
              <a:t>prices</a:t>
            </a:r>
            <a:r>
              <a:rPr dirty="0" sz="900" spc="-50" b="1">
                <a:latin typeface="Arial"/>
                <a:cs typeface="Arial"/>
              </a:rPr>
              <a:t> </a:t>
            </a:r>
            <a:r>
              <a:rPr dirty="0" sz="900">
                <a:latin typeface="Arial MT"/>
                <a:cs typeface="Arial MT"/>
              </a:rPr>
              <a:t>causing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demand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slow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down</a:t>
            </a:r>
            <a:endParaRPr sz="900">
              <a:latin typeface="Arial MT"/>
              <a:cs typeface="Arial MT"/>
            </a:endParaRPr>
          </a:p>
          <a:p>
            <a:pPr marL="253365" marR="339725" indent="-241300">
              <a:lnSpc>
                <a:spcPct val="100000"/>
              </a:lnSpc>
              <a:buFont typeface="Arial MT"/>
              <a:buChar char="•"/>
              <a:tabLst>
                <a:tab pos="253365" algn="l"/>
              </a:tabLst>
            </a:pPr>
            <a:r>
              <a:rPr dirty="0" sz="900" spc="-10" b="1">
                <a:latin typeface="Arial"/>
                <a:cs typeface="Arial"/>
              </a:rPr>
              <a:t>Wage</a:t>
            </a:r>
            <a:r>
              <a:rPr dirty="0" sz="900" spc="-35" b="1">
                <a:latin typeface="Arial"/>
                <a:cs typeface="Arial"/>
              </a:rPr>
              <a:t> </a:t>
            </a:r>
            <a:r>
              <a:rPr dirty="0" sz="900" spc="-10" b="1">
                <a:latin typeface="Arial"/>
                <a:cs typeface="Arial"/>
              </a:rPr>
              <a:t>adjustments</a:t>
            </a:r>
            <a:r>
              <a:rPr dirty="0" sz="900" spc="-3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unlikely</a:t>
            </a:r>
            <a:r>
              <a:rPr dirty="0" sz="900" spc="-1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to be</a:t>
            </a:r>
            <a:r>
              <a:rPr dirty="0" sz="900" spc="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on</a:t>
            </a:r>
            <a:r>
              <a:rPr dirty="0" sz="900" spc="-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par</a:t>
            </a:r>
            <a:r>
              <a:rPr dirty="0" sz="900" spc="-20" b="1">
                <a:latin typeface="Arial"/>
                <a:cs typeface="Arial"/>
              </a:rPr>
              <a:t> with </a:t>
            </a:r>
            <a:r>
              <a:rPr dirty="0" sz="900" spc="-10" b="1">
                <a:latin typeface="Arial"/>
                <a:cs typeface="Arial"/>
              </a:rPr>
              <a:t>inflation</a:t>
            </a:r>
            <a:r>
              <a:rPr dirty="0" sz="900" spc="-4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simultaneously</a:t>
            </a:r>
            <a:r>
              <a:rPr dirty="0" sz="900" spc="19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and</a:t>
            </a:r>
            <a:r>
              <a:rPr dirty="0" sz="900" spc="-20" b="1">
                <a:latin typeface="Arial"/>
                <a:cs typeface="Arial"/>
              </a:rPr>
              <a:t> </a:t>
            </a:r>
            <a:r>
              <a:rPr dirty="0" sz="900" spc="-10" b="1">
                <a:latin typeface="Arial"/>
                <a:cs typeface="Arial"/>
              </a:rPr>
              <a:t>proportionately</a:t>
            </a:r>
            <a:endParaRPr sz="900">
              <a:latin typeface="Arial"/>
              <a:cs typeface="Arial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1656842" y="2886201"/>
            <a:ext cx="3161030" cy="1123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02260" indent="-23876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02260" algn="l"/>
              </a:tabLst>
            </a:pPr>
            <a:r>
              <a:rPr dirty="0" sz="900" b="1">
                <a:latin typeface="Arial"/>
                <a:cs typeface="Arial"/>
              </a:rPr>
              <a:t>Newly</a:t>
            </a:r>
            <a:r>
              <a:rPr dirty="0" sz="900" spc="-3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installed</a:t>
            </a:r>
            <a:r>
              <a:rPr dirty="0" sz="900" spc="-2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ministerial</a:t>
            </a:r>
            <a:r>
              <a:rPr dirty="0" sz="900" spc="-2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cabinet</a:t>
            </a:r>
            <a:r>
              <a:rPr dirty="0" sz="900" spc="5" b="1">
                <a:latin typeface="Arial"/>
                <a:cs typeface="Arial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drive economic</a:t>
            </a:r>
            <a:endParaRPr sz="900">
              <a:latin typeface="Arial MT"/>
              <a:cs typeface="Arial MT"/>
            </a:endParaRPr>
          </a:p>
          <a:p>
            <a:pPr marL="302260">
              <a:lnSpc>
                <a:spcPct val="100000"/>
              </a:lnSpc>
            </a:pPr>
            <a:r>
              <a:rPr dirty="0" sz="900">
                <a:latin typeface="Arial MT"/>
                <a:cs typeface="Arial MT"/>
              </a:rPr>
              <a:t>direction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fiscal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policy</a:t>
            </a:r>
            <a:r>
              <a:rPr dirty="0" sz="900" spc="19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management</a:t>
            </a:r>
            <a:endParaRPr sz="900">
              <a:latin typeface="Arial MT"/>
              <a:cs typeface="Arial MT"/>
            </a:endParaRPr>
          </a:p>
          <a:p>
            <a:pPr marL="302260" marR="351155" indent="-239395">
              <a:lnSpc>
                <a:spcPct val="100000"/>
              </a:lnSpc>
              <a:buFont typeface="Arial MT"/>
              <a:buChar char="•"/>
              <a:tabLst>
                <a:tab pos="302260" algn="l"/>
              </a:tabLst>
            </a:pPr>
            <a:r>
              <a:rPr dirty="0" sz="900" spc="-10" b="1">
                <a:latin typeface="Arial"/>
                <a:cs typeface="Arial"/>
              </a:rPr>
              <a:t>Implementation</a:t>
            </a:r>
            <a:r>
              <a:rPr dirty="0" sz="900" spc="-4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of</a:t>
            </a:r>
            <a:r>
              <a:rPr dirty="0" sz="900" spc="-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the</a:t>
            </a:r>
            <a:r>
              <a:rPr dirty="0" sz="900" spc="-1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Finance</a:t>
            </a:r>
            <a:r>
              <a:rPr dirty="0" sz="900" spc="-4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Act</a:t>
            </a:r>
            <a:r>
              <a:rPr dirty="0" sz="900" spc="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2023</a:t>
            </a:r>
            <a:r>
              <a:rPr dirty="0" sz="900" spc="-20" b="1">
                <a:latin typeface="Arial"/>
                <a:cs typeface="Arial"/>
              </a:rPr>
              <a:t> </a:t>
            </a:r>
            <a:r>
              <a:rPr dirty="0" sz="900" spc="-20">
                <a:latin typeface="Arial MT"/>
                <a:cs typeface="Arial MT"/>
              </a:rPr>
              <a:t>from </a:t>
            </a:r>
            <a:r>
              <a:rPr dirty="0" sz="900" spc="-10">
                <a:latin typeface="Arial MT"/>
                <a:cs typeface="Arial MT"/>
              </a:rPr>
              <a:t>September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1</a:t>
            </a:r>
            <a:r>
              <a:rPr dirty="0" baseline="27777" sz="900">
                <a:latin typeface="Arial MT"/>
                <a:cs typeface="Arial MT"/>
              </a:rPr>
              <a:t>st</a:t>
            </a:r>
            <a:r>
              <a:rPr dirty="0" sz="900">
                <a:latin typeface="Arial MT"/>
                <a:cs typeface="Arial MT"/>
              </a:rPr>
              <a:t>.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 Act</a:t>
            </a:r>
            <a:r>
              <a:rPr dirty="0" sz="900" spc="-10">
                <a:latin typeface="Arial MT"/>
                <a:cs typeface="Arial MT"/>
              </a:rPr>
              <a:t> introduces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key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reforms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for </a:t>
            </a:r>
            <a:r>
              <a:rPr dirty="0" sz="900" spc="-10">
                <a:latin typeface="Arial MT"/>
                <a:cs typeface="Arial MT"/>
              </a:rPr>
              <a:t>expansion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tax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base</a:t>
            </a:r>
            <a:endParaRPr sz="900">
              <a:latin typeface="Arial MT"/>
              <a:cs typeface="Arial MT"/>
            </a:endParaRPr>
          </a:p>
          <a:p>
            <a:pPr marL="302260" marR="97155" indent="-239395">
              <a:lnSpc>
                <a:spcPct val="100000"/>
              </a:lnSpc>
              <a:buChar char="•"/>
              <a:tabLst>
                <a:tab pos="302260" algn="l"/>
              </a:tabLst>
            </a:pPr>
            <a:r>
              <a:rPr dirty="0" sz="900">
                <a:latin typeface="Arial MT"/>
                <a:cs typeface="Arial MT"/>
              </a:rPr>
              <a:t>Brent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crude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oil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price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rose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$94/b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on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September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13,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highest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since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November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2022.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Goldman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Sachs </a:t>
            </a:r>
            <a:r>
              <a:rPr dirty="0" sz="900" spc="-10">
                <a:latin typeface="Arial MT"/>
                <a:cs typeface="Arial MT"/>
              </a:rPr>
              <a:t>predicts</a:t>
            </a:r>
            <a:r>
              <a:rPr dirty="0" sz="900" spc="-5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that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oil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prices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will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reach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$107/b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by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end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2024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1707642" y="4190746"/>
            <a:ext cx="2966720" cy="1260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1460" marR="5080" indent="-239395">
              <a:lnSpc>
                <a:spcPct val="100000"/>
              </a:lnSpc>
              <a:spcBef>
                <a:spcPts val="100"/>
              </a:spcBef>
              <a:buChar char="•"/>
              <a:tabLst>
                <a:tab pos="251460" algn="l"/>
              </a:tabLst>
            </a:pPr>
            <a:r>
              <a:rPr dirty="0" sz="900">
                <a:latin typeface="Arial MT"/>
                <a:cs typeface="Arial MT"/>
              </a:rPr>
              <a:t>Lack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forward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guidance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on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FX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policy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and</a:t>
            </a:r>
            <a:r>
              <a:rPr dirty="0" sz="900" spc="10">
                <a:latin typeface="Arial MT"/>
                <a:cs typeface="Arial MT"/>
              </a:rPr>
              <a:t> </a:t>
            </a:r>
            <a:r>
              <a:rPr dirty="0" sz="900" spc="-10" b="1">
                <a:latin typeface="Arial"/>
                <a:cs typeface="Arial"/>
              </a:rPr>
              <a:t>unsettled </a:t>
            </a:r>
            <a:r>
              <a:rPr dirty="0" sz="900" b="1">
                <a:latin typeface="Arial"/>
                <a:cs typeface="Arial"/>
              </a:rPr>
              <a:t>backlog</a:t>
            </a:r>
            <a:r>
              <a:rPr dirty="0" sz="900" spc="-2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of FX</a:t>
            </a:r>
            <a:r>
              <a:rPr dirty="0" sz="900" spc="-1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obligations</a:t>
            </a:r>
            <a:r>
              <a:rPr dirty="0" sz="900" spc="-10" b="1">
                <a:latin typeface="Arial"/>
                <a:cs typeface="Arial"/>
              </a:rPr>
              <a:t> </a:t>
            </a:r>
            <a:r>
              <a:rPr dirty="0" sz="900">
                <a:latin typeface="Arial MT"/>
                <a:cs typeface="Arial MT"/>
              </a:rPr>
              <a:t>may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continue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impact </a:t>
            </a:r>
            <a:r>
              <a:rPr dirty="0" sz="900">
                <a:latin typeface="Arial MT"/>
                <a:cs typeface="Arial MT"/>
              </a:rPr>
              <a:t>investor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sentiment</a:t>
            </a:r>
            <a:endParaRPr sz="900">
              <a:latin typeface="Arial MT"/>
              <a:cs typeface="Arial MT"/>
            </a:endParaRPr>
          </a:p>
          <a:p>
            <a:pPr algn="just" marL="251460" marR="260985" indent="-239395">
              <a:lnSpc>
                <a:spcPct val="100000"/>
              </a:lnSpc>
              <a:buChar char="•"/>
              <a:tabLst>
                <a:tab pos="251460" algn="l"/>
              </a:tabLst>
            </a:pPr>
            <a:r>
              <a:rPr dirty="0" sz="900" spc="-10">
                <a:latin typeface="Arial MT"/>
                <a:cs typeface="Arial MT"/>
              </a:rPr>
              <a:t>Reintroduction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 b="1">
                <a:latin typeface="Arial"/>
                <a:cs typeface="Arial"/>
              </a:rPr>
              <a:t>BDCs</a:t>
            </a:r>
            <a:r>
              <a:rPr dirty="0" sz="900" spc="-5" b="1">
                <a:latin typeface="Arial"/>
                <a:cs typeface="Arial"/>
              </a:rPr>
              <a:t> </a:t>
            </a:r>
            <a:r>
              <a:rPr dirty="0" sz="900">
                <a:latin typeface="Arial MT"/>
                <a:cs typeface="Arial MT"/>
              </a:rPr>
              <a:t>to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provide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relief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from</a:t>
            </a:r>
            <a:r>
              <a:rPr dirty="0" sz="900" spc="-25">
                <a:latin typeface="Arial MT"/>
                <a:cs typeface="Arial MT"/>
              </a:rPr>
              <a:t> the </a:t>
            </a:r>
            <a:r>
              <a:rPr dirty="0" sz="900" spc="-10">
                <a:latin typeface="Arial MT"/>
                <a:cs typeface="Arial MT"/>
              </a:rPr>
              <a:t>continued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devaluation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 the naira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 the short</a:t>
            </a:r>
            <a:r>
              <a:rPr dirty="0" sz="900" spc="-15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to </a:t>
            </a:r>
            <a:r>
              <a:rPr dirty="0" sz="900" spc="-10">
                <a:latin typeface="Arial MT"/>
                <a:cs typeface="Arial MT"/>
              </a:rPr>
              <a:t>medium </a:t>
            </a:r>
            <a:r>
              <a:rPr dirty="0" sz="900" spc="-20">
                <a:latin typeface="Arial MT"/>
                <a:cs typeface="Arial MT"/>
              </a:rPr>
              <a:t>term</a:t>
            </a:r>
            <a:endParaRPr sz="900">
              <a:latin typeface="Arial MT"/>
              <a:cs typeface="Arial MT"/>
            </a:endParaRPr>
          </a:p>
          <a:p>
            <a:pPr marL="251460" marR="272415" indent="-239395">
              <a:lnSpc>
                <a:spcPct val="100000"/>
              </a:lnSpc>
              <a:buChar char="•"/>
              <a:tabLst>
                <a:tab pos="251460" algn="l"/>
              </a:tabLst>
            </a:pP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appointment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a</a:t>
            </a:r>
            <a:r>
              <a:rPr dirty="0" sz="900" spc="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new</a:t>
            </a:r>
            <a:r>
              <a:rPr dirty="0" sz="900" spc="-1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CBN </a:t>
            </a:r>
            <a:r>
              <a:rPr dirty="0" sz="900" spc="-10">
                <a:latin typeface="Arial MT"/>
                <a:cs typeface="Arial MT"/>
              </a:rPr>
              <a:t>governor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and </a:t>
            </a:r>
            <a:r>
              <a:rPr dirty="0" sz="900" spc="-10">
                <a:latin typeface="Arial MT"/>
                <a:cs typeface="Arial MT"/>
              </a:rPr>
              <a:t>management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team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will</a:t>
            </a:r>
            <a:r>
              <a:rPr dirty="0" sz="900" spc="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shape</a:t>
            </a:r>
            <a:r>
              <a:rPr dirty="0" sz="900" spc="-3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the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direction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of</a:t>
            </a:r>
            <a:r>
              <a:rPr dirty="0" sz="900" spc="5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the </a:t>
            </a:r>
            <a:r>
              <a:rPr dirty="0" sz="900" spc="-10">
                <a:latin typeface="Arial MT"/>
                <a:cs typeface="Arial MT"/>
              </a:rPr>
              <a:t>monetary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policy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5563361" y="2607691"/>
            <a:ext cx="12452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D93953"/>
                </a:solidFill>
                <a:latin typeface="Arial"/>
                <a:cs typeface="Arial"/>
              </a:rPr>
              <a:t>Government</a:t>
            </a:r>
            <a:r>
              <a:rPr dirty="0" sz="900" spc="30" b="1">
                <a:solidFill>
                  <a:srgbClr val="D93953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D93953"/>
                </a:solidFill>
                <a:latin typeface="Arial"/>
                <a:cs typeface="Arial"/>
              </a:rPr>
              <a:t>Spending</a:t>
            </a:r>
            <a:endParaRPr sz="900">
              <a:latin typeface="Arial"/>
              <a:cs typeface="Arial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5625210" y="2747518"/>
            <a:ext cx="4181475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3505" marR="5080" indent="-91440">
              <a:lnSpc>
                <a:spcPct val="100000"/>
              </a:lnSpc>
              <a:spcBef>
                <a:spcPts val="100"/>
              </a:spcBef>
              <a:buChar char="•"/>
              <a:tabLst>
                <a:tab pos="103505" algn="l"/>
              </a:tabLst>
            </a:pPr>
            <a:r>
              <a:rPr dirty="0" sz="800" spc="-10">
                <a:latin typeface="Arial MT"/>
                <a:cs typeface="Arial MT"/>
              </a:rPr>
              <a:t>Government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spending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will</a:t>
            </a:r>
            <a:r>
              <a:rPr dirty="0" sz="800" spc="229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rise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but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continue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to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be</a:t>
            </a:r>
            <a:r>
              <a:rPr dirty="0" sz="800" spc="1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constrained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by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debt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servicing</a:t>
            </a:r>
            <a:r>
              <a:rPr dirty="0" sz="800" spc="-4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obligations </a:t>
            </a:r>
            <a:r>
              <a:rPr dirty="0" sz="800">
                <a:latin typeface="Arial MT"/>
                <a:cs typeface="Arial MT"/>
              </a:rPr>
              <a:t>and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huge </a:t>
            </a:r>
            <a:r>
              <a:rPr dirty="0" sz="800" spc="-10">
                <a:latin typeface="Arial MT"/>
                <a:cs typeface="Arial MT"/>
              </a:rPr>
              <a:t>fiscal</a:t>
            </a:r>
            <a:r>
              <a:rPr dirty="0" sz="800" spc="-5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deficit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5563361" y="5063744"/>
            <a:ext cx="6654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D93953"/>
                </a:solidFill>
                <a:latin typeface="Arial"/>
                <a:cs typeface="Arial"/>
              </a:rPr>
              <a:t>Net</a:t>
            </a:r>
            <a:r>
              <a:rPr dirty="0" sz="900" spc="-40" b="1">
                <a:solidFill>
                  <a:srgbClr val="D93953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D93953"/>
                </a:solidFill>
                <a:latin typeface="Arial"/>
                <a:cs typeface="Arial"/>
              </a:rPr>
              <a:t>Exports</a:t>
            </a:r>
            <a:endParaRPr sz="900">
              <a:latin typeface="Arial"/>
              <a:cs typeface="Arial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5625210" y="5217667"/>
            <a:ext cx="297815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4139" indent="-91440">
              <a:lnSpc>
                <a:spcPct val="100000"/>
              </a:lnSpc>
              <a:spcBef>
                <a:spcPts val="100"/>
              </a:spcBef>
              <a:buChar char="•"/>
              <a:tabLst>
                <a:tab pos="104139" algn="l"/>
              </a:tabLst>
            </a:pPr>
            <a:r>
              <a:rPr dirty="0" sz="800">
                <a:latin typeface="Arial MT"/>
                <a:cs typeface="Arial MT"/>
              </a:rPr>
              <a:t>Net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exports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will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continue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to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be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pressured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given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FX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unavailability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273507" y="2246198"/>
            <a:ext cx="90170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 b="1">
                <a:solidFill>
                  <a:srgbClr val="FFFFFF"/>
                </a:solidFill>
                <a:latin typeface="Arial"/>
                <a:cs typeface="Arial"/>
              </a:rPr>
              <a:t>Consumer</a:t>
            </a:r>
            <a:r>
              <a:rPr dirty="0" sz="1000" spc="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-25" b="1">
                <a:solidFill>
                  <a:srgbClr val="FFFFFF"/>
                </a:solidFill>
                <a:latin typeface="Arial"/>
                <a:cs typeface="Arial"/>
              </a:rPr>
              <a:t>and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000" spc="-10" b="1">
                <a:solidFill>
                  <a:srgbClr val="FFFFFF"/>
                </a:solidFill>
                <a:latin typeface="Arial"/>
                <a:cs typeface="Arial"/>
              </a:rPr>
              <a:t>demand</a:t>
            </a:r>
            <a:endParaRPr sz="1000">
              <a:latin typeface="Arial"/>
              <a:cs typeface="Arial"/>
            </a:endParaRPr>
          </a:p>
        </p:txBody>
      </p:sp>
      <p:sp>
        <p:nvSpPr>
          <p:cNvPr id="42" name="object 42" descr=""/>
          <p:cNvSpPr/>
          <p:nvPr/>
        </p:nvSpPr>
        <p:spPr>
          <a:xfrm>
            <a:off x="6059423" y="966216"/>
            <a:ext cx="3899535" cy="0"/>
          </a:xfrm>
          <a:custGeom>
            <a:avLst/>
            <a:gdLst/>
            <a:ahLst/>
            <a:cxnLst/>
            <a:rect l="l" t="t" r="r" b="b"/>
            <a:pathLst>
              <a:path w="3899534" h="0">
                <a:moveTo>
                  <a:pt x="0" y="0"/>
                </a:moveTo>
                <a:lnTo>
                  <a:pt x="3899154" y="0"/>
                </a:lnTo>
              </a:path>
            </a:pathLst>
          </a:custGeom>
          <a:ln w="6350">
            <a:solidFill>
              <a:srgbClr val="D0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 descr=""/>
          <p:cNvSpPr/>
          <p:nvPr/>
        </p:nvSpPr>
        <p:spPr>
          <a:xfrm>
            <a:off x="6239255" y="1644395"/>
            <a:ext cx="3720465" cy="0"/>
          </a:xfrm>
          <a:custGeom>
            <a:avLst/>
            <a:gdLst/>
            <a:ahLst/>
            <a:cxnLst/>
            <a:rect l="l" t="t" r="r" b="b"/>
            <a:pathLst>
              <a:path w="3720465" h="0">
                <a:moveTo>
                  <a:pt x="0" y="0"/>
                </a:moveTo>
                <a:lnTo>
                  <a:pt x="3720211" y="0"/>
                </a:lnTo>
              </a:path>
            </a:pathLst>
          </a:custGeom>
          <a:ln w="6350">
            <a:solidFill>
              <a:srgbClr val="D0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 descr=""/>
          <p:cNvSpPr/>
          <p:nvPr/>
        </p:nvSpPr>
        <p:spPr>
          <a:xfrm>
            <a:off x="6838188" y="2695955"/>
            <a:ext cx="3121660" cy="0"/>
          </a:xfrm>
          <a:custGeom>
            <a:avLst/>
            <a:gdLst/>
            <a:ahLst/>
            <a:cxnLst/>
            <a:rect l="l" t="t" r="r" b="b"/>
            <a:pathLst>
              <a:path w="3121659" h="0">
                <a:moveTo>
                  <a:pt x="0" y="0"/>
                </a:moveTo>
                <a:lnTo>
                  <a:pt x="3121405" y="0"/>
                </a:lnTo>
              </a:path>
            </a:pathLst>
          </a:custGeom>
          <a:ln w="6350">
            <a:solidFill>
              <a:srgbClr val="D0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 descr=""/>
          <p:cNvSpPr/>
          <p:nvPr/>
        </p:nvSpPr>
        <p:spPr>
          <a:xfrm>
            <a:off x="6719316" y="3118104"/>
            <a:ext cx="3239770" cy="0"/>
          </a:xfrm>
          <a:custGeom>
            <a:avLst/>
            <a:gdLst/>
            <a:ahLst/>
            <a:cxnLst/>
            <a:rect l="l" t="t" r="r" b="b"/>
            <a:pathLst>
              <a:path w="3239770" h="0">
                <a:moveTo>
                  <a:pt x="0" y="0"/>
                </a:moveTo>
                <a:lnTo>
                  <a:pt x="3239261" y="0"/>
                </a:lnTo>
              </a:path>
            </a:pathLst>
          </a:custGeom>
          <a:ln w="6350">
            <a:solidFill>
              <a:srgbClr val="D0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 descr=""/>
          <p:cNvSpPr/>
          <p:nvPr/>
        </p:nvSpPr>
        <p:spPr>
          <a:xfrm>
            <a:off x="6239255" y="3752088"/>
            <a:ext cx="3720465" cy="0"/>
          </a:xfrm>
          <a:custGeom>
            <a:avLst/>
            <a:gdLst/>
            <a:ahLst/>
            <a:cxnLst/>
            <a:rect l="l" t="t" r="r" b="b"/>
            <a:pathLst>
              <a:path w="3720465" h="0">
                <a:moveTo>
                  <a:pt x="0" y="0"/>
                </a:moveTo>
                <a:lnTo>
                  <a:pt x="3720211" y="0"/>
                </a:lnTo>
              </a:path>
            </a:pathLst>
          </a:custGeom>
          <a:ln w="6350">
            <a:solidFill>
              <a:srgbClr val="D0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 descr=""/>
          <p:cNvSpPr/>
          <p:nvPr/>
        </p:nvSpPr>
        <p:spPr>
          <a:xfrm>
            <a:off x="6239255" y="5149596"/>
            <a:ext cx="3720465" cy="0"/>
          </a:xfrm>
          <a:custGeom>
            <a:avLst/>
            <a:gdLst/>
            <a:ahLst/>
            <a:cxnLst/>
            <a:rect l="l" t="t" r="r" b="b"/>
            <a:pathLst>
              <a:path w="3720465" h="0">
                <a:moveTo>
                  <a:pt x="0" y="0"/>
                </a:moveTo>
                <a:lnTo>
                  <a:pt x="3720211" y="0"/>
                </a:lnTo>
              </a:path>
            </a:pathLst>
          </a:custGeom>
          <a:ln w="6350">
            <a:solidFill>
              <a:srgbClr val="D0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 descr=""/>
          <p:cNvSpPr/>
          <p:nvPr/>
        </p:nvSpPr>
        <p:spPr>
          <a:xfrm>
            <a:off x="192023" y="813816"/>
            <a:ext cx="9775190" cy="0"/>
          </a:xfrm>
          <a:custGeom>
            <a:avLst/>
            <a:gdLst/>
            <a:ahLst/>
            <a:cxnLst/>
            <a:rect l="l" t="t" r="r" b="b"/>
            <a:pathLst>
              <a:path w="9775190" h="0">
                <a:moveTo>
                  <a:pt x="0" y="0"/>
                </a:moveTo>
                <a:lnTo>
                  <a:pt x="977519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49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Economic</a:t>
            </a:r>
            <a:r>
              <a:rPr dirty="0" spc="-35"/>
              <a:t> </a:t>
            </a:r>
            <a:r>
              <a:rPr dirty="0"/>
              <a:t>context</a:t>
            </a:r>
            <a:r>
              <a:rPr dirty="0" spc="-40"/>
              <a:t> </a:t>
            </a:r>
            <a:r>
              <a:rPr dirty="0"/>
              <a:t>and</a:t>
            </a:r>
            <a:r>
              <a:rPr dirty="0" spc="-40"/>
              <a:t> </a:t>
            </a:r>
            <a:r>
              <a:rPr dirty="0" spc="-10"/>
              <a:t>outlook</a:t>
            </a:r>
          </a:p>
        </p:txBody>
      </p:sp>
      <p:sp>
        <p:nvSpPr>
          <p:cNvPr id="50" name="object 5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Impact</a:t>
            </a:r>
            <a:r>
              <a:rPr dirty="0" spc="35"/>
              <a:t> </a:t>
            </a:r>
            <a:r>
              <a:rPr dirty="0"/>
              <a:t>of</a:t>
            </a:r>
            <a:r>
              <a:rPr dirty="0" spc="50"/>
              <a:t> </a:t>
            </a:r>
            <a:r>
              <a:rPr dirty="0"/>
              <a:t>Global</a:t>
            </a:r>
            <a:r>
              <a:rPr dirty="0" spc="65"/>
              <a:t> </a:t>
            </a:r>
            <a:r>
              <a:rPr dirty="0"/>
              <a:t>Economic</a:t>
            </a:r>
            <a:r>
              <a:rPr dirty="0" spc="30"/>
              <a:t> </a:t>
            </a:r>
            <a:r>
              <a:rPr dirty="0"/>
              <a:t>Trends</a:t>
            </a:r>
            <a:r>
              <a:rPr dirty="0" spc="45"/>
              <a:t> </a:t>
            </a:r>
            <a:r>
              <a:rPr dirty="0"/>
              <a:t>on</a:t>
            </a:r>
            <a:r>
              <a:rPr dirty="0" spc="40"/>
              <a:t> </a:t>
            </a:r>
            <a:r>
              <a:rPr dirty="0"/>
              <a:t>Nigeria’s</a:t>
            </a:r>
            <a:r>
              <a:rPr dirty="0" spc="60"/>
              <a:t> </a:t>
            </a:r>
            <a:r>
              <a:rPr dirty="0"/>
              <a:t>Foreign</a:t>
            </a:r>
            <a:r>
              <a:rPr dirty="0" spc="45"/>
              <a:t> </a:t>
            </a:r>
            <a:r>
              <a:rPr dirty="0"/>
              <a:t>Exchange</a:t>
            </a:r>
            <a:r>
              <a:rPr dirty="0" spc="60"/>
              <a:t> </a:t>
            </a:r>
            <a:r>
              <a:rPr dirty="0" spc="-10"/>
              <a:t>Market</a:t>
            </a:r>
          </a:p>
        </p:txBody>
      </p:sp>
      <p:sp>
        <p:nvSpPr>
          <p:cNvPr id="51" name="object 51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October</a:t>
            </a:r>
            <a:r>
              <a:rPr dirty="0" spc="80"/>
              <a:t> </a:t>
            </a:r>
            <a:r>
              <a:rPr dirty="0" spc="-20"/>
              <a:t>2023</a:t>
            </a:r>
          </a:p>
        </p:txBody>
      </p:sp>
      <p:sp>
        <p:nvSpPr>
          <p:cNvPr id="52" name="object 5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815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53" name="object 53" descr=""/>
          <p:cNvSpPr txBox="1"/>
          <p:nvPr/>
        </p:nvSpPr>
        <p:spPr>
          <a:xfrm>
            <a:off x="4144517" y="5524360"/>
            <a:ext cx="954405" cy="109220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 sz="550" i="1">
                <a:latin typeface="Arial"/>
                <a:cs typeface="Arial"/>
              </a:rPr>
              <a:t>Source:</a:t>
            </a:r>
            <a:r>
              <a:rPr dirty="0" sz="550" spc="300" i="1">
                <a:latin typeface="Arial"/>
                <a:cs typeface="Arial"/>
              </a:rPr>
              <a:t> </a:t>
            </a:r>
            <a:r>
              <a:rPr dirty="0" sz="550" i="1">
                <a:latin typeface="Arial"/>
                <a:cs typeface="Arial"/>
              </a:rPr>
              <a:t>S&amp;P,</a:t>
            </a:r>
            <a:r>
              <a:rPr dirty="0" sz="550" spc="25" i="1">
                <a:latin typeface="Arial"/>
                <a:cs typeface="Arial"/>
              </a:rPr>
              <a:t> </a:t>
            </a:r>
            <a:r>
              <a:rPr dirty="0" sz="550" i="1">
                <a:latin typeface="Arial"/>
                <a:cs typeface="Arial"/>
              </a:rPr>
              <a:t>PwC</a:t>
            </a:r>
            <a:r>
              <a:rPr dirty="0" sz="550" spc="10" i="1">
                <a:latin typeface="Arial"/>
                <a:cs typeface="Arial"/>
              </a:rPr>
              <a:t> </a:t>
            </a:r>
            <a:r>
              <a:rPr dirty="0" sz="550" spc="-10" i="1">
                <a:latin typeface="Arial"/>
                <a:cs typeface="Arial"/>
              </a:rPr>
              <a:t>Analysis</a:t>
            </a:r>
            <a:endParaRPr sz="5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49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Framing</a:t>
            </a:r>
            <a:r>
              <a:rPr dirty="0" spc="-35"/>
              <a:t> </a:t>
            </a:r>
            <a:r>
              <a:rPr dirty="0"/>
              <a:t>the</a:t>
            </a:r>
            <a:r>
              <a:rPr dirty="0" spc="-60"/>
              <a:t> </a:t>
            </a:r>
            <a:r>
              <a:rPr dirty="0"/>
              <a:t>relationships</a:t>
            </a:r>
            <a:r>
              <a:rPr dirty="0" spc="-15"/>
              <a:t> </a:t>
            </a:r>
            <a:r>
              <a:rPr dirty="0"/>
              <a:t>between</a:t>
            </a:r>
            <a:r>
              <a:rPr dirty="0" spc="-30"/>
              <a:t> </a:t>
            </a:r>
            <a:r>
              <a:rPr dirty="0"/>
              <a:t>global</a:t>
            </a:r>
            <a:r>
              <a:rPr dirty="0" spc="-35"/>
              <a:t> </a:t>
            </a:r>
            <a:r>
              <a:rPr dirty="0"/>
              <a:t>trends</a:t>
            </a:r>
            <a:r>
              <a:rPr dirty="0" spc="-45"/>
              <a:t> </a:t>
            </a:r>
            <a:r>
              <a:rPr dirty="0"/>
              <a:t>and</a:t>
            </a:r>
            <a:r>
              <a:rPr dirty="0" spc="-40"/>
              <a:t> </a:t>
            </a:r>
            <a:r>
              <a:rPr dirty="0"/>
              <a:t>Nigeria</a:t>
            </a:r>
            <a:r>
              <a:rPr dirty="0" spc="-45"/>
              <a:t> </a:t>
            </a:r>
            <a:r>
              <a:rPr dirty="0"/>
              <a:t>FX</a:t>
            </a:r>
            <a:r>
              <a:rPr dirty="0" spc="-45"/>
              <a:t> </a:t>
            </a:r>
            <a:r>
              <a:rPr dirty="0" spc="-10"/>
              <a:t>market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4986528" y="1251203"/>
            <a:ext cx="1877695" cy="265430"/>
          </a:xfrm>
          <a:custGeom>
            <a:avLst/>
            <a:gdLst/>
            <a:ahLst/>
            <a:cxnLst/>
            <a:rect l="l" t="t" r="r" b="b"/>
            <a:pathLst>
              <a:path w="1877695" h="265430">
                <a:moveTo>
                  <a:pt x="1877568" y="0"/>
                </a:moveTo>
                <a:lnTo>
                  <a:pt x="0" y="0"/>
                </a:lnTo>
                <a:lnTo>
                  <a:pt x="0" y="265175"/>
                </a:lnTo>
                <a:lnTo>
                  <a:pt x="1877568" y="265175"/>
                </a:lnTo>
                <a:lnTo>
                  <a:pt x="1877568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4977384" y="774191"/>
            <a:ext cx="1899285" cy="426720"/>
          </a:xfrm>
          <a:prstGeom prst="rect">
            <a:avLst/>
          </a:prstGeom>
          <a:solidFill>
            <a:srgbClr val="0D0D0D"/>
          </a:solidFill>
        </p:spPr>
        <p:txBody>
          <a:bodyPr wrap="square" lIns="0" tIns="103505" rIns="0" bIns="0" rtlCol="0" vert="horz">
            <a:spAutoFit/>
          </a:bodyPr>
          <a:lstStyle/>
          <a:p>
            <a:pPr marL="123189">
              <a:lnSpc>
                <a:spcPct val="100000"/>
              </a:lnSpc>
              <a:spcBef>
                <a:spcPts val="815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FX</a:t>
            </a:r>
            <a:r>
              <a:rPr dirty="0" sz="12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Market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7478268" y="1264919"/>
            <a:ext cx="2139950" cy="1687195"/>
          </a:xfrm>
          <a:custGeom>
            <a:avLst/>
            <a:gdLst/>
            <a:ahLst/>
            <a:cxnLst/>
            <a:rect l="l" t="t" r="r" b="b"/>
            <a:pathLst>
              <a:path w="2139950" h="1687195">
                <a:moveTo>
                  <a:pt x="0" y="1687067"/>
                </a:moveTo>
                <a:lnTo>
                  <a:pt x="2139696" y="1687067"/>
                </a:lnTo>
                <a:lnTo>
                  <a:pt x="2139696" y="0"/>
                </a:lnTo>
                <a:lnTo>
                  <a:pt x="0" y="0"/>
                </a:lnTo>
                <a:lnTo>
                  <a:pt x="0" y="1687067"/>
                </a:lnTo>
                <a:close/>
              </a:path>
            </a:pathLst>
          </a:custGeom>
          <a:ln w="6350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7478268" y="774191"/>
            <a:ext cx="2139950" cy="487680"/>
          </a:xfrm>
          <a:prstGeom prst="rect">
            <a:avLst/>
          </a:prstGeom>
          <a:solidFill>
            <a:srgbClr val="0D0D0D"/>
          </a:solidFill>
        </p:spPr>
        <p:txBody>
          <a:bodyPr wrap="square" lIns="0" tIns="11620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915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Local</a:t>
            </a:r>
            <a:r>
              <a:rPr dirty="0" sz="1200" spc="-7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trends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539228" y="1303019"/>
            <a:ext cx="2019300" cy="734695"/>
          </a:xfrm>
          <a:prstGeom prst="rect">
            <a:avLst/>
          </a:prstGeom>
          <a:solidFill>
            <a:srgbClr val="C00000"/>
          </a:solidFill>
        </p:spPr>
        <p:txBody>
          <a:bodyPr wrap="square" lIns="0" tIns="508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</a:pPr>
            <a:endParaRPr sz="1000">
              <a:latin typeface="Times New Roman"/>
              <a:cs typeface="Times New Roman"/>
            </a:endParaRPr>
          </a:p>
          <a:p>
            <a:pPr marL="89535" marR="394970">
              <a:lnSpc>
                <a:spcPts val="1180"/>
              </a:lnSpc>
            </a:pP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Fiscal</a:t>
            </a:r>
            <a:r>
              <a:rPr dirty="0" sz="10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policy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+</a:t>
            </a:r>
            <a:r>
              <a:rPr dirty="0" sz="10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development (fiscal</a:t>
            </a:r>
            <a:r>
              <a:rPr dirty="0" sz="10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balance,</a:t>
            </a:r>
            <a:r>
              <a:rPr dirty="0" sz="10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debt)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7539228" y="2132076"/>
            <a:ext cx="2019300" cy="762000"/>
          </a:xfrm>
          <a:prstGeom prst="rect">
            <a:avLst/>
          </a:prstGeom>
          <a:solidFill>
            <a:srgbClr val="AEABAB"/>
          </a:solidFill>
        </p:spPr>
        <p:txBody>
          <a:bodyPr wrap="square" lIns="0" tIns="80010" rIns="0" bIns="0" rtlCol="0" vert="horz">
            <a:spAutoFit/>
          </a:bodyPr>
          <a:lstStyle/>
          <a:p>
            <a:pPr marL="83820" marR="654050">
              <a:lnSpc>
                <a:spcPct val="100000"/>
              </a:lnSpc>
              <a:spcBef>
                <a:spcPts val="630"/>
              </a:spcBef>
            </a:pP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Local</a:t>
            </a:r>
            <a:r>
              <a:rPr dirty="0" sz="10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economy</a:t>
            </a:r>
            <a:r>
              <a:rPr dirty="0" sz="10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growth/ performance</a:t>
            </a:r>
            <a:endParaRPr sz="1000">
              <a:latin typeface="Arial MT"/>
              <a:cs typeface="Arial MT"/>
            </a:endParaRPr>
          </a:p>
          <a:p>
            <a:pPr marL="83820">
              <a:lnSpc>
                <a:spcPts val="1190"/>
              </a:lnSpc>
            </a:pP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(exports</a:t>
            </a:r>
            <a:r>
              <a:rPr dirty="0" sz="10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10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Imports,</a:t>
            </a:r>
            <a:r>
              <a:rPr dirty="0" sz="10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inflation</a:t>
            </a:r>
            <a:endParaRPr sz="1000">
              <a:latin typeface="Arial MT"/>
              <a:cs typeface="Arial MT"/>
            </a:endParaRPr>
          </a:p>
          <a:p>
            <a:pPr marL="83820">
              <a:lnSpc>
                <a:spcPts val="1190"/>
              </a:lnSpc>
            </a:pP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etc.)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85103" y="2884932"/>
            <a:ext cx="160020" cy="179831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4568952" y="3066288"/>
            <a:ext cx="2673350" cy="56705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73025" rIns="0" bIns="0" rtlCol="0" vert="horz">
            <a:spAutoFit/>
          </a:bodyPr>
          <a:lstStyle/>
          <a:p>
            <a:pPr marL="88265" marR="89535">
              <a:lnSpc>
                <a:spcPct val="99000"/>
              </a:lnSpc>
              <a:spcBef>
                <a:spcPts val="575"/>
              </a:spcBef>
            </a:pPr>
            <a:r>
              <a:rPr dirty="0" sz="900" b="1">
                <a:latin typeface="Arial"/>
                <a:cs typeface="Arial"/>
              </a:rPr>
              <a:t>Market</a:t>
            </a:r>
            <a:r>
              <a:rPr dirty="0" sz="900" spc="-3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Mechanisms</a:t>
            </a:r>
            <a:r>
              <a:rPr dirty="0" sz="900" spc="-4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and</a:t>
            </a:r>
            <a:r>
              <a:rPr dirty="0" sz="900" spc="-2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Governance:</a:t>
            </a:r>
            <a:r>
              <a:rPr dirty="0" sz="900" spc="10" b="1">
                <a:latin typeface="Arial"/>
                <a:cs typeface="Arial"/>
              </a:rPr>
              <a:t> </a:t>
            </a:r>
            <a:r>
              <a:rPr dirty="0" sz="900" spc="-10">
                <a:latin typeface="Arial MT"/>
                <a:cs typeface="Arial MT"/>
              </a:rPr>
              <a:t>Access, </a:t>
            </a:r>
            <a:r>
              <a:rPr dirty="0" sz="900">
                <a:latin typeface="Arial MT"/>
                <a:cs typeface="Arial MT"/>
              </a:rPr>
              <a:t>Friction,</a:t>
            </a:r>
            <a:r>
              <a:rPr dirty="0" sz="900" spc="-5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Transparency,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Market</a:t>
            </a:r>
            <a:r>
              <a:rPr dirty="0" sz="900" spc="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Debt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and</a:t>
            </a:r>
            <a:r>
              <a:rPr dirty="0" sz="900" spc="50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Financial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Instruments,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Price</a:t>
            </a:r>
            <a:r>
              <a:rPr dirty="0" sz="900" spc="-10">
                <a:latin typeface="Arial MT"/>
                <a:cs typeface="Arial MT"/>
              </a:rPr>
              <a:t> Discovery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597908" y="3860291"/>
            <a:ext cx="2644140" cy="47879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142240" rIns="0" bIns="0" rtlCol="0" vert="horz">
            <a:spAutoFit/>
          </a:bodyPr>
          <a:lstStyle/>
          <a:p>
            <a:pPr marL="247015">
              <a:lnSpc>
                <a:spcPct val="100000"/>
              </a:lnSpc>
              <a:spcBef>
                <a:spcPts val="1120"/>
              </a:spcBef>
            </a:pPr>
            <a:r>
              <a:rPr dirty="0" sz="1000">
                <a:latin typeface="Arial MT"/>
                <a:cs typeface="Arial MT"/>
              </a:rPr>
              <a:t>Monetary+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FX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Market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Strategy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+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Policy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4678426" y="1625854"/>
            <a:ext cx="2656840" cy="2893060"/>
            <a:chOff x="4678426" y="1625854"/>
            <a:chExt cx="2656840" cy="2893060"/>
          </a:xfrm>
        </p:grpSpPr>
        <p:pic>
          <p:nvPicPr>
            <p:cNvPr id="13" name="object 1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78426" y="2066290"/>
              <a:ext cx="221487" cy="203200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7059168" y="1632204"/>
              <a:ext cx="269875" cy="94615"/>
            </a:xfrm>
            <a:custGeom>
              <a:avLst/>
              <a:gdLst/>
              <a:ahLst/>
              <a:cxnLst/>
              <a:rect l="l" t="t" r="r" b="b"/>
              <a:pathLst>
                <a:path w="269875" h="94614">
                  <a:moveTo>
                    <a:pt x="47243" y="0"/>
                  </a:moveTo>
                  <a:lnTo>
                    <a:pt x="0" y="47244"/>
                  </a:lnTo>
                  <a:lnTo>
                    <a:pt x="47243" y="94487"/>
                  </a:lnTo>
                  <a:lnTo>
                    <a:pt x="47243" y="70866"/>
                  </a:lnTo>
                  <a:lnTo>
                    <a:pt x="269748" y="70866"/>
                  </a:lnTo>
                  <a:lnTo>
                    <a:pt x="269748" y="23622"/>
                  </a:lnTo>
                  <a:lnTo>
                    <a:pt x="47243" y="23622"/>
                  </a:lnTo>
                  <a:lnTo>
                    <a:pt x="47243" y="0"/>
                  </a:lnTo>
                  <a:close/>
                </a:path>
              </a:pathLst>
            </a:custGeom>
            <a:solidFill>
              <a:srgbClr val="0D0D0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7059168" y="1632204"/>
              <a:ext cx="269875" cy="94615"/>
            </a:xfrm>
            <a:custGeom>
              <a:avLst/>
              <a:gdLst/>
              <a:ahLst/>
              <a:cxnLst/>
              <a:rect l="l" t="t" r="r" b="b"/>
              <a:pathLst>
                <a:path w="269875" h="94614">
                  <a:moveTo>
                    <a:pt x="269748" y="70866"/>
                  </a:moveTo>
                  <a:lnTo>
                    <a:pt x="47243" y="70866"/>
                  </a:lnTo>
                  <a:lnTo>
                    <a:pt x="47243" y="94487"/>
                  </a:lnTo>
                  <a:lnTo>
                    <a:pt x="0" y="47244"/>
                  </a:lnTo>
                  <a:lnTo>
                    <a:pt x="47243" y="0"/>
                  </a:lnTo>
                  <a:lnTo>
                    <a:pt x="47243" y="23622"/>
                  </a:lnTo>
                  <a:lnTo>
                    <a:pt x="269748" y="23622"/>
                  </a:lnTo>
                  <a:lnTo>
                    <a:pt x="269748" y="70866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00344" y="2109216"/>
              <a:ext cx="129539" cy="153924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88152" y="4357116"/>
              <a:ext cx="153924" cy="161544"/>
            </a:xfrm>
            <a:prstGeom prst="rect">
              <a:avLst/>
            </a:prstGeom>
          </p:spPr>
        </p:pic>
      </p:grpSp>
      <p:sp>
        <p:nvSpPr>
          <p:cNvPr id="18" name="object 18" descr=""/>
          <p:cNvSpPr txBox="1"/>
          <p:nvPr/>
        </p:nvSpPr>
        <p:spPr>
          <a:xfrm>
            <a:off x="3537203" y="4587240"/>
            <a:ext cx="4048125" cy="243840"/>
          </a:xfrm>
          <a:prstGeom prst="rect">
            <a:avLst/>
          </a:prstGeom>
          <a:solidFill>
            <a:srgbClr val="0D0D0D"/>
          </a:solidFill>
        </p:spPr>
        <p:txBody>
          <a:bodyPr wrap="square" lIns="0" tIns="57150" rIns="0" bIns="0" rtlCol="0" vert="horz">
            <a:spAutoFit/>
          </a:bodyPr>
          <a:lstStyle/>
          <a:p>
            <a:pPr marL="146050">
              <a:lnSpc>
                <a:spcPct val="100000"/>
              </a:lnSpc>
              <a:spcBef>
                <a:spcPts val="450"/>
              </a:spcBef>
            </a:pPr>
            <a:r>
              <a:rPr dirty="0" sz="1100" b="1">
                <a:solidFill>
                  <a:srgbClr val="FFFFFF"/>
                </a:solidFill>
                <a:latin typeface="Arial"/>
                <a:cs typeface="Arial"/>
              </a:rPr>
              <a:t>FX</a:t>
            </a:r>
            <a:r>
              <a:rPr dirty="0" sz="11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FFFFFF"/>
                </a:solidFill>
                <a:latin typeface="Arial"/>
                <a:cs typeface="Arial"/>
              </a:rPr>
              <a:t>Outcomes</a:t>
            </a:r>
            <a:endParaRPr sz="1100">
              <a:latin typeface="Arial"/>
              <a:cs typeface="Arial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3537203" y="4831079"/>
            <a:ext cx="4048125" cy="594360"/>
          </a:xfrm>
          <a:prstGeom prst="rect">
            <a:avLst/>
          </a:prstGeom>
          <a:solidFill>
            <a:srgbClr val="F1F1F1"/>
          </a:solidFill>
        </p:spPr>
        <p:txBody>
          <a:bodyPr wrap="square" lIns="0" tIns="41275" rIns="0" bIns="0" rtlCol="0" vert="horz">
            <a:spAutoFit/>
          </a:bodyPr>
          <a:lstStyle/>
          <a:p>
            <a:pPr marL="425450" indent="-286385">
              <a:lnSpc>
                <a:spcPct val="100000"/>
              </a:lnSpc>
              <a:spcBef>
                <a:spcPts val="325"/>
              </a:spcBef>
              <a:buChar char="•"/>
              <a:tabLst>
                <a:tab pos="425450" algn="l"/>
              </a:tabLst>
            </a:pPr>
            <a:r>
              <a:rPr dirty="0" sz="1050">
                <a:latin typeface="Arial MT"/>
                <a:cs typeface="Arial MT"/>
              </a:rPr>
              <a:t>Stability</a:t>
            </a:r>
            <a:r>
              <a:rPr dirty="0" sz="1050" spc="-4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+</a:t>
            </a:r>
            <a:r>
              <a:rPr dirty="0" sz="1050" spc="-25">
                <a:latin typeface="Arial MT"/>
                <a:cs typeface="Arial MT"/>
              </a:rPr>
              <a:t> </a:t>
            </a:r>
            <a:r>
              <a:rPr dirty="0" sz="1050" spc="-10">
                <a:latin typeface="Arial MT"/>
                <a:cs typeface="Arial MT"/>
              </a:rPr>
              <a:t>volatility</a:t>
            </a:r>
            <a:endParaRPr sz="1050">
              <a:latin typeface="Arial MT"/>
              <a:cs typeface="Arial MT"/>
            </a:endParaRPr>
          </a:p>
          <a:p>
            <a:pPr marL="425450" indent="-286385">
              <a:lnSpc>
                <a:spcPct val="100000"/>
              </a:lnSpc>
              <a:buChar char="•"/>
              <a:tabLst>
                <a:tab pos="425450" algn="l"/>
              </a:tabLst>
            </a:pPr>
            <a:r>
              <a:rPr dirty="0" sz="1050">
                <a:latin typeface="Arial MT"/>
                <a:cs typeface="Arial MT"/>
              </a:rPr>
              <a:t>Price</a:t>
            </a:r>
            <a:r>
              <a:rPr dirty="0" sz="1050" spc="-30">
                <a:latin typeface="Arial MT"/>
                <a:cs typeface="Arial MT"/>
              </a:rPr>
              <a:t> </a:t>
            </a:r>
            <a:r>
              <a:rPr dirty="0" sz="1050" spc="-10">
                <a:latin typeface="Arial MT"/>
                <a:cs typeface="Arial MT"/>
              </a:rPr>
              <a:t>evolution</a:t>
            </a:r>
            <a:endParaRPr sz="1050">
              <a:latin typeface="Arial MT"/>
              <a:cs typeface="Arial MT"/>
            </a:endParaRPr>
          </a:p>
          <a:p>
            <a:pPr marL="425450" indent="-286385">
              <a:lnSpc>
                <a:spcPct val="100000"/>
              </a:lnSpc>
              <a:buChar char="•"/>
              <a:tabLst>
                <a:tab pos="425450" algn="l"/>
              </a:tabLst>
            </a:pPr>
            <a:r>
              <a:rPr dirty="0" sz="1050">
                <a:latin typeface="Arial MT"/>
                <a:cs typeface="Arial MT"/>
              </a:rPr>
              <a:t>Flexibility</a:t>
            </a:r>
            <a:r>
              <a:rPr dirty="0" sz="1050" spc="-5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to</a:t>
            </a:r>
            <a:r>
              <a:rPr dirty="0" sz="1050" spc="-25">
                <a:latin typeface="Arial MT"/>
                <a:cs typeface="Arial MT"/>
              </a:rPr>
              <a:t> </a:t>
            </a:r>
            <a:r>
              <a:rPr dirty="0" sz="1050" spc="-10">
                <a:latin typeface="Arial MT"/>
                <a:cs typeface="Arial MT"/>
              </a:rPr>
              <a:t>shocks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4969764" y="2299716"/>
            <a:ext cx="1950720" cy="588645"/>
          </a:xfrm>
          <a:prstGeom prst="rect">
            <a:avLst/>
          </a:prstGeom>
          <a:ln w="12700">
            <a:solidFill>
              <a:srgbClr val="7E7E7E"/>
            </a:solidFill>
          </a:ln>
        </p:spPr>
        <p:txBody>
          <a:bodyPr wrap="square" lIns="0" tIns="44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1000">
              <a:latin typeface="Times New Roman"/>
              <a:cs typeface="Times New Roman"/>
            </a:endParaRPr>
          </a:p>
          <a:p>
            <a:pPr marL="659130" marR="453390" indent="-218440">
              <a:lnSpc>
                <a:spcPct val="100000"/>
              </a:lnSpc>
              <a:spcBef>
                <a:spcPts val="5"/>
              </a:spcBef>
            </a:pPr>
            <a:r>
              <a:rPr dirty="0" sz="1000">
                <a:latin typeface="Arial MT"/>
                <a:cs typeface="Arial MT"/>
              </a:rPr>
              <a:t>Investors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+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market confidence</a:t>
            </a:r>
            <a:endParaRPr sz="1000">
              <a:latin typeface="Arial MT"/>
              <a:cs typeface="Arial MT"/>
            </a:endParaRPr>
          </a:p>
        </p:txBody>
      </p:sp>
      <p:graphicFrame>
        <p:nvGraphicFramePr>
          <p:cNvPr id="21" name="object 21" descr=""/>
          <p:cNvGraphicFramePr>
            <a:graphicFrameLocks noGrp="1"/>
          </p:cNvGraphicFramePr>
          <p:nvPr/>
        </p:nvGraphicFramePr>
        <p:xfrm>
          <a:off x="4951412" y="1162748"/>
          <a:ext cx="2035175" cy="9302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13889"/>
                <a:gridCol w="40639"/>
              </a:tblGrid>
              <a:tr h="653415">
                <a:tc gridSpan="2">
                  <a:txBody>
                    <a:bodyPr/>
                    <a:lstStyle/>
                    <a:p>
                      <a:pPr marL="455295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dirty="0" sz="110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Supply</a:t>
                      </a:r>
                      <a:r>
                        <a:rPr dirty="0" sz="1100" spc="-2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dynamics</a:t>
                      </a:r>
                      <a:endParaRPr sz="1100">
                        <a:latin typeface="Arial MT"/>
                        <a:cs typeface="Arial MT"/>
                      </a:endParaRPr>
                    </a:p>
                    <a:p>
                      <a:pPr marL="1045210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dirty="0" sz="1000">
                          <a:latin typeface="Arial MT"/>
                          <a:cs typeface="Arial MT"/>
                        </a:rPr>
                        <a:t>Net</a:t>
                      </a:r>
                      <a:r>
                        <a:rPr dirty="0" sz="10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000" spc="-10">
                          <a:latin typeface="Arial MT"/>
                          <a:cs typeface="Arial MT"/>
                        </a:rPr>
                        <a:t>flows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B="0" marT="121285">
                    <a:lnL w="3175">
                      <a:solidFill>
                        <a:srgbClr val="A6A6A6"/>
                      </a:solidFill>
                      <a:prstDash val="solid"/>
                    </a:lnL>
                    <a:lnR w="3175">
                      <a:solidFill>
                        <a:srgbClr val="A6A6A6"/>
                      </a:solidFill>
                      <a:prstDash val="solid"/>
                    </a:lnR>
                    <a:lnT w="3175">
                      <a:solidFill>
                        <a:srgbClr val="A6A6A6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76860">
                <a:tc>
                  <a:txBody>
                    <a:bodyPr/>
                    <a:lstStyle/>
                    <a:p>
                      <a:pPr marL="37084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10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Demand</a:t>
                      </a:r>
                      <a:r>
                        <a:rPr dirty="0" sz="1100" spc="-3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dynamics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47625">
                    <a:lnL w="3175">
                      <a:solidFill>
                        <a:srgbClr val="A6A6A6"/>
                      </a:solidFill>
                      <a:prstDash val="solid"/>
                    </a:lnL>
                    <a:lnB w="3175">
                      <a:solidFill>
                        <a:srgbClr val="A6A6A6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175">
                      <a:solidFill>
                        <a:srgbClr val="A6A6A6"/>
                      </a:solidFill>
                      <a:prstDash val="solid"/>
                    </a:lnR>
                    <a:lnB w="3175">
                      <a:solidFill>
                        <a:srgbClr val="A6A6A6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</a:tr>
            </a:tbl>
          </a:graphicData>
        </a:graphic>
      </p:graphicFrame>
      <p:pic>
        <p:nvPicPr>
          <p:cNvPr id="22" name="object 22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803391" y="1551432"/>
            <a:ext cx="123444" cy="207263"/>
          </a:xfrm>
          <a:prstGeom prst="rect">
            <a:avLst/>
          </a:prstGeom>
        </p:spPr>
      </p:pic>
      <p:sp>
        <p:nvSpPr>
          <p:cNvPr id="23" name="object 23" descr=""/>
          <p:cNvSpPr txBox="1"/>
          <p:nvPr/>
        </p:nvSpPr>
        <p:spPr>
          <a:xfrm>
            <a:off x="2950464" y="1740407"/>
            <a:ext cx="1647825" cy="862965"/>
          </a:xfrm>
          <a:prstGeom prst="rect">
            <a:avLst/>
          </a:prstGeom>
          <a:solidFill>
            <a:srgbClr val="C00000"/>
          </a:solidFill>
        </p:spPr>
        <p:txBody>
          <a:bodyPr wrap="square" lIns="0" tIns="46990" rIns="0" bIns="0" rtlCol="0" vert="horz">
            <a:spAutoFit/>
          </a:bodyPr>
          <a:lstStyle/>
          <a:p>
            <a:pPr marL="377825" indent="-286385">
              <a:lnSpc>
                <a:spcPct val="100000"/>
              </a:lnSpc>
              <a:spcBef>
                <a:spcPts val="370"/>
              </a:spcBef>
              <a:buChar char="•"/>
              <a:tabLst>
                <a:tab pos="377825" algn="l"/>
              </a:tabLst>
            </a:pP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Cost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dirty="0" sz="10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funding</a:t>
            </a:r>
            <a:endParaRPr sz="1000">
              <a:latin typeface="Arial MT"/>
              <a:cs typeface="Arial MT"/>
            </a:endParaRPr>
          </a:p>
          <a:p>
            <a:pPr marL="377825" indent="-286385">
              <a:lnSpc>
                <a:spcPct val="100000"/>
              </a:lnSpc>
              <a:buChar char="•"/>
              <a:tabLst>
                <a:tab pos="377825" algn="l"/>
              </a:tabLst>
            </a:pP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Capital</a:t>
            </a:r>
            <a:r>
              <a:rPr dirty="0" sz="10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reallocation</a:t>
            </a:r>
            <a:endParaRPr sz="1000">
              <a:latin typeface="Arial MT"/>
              <a:cs typeface="Arial MT"/>
            </a:endParaRPr>
          </a:p>
          <a:p>
            <a:pPr marL="377825" indent="-286385">
              <a:lnSpc>
                <a:spcPct val="100000"/>
              </a:lnSpc>
              <a:buChar char="•"/>
              <a:tabLst>
                <a:tab pos="377825" algn="l"/>
              </a:tabLst>
            </a:pP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Trade</a:t>
            </a:r>
            <a:r>
              <a:rPr dirty="0" sz="10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balance</a:t>
            </a:r>
            <a:endParaRPr sz="1000">
              <a:latin typeface="Arial MT"/>
              <a:cs typeface="Arial MT"/>
            </a:endParaRPr>
          </a:p>
          <a:p>
            <a:pPr marL="377825" indent="-286385">
              <a:lnSpc>
                <a:spcPct val="100000"/>
              </a:lnSpc>
              <a:buChar char="•"/>
              <a:tabLst>
                <a:tab pos="377825" algn="l"/>
              </a:tabLst>
            </a:pP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Remittances</a:t>
            </a:r>
            <a:endParaRPr sz="1000">
              <a:latin typeface="Arial MT"/>
              <a:cs typeface="Arial MT"/>
            </a:endParaRPr>
          </a:p>
          <a:p>
            <a:pPr marL="377825" indent="-286385">
              <a:lnSpc>
                <a:spcPct val="100000"/>
              </a:lnSpc>
              <a:buChar char="•"/>
              <a:tabLst>
                <a:tab pos="377825" algn="l"/>
              </a:tabLst>
            </a:pP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Confidence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7511795" y="3089148"/>
            <a:ext cx="2018030" cy="762000"/>
          </a:xfrm>
          <a:prstGeom prst="rect">
            <a:avLst/>
          </a:prstGeom>
          <a:solidFill>
            <a:srgbClr val="EC7C30"/>
          </a:solidFill>
        </p:spPr>
        <p:txBody>
          <a:bodyPr wrap="square" lIns="0" tIns="495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90"/>
              </a:spcBef>
            </a:pPr>
            <a:endParaRPr sz="1100">
              <a:latin typeface="Times New Roman"/>
              <a:cs typeface="Times New Roman"/>
            </a:endParaRPr>
          </a:p>
          <a:p>
            <a:pPr marL="741680" marR="128905" indent="-605790">
              <a:lnSpc>
                <a:spcPct val="100000"/>
              </a:lnSpc>
            </a:pP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Financial</a:t>
            </a:r>
            <a:r>
              <a:rPr dirty="0" sz="11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11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capital</a:t>
            </a:r>
            <a:r>
              <a:rPr dirty="0" sz="11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 MT"/>
                <a:cs typeface="Arial MT"/>
              </a:rPr>
              <a:t>market activities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25" name="object 2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85103" y="3642359"/>
            <a:ext cx="160020" cy="179831"/>
          </a:xfrm>
          <a:prstGeom prst="rect">
            <a:avLst/>
          </a:prstGeom>
        </p:spPr>
      </p:pic>
      <p:sp>
        <p:nvSpPr>
          <p:cNvPr id="26" name="object 26" descr=""/>
          <p:cNvSpPr txBox="1"/>
          <p:nvPr/>
        </p:nvSpPr>
        <p:spPr>
          <a:xfrm>
            <a:off x="437387" y="745236"/>
            <a:ext cx="2291080" cy="455930"/>
          </a:xfrm>
          <a:prstGeom prst="rect">
            <a:avLst/>
          </a:prstGeom>
          <a:solidFill>
            <a:srgbClr val="0D0D0D"/>
          </a:solidFill>
        </p:spPr>
        <p:txBody>
          <a:bodyPr wrap="square" lIns="0" tIns="140335" rIns="0" bIns="0" rtlCol="0" vert="horz">
            <a:spAutoFit/>
          </a:bodyPr>
          <a:lstStyle/>
          <a:p>
            <a:pPr marL="158115">
              <a:lnSpc>
                <a:spcPct val="100000"/>
              </a:lnSpc>
              <a:spcBef>
                <a:spcPts val="1105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Five</a:t>
            </a:r>
            <a:r>
              <a:rPr dirty="0" sz="12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global</a:t>
            </a:r>
            <a:r>
              <a:rPr dirty="0" sz="12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trends</a:t>
            </a:r>
            <a:endParaRPr sz="1200">
              <a:latin typeface="Arial"/>
              <a:cs typeface="Arial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518159" y="1303019"/>
            <a:ext cx="2129155" cy="523240"/>
          </a:xfrm>
          <a:prstGeom prst="rect">
            <a:avLst/>
          </a:prstGeom>
          <a:solidFill>
            <a:srgbClr val="7D7D7D"/>
          </a:solidFill>
        </p:spPr>
        <p:txBody>
          <a:bodyPr wrap="square" lIns="0" tIns="99060" rIns="0" bIns="0" rtlCol="0" vert="horz">
            <a:spAutoFit/>
          </a:bodyPr>
          <a:lstStyle/>
          <a:p>
            <a:pPr marL="91440" marR="148590">
              <a:lnSpc>
                <a:spcPct val="100000"/>
              </a:lnSpc>
              <a:spcBef>
                <a:spcPts val="780"/>
              </a:spcBef>
            </a:pP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Tightening</a:t>
            </a:r>
            <a:r>
              <a:rPr dirty="0" sz="10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monetary</a:t>
            </a:r>
            <a:r>
              <a:rPr dirty="0" sz="10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environment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curtail</a:t>
            </a:r>
            <a:r>
              <a:rPr dirty="0" sz="10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inflation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518159" y="2551176"/>
            <a:ext cx="2129155" cy="523240"/>
          </a:xfrm>
          <a:prstGeom prst="rect">
            <a:avLst/>
          </a:prstGeom>
          <a:solidFill>
            <a:srgbClr val="DB526B"/>
          </a:solidFill>
        </p:spPr>
        <p:txBody>
          <a:bodyPr wrap="square" lIns="0" tIns="3619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85"/>
              </a:spcBef>
            </a:pPr>
            <a:endParaRPr sz="1000">
              <a:latin typeface="Times New Roman"/>
              <a:cs typeface="Times New Roman"/>
            </a:endParaRPr>
          </a:p>
          <a:p>
            <a:pPr marL="113030">
              <a:lnSpc>
                <a:spcPct val="100000"/>
              </a:lnSpc>
            </a:pP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Heightened</a:t>
            </a:r>
            <a:r>
              <a:rPr dirty="0" sz="1000" spc="-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geopolitical</a:t>
            </a:r>
            <a:r>
              <a:rPr dirty="0" sz="10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risk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515112" y="3171444"/>
            <a:ext cx="2127885" cy="523240"/>
          </a:xfrm>
          <a:prstGeom prst="rect">
            <a:avLst/>
          </a:prstGeom>
          <a:solidFill>
            <a:srgbClr val="DF2F1E"/>
          </a:solidFill>
        </p:spPr>
        <p:txBody>
          <a:bodyPr wrap="square" lIns="0" tIns="29209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29"/>
              </a:spcBef>
            </a:pPr>
            <a:endParaRPr sz="100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</a:pP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Weakening</a:t>
            </a:r>
            <a:r>
              <a:rPr dirty="0" sz="1000" spc="-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global</a:t>
            </a:r>
            <a:r>
              <a:rPr dirty="0" sz="10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trade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519683" y="3784091"/>
            <a:ext cx="2129155" cy="523240"/>
          </a:xfrm>
          <a:prstGeom prst="rect">
            <a:avLst/>
          </a:prstGeom>
          <a:solidFill>
            <a:srgbClr val="FFE699"/>
          </a:solidFill>
        </p:spPr>
        <p:txBody>
          <a:bodyPr wrap="square" lIns="0" tIns="254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endParaRPr sz="1000">
              <a:latin typeface="Times New Roman"/>
              <a:cs typeface="Times New Roman"/>
            </a:endParaRPr>
          </a:p>
          <a:p>
            <a:pPr marL="95885">
              <a:lnSpc>
                <a:spcPct val="100000"/>
              </a:lnSpc>
              <a:spcBef>
                <a:spcPts val="5"/>
              </a:spcBef>
            </a:pP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Slowing</a:t>
            </a:r>
            <a:r>
              <a:rPr dirty="0" sz="1000" spc="-1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GDP</a:t>
            </a:r>
            <a:r>
              <a:rPr dirty="0" sz="1000" spc="-4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0D0D0D"/>
                </a:solidFill>
                <a:latin typeface="Arial MT"/>
                <a:cs typeface="Arial MT"/>
              </a:rPr>
              <a:t>growth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516636" y="1923288"/>
            <a:ext cx="2127885" cy="521334"/>
          </a:xfrm>
          <a:prstGeom prst="rect">
            <a:avLst/>
          </a:prstGeom>
          <a:solidFill>
            <a:srgbClr val="C00000"/>
          </a:solidFill>
        </p:spPr>
        <p:txBody>
          <a:bodyPr wrap="square" lIns="0" tIns="419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30"/>
              </a:spcBef>
            </a:pPr>
            <a:endParaRPr sz="1000">
              <a:latin typeface="Times New Roman"/>
              <a:cs typeface="Times New Roman"/>
            </a:endParaRPr>
          </a:p>
          <a:p>
            <a:pPr marL="87630">
              <a:lnSpc>
                <a:spcPct val="100000"/>
              </a:lnSpc>
              <a:spcBef>
                <a:spcPts val="5"/>
              </a:spcBef>
            </a:pP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Concerns</a:t>
            </a:r>
            <a:r>
              <a:rPr dirty="0" sz="10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debt</a:t>
            </a:r>
            <a:r>
              <a:rPr dirty="0" sz="10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sustainability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32" name="object 32" descr=""/>
          <p:cNvGrpSpPr/>
          <p:nvPr/>
        </p:nvGrpSpPr>
        <p:grpSpPr>
          <a:xfrm>
            <a:off x="220725" y="703833"/>
            <a:ext cx="9618980" cy="3830320"/>
            <a:chOff x="220725" y="703833"/>
            <a:chExt cx="9618980" cy="3830320"/>
          </a:xfrm>
        </p:grpSpPr>
        <p:pic>
          <p:nvPicPr>
            <p:cNvPr id="33" name="object 3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662427" y="2107691"/>
              <a:ext cx="208788" cy="190500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227075" y="710183"/>
              <a:ext cx="9606280" cy="3817620"/>
            </a:xfrm>
            <a:custGeom>
              <a:avLst/>
              <a:gdLst/>
              <a:ahLst/>
              <a:cxnLst/>
              <a:rect l="l" t="t" r="r" b="b"/>
              <a:pathLst>
                <a:path w="9606280" h="3817620">
                  <a:moveTo>
                    <a:pt x="0" y="3817620"/>
                  </a:moveTo>
                  <a:lnTo>
                    <a:pt x="9605772" y="3817620"/>
                  </a:lnTo>
                  <a:lnTo>
                    <a:pt x="9605772" y="0"/>
                  </a:lnTo>
                  <a:lnTo>
                    <a:pt x="0" y="0"/>
                  </a:lnTo>
                  <a:lnTo>
                    <a:pt x="0" y="3817620"/>
                  </a:lnTo>
                  <a:close/>
                </a:path>
              </a:pathLst>
            </a:custGeom>
            <a:ln w="12700">
              <a:solidFill>
                <a:srgbClr val="E7E6E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Impact</a:t>
            </a:r>
            <a:r>
              <a:rPr dirty="0" spc="35"/>
              <a:t> </a:t>
            </a:r>
            <a:r>
              <a:rPr dirty="0"/>
              <a:t>of</a:t>
            </a:r>
            <a:r>
              <a:rPr dirty="0" spc="50"/>
              <a:t> </a:t>
            </a:r>
            <a:r>
              <a:rPr dirty="0"/>
              <a:t>Global</a:t>
            </a:r>
            <a:r>
              <a:rPr dirty="0" spc="65"/>
              <a:t> </a:t>
            </a:r>
            <a:r>
              <a:rPr dirty="0"/>
              <a:t>Economic</a:t>
            </a:r>
            <a:r>
              <a:rPr dirty="0" spc="30"/>
              <a:t> </a:t>
            </a:r>
            <a:r>
              <a:rPr dirty="0"/>
              <a:t>Trends</a:t>
            </a:r>
            <a:r>
              <a:rPr dirty="0" spc="45"/>
              <a:t> </a:t>
            </a:r>
            <a:r>
              <a:rPr dirty="0"/>
              <a:t>on</a:t>
            </a:r>
            <a:r>
              <a:rPr dirty="0" spc="40"/>
              <a:t> </a:t>
            </a:r>
            <a:r>
              <a:rPr dirty="0"/>
              <a:t>Nigeria’s</a:t>
            </a:r>
            <a:r>
              <a:rPr dirty="0" spc="60"/>
              <a:t> </a:t>
            </a:r>
            <a:r>
              <a:rPr dirty="0"/>
              <a:t>Foreign</a:t>
            </a:r>
            <a:r>
              <a:rPr dirty="0" spc="45"/>
              <a:t> </a:t>
            </a:r>
            <a:r>
              <a:rPr dirty="0"/>
              <a:t>Exchange</a:t>
            </a:r>
            <a:r>
              <a:rPr dirty="0" spc="60"/>
              <a:t> </a:t>
            </a:r>
            <a:r>
              <a:rPr dirty="0" spc="-10"/>
              <a:t>Market</a:t>
            </a:r>
          </a:p>
        </p:txBody>
      </p:sp>
      <p:sp>
        <p:nvSpPr>
          <p:cNvPr id="36" name="object 3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October</a:t>
            </a:r>
            <a:r>
              <a:rPr dirty="0" spc="80"/>
              <a:t> </a:t>
            </a:r>
            <a:r>
              <a:rPr dirty="0" spc="-20"/>
              <a:t>2023</a:t>
            </a:r>
          </a:p>
        </p:txBody>
      </p:sp>
      <p:sp>
        <p:nvSpPr>
          <p:cNvPr id="37" name="object 3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815"/>
              </a:lnSpc>
            </a:pPr>
            <a:fld id="{81D60167-4931-47E6-BA6A-407CBD079E47}" type="slidenum">
              <a:rPr dirty="0" spc="-25"/>
              <a:t>26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243840" y="664463"/>
            <a:ext cx="1586230" cy="1104900"/>
          </a:xfrm>
          <a:custGeom>
            <a:avLst/>
            <a:gdLst/>
            <a:ahLst/>
            <a:cxnLst/>
            <a:rect l="l" t="t" r="r" b="b"/>
            <a:pathLst>
              <a:path w="1586230" h="1104900">
                <a:moveTo>
                  <a:pt x="1586103" y="0"/>
                </a:moveTo>
                <a:lnTo>
                  <a:pt x="0" y="0"/>
                </a:lnTo>
                <a:lnTo>
                  <a:pt x="0" y="1104900"/>
                </a:lnTo>
                <a:lnTo>
                  <a:pt x="1586103" y="1104900"/>
                </a:lnTo>
                <a:lnTo>
                  <a:pt x="1586103" y="0"/>
                </a:lnTo>
                <a:close/>
              </a:path>
            </a:pathLst>
          </a:custGeom>
          <a:solidFill>
            <a:srgbClr val="A1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2012060" y="770890"/>
            <a:ext cx="7697470" cy="8147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4785" marR="5080" indent="-17272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184785" algn="l"/>
              </a:tabLst>
            </a:pPr>
            <a:r>
              <a:rPr dirty="0" sz="1000">
                <a:latin typeface="Arial MT"/>
                <a:cs typeface="Arial MT"/>
              </a:rPr>
              <a:t>Monetary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policy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tightening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to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curtail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inflation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led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to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US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Fed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and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ECB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raising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rates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11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and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10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consecutive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times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respectively.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-25" b="1">
                <a:latin typeface="Arial"/>
                <a:cs typeface="Arial"/>
              </a:rPr>
              <a:t>The </a:t>
            </a:r>
            <a:r>
              <a:rPr dirty="0" sz="1000" b="1">
                <a:latin typeface="Arial"/>
                <a:cs typeface="Arial"/>
              </a:rPr>
              <a:t>ECB</a:t>
            </a:r>
            <a:r>
              <a:rPr dirty="0" sz="1000" spc="-1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raised</a:t>
            </a:r>
            <a:r>
              <a:rPr dirty="0" sz="1000" spc="-2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policy</a:t>
            </a:r>
            <a:r>
              <a:rPr dirty="0" sz="1000" spc="-3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interest</a:t>
            </a:r>
            <a:r>
              <a:rPr dirty="0" sz="1000" spc="-1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rate</a:t>
            </a:r>
            <a:r>
              <a:rPr dirty="0" sz="1000" spc="-2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by</a:t>
            </a:r>
            <a:r>
              <a:rPr dirty="0" sz="1000" spc="-2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25</a:t>
            </a:r>
            <a:r>
              <a:rPr dirty="0" sz="1000" spc="-3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basis</a:t>
            </a:r>
            <a:r>
              <a:rPr dirty="0" sz="1000" spc="-2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points</a:t>
            </a:r>
            <a:r>
              <a:rPr dirty="0" sz="1000" spc="-2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to</a:t>
            </a:r>
            <a:r>
              <a:rPr dirty="0" sz="1000" spc="-1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4%</a:t>
            </a:r>
            <a:r>
              <a:rPr dirty="0" sz="1000" spc="-2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in</a:t>
            </a:r>
            <a:r>
              <a:rPr dirty="0" sz="1000" spc="-3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September.</a:t>
            </a:r>
            <a:r>
              <a:rPr dirty="0" sz="1000" spc="-2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On</a:t>
            </a:r>
            <a:r>
              <a:rPr dirty="0" sz="1000" spc="-1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the</a:t>
            </a:r>
            <a:r>
              <a:rPr dirty="0" sz="1000" spc="-2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other</a:t>
            </a:r>
            <a:r>
              <a:rPr dirty="0" sz="1000" spc="-2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hand,</a:t>
            </a:r>
            <a:r>
              <a:rPr dirty="0" sz="1000" spc="-2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the</a:t>
            </a:r>
            <a:r>
              <a:rPr dirty="0" sz="1000" spc="-2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Federal</a:t>
            </a:r>
            <a:r>
              <a:rPr dirty="0" sz="1000" spc="-2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Reserve</a:t>
            </a:r>
            <a:r>
              <a:rPr dirty="0" sz="1000" spc="-4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and</a:t>
            </a:r>
            <a:r>
              <a:rPr dirty="0" sz="1000" spc="-1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BoE</a:t>
            </a:r>
            <a:r>
              <a:rPr dirty="0" sz="1000" spc="-10" b="1">
                <a:latin typeface="Arial"/>
                <a:cs typeface="Arial"/>
              </a:rPr>
              <a:t> </a:t>
            </a:r>
            <a:r>
              <a:rPr dirty="0" sz="1000" spc="-20" b="1">
                <a:latin typeface="Arial"/>
                <a:cs typeface="Arial"/>
              </a:rPr>
              <a:t>held </a:t>
            </a:r>
            <a:r>
              <a:rPr dirty="0" sz="1000" b="1">
                <a:latin typeface="Arial"/>
                <a:cs typeface="Arial"/>
              </a:rPr>
              <a:t>the</a:t>
            </a:r>
            <a:r>
              <a:rPr dirty="0" sz="1000" spc="-2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interest</a:t>
            </a:r>
            <a:r>
              <a:rPr dirty="0" sz="1000" spc="-2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rate</a:t>
            </a:r>
            <a:r>
              <a:rPr dirty="0" sz="1000" spc="-2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steady</a:t>
            </a:r>
            <a:r>
              <a:rPr dirty="0" sz="1000" spc="-3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in</a:t>
            </a:r>
            <a:r>
              <a:rPr dirty="0" sz="1000" spc="-2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September.</a:t>
            </a:r>
            <a:r>
              <a:rPr dirty="0" sz="1000" spc="-2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But</a:t>
            </a:r>
            <a:r>
              <a:rPr dirty="0" sz="1000" spc="-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the</a:t>
            </a:r>
            <a:r>
              <a:rPr dirty="0" sz="1000" spc="-2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Federal</a:t>
            </a:r>
            <a:r>
              <a:rPr dirty="0" sz="1000" spc="-3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reserve</a:t>
            </a:r>
            <a:r>
              <a:rPr dirty="0" sz="1000" spc="-3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stiffened</a:t>
            </a:r>
            <a:r>
              <a:rPr dirty="0" sz="1000" spc="-2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its</a:t>
            </a:r>
            <a:r>
              <a:rPr dirty="0" sz="1000" spc="-2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hawkish</a:t>
            </a:r>
            <a:r>
              <a:rPr dirty="0" sz="1000" spc="-4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stance</a:t>
            </a:r>
            <a:r>
              <a:rPr dirty="0" sz="1000" spc="-4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by</a:t>
            </a:r>
            <a:r>
              <a:rPr dirty="0" sz="1000" spc="-2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projecting</a:t>
            </a:r>
            <a:r>
              <a:rPr dirty="0" sz="1000" spc="-1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further</a:t>
            </a:r>
            <a:r>
              <a:rPr dirty="0" sz="1000" spc="-3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rate</a:t>
            </a:r>
            <a:r>
              <a:rPr dirty="0" sz="1000" spc="-2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increase </a:t>
            </a:r>
            <a:r>
              <a:rPr dirty="0" sz="1000" b="1">
                <a:latin typeface="Arial"/>
                <a:cs typeface="Arial"/>
              </a:rPr>
              <a:t>by</a:t>
            </a:r>
            <a:r>
              <a:rPr dirty="0" sz="1000" spc="-2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the</a:t>
            </a:r>
            <a:r>
              <a:rPr dirty="0" sz="1000" spc="-2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end</a:t>
            </a:r>
            <a:r>
              <a:rPr dirty="0" sz="1000" spc="-1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of</a:t>
            </a:r>
            <a:r>
              <a:rPr dirty="0" sz="1000" spc="-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the</a:t>
            </a:r>
            <a:r>
              <a:rPr dirty="0" sz="1000" spc="-20" b="1">
                <a:latin typeface="Arial"/>
                <a:cs typeface="Arial"/>
              </a:rPr>
              <a:t> year</a:t>
            </a:r>
            <a:endParaRPr sz="1000">
              <a:latin typeface="Arial"/>
              <a:cs typeface="Arial"/>
            </a:endParaRPr>
          </a:p>
          <a:p>
            <a:pPr marL="182880" indent="-170180">
              <a:lnSpc>
                <a:spcPct val="100000"/>
              </a:lnSpc>
              <a:spcBef>
                <a:spcPts val="155"/>
              </a:spcBef>
              <a:buChar char="•"/>
              <a:tabLst>
                <a:tab pos="182880" algn="l"/>
              </a:tabLst>
            </a:pPr>
            <a:r>
              <a:rPr dirty="0" sz="1050">
                <a:solidFill>
                  <a:srgbClr val="2C2824"/>
                </a:solidFill>
                <a:latin typeface="Arial MT"/>
                <a:cs typeface="Arial MT"/>
              </a:rPr>
              <a:t>As</a:t>
            </a:r>
            <a:r>
              <a:rPr dirty="0" sz="1050" spc="-30">
                <a:solidFill>
                  <a:srgbClr val="2C2824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C2824"/>
                </a:solidFill>
                <a:latin typeface="Arial MT"/>
                <a:cs typeface="Arial MT"/>
              </a:rPr>
              <a:t>the</a:t>
            </a:r>
            <a:r>
              <a:rPr dirty="0" sz="1050" spc="-15">
                <a:solidFill>
                  <a:srgbClr val="2C2824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C2824"/>
                </a:solidFill>
                <a:latin typeface="Arial MT"/>
                <a:cs typeface="Arial MT"/>
              </a:rPr>
              <a:t>fight</a:t>
            </a:r>
            <a:r>
              <a:rPr dirty="0" sz="1050" spc="-45">
                <a:solidFill>
                  <a:srgbClr val="2C2824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C2824"/>
                </a:solidFill>
                <a:latin typeface="Arial MT"/>
                <a:cs typeface="Arial MT"/>
              </a:rPr>
              <a:t>to</a:t>
            </a:r>
            <a:r>
              <a:rPr dirty="0" sz="1050" spc="-15">
                <a:solidFill>
                  <a:srgbClr val="2C2824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C2824"/>
                </a:solidFill>
                <a:latin typeface="Arial MT"/>
                <a:cs typeface="Arial MT"/>
              </a:rPr>
              <a:t>bring</a:t>
            </a:r>
            <a:r>
              <a:rPr dirty="0" sz="1050" spc="-15">
                <a:solidFill>
                  <a:srgbClr val="2C2824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C2824"/>
                </a:solidFill>
                <a:latin typeface="Arial MT"/>
                <a:cs typeface="Arial MT"/>
              </a:rPr>
              <a:t>inflation</a:t>
            </a:r>
            <a:r>
              <a:rPr dirty="0" sz="1050" spc="-35">
                <a:solidFill>
                  <a:srgbClr val="2C2824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C2824"/>
                </a:solidFill>
                <a:latin typeface="Arial MT"/>
                <a:cs typeface="Arial MT"/>
              </a:rPr>
              <a:t>back</a:t>
            </a:r>
            <a:r>
              <a:rPr dirty="0" sz="1050" spc="-15">
                <a:solidFill>
                  <a:srgbClr val="2C2824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C2824"/>
                </a:solidFill>
                <a:latin typeface="Arial MT"/>
                <a:cs typeface="Arial MT"/>
              </a:rPr>
              <a:t>to</a:t>
            </a:r>
            <a:r>
              <a:rPr dirty="0" sz="1050" spc="-30">
                <a:solidFill>
                  <a:srgbClr val="2C2824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C2824"/>
                </a:solidFill>
                <a:latin typeface="Arial MT"/>
                <a:cs typeface="Arial MT"/>
              </a:rPr>
              <a:t>target</a:t>
            </a:r>
            <a:r>
              <a:rPr dirty="0" sz="1050" spc="-20">
                <a:solidFill>
                  <a:srgbClr val="2C2824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C2824"/>
                </a:solidFill>
                <a:latin typeface="Arial MT"/>
                <a:cs typeface="Arial MT"/>
              </a:rPr>
              <a:t>continues,</a:t>
            </a:r>
            <a:r>
              <a:rPr dirty="0" sz="1050" spc="-25">
                <a:solidFill>
                  <a:srgbClr val="2C2824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C2824"/>
                </a:solidFill>
                <a:latin typeface="Arial MT"/>
                <a:cs typeface="Arial MT"/>
              </a:rPr>
              <a:t>the</a:t>
            </a:r>
            <a:r>
              <a:rPr dirty="0" sz="1050" spc="-15">
                <a:solidFill>
                  <a:srgbClr val="2C2824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C2824"/>
                </a:solidFill>
                <a:latin typeface="Arial MT"/>
                <a:cs typeface="Arial MT"/>
              </a:rPr>
              <a:t>IMF</a:t>
            </a:r>
            <a:r>
              <a:rPr dirty="0" sz="1050" spc="-10">
                <a:solidFill>
                  <a:srgbClr val="2C2824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C2824"/>
                </a:solidFill>
                <a:latin typeface="Arial MT"/>
                <a:cs typeface="Arial MT"/>
              </a:rPr>
              <a:t>expects</a:t>
            </a:r>
            <a:r>
              <a:rPr dirty="0" sz="1050" spc="-30">
                <a:solidFill>
                  <a:srgbClr val="2C2824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C2824"/>
                </a:solidFill>
                <a:latin typeface="Arial MT"/>
                <a:cs typeface="Arial MT"/>
              </a:rPr>
              <a:t>global</a:t>
            </a:r>
            <a:r>
              <a:rPr dirty="0" sz="1050" spc="-10">
                <a:solidFill>
                  <a:srgbClr val="2C2824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C2824"/>
                </a:solidFill>
                <a:latin typeface="Arial MT"/>
                <a:cs typeface="Arial MT"/>
              </a:rPr>
              <a:t>interest</a:t>
            </a:r>
            <a:r>
              <a:rPr dirty="0" sz="1050" spc="-35">
                <a:solidFill>
                  <a:srgbClr val="2C2824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C2824"/>
                </a:solidFill>
                <a:latin typeface="Arial MT"/>
                <a:cs typeface="Arial MT"/>
              </a:rPr>
              <a:t>rates</a:t>
            </a:r>
            <a:r>
              <a:rPr dirty="0" sz="1050" spc="-15">
                <a:solidFill>
                  <a:srgbClr val="2C2824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C2824"/>
                </a:solidFill>
                <a:latin typeface="Arial MT"/>
                <a:cs typeface="Arial MT"/>
              </a:rPr>
              <a:t>to</a:t>
            </a:r>
            <a:r>
              <a:rPr dirty="0" sz="1050" spc="-10">
                <a:solidFill>
                  <a:srgbClr val="2C2824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C2824"/>
                </a:solidFill>
                <a:latin typeface="Arial MT"/>
                <a:cs typeface="Arial MT"/>
              </a:rPr>
              <a:t>remain</a:t>
            </a:r>
            <a:r>
              <a:rPr dirty="0" sz="1050" spc="-40">
                <a:solidFill>
                  <a:srgbClr val="2C2824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C2824"/>
                </a:solidFill>
                <a:latin typeface="Arial MT"/>
                <a:cs typeface="Arial MT"/>
              </a:rPr>
              <a:t>high</a:t>
            </a:r>
            <a:r>
              <a:rPr dirty="0" sz="1050" spc="-15">
                <a:solidFill>
                  <a:srgbClr val="2C2824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C2824"/>
                </a:solidFill>
                <a:latin typeface="Arial MT"/>
                <a:cs typeface="Arial MT"/>
              </a:rPr>
              <a:t>for</a:t>
            </a:r>
            <a:r>
              <a:rPr dirty="0" sz="1050" spc="-30">
                <a:solidFill>
                  <a:srgbClr val="2C2824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C2824"/>
                </a:solidFill>
                <a:latin typeface="Arial MT"/>
                <a:cs typeface="Arial MT"/>
              </a:rPr>
              <a:t>quite</a:t>
            </a:r>
            <a:r>
              <a:rPr dirty="0" sz="1050" spc="-15">
                <a:solidFill>
                  <a:srgbClr val="2C2824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2C2824"/>
                </a:solidFill>
                <a:latin typeface="Arial MT"/>
                <a:cs typeface="Arial MT"/>
              </a:rPr>
              <a:t>some</a:t>
            </a:r>
            <a:r>
              <a:rPr dirty="0" sz="1050" spc="-35">
                <a:solidFill>
                  <a:srgbClr val="2C2824"/>
                </a:solidFill>
                <a:latin typeface="Arial MT"/>
                <a:cs typeface="Arial MT"/>
              </a:rPr>
              <a:t> </a:t>
            </a:r>
            <a:r>
              <a:rPr dirty="0" sz="1050" spc="-20">
                <a:solidFill>
                  <a:srgbClr val="2C2824"/>
                </a:solidFill>
                <a:latin typeface="Arial MT"/>
                <a:cs typeface="Arial MT"/>
              </a:rPr>
              <a:t>time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43840" y="664463"/>
            <a:ext cx="1586230" cy="11049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1000">
              <a:latin typeface="Times New Roman"/>
              <a:cs typeface="Times New Roman"/>
            </a:endParaRPr>
          </a:p>
          <a:p>
            <a:pPr algn="ctr" marL="70485" marR="177800" indent="6350">
              <a:lnSpc>
                <a:spcPct val="99000"/>
              </a:lnSpc>
            </a:pPr>
            <a:r>
              <a:rPr dirty="0" sz="1000" b="1">
                <a:solidFill>
                  <a:srgbClr val="FFFFFF"/>
                </a:solidFill>
                <a:latin typeface="Arial"/>
                <a:cs typeface="Arial"/>
              </a:rPr>
              <a:t>Tightening</a:t>
            </a:r>
            <a:r>
              <a:rPr dirty="0" sz="10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FFFFFF"/>
                </a:solidFill>
                <a:latin typeface="Arial"/>
                <a:cs typeface="Arial"/>
              </a:rPr>
              <a:t>monetary </a:t>
            </a:r>
            <a:r>
              <a:rPr dirty="0" sz="1000" b="1">
                <a:solidFill>
                  <a:srgbClr val="FFFFFF"/>
                </a:solidFill>
                <a:latin typeface="Arial"/>
                <a:cs typeface="Arial"/>
              </a:rPr>
              <a:t>environment</a:t>
            </a:r>
            <a:r>
              <a:rPr dirty="0" sz="10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0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FFFFFF"/>
                </a:solidFill>
                <a:latin typeface="Arial"/>
                <a:cs typeface="Arial"/>
              </a:rPr>
              <a:t>curtail inflation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214756" y="652144"/>
            <a:ext cx="9603105" cy="1932939"/>
            <a:chOff x="214756" y="652144"/>
            <a:chExt cx="9603105" cy="1932939"/>
          </a:xfrm>
        </p:grpSpPr>
        <p:sp>
          <p:nvSpPr>
            <p:cNvPr id="6" name="object 6" descr=""/>
            <p:cNvSpPr/>
            <p:nvPr/>
          </p:nvSpPr>
          <p:spPr>
            <a:xfrm>
              <a:off x="217931" y="655319"/>
              <a:ext cx="9441180" cy="0"/>
            </a:xfrm>
            <a:custGeom>
              <a:avLst/>
              <a:gdLst/>
              <a:ahLst/>
              <a:cxnLst/>
              <a:rect l="l" t="t" r="r" b="b"/>
              <a:pathLst>
                <a:path w="9441180" h="0">
                  <a:moveTo>
                    <a:pt x="0" y="0"/>
                  </a:moveTo>
                  <a:lnTo>
                    <a:pt x="9441053" y="0"/>
                  </a:lnTo>
                </a:path>
              </a:pathLst>
            </a:custGeom>
            <a:ln w="635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8200" y="804671"/>
              <a:ext cx="231647" cy="222503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233171" y="1752600"/>
              <a:ext cx="9581515" cy="50165"/>
            </a:xfrm>
            <a:custGeom>
              <a:avLst/>
              <a:gdLst/>
              <a:ahLst/>
              <a:cxnLst/>
              <a:rect l="l" t="t" r="r" b="b"/>
              <a:pathLst>
                <a:path w="9581515" h="50164">
                  <a:moveTo>
                    <a:pt x="0" y="50164"/>
                  </a:moveTo>
                  <a:lnTo>
                    <a:pt x="9581515" y="0"/>
                  </a:lnTo>
                </a:path>
              </a:pathLst>
            </a:custGeom>
            <a:ln w="635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248411" y="1815083"/>
              <a:ext cx="1586230" cy="769620"/>
            </a:xfrm>
            <a:custGeom>
              <a:avLst/>
              <a:gdLst/>
              <a:ahLst/>
              <a:cxnLst/>
              <a:rect l="l" t="t" r="r" b="b"/>
              <a:pathLst>
                <a:path w="1586230" h="769619">
                  <a:moveTo>
                    <a:pt x="1586102" y="0"/>
                  </a:moveTo>
                  <a:lnTo>
                    <a:pt x="0" y="0"/>
                  </a:lnTo>
                  <a:lnTo>
                    <a:pt x="0" y="769619"/>
                  </a:lnTo>
                  <a:lnTo>
                    <a:pt x="1586102" y="769619"/>
                  </a:lnTo>
                  <a:lnTo>
                    <a:pt x="1586102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248411" y="1815083"/>
            <a:ext cx="1586230" cy="7696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1000">
              <a:latin typeface="Times New Roman"/>
              <a:cs typeface="Times New Roman"/>
            </a:endParaRPr>
          </a:p>
          <a:p>
            <a:pPr marL="345440" marR="292100" indent="-135890">
              <a:lnSpc>
                <a:spcPts val="1180"/>
              </a:lnSpc>
            </a:pPr>
            <a:r>
              <a:rPr dirty="0" sz="1000" b="1">
                <a:solidFill>
                  <a:srgbClr val="FFFFFF"/>
                </a:solidFill>
                <a:latin typeface="Arial"/>
                <a:cs typeface="Arial"/>
              </a:rPr>
              <a:t>Concerns</a:t>
            </a:r>
            <a:r>
              <a:rPr dirty="0" sz="10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FFFFF"/>
                </a:solidFill>
                <a:latin typeface="Arial"/>
                <a:cs typeface="Arial"/>
              </a:rPr>
              <a:t>on</a:t>
            </a:r>
            <a:r>
              <a:rPr dirty="0" sz="10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-20" b="1">
                <a:solidFill>
                  <a:srgbClr val="FFFFFF"/>
                </a:solidFill>
                <a:latin typeface="Arial"/>
                <a:cs typeface="Arial"/>
              </a:rPr>
              <a:t>debt </a:t>
            </a:r>
            <a:r>
              <a:rPr dirty="0" sz="1000" spc="-10" b="1">
                <a:solidFill>
                  <a:srgbClr val="FFFFFF"/>
                </a:solidFill>
                <a:latin typeface="Arial"/>
                <a:cs typeface="Arial"/>
              </a:rPr>
              <a:t>sustainability</a:t>
            </a:r>
            <a:endParaRPr sz="10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991360" y="1857882"/>
            <a:ext cx="7849870" cy="6470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51765" marR="413384" indent="-139700">
              <a:lnSpc>
                <a:spcPct val="100000"/>
              </a:lnSpc>
              <a:spcBef>
                <a:spcPts val="95"/>
              </a:spcBef>
              <a:buChar char="•"/>
              <a:tabLst>
                <a:tab pos="154305" algn="l"/>
              </a:tabLst>
            </a:pPr>
            <a:r>
              <a:rPr dirty="0" sz="1000">
                <a:latin typeface="Arial MT"/>
                <a:cs typeface="Arial MT"/>
              </a:rPr>
              <a:t>In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2022,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global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public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debt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–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comprising</a:t>
            </a:r>
            <a:r>
              <a:rPr dirty="0" sz="1000" spc="-5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general</a:t>
            </a:r>
            <a:r>
              <a:rPr dirty="0" sz="1000" spc="-5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government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domestic</a:t>
            </a:r>
            <a:r>
              <a:rPr dirty="0" sz="1000" spc="-4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and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external</a:t>
            </a:r>
            <a:r>
              <a:rPr dirty="0" sz="1000" spc="-5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debt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–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reached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record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$92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trillion.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Developing 	countries</a:t>
            </a:r>
            <a:r>
              <a:rPr dirty="0" sz="1000" spc="-5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owe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almost</a:t>
            </a:r>
            <a:r>
              <a:rPr dirty="0" sz="1000" spc="-6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30%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of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total,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of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which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roughly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70%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is</a:t>
            </a:r>
            <a:r>
              <a:rPr dirty="0" sz="1000" spc="-10">
                <a:latin typeface="Arial MT"/>
                <a:cs typeface="Arial MT"/>
              </a:rPr>
              <a:t> attributable</a:t>
            </a:r>
            <a:r>
              <a:rPr dirty="0" sz="1000" spc="-4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to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China,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India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and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Brazil</a:t>
            </a:r>
            <a:endParaRPr sz="1000">
              <a:latin typeface="Arial MT"/>
              <a:cs typeface="Arial MT"/>
            </a:endParaRPr>
          </a:p>
          <a:p>
            <a:pPr marL="152400" indent="-139700">
              <a:lnSpc>
                <a:spcPct val="100000"/>
              </a:lnSpc>
              <a:spcBef>
                <a:spcPts val="95"/>
              </a:spcBef>
              <a:buChar char="•"/>
              <a:tabLst>
                <a:tab pos="152400" algn="l"/>
              </a:tabLst>
            </a:pPr>
            <a:r>
              <a:rPr dirty="0" sz="1000" spc="-10">
                <a:latin typeface="Arial MT"/>
                <a:cs typeface="Arial MT"/>
              </a:rPr>
              <a:t>Economies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already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susceptible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to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weaknesses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may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encounter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additional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rises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in</a:t>
            </a:r>
            <a:r>
              <a:rPr dirty="0" sz="1000" spc="1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borrowing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expenses.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Several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nations,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 spc="-10" b="1">
                <a:latin typeface="Arial"/>
                <a:cs typeface="Arial"/>
              </a:rPr>
              <a:t>including</a:t>
            </a:r>
            <a:r>
              <a:rPr dirty="0" sz="1000" spc="-3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Zambia,</a:t>
            </a:r>
            <a:endParaRPr sz="1000">
              <a:latin typeface="Arial"/>
              <a:cs typeface="Arial"/>
            </a:endParaRPr>
          </a:p>
          <a:p>
            <a:pPr marL="154305">
              <a:lnSpc>
                <a:spcPct val="100000"/>
              </a:lnSpc>
            </a:pPr>
            <a:r>
              <a:rPr dirty="0" sz="1000" b="1">
                <a:latin typeface="Arial"/>
                <a:cs typeface="Arial"/>
              </a:rPr>
              <a:t>Sri Lanka,</a:t>
            </a:r>
            <a:r>
              <a:rPr dirty="0" sz="1000" spc="-3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Ghana,</a:t>
            </a:r>
            <a:r>
              <a:rPr dirty="0" sz="1000" spc="-30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Pakistan,</a:t>
            </a:r>
            <a:r>
              <a:rPr dirty="0" sz="1000" spc="-4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and</a:t>
            </a:r>
            <a:r>
              <a:rPr dirty="0" sz="1000" spc="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Tunisia,</a:t>
            </a:r>
            <a:r>
              <a:rPr dirty="0" sz="1000" spc="-4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face</a:t>
            </a:r>
            <a:r>
              <a:rPr dirty="0" sz="1000" spc="-1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mounting</a:t>
            </a:r>
            <a:r>
              <a:rPr dirty="0" sz="1000" spc="-20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challenges</a:t>
            </a:r>
            <a:r>
              <a:rPr dirty="0" sz="1000" spc="-4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in </a:t>
            </a:r>
            <a:r>
              <a:rPr dirty="0" sz="1000" spc="-10" b="1">
                <a:latin typeface="Arial"/>
                <a:cs typeface="Arial"/>
              </a:rPr>
              <a:t>servicing</a:t>
            </a:r>
            <a:r>
              <a:rPr dirty="0" sz="1000" spc="-3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their</a:t>
            </a:r>
            <a:r>
              <a:rPr dirty="0" sz="1000" spc="-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debts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245363" y="1879092"/>
            <a:ext cx="1603375" cy="1618615"/>
            <a:chOff x="245363" y="1879092"/>
            <a:chExt cx="1603375" cy="1618615"/>
          </a:xfrm>
        </p:grpSpPr>
        <p:sp>
          <p:nvSpPr>
            <p:cNvPr id="13" name="object 13" descr=""/>
            <p:cNvSpPr/>
            <p:nvPr/>
          </p:nvSpPr>
          <p:spPr>
            <a:xfrm>
              <a:off x="760476" y="1879092"/>
              <a:ext cx="376555" cy="295910"/>
            </a:xfrm>
            <a:custGeom>
              <a:avLst/>
              <a:gdLst/>
              <a:ahLst/>
              <a:cxnLst/>
              <a:rect l="l" t="t" r="r" b="b"/>
              <a:pathLst>
                <a:path w="376555" h="295910">
                  <a:moveTo>
                    <a:pt x="216915" y="269748"/>
                  </a:moveTo>
                  <a:lnTo>
                    <a:pt x="198221" y="269748"/>
                  </a:lnTo>
                  <a:lnTo>
                    <a:pt x="200228" y="274066"/>
                  </a:lnTo>
                  <a:lnTo>
                    <a:pt x="206235" y="278384"/>
                  </a:lnTo>
                  <a:lnTo>
                    <a:pt x="212242" y="284861"/>
                  </a:lnTo>
                  <a:lnTo>
                    <a:pt x="222249" y="287020"/>
                  </a:lnTo>
                  <a:lnTo>
                    <a:pt x="244271" y="293497"/>
                  </a:lnTo>
                  <a:lnTo>
                    <a:pt x="272313" y="295656"/>
                  </a:lnTo>
                  <a:lnTo>
                    <a:pt x="300342" y="293497"/>
                  </a:lnTo>
                  <a:lnTo>
                    <a:pt x="314363" y="291338"/>
                  </a:lnTo>
                  <a:lnTo>
                    <a:pt x="334378" y="282702"/>
                  </a:lnTo>
                  <a:lnTo>
                    <a:pt x="336379" y="280543"/>
                  </a:lnTo>
                  <a:lnTo>
                    <a:pt x="272313" y="280543"/>
                  </a:lnTo>
                  <a:lnTo>
                    <a:pt x="252285" y="278384"/>
                  </a:lnTo>
                  <a:lnTo>
                    <a:pt x="236270" y="276225"/>
                  </a:lnTo>
                  <a:lnTo>
                    <a:pt x="220256" y="271907"/>
                  </a:lnTo>
                  <a:lnTo>
                    <a:pt x="216915" y="269748"/>
                  </a:lnTo>
                  <a:close/>
                </a:path>
                <a:path w="376555" h="295910">
                  <a:moveTo>
                    <a:pt x="198221" y="49657"/>
                  </a:moveTo>
                  <a:lnTo>
                    <a:pt x="2006" y="148844"/>
                  </a:lnTo>
                  <a:lnTo>
                    <a:pt x="2006" y="159638"/>
                  </a:lnTo>
                  <a:lnTo>
                    <a:pt x="6007" y="161798"/>
                  </a:lnTo>
                  <a:lnTo>
                    <a:pt x="30035" y="170434"/>
                  </a:lnTo>
                  <a:lnTo>
                    <a:pt x="4000" y="183387"/>
                  </a:lnTo>
                  <a:lnTo>
                    <a:pt x="0" y="192024"/>
                  </a:lnTo>
                  <a:lnTo>
                    <a:pt x="2006" y="196342"/>
                  </a:lnTo>
                  <a:lnTo>
                    <a:pt x="6007" y="198500"/>
                  </a:lnTo>
                  <a:lnTo>
                    <a:pt x="30035" y="209296"/>
                  </a:lnTo>
                  <a:lnTo>
                    <a:pt x="4000" y="222250"/>
                  </a:lnTo>
                  <a:lnTo>
                    <a:pt x="0" y="224409"/>
                  </a:lnTo>
                  <a:lnTo>
                    <a:pt x="0" y="235204"/>
                  </a:lnTo>
                  <a:lnTo>
                    <a:pt x="4000" y="237362"/>
                  </a:lnTo>
                  <a:lnTo>
                    <a:pt x="148170" y="291338"/>
                  </a:lnTo>
                  <a:lnTo>
                    <a:pt x="154177" y="291338"/>
                  </a:lnTo>
                  <a:lnTo>
                    <a:pt x="189412" y="274066"/>
                  </a:lnTo>
                  <a:lnTo>
                    <a:pt x="150164" y="274066"/>
                  </a:lnTo>
                  <a:lnTo>
                    <a:pt x="28028" y="228727"/>
                  </a:lnTo>
                  <a:lnTo>
                    <a:pt x="52057" y="215773"/>
                  </a:lnTo>
                  <a:lnTo>
                    <a:pt x="96727" y="215773"/>
                  </a:lnTo>
                  <a:lnTo>
                    <a:pt x="72085" y="207137"/>
                  </a:lnTo>
                  <a:lnTo>
                    <a:pt x="28028" y="189865"/>
                  </a:lnTo>
                  <a:lnTo>
                    <a:pt x="52057" y="179070"/>
                  </a:lnTo>
                  <a:lnTo>
                    <a:pt x="200228" y="179070"/>
                  </a:lnTo>
                  <a:lnTo>
                    <a:pt x="198221" y="176911"/>
                  </a:lnTo>
                  <a:lnTo>
                    <a:pt x="196227" y="172593"/>
                  </a:lnTo>
                  <a:lnTo>
                    <a:pt x="198221" y="166116"/>
                  </a:lnTo>
                  <a:lnTo>
                    <a:pt x="200897" y="161798"/>
                  </a:lnTo>
                  <a:lnTo>
                    <a:pt x="116128" y="161798"/>
                  </a:lnTo>
                  <a:lnTo>
                    <a:pt x="100114" y="153162"/>
                  </a:lnTo>
                  <a:lnTo>
                    <a:pt x="98107" y="148844"/>
                  </a:lnTo>
                  <a:lnTo>
                    <a:pt x="100114" y="146812"/>
                  </a:lnTo>
                  <a:lnTo>
                    <a:pt x="102120" y="142494"/>
                  </a:lnTo>
                  <a:lnTo>
                    <a:pt x="110121" y="138175"/>
                  </a:lnTo>
                  <a:lnTo>
                    <a:pt x="120142" y="136017"/>
                  </a:lnTo>
                  <a:lnTo>
                    <a:pt x="134150" y="133858"/>
                  </a:lnTo>
                  <a:lnTo>
                    <a:pt x="196227" y="133858"/>
                  </a:lnTo>
                  <a:lnTo>
                    <a:pt x="198221" y="127381"/>
                  </a:lnTo>
                  <a:lnTo>
                    <a:pt x="202234" y="123062"/>
                  </a:lnTo>
                  <a:lnTo>
                    <a:pt x="238264" y="123062"/>
                  </a:lnTo>
                  <a:lnTo>
                    <a:pt x="214248" y="114427"/>
                  </a:lnTo>
                  <a:lnTo>
                    <a:pt x="210235" y="112268"/>
                  </a:lnTo>
                  <a:lnTo>
                    <a:pt x="200228" y="103632"/>
                  </a:lnTo>
                  <a:lnTo>
                    <a:pt x="196227" y="94996"/>
                  </a:lnTo>
                  <a:lnTo>
                    <a:pt x="198221" y="88519"/>
                  </a:lnTo>
                  <a:lnTo>
                    <a:pt x="202234" y="84200"/>
                  </a:lnTo>
                  <a:lnTo>
                    <a:pt x="238264" y="84200"/>
                  </a:lnTo>
                  <a:lnTo>
                    <a:pt x="214248" y="75565"/>
                  </a:lnTo>
                  <a:lnTo>
                    <a:pt x="210235" y="73406"/>
                  </a:lnTo>
                  <a:lnTo>
                    <a:pt x="200228" y="64770"/>
                  </a:lnTo>
                  <a:lnTo>
                    <a:pt x="196227" y="56134"/>
                  </a:lnTo>
                  <a:lnTo>
                    <a:pt x="198221" y="49657"/>
                  </a:lnTo>
                  <a:close/>
                </a:path>
                <a:path w="376555" h="295910">
                  <a:moveTo>
                    <a:pt x="346392" y="254635"/>
                  </a:moveTo>
                  <a:lnTo>
                    <a:pt x="308355" y="276225"/>
                  </a:lnTo>
                  <a:lnTo>
                    <a:pt x="272313" y="280543"/>
                  </a:lnTo>
                  <a:lnTo>
                    <a:pt x="336379" y="280543"/>
                  </a:lnTo>
                  <a:lnTo>
                    <a:pt x="344385" y="271907"/>
                  </a:lnTo>
                  <a:lnTo>
                    <a:pt x="346392" y="265430"/>
                  </a:lnTo>
                  <a:lnTo>
                    <a:pt x="346392" y="254635"/>
                  </a:lnTo>
                  <a:close/>
                </a:path>
                <a:path w="376555" h="295910">
                  <a:moveTo>
                    <a:pt x="196227" y="250317"/>
                  </a:moveTo>
                  <a:lnTo>
                    <a:pt x="150164" y="274066"/>
                  </a:lnTo>
                  <a:lnTo>
                    <a:pt x="189412" y="274066"/>
                  </a:lnTo>
                  <a:lnTo>
                    <a:pt x="198221" y="269748"/>
                  </a:lnTo>
                  <a:lnTo>
                    <a:pt x="216915" y="269748"/>
                  </a:lnTo>
                  <a:lnTo>
                    <a:pt x="210235" y="265430"/>
                  </a:lnTo>
                  <a:lnTo>
                    <a:pt x="206235" y="263271"/>
                  </a:lnTo>
                  <a:lnTo>
                    <a:pt x="200228" y="256794"/>
                  </a:lnTo>
                  <a:lnTo>
                    <a:pt x="196227" y="250317"/>
                  </a:lnTo>
                  <a:close/>
                </a:path>
                <a:path w="376555" h="295910">
                  <a:moveTo>
                    <a:pt x="216915" y="230886"/>
                  </a:moveTo>
                  <a:lnTo>
                    <a:pt x="198221" y="230886"/>
                  </a:lnTo>
                  <a:lnTo>
                    <a:pt x="200228" y="237362"/>
                  </a:lnTo>
                  <a:lnTo>
                    <a:pt x="206235" y="241681"/>
                  </a:lnTo>
                  <a:lnTo>
                    <a:pt x="222249" y="250317"/>
                  </a:lnTo>
                  <a:lnTo>
                    <a:pt x="246278" y="254635"/>
                  </a:lnTo>
                  <a:lnTo>
                    <a:pt x="272313" y="256794"/>
                  </a:lnTo>
                  <a:lnTo>
                    <a:pt x="300342" y="254635"/>
                  </a:lnTo>
                  <a:lnTo>
                    <a:pt x="314363" y="252475"/>
                  </a:lnTo>
                  <a:lnTo>
                    <a:pt x="334378" y="243840"/>
                  </a:lnTo>
                  <a:lnTo>
                    <a:pt x="336379" y="241681"/>
                  </a:lnTo>
                  <a:lnTo>
                    <a:pt x="272313" y="241681"/>
                  </a:lnTo>
                  <a:lnTo>
                    <a:pt x="252285" y="239522"/>
                  </a:lnTo>
                  <a:lnTo>
                    <a:pt x="236270" y="237362"/>
                  </a:lnTo>
                  <a:lnTo>
                    <a:pt x="220256" y="233045"/>
                  </a:lnTo>
                  <a:lnTo>
                    <a:pt x="216915" y="230886"/>
                  </a:lnTo>
                  <a:close/>
                </a:path>
                <a:path w="376555" h="295910">
                  <a:moveTo>
                    <a:pt x="96727" y="215773"/>
                  </a:moveTo>
                  <a:lnTo>
                    <a:pt x="52057" y="215773"/>
                  </a:lnTo>
                  <a:lnTo>
                    <a:pt x="148170" y="252475"/>
                  </a:lnTo>
                  <a:lnTo>
                    <a:pt x="154177" y="252475"/>
                  </a:lnTo>
                  <a:lnTo>
                    <a:pt x="189412" y="235204"/>
                  </a:lnTo>
                  <a:lnTo>
                    <a:pt x="152171" y="235204"/>
                  </a:lnTo>
                  <a:lnTo>
                    <a:pt x="96727" y="215773"/>
                  </a:lnTo>
                  <a:close/>
                </a:path>
                <a:path w="376555" h="295910">
                  <a:moveTo>
                    <a:pt x="346392" y="215773"/>
                  </a:moveTo>
                  <a:lnTo>
                    <a:pt x="308355" y="237362"/>
                  </a:lnTo>
                  <a:lnTo>
                    <a:pt x="272313" y="241681"/>
                  </a:lnTo>
                  <a:lnTo>
                    <a:pt x="336379" y="241681"/>
                  </a:lnTo>
                  <a:lnTo>
                    <a:pt x="344385" y="233045"/>
                  </a:lnTo>
                  <a:lnTo>
                    <a:pt x="346392" y="226568"/>
                  </a:lnTo>
                  <a:lnTo>
                    <a:pt x="346392" y="215773"/>
                  </a:lnTo>
                  <a:close/>
                </a:path>
                <a:path w="376555" h="295910">
                  <a:moveTo>
                    <a:pt x="196227" y="211455"/>
                  </a:moveTo>
                  <a:lnTo>
                    <a:pt x="196227" y="213613"/>
                  </a:lnTo>
                  <a:lnTo>
                    <a:pt x="152171" y="235204"/>
                  </a:lnTo>
                  <a:lnTo>
                    <a:pt x="189412" y="235204"/>
                  </a:lnTo>
                  <a:lnTo>
                    <a:pt x="198221" y="230886"/>
                  </a:lnTo>
                  <a:lnTo>
                    <a:pt x="216915" y="230886"/>
                  </a:lnTo>
                  <a:lnTo>
                    <a:pt x="210235" y="226568"/>
                  </a:lnTo>
                  <a:lnTo>
                    <a:pt x="208241" y="226568"/>
                  </a:lnTo>
                  <a:lnTo>
                    <a:pt x="200228" y="220091"/>
                  </a:lnTo>
                  <a:lnTo>
                    <a:pt x="198221" y="213613"/>
                  </a:lnTo>
                  <a:lnTo>
                    <a:pt x="196227" y="211455"/>
                  </a:lnTo>
                  <a:close/>
                </a:path>
                <a:path w="376555" h="295910">
                  <a:moveTo>
                    <a:pt x="220256" y="194183"/>
                  </a:moveTo>
                  <a:lnTo>
                    <a:pt x="198221" y="194183"/>
                  </a:lnTo>
                  <a:lnTo>
                    <a:pt x="202234" y="198500"/>
                  </a:lnTo>
                  <a:lnTo>
                    <a:pt x="208241" y="202819"/>
                  </a:lnTo>
                  <a:lnTo>
                    <a:pt x="224256" y="211455"/>
                  </a:lnTo>
                  <a:lnTo>
                    <a:pt x="246278" y="215773"/>
                  </a:lnTo>
                  <a:lnTo>
                    <a:pt x="272313" y="217932"/>
                  </a:lnTo>
                  <a:lnTo>
                    <a:pt x="296341" y="215773"/>
                  </a:lnTo>
                  <a:lnTo>
                    <a:pt x="318363" y="211455"/>
                  </a:lnTo>
                  <a:lnTo>
                    <a:pt x="334378" y="204978"/>
                  </a:lnTo>
                  <a:lnTo>
                    <a:pt x="337381" y="202819"/>
                  </a:lnTo>
                  <a:lnTo>
                    <a:pt x="272313" y="202819"/>
                  </a:lnTo>
                  <a:lnTo>
                    <a:pt x="252285" y="200660"/>
                  </a:lnTo>
                  <a:lnTo>
                    <a:pt x="236270" y="198500"/>
                  </a:lnTo>
                  <a:lnTo>
                    <a:pt x="220256" y="194183"/>
                  </a:lnTo>
                  <a:close/>
                </a:path>
                <a:path w="376555" h="295910">
                  <a:moveTo>
                    <a:pt x="200228" y="179070"/>
                  </a:moveTo>
                  <a:lnTo>
                    <a:pt x="52057" y="179070"/>
                  </a:lnTo>
                  <a:lnTo>
                    <a:pt x="150164" y="215773"/>
                  </a:lnTo>
                  <a:lnTo>
                    <a:pt x="156171" y="215773"/>
                  </a:lnTo>
                  <a:lnTo>
                    <a:pt x="198221" y="194183"/>
                  </a:lnTo>
                  <a:lnTo>
                    <a:pt x="220256" y="194183"/>
                  </a:lnTo>
                  <a:lnTo>
                    <a:pt x="210235" y="187706"/>
                  </a:lnTo>
                  <a:lnTo>
                    <a:pt x="208241" y="187706"/>
                  </a:lnTo>
                  <a:lnTo>
                    <a:pt x="200228" y="181229"/>
                  </a:lnTo>
                  <a:lnTo>
                    <a:pt x="200228" y="179070"/>
                  </a:lnTo>
                  <a:close/>
                </a:path>
                <a:path w="376555" h="295910">
                  <a:moveTo>
                    <a:pt x="352399" y="159638"/>
                  </a:moveTo>
                  <a:lnTo>
                    <a:pt x="342392" y="159638"/>
                  </a:lnTo>
                  <a:lnTo>
                    <a:pt x="346392" y="166116"/>
                  </a:lnTo>
                  <a:lnTo>
                    <a:pt x="346392" y="174752"/>
                  </a:lnTo>
                  <a:lnTo>
                    <a:pt x="308355" y="198500"/>
                  </a:lnTo>
                  <a:lnTo>
                    <a:pt x="272313" y="202819"/>
                  </a:lnTo>
                  <a:lnTo>
                    <a:pt x="337381" y="202819"/>
                  </a:lnTo>
                  <a:lnTo>
                    <a:pt x="340385" y="200660"/>
                  </a:lnTo>
                  <a:lnTo>
                    <a:pt x="344385" y="194183"/>
                  </a:lnTo>
                  <a:lnTo>
                    <a:pt x="370420" y="181229"/>
                  </a:lnTo>
                  <a:lnTo>
                    <a:pt x="374421" y="179070"/>
                  </a:lnTo>
                  <a:lnTo>
                    <a:pt x="374421" y="168275"/>
                  </a:lnTo>
                  <a:lnTo>
                    <a:pt x="370420" y="166116"/>
                  </a:lnTo>
                  <a:lnTo>
                    <a:pt x="352399" y="159638"/>
                  </a:lnTo>
                  <a:close/>
                </a:path>
                <a:path w="376555" h="295910">
                  <a:moveTo>
                    <a:pt x="238264" y="159638"/>
                  </a:moveTo>
                  <a:lnTo>
                    <a:pt x="202234" y="159638"/>
                  </a:lnTo>
                  <a:lnTo>
                    <a:pt x="214248" y="168275"/>
                  </a:lnTo>
                  <a:lnTo>
                    <a:pt x="230263" y="174752"/>
                  </a:lnTo>
                  <a:lnTo>
                    <a:pt x="248285" y="179070"/>
                  </a:lnTo>
                  <a:lnTo>
                    <a:pt x="294335" y="179070"/>
                  </a:lnTo>
                  <a:lnTo>
                    <a:pt x="314363" y="174752"/>
                  </a:lnTo>
                  <a:lnTo>
                    <a:pt x="330377" y="168275"/>
                  </a:lnTo>
                  <a:lnTo>
                    <a:pt x="336384" y="163957"/>
                  </a:lnTo>
                  <a:lnTo>
                    <a:pt x="254292" y="163957"/>
                  </a:lnTo>
                  <a:lnTo>
                    <a:pt x="238264" y="159638"/>
                  </a:lnTo>
                  <a:close/>
                </a:path>
                <a:path w="376555" h="295910">
                  <a:moveTo>
                    <a:pt x="356003" y="123062"/>
                  </a:moveTo>
                  <a:lnTo>
                    <a:pt x="342392" y="123062"/>
                  </a:lnTo>
                  <a:lnTo>
                    <a:pt x="346392" y="127381"/>
                  </a:lnTo>
                  <a:lnTo>
                    <a:pt x="346392" y="138175"/>
                  </a:lnTo>
                  <a:lnTo>
                    <a:pt x="308355" y="159638"/>
                  </a:lnTo>
                  <a:lnTo>
                    <a:pt x="272313" y="163957"/>
                  </a:lnTo>
                  <a:lnTo>
                    <a:pt x="336384" y="163957"/>
                  </a:lnTo>
                  <a:lnTo>
                    <a:pt x="342392" y="159638"/>
                  </a:lnTo>
                  <a:lnTo>
                    <a:pt x="352399" y="159638"/>
                  </a:lnTo>
                  <a:lnTo>
                    <a:pt x="346392" y="157480"/>
                  </a:lnTo>
                  <a:lnTo>
                    <a:pt x="372427" y="144653"/>
                  </a:lnTo>
                  <a:lnTo>
                    <a:pt x="376427" y="136017"/>
                  </a:lnTo>
                  <a:lnTo>
                    <a:pt x="374421" y="131699"/>
                  </a:lnTo>
                  <a:lnTo>
                    <a:pt x="370420" y="129540"/>
                  </a:lnTo>
                  <a:lnTo>
                    <a:pt x="356003" y="123062"/>
                  </a:lnTo>
                  <a:close/>
                </a:path>
                <a:path w="376555" h="295910">
                  <a:moveTo>
                    <a:pt x="196227" y="133858"/>
                  </a:moveTo>
                  <a:lnTo>
                    <a:pt x="134150" y="133858"/>
                  </a:lnTo>
                  <a:lnTo>
                    <a:pt x="148170" y="136017"/>
                  </a:lnTo>
                  <a:lnTo>
                    <a:pt x="158178" y="138175"/>
                  </a:lnTo>
                  <a:lnTo>
                    <a:pt x="166192" y="142494"/>
                  </a:lnTo>
                  <a:lnTo>
                    <a:pt x="168186" y="146812"/>
                  </a:lnTo>
                  <a:lnTo>
                    <a:pt x="168186" y="148844"/>
                  </a:lnTo>
                  <a:lnTo>
                    <a:pt x="166192" y="153162"/>
                  </a:lnTo>
                  <a:lnTo>
                    <a:pt x="150164" y="161798"/>
                  </a:lnTo>
                  <a:lnTo>
                    <a:pt x="200897" y="161798"/>
                  </a:lnTo>
                  <a:lnTo>
                    <a:pt x="202234" y="159638"/>
                  </a:lnTo>
                  <a:lnTo>
                    <a:pt x="238264" y="159638"/>
                  </a:lnTo>
                  <a:lnTo>
                    <a:pt x="226263" y="157480"/>
                  </a:lnTo>
                  <a:lnTo>
                    <a:pt x="214248" y="153162"/>
                  </a:lnTo>
                  <a:lnTo>
                    <a:pt x="210235" y="151003"/>
                  </a:lnTo>
                  <a:lnTo>
                    <a:pt x="200228" y="142494"/>
                  </a:lnTo>
                  <a:lnTo>
                    <a:pt x="196227" y="133858"/>
                  </a:lnTo>
                  <a:close/>
                </a:path>
                <a:path w="376555" h="295910">
                  <a:moveTo>
                    <a:pt x="238264" y="123062"/>
                  </a:moveTo>
                  <a:lnTo>
                    <a:pt x="202234" y="123062"/>
                  </a:lnTo>
                  <a:lnTo>
                    <a:pt x="214248" y="129540"/>
                  </a:lnTo>
                  <a:lnTo>
                    <a:pt x="230263" y="136017"/>
                  </a:lnTo>
                  <a:lnTo>
                    <a:pt x="248285" y="140335"/>
                  </a:lnTo>
                  <a:lnTo>
                    <a:pt x="294335" y="140335"/>
                  </a:lnTo>
                  <a:lnTo>
                    <a:pt x="314363" y="136017"/>
                  </a:lnTo>
                  <a:lnTo>
                    <a:pt x="330377" y="129540"/>
                  </a:lnTo>
                  <a:lnTo>
                    <a:pt x="338387" y="125222"/>
                  </a:lnTo>
                  <a:lnTo>
                    <a:pt x="254292" y="125222"/>
                  </a:lnTo>
                  <a:lnTo>
                    <a:pt x="238264" y="123062"/>
                  </a:lnTo>
                  <a:close/>
                </a:path>
                <a:path w="376555" h="295910">
                  <a:moveTo>
                    <a:pt x="355602" y="84200"/>
                  </a:moveTo>
                  <a:lnTo>
                    <a:pt x="342392" y="84200"/>
                  </a:lnTo>
                  <a:lnTo>
                    <a:pt x="346392" y="88519"/>
                  </a:lnTo>
                  <a:lnTo>
                    <a:pt x="346392" y="99313"/>
                  </a:lnTo>
                  <a:lnTo>
                    <a:pt x="308355" y="120904"/>
                  </a:lnTo>
                  <a:lnTo>
                    <a:pt x="290334" y="125222"/>
                  </a:lnTo>
                  <a:lnTo>
                    <a:pt x="338387" y="125222"/>
                  </a:lnTo>
                  <a:lnTo>
                    <a:pt x="342392" y="123062"/>
                  </a:lnTo>
                  <a:lnTo>
                    <a:pt x="356003" y="123062"/>
                  </a:lnTo>
                  <a:lnTo>
                    <a:pt x="346392" y="118745"/>
                  </a:lnTo>
                  <a:lnTo>
                    <a:pt x="372427" y="105791"/>
                  </a:lnTo>
                  <a:lnTo>
                    <a:pt x="376427" y="103632"/>
                  </a:lnTo>
                  <a:lnTo>
                    <a:pt x="376427" y="92837"/>
                  </a:lnTo>
                  <a:lnTo>
                    <a:pt x="372427" y="90678"/>
                  </a:lnTo>
                  <a:lnTo>
                    <a:pt x="355602" y="84200"/>
                  </a:lnTo>
                  <a:close/>
                </a:path>
                <a:path w="376555" h="295910">
                  <a:moveTo>
                    <a:pt x="238264" y="84200"/>
                  </a:moveTo>
                  <a:lnTo>
                    <a:pt x="202234" y="84200"/>
                  </a:lnTo>
                  <a:lnTo>
                    <a:pt x="214248" y="90678"/>
                  </a:lnTo>
                  <a:lnTo>
                    <a:pt x="230263" y="97155"/>
                  </a:lnTo>
                  <a:lnTo>
                    <a:pt x="248285" y="101473"/>
                  </a:lnTo>
                  <a:lnTo>
                    <a:pt x="272313" y="103632"/>
                  </a:lnTo>
                  <a:lnTo>
                    <a:pt x="294335" y="101473"/>
                  </a:lnTo>
                  <a:lnTo>
                    <a:pt x="314363" y="97155"/>
                  </a:lnTo>
                  <a:lnTo>
                    <a:pt x="330377" y="90678"/>
                  </a:lnTo>
                  <a:lnTo>
                    <a:pt x="338387" y="86360"/>
                  </a:lnTo>
                  <a:lnTo>
                    <a:pt x="254292" y="86360"/>
                  </a:lnTo>
                  <a:lnTo>
                    <a:pt x="238264" y="84200"/>
                  </a:lnTo>
                  <a:close/>
                </a:path>
                <a:path w="376555" h="295910">
                  <a:moveTo>
                    <a:pt x="346392" y="60452"/>
                  </a:moveTo>
                  <a:lnTo>
                    <a:pt x="308355" y="82042"/>
                  </a:lnTo>
                  <a:lnTo>
                    <a:pt x="290334" y="86360"/>
                  </a:lnTo>
                  <a:lnTo>
                    <a:pt x="338387" y="86360"/>
                  </a:lnTo>
                  <a:lnTo>
                    <a:pt x="342392" y="84200"/>
                  </a:lnTo>
                  <a:lnTo>
                    <a:pt x="355602" y="84200"/>
                  </a:lnTo>
                  <a:lnTo>
                    <a:pt x="344385" y="79883"/>
                  </a:lnTo>
                  <a:lnTo>
                    <a:pt x="346392" y="75565"/>
                  </a:lnTo>
                  <a:lnTo>
                    <a:pt x="346392" y="60452"/>
                  </a:lnTo>
                  <a:close/>
                </a:path>
                <a:path w="376555" h="295910">
                  <a:moveTo>
                    <a:pt x="272313" y="0"/>
                  </a:moveTo>
                  <a:lnTo>
                    <a:pt x="242277" y="2159"/>
                  </a:lnTo>
                  <a:lnTo>
                    <a:pt x="230263" y="6477"/>
                  </a:lnTo>
                  <a:lnTo>
                    <a:pt x="218249" y="8636"/>
                  </a:lnTo>
                  <a:lnTo>
                    <a:pt x="210235" y="15112"/>
                  </a:lnTo>
                  <a:lnTo>
                    <a:pt x="202234" y="19431"/>
                  </a:lnTo>
                  <a:lnTo>
                    <a:pt x="198221" y="25908"/>
                  </a:lnTo>
                  <a:lnTo>
                    <a:pt x="196227" y="30225"/>
                  </a:lnTo>
                  <a:lnTo>
                    <a:pt x="198221" y="36703"/>
                  </a:lnTo>
                  <a:lnTo>
                    <a:pt x="200228" y="41021"/>
                  </a:lnTo>
                  <a:lnTo>
                    <a:pt x="220256" y="53975"/>
                  </a:lnTo>
                  <a:lnTo>
                    <a:pt x="236270" y="58293"/>
                  </a:lnTo>
                  <a:lnTo>
                    <a:pt x="252285" y="60452"/>
                  </a:lnTo>
                  <a:lnTo>
                    <a:pt x="272313" y="62611"/>
                  </a:lnTo>
                  <a:lnTo>
                    <a:pt x="308355" y="58293"/>
                  </a:lnTo>
                  <a:lnTo>
                    <a:pt x="322364" y="53975"/>
                  </a:lnTo>
                  <a:lnTo>
                    <a:pt x="334378" y="47498"/>
                  </a:lnTo>
                  <a:lnTo>
                    <a:pt x="344385" y="41021"/>
                  </a:lnTo>
                  <a:lnTo>
                    <a:pt x="346392" y="36703"/>
                  </a:lnTo>
                  <a:lnTo>
                    <a:pt x="346392" y="30225"/>
                  </a:lnTo>
                  <a:lnTo>
                    <a:pt x="314363" y="6477"/>
                  </a:lnTo>
                  <a:lnTo>
                    <a:pt x="300342" y="2159"/>
                  </a:lnTo>
                  <a:lnTo>
                    <a:pt x="2723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245363" y="2627363"/>
              <a:ext cx="1603375" cy="869950"/>
            </a:xfrm>
            <a:custGeom>
              <a:avLst/>
              <a:gdLst/>
              <a:ahLst/>
              <a:cxnLst/>
              <a:rect l="l" t="t" r="r" b="b"/>
              <a:pathLst>
                <a:path w="1603375" h="869950">
                  <a:moveTo>
                    <a:pt x="1602867" y="0"/>
                  </a:moveTo>
                  <a:lnTo>
                    <a:pt x="0" y="0"/>
                  </a:lnTo>
                  <a:lnTo>
                    <a:pt x="0" y="869835"/>
                  </a:lnTo>
                  <a:lnTo>
                    <a:pt x="1602867" y="869835"/>
                  </a:lnTo>
                  <a:lnTo>
                    <a:pt x="1602867" y="0"/>
                  </a:lnTo>
                  <a:close/>
                </a:path>
              </a:pathLst>
            </a:custGeom>
            <a:solidFill>
              <a:srgbClr val="5F5F5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505459" y="3102101"/>
            <a:ext cx="987425" cy="327025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12700" marR="5080" indent="135255">
              <a:lnSpc>
                <a:spcPts val="1180"/>
              </a:lnSpc>
              <a:spcBef>
                <a:spcPts val="150"/>
              </a:spcBef>
            </a:pPr>
            <a:r>
              <a:rPr dirty="0" sz="1000" spc="-10" b="1">
                <a:solidFill>
                  <a:srgbClr val="FFFFFF"/>
                </a:solidFill>
                <a:latin typeface="Arial"/>
                <a:cs typeface="Arial"/>
              </a:rPr>
              <a:t>Heightened </a:t>
            </a:r>
            <a:r>
              <a:rPr dirty="0" sz="1000" b="1">
                <a:solidFill>
                  <a:srgbClr val="FFFFFF"/>
                </a:solidFill>
                <a:latin typeface="Arial"/>
                <a:cs typeface="Arial"/>
              </a:rPr>
              <a:t>geopolitical</a:t>
            </a:r>
            <a:r>
              <a:rPr dirty="0" sz="100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-20" b="1">
                <a:solidFill>
                  <a:srgbClr val="FFFFFF"/>
                </a:solidFill>
                <a:latin typeface="Arial"/>
                <a:cs typeface="Arial"/>
              </a:rPr>
              <a:t>risk</a:t>
            </a:r>
            <a:endParaRPr sz="1000">
              <a:latin typeface="Arial"/>
              <a:cs typeface="Arial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983739" y="2710941"/>
            <a:ext cx="7726045" cy="6470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52400" marR="237490" indent="-140335">
              <a:lnSpc>
                <a:spcPct val="100000"/>
              </a:lnSpc>
              <a:spcBef>
                <a:spcPts val="95"/>
              </a:spcBef>
              <a:buChar char="•"/>
              <a:tabLst>
                <a:tab pos="154305" algn="l"/>
              </a:tabLst>
            </a:pPr>
            <a:r>
              <a:rPr dirty="0" sz="1000">
                <a:latin typeface="Arial MT"/>
                <a:cs typeface="Arial MT"/>
              </a:rPr>
              <a:t>Elevated</a:t>
            </a:r>
            <a:r>
              <a:rPr dirty="0" sz="1000" spc="-4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levels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of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global</a:t>
            </a:r>
            <a:r>
              <a:rPr dirty="0" sz="1000" spc="-4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energy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and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commodity</a:t>
            </a:r>
            <a:r>
              <a:rPr dirty="0" sz="1000" spc="-6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(oil,</a:t>
            </a:r>
            <a:r>
              <a:rPr dirty="0" sz="1000" spc="-10">
                <a:latin typeface="Arial MT"/>
                <a:cs typeface="Arial MT"/>
              </a:rPr>
              <a:t> uranium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and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grain)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supply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risks</a:t>
            </a:r>
            <a:r>
              <a:rPr dirty="0" sz="1000" spc="-4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from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political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tensions</a:t>
            </a:r>
            <a:r>
              <a:rPr dirty="0" sz="1000" spc="-5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in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Gabon,</a:t>
            </a:r>
            <a:r>
              <a:rPr dirty="0" sz="1000" spc="-5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Niger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and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the </a:t>
            </a:r>
            <a:r>
              <a:rPr dirty="0" sz="1000" spc="-25">
                <a:latin typeface="Arial MT"/>
                <a:cs typeface="Arial MT"/>
              </a:rPr>
              <a:t>	</a:t>
            </a:r>
            <a:r>
              <a:rPr dirty="0" sz="1000" spc="-10">
                <a:latin typeface="Arial MT"/>
                <a:cs typeface="Arial MT"/>
              </a:rPr>
              <a:t>Russia-Ukraine</a:t>
            </a:r>
            <a:r>
              <a:rPr dirty="0" sz="1000" spc="-6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conflict.</a:t>
            </a:r>
            <a:r>
              <a:rPr dirty="0" sz="1000" spc="-60"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These</a:t>
            </a:r>
            <a:r>
              <a:rPr dirty="0" sz="1000" spc="-3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geopolitical</a:t>
            </a:r>
            <a:r>
              <a:rPr dirty="0" sz="1000" spc="-1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challenges</a:t>
            </a:r>
            <a:r>
              <a:rPr dirty="0" sz="1000" spc="-1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is</a:t>
            </a:r>
            <a:r>
              <a:rPr dirty="0" sz="1000" spc="-1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coupled</a:t>
            </a:r>
            <a:r>
              <a:rPr dirty="0" sz="1000" spc="-1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with the</a:t>
            </a:r>
            <a:r>
              <a:rPr dirty="0" sz="1000" spc="-3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coalition</a:t>
            </a:r>
            <a:r>
              <a:rPr dirty="0" sz="1000" spc="-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of</a:t>
            </a:r>
            <a:r>
              <a:rPr dirty="0" sz="1000" spc="-2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voluntary</a:t>
            </a:r>
            <a:r>
              <a:rPr dirty="0" sz="1000" spc="-1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supply</a:t>
            </a:r>
            <a:r>
              <a:rPr dirty="0" sz="1000" spc="-1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cuts</a:t>
            </a:r>
            <a:r>
              <a:rPr dirty="0" sz="1000" spc="-2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led</a:t>
            </a:r>
            <a:r>
              <a:rPr dirty="0" sz="1000" spc="-1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by</a:t>
            </a:r>
            <a:r>
              <a:rPr dirty="0" sz="1000" spc="-3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Saudi</a:t>
            </a:r>
            <a:r>
              <a:rPr dirty="0" sz="1000" spc="-1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and</a:t>
            </a:r>
            <a:r>
              <a:rPr dirty="0" sz="1000" spc="-3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1F2023"/>
                </a:solidFill>
                <a:latin typeface="Arial MT"/>
                <a:cs typeface="Arial MT"/>
              </a:rPr>
              <a:t>Russia</a:t>
            </a:r>
            <a:endParaRPr sz="1000">
              <a:latin typeface="Arial MT"/>
              <a:cs typeface="Arial MT"/>
            </a:endParaRPr>
          </a:p>
          <a:p>
            <a:pPr marL="152400" marR="5080" indent="-140335">
              <a:lnSpc>
                <a:spcPct val="100000"/>
              </a:lnSpc>
              <a:spcBef>
                <a:spcPts val="95"/>
              </a:spcBef>
              <a:buChar char="•"/>
              <a:tabLst>
                <a:tab pos="154305" algn="l"/>
              </a:tabLst>
            </a:pP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Fueled</a:t>
            </a:r>
            <a:r>
              <a:rPr dirty="0" sz="1000" spc="-3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by</a:t>
            </a:r>
            <a:r>
              <a:rPr dirty="0" sz="1000" spc="-3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the</a:t>
            </a:r>
            <a:r>
              <a:rPr dirty="0" sz="1000" spc="-3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pandemic</a:t>
            </a:r>
            <a:r>
              <a:rPr dirty="0" sz="1000" spc="-4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and</a:t>
            </a:r>
            <a:r>
              <a:rPr dirty="0" sz="1000" spc="-2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Russia’s</a:t>
            </a:r>
            <a:r>
              <a:rPr dirty="0" sz="1000" spc="-2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war</a:t>
            </a:r>
            <a:r>
              <a:rPr dirty="0" sz="1000" spc="-1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in</a:t>
            </a:r>
            <a:r>
              <a:rPr dirty="0" sz="1000" spc="-1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Ukraine,</a:t>
            </a:r>
            <a:r>
              <a:rPr dirty="0" sz="1000" spc="-2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 b="1">
                <a:solidFill>
                  <a:srgbClr val="1F2023"/>
                </a:solidFill>
                <a:latin typeface="Arial"/>
                <a:cs typeface="Arial"/>
              </a:rPr>
              <a:t>the</a:t>
            </a:r>
            <a:r>
              <a:rPr dirty="0" sz="1000" spc="-25" b="1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F2023"/>
                </a:solidFill>
                <a:latin typeface="Arial"/>
                <a:cs typeface="Arial"/>
              </a:rPr>
              <a:t>IMF</a:t>
            </a:r>
            <a:r>
              <a:rPr dirty="0" sz="1000" spc="-40" b="1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F2023"/>
                </a:solidFill>
                <a:latin typeface="Arial"/>
                <a:cs typeface="Arial"/>
              </a:rPr>
              <a:t>foresees</a:t>
            </a:r>
            <a:r>
              <a:rPr dirty="0" sz="1000" spc="-40" b="1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F2023"/>
                </a:solidFill>
                <a:latin typeface="Arial"/>
                <a:cs typeface="Arial"/>
              </a:rPr>
              <a:t>an</a:t>
            </a:r>
            <a:r>
              <a:rPr dirty="0" sz="1000" spc="-30" b="1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F2023"/>
                </a:solidFill>
                <a:latin typeface="Arial"/>
                <a:cs typeface="Arial"/>
              </a:rPr>
              <a:t>increasingly</a:t>
            </a:r>
            <a:r>
              <a:rPr dirty="0" sz="1000" spc="-40" b="1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F2023"/>
                </a:solidFill>
                <a:latin typeface="Arial"/>
                <a:cs typeface="Arial"/>
              </a:rPr>
              <a:t>fragmented</a:t>
            </a:r>
            <a:r>
              <a:rPr dirty="0" sz="1000" spc="-25" b="1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F2023"/>
                </a:solidFill>
                <a:latin typeface="Arial"/>
                <a:cs typeface="Arial"/>
              </a:rPr>
              <a:t>world</a:t>
            </a:r>
            <a:r>
              <a:rPr dirty="0" sz="1000" spc="-40" b="1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F2023"/>
                </a:solidFill>
                <a:latin typeface="Arial"/>
                <a:cs typeface="Arial"/>
              </a:rPr>
              <a:t>For</a:t>
            </a:r>
            <a:r>
              <a:rPr dirty="0" sz="1000" spc="-15" b="1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F2023"/>
                </a:solidFill>
                <a:latin typeface="Arial"/>
                <a:cs typeface="Arial"/>
              </a:rPr>
              <a:t>instance,</a:t>
            </a:r>
            <a:r>
              <a:rPr dirty="0" sz="1000" spc="-45" b="1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F2023"/>
                </a:solidFill>
                <a:latin typeface="Arial"/>
                <a:cs typeface="Arial"/>
              </a:rPr>
              <a:t>FDI</a:t>
            </a:r>
            <a:r>
              <a:rPr dirty="0" sz="1000" spc="-25" b="1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F2023"/>
                </a:solidFill>
                <a:latin typeface="Arial"/>
                <a:cs typeface="Arial"/>
              </a:rPr>
              <a:t>is</a:t>
            </a:r>
            <a:r>
              <a:rPr dirty="0" sz="1000" spc="-30" b="1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dirty="0" sz="1000" spc="-25" b="1">
                <a:solidFill>
                  <a:srgbClr val="1F2023"/>
                </a:solidFill>
                <a:latin typeface="Arial"/>
                <a:cs typeface="Arial"/>
              </a:rPr>
              <a:t>now </a:t>
            </a:r>
            <a:r>
              <a:rPr dirty="0" sz="1000" spc="-25" b="1">
                <a:solidFill>
                  <a:srgbClr val="1F2023"/>
                </a:solidFill>
                <a:latin typeface="Arial"/>
                <a:cs typeface="Arial"/>
              </a:rPr>
              <a:t>	</a:t>
            </a:r>
            <a:r>
              <a:rPr dirty="0" sz="1000" b="1">
                <a:solidFill>
                  <a:srgbClr val="1F2023"/>
                </a:solidFill>
                <a:latin typeface="Arial"/>
                <a:cs typeface="Arial"/>
              </a:rPr>
              <a:t>increasingly</a:t>
            </a:r>
            <a:r>
              <a:rPr dirty="0" sz="1000" spc="-40" b="1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F2023"/>
                </a:solidFill>
                <a:latin typeface="Arial"/>
                <a:cs typeface="Arial"/>
              </a:rPr>
              <a:t>driven</a:t>
            </a:r>
            <a:r>
              <a:rPr dirty="0" sz="1000" spc="-30" b="1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F2023"/>
                </a:solidFill>
                <a:latin typeface="Arial"/>
                <a:cs typeface="Arial"/>
              </a:rPr>
              <a:t>by</a:t>
            </a:r>
            <a:r>
              <a:rPr dirty="0" sz="1000" spc="-20" b="1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F2023"/>
                </a:solidFill>
                <a:latin typeface="Arial"/>
                <a:cs typeface="Arial"/>
              </a:rPr>
              <a:t>geopolitical</a:t>
            </a:r>
            <a:r>
              <a:rPr dirty="0" sz="1000" spc="-35" b="1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F2023"/>
                </a:solidFill>
                <a:latin typeface="Arial"/>
                <a:cs typeface="Arial"/>
              </a:rPr>
              <a:t>preference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243840" y="2590673"/>
            <a:ext cx="9625965" cy="1842770"/>
            <a:chOff x="243840" y="2590673"/>
            <a:chExt cx="9625965" cy="1842770"/>
          </a:xfrm>
        </p:grpSpPr>
        <p:sp>
          <p:nvSpPr>
            <p:cNvPr id="18" name="object 18" descr=""/>
            <p:cNvSpPr/>
            <p:nvPr/>
          </p:nvSpPr>
          <p:spPr>
            <a:xfrm>
              <a:off x="306324" y="2593848"/>
              <a:ext cx="9560560" cy="0"/>
            </a:xfrm>
            <a:custGeom>
              <a:avLst/>
              <a:gdLst/>
              <a:ahLst/>
              <a:cxnLst/>
              <a:rect l="l" t="t" r="r" b="b"/>
              <a:pathLst>
                <a:path w="9560560" h="0">
                  <a:moveTo>
                    <a:pt x="0" y="0"/>
                  </a:moveTo>
                  <a:lnTo>
                    <a:pt x="9560179" y="0"/>
                  </a:lnTo>
                </a:path>
              </a:pathLst>
            </a:custGeom>
            <a:ln w="635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792480" y="2799587"/>
              <a:ext cx="344170" cy="292735"/>
            </a:xfrm>
            <a:custGeom>
              <a:avLst/>
              <a:gdLst/>
              <a:ahLst/>
              <a:cxnLst/>
              <a:rect l="l" t="t" r="r" b="b"/>
              <a:pathLst>
                <a:path w="344169" h="292735">
                  <a:moveTo>
                    <a:pt x="75488" y="110807"/>
                  </a:moveTo>
                  <a:lnTo>
                    <a:pt x="28968" y="110807"/>
                  </a:lnTo>
                  <a:lnTo>
                    <a:pt x="28968" y="121285"/>
                  </a:lnTo>
                  <a:lnTo>
                    <a:pt x="35979" y="121285"/>
                  </a:lnTo>
                  <a:lnTo>
                    <a:pt x="32486" y="259080"/>
                  </a:lnTo>
                  <a:lnTo>
                    <a:pt x="70231" y="259080"/>
                  </a:lnTo>
                  <a:lnTo>
                    <a:pt x="68478" y="121285"/>
                  </a:lnTo>
                  <a:lnTo>
                    <a:pt x="75488" y="121285"/>
                  </a:lnTo>
                  <a:lnTo>
                    <a:pt x="75488" y="110807"/>
                  </a:lnTo>
                  <a:close/>
                </a:path>
                <a:path w="344169" h="292735">
                  <a:moveTo>
                    <a:pt x="142240" y="110807"/>
                  </a:moveTo>
                  <a:lnTo>
                    <a:pt x="95707" y="110807"/>
                  </a:lnTo>
                  <a:lnTo>
                    <a:pt x="95707" y="121285"/>
                  </a:lnTo>
                  <a:lnTo>
                    <a:pt x="102755" y="121285"/>
                  </a:lnTo>
                  <a:lnTo>
                    <a:pt x="100952" y="259080"/>
                  </a:lnTo>
                  <a:lnTo>
                    <a:pt x="136931" y="259080"/>
                  </a:lnTo>
                  <a:lnTo>
                    <a:pt x="135204" y="121285"/>
                  </a:lnTo>
                  <a:lnTo>
                    <a:pt x="142240" y="121285"/>
                  </a:lnTo>
                  <a:lnTo>
                    <a:pt x="142240" y="110807"/>
                  </a:lnTo>
                  <a:close/>
                </a:path>
                <a:path w="344169" h="292735">
                  <a:moveTo>
                    <a:pt x="272135" y="139052"/>
                  </a:moveTo>
                  <a:lnTo>
                    <a:pt x="203708" y="139052"/>
                  </a:lnTo>
                  <a:lnTo>
                    <a:pt x="203708" y="143256"/>
                  </a:lnTo>
                  <a:lnTo>
                    <a:pt x="272135" y="143256"/>
                  </a:lnTo>
                  <a:lnTo>
                    <a:pt x="272135" y="139052"/>
                  </a:lnTo>
                  <a:close/>
                </a:path>
                <a:path w="344169" h="292735">
                  <a:moveTo>
                    <a:pt x="275653" y="124320"/>
                  </a:moveTo>
                  <a:lnTo>
                    <a:pt x="207225" y="124320"/>
                  </a:lnTo>
                  <a:lnTo>
                    <a:pt x="207225" y="128524"/>
                  </a:lnTo>
                  <a:lnTo>
                    <a:pt x="275653" y="128524"/>
                  </a:lnTo>
                  <a:lnTo>
                    <a:pt x="275653" y="124320"/>
                  </a:lnTo>
                  <a:close/>
                </a:path>
                <a:path w="344169" h="292735">
                  <a:moveTo>
                    <a:pt x="282702" y="108635"/>
                  </a:moveTo>
                  <a:lnTo>
                    <a:pt x="214210" y="108635"/>
                  </a:lnTo>
                  <a:lnTo>
                    <a:pt x="214210" y="112776"/>
                  </a:lnTo>
                  <a:lnTo>
                    <a:pt x="282702" y="112776"/>
                  </a:lnTo>
                  <a:lnTo>
                    <a:pt x="282702" y="108635"/>
                  </a:lnTo>
                  <a:close/>
                </a:path>
                <a:path w="344169" h="292735">
                  <a:moveTo>
                    <a:pt x="286219" y="91998"/>
                  </a:moveTo>
                  <a:lnTo>
                    <a:pt x="217728" y="91998"/>
                  </a:lnTo>
                  <a:lnTo>
                    <a:pt x="217728" y="96139"/>
                  </a:lnTo>
                  <a:lnTo>
                    <a:pt x="286219" y="96139"/>
                  </a:lnTo>
                  <a:lnTo>
                    <a:pt x="286219" y="91998"/>
                  </a:lnTo>
                  <a:close/>
                </a:path>
                <a:path w="344169" h="292735">
                  <a:moveTo>
                    <a:pt x="289737" y="76301"/>
                  </a:moveTo>
                  <a:lnTo>
                    <a:pt x="221246" y="76301"/>
                  </a:lnTo>
                  <a:lnTo>
                    <a:pt x="221246" y="81534"/>
                  </a:lnTo>
                  <a:lnTo>
                    <a:pt x="289737" y="81534"/>
                  </a:lnTo>
                  <a:lnTo>
                    <a:pt x="289737" y="76301"/>
                  </a:lnTo>
                  <a:close/>
                </a:path>
                <a:path w="344169" h="292735">
                  <a:moveTo>
                    <a:pt x="293268" y="61582"/>
                  </a:moveTo>
                  <a:lnTo>
                    <a:pt x="227393" y="61582"/>
                  </a:lnTo>
                  <a:lnTo>
                    <a:pt x="227393" y="65786"/>
                  </a:lnTo>
                  <a:lnTo>
                    <a:pt x="293268" y="65786"/>
                  </a:lnTo>
                  <a:lnTo>
                    <a:pt x="293268" y="61582"/>
                  </a:lnTo>
                  <a:close/>
                </a:path>
                <a:path w="344169" h="292735">
                  <a:moveTo>
                    <a:pt x="294995" y="269621"/>
                  </a:moveTo>
                  <a:lnTo>
                    <a:pt x="275653" y="269621"/>
                  </a:lnTo>
                  <a:lnTo>
                    <a:pt x="275653" y="259143"/>
                  </a:lnTo>
                  <a:lnTo>
                    <a:pt x="229120" y="259143"/>
                  </a:lnTo>
                  <a:lnTo>
                    <a:pt x="229120" y="269621"/>
                  </a:lnTo>
                  <a:lnTo>
                    <a:pt x="208953" y="269621"/>
                  </a:lnTo>
                  <a:lnTo>
                    <a:pt x="208953" y="259143"/>
                  </a:lnTo>
                  <a:lnTo>
                    <a:pt x="162420" y="259143"/>
                  </a:lnTo>
                  <a:lnTo>
                    <a:pt x="162420" y="269621"/>
                  </a:lnTo>
                  <a:lnTo>
                    <a:pt x="142240" y="269621"/>
                  </a:lnTo>
                  <a:lnTo>
                    <a:pt x="142240" y="259143"/>
                  </a:lnTo>
                  <a:lnTo>
                    <a:pt x="95707" y="259143"/>
                  </a:lnTo>
                  <a:lnTo>
                    <a:pt x="95707" y="269621"/>
                  </a:lnTo>
                  <a:lnTo>
                    <a:pt x="75488" y="269621"/>
                  </a:lnTo>
                  <a:lnTo>
                    <a:pt x="75488" y="259143"/>
                  </a:lnTo>
                  <a:lnTo>
                    <a:pt x="28968" y="259143"/>
                  </a:lnTo>
                  <a:lnTo>
                    <a:pt x="28968" y="269621"/>
                  </a:lnTo>
                  <a:lnTo>
                    <a:pt x="8775" y="269621"/>
                  </a:lnTo>
                  <a:lnTo>
                    <a:pt x="8775" y="280035"/>
                  </a:lnTo>
                  <a:lnTo>
                    <a:pt x="294995" y="280035"/>
                  </a:lnTo>
                  <a:lnTo>
                    <a:pt x="294995" y="269621"/>
                  </a:lnTo>
                  <a:close/>
                </a:path>
                <a:path w="344169" h="292735">
                  <a:moveTo>
                    <a:pt x="299402" y="44945"/>
                  </a:moveTo>
                  <a:lnTo>
                    <a:pt x="230911" y="44945"/>
                  </a:lnTo>
                  <a:lnTo>
                    <a:pt x="230911" y="49149"/>
                  </a:lnTo>
                  <a:lnTo>
                    <a:pt x="299402" y="49149"/>
                  </a:lnTo>
                  <a:lnTo>
                    <a:pt x="299402" y="44945"/>
                  </a:lnTo>
                  <a:close/>
                </a:path>
                <a:path w="344169" h="292735">
                  <a:moveTo>
                    <a:pt x="304660" y="29324"/>
                  </a:moveTo>
                  <a:lnTo>
                    <a:pt x="236169" y="29324"/>
                  </a:lnTo>
                  <a:lnTo>
                    <a:pt x="236169" y="33528"/>
                  </a:lnTo>
                  <a:lnTo>
                    <a:pt x="304660" y="33528"/>
                  </a:lnTo>
                  <a:lnTo>
                    <a:pt x="304660" y="29324"/>
                  </a:lnTo>
                  <a:close/>
                </a:path>
                <a:path w="344169" h="292735">
                  <a:moveTo>
                    <a:pt x="304673" y="280060"/>
                  </a:moveTo>
                  <a:lnTo>
                    <a:pt x="0" y="280060"/>
                  </a:lnTo>
                  <a:lnTo>
                    <a:pt x="0" y="292608"/>
                  </a:lnTo>
                  <a:lnTo>
                    <a:pt x="304673" y="292608"/>
                  </a:lnTo>
                  <a:lnTo>
                    <a:pt x="304673" y="280060"/>
                  </a:lnTo>
                  <a:close/>
                </a:path>
                <a:path w="344169" h="292735">
                  <a:moveTo>
                    <a:pt x="344170" y="0"/>
                  </a:moveTo>
                  <a:lnTo>
                    <a:pt x="324002" y="0"/>
                  </a:lnTo>
                  <a:lnTo>
                    <a:pt x="324002" y="16764"/>
                  </a:lnTo>
                  <a:lnTo>
                    <a:pt x="282714" y="167259"/>
                  </a:lnTo>
                  <a:lnTo>
                    <a:pt x="181749" y="167259"/>
                  </a:lnTo>
                  <a:lnTo>
                    <a:pt x="218503" y="38608"/>
                  </a:lnTo>
                  <a:lnTo>
                    <a:pt x="224777" y="16764"/>
                  </a:lnTo>
                  <a:lnTo>
                    <a:pt x="324002" y="16764"/>
                  </a:lnTo>
                  <a:lnTo>
                    <a:pt x="324002" y="0"/>
                  </a:lnTo>
                  <a:lnTo>
                    <a:pt x="214210" y="0"/>
                  </a:lnTo>
                  <a:lnTo>
                    <a:pt x="203708" y="38608"/>
                  </a:lnTo>
                  <a:lnTo>
                    <a:pt x="151015" y="8382"/>
                  </a:lnTo>
                  <a:lnTo>
                    <a:pt x="0" y="100330"/>
                  </a:lnTo>
                  <a:lnTo>
                    <a:pt x="8775" y="100330"/>
                  </a:lnTo>
                  <a:lnTo>
                    <a:pt x="8775" y="110744"/>
                  </a:lnTo>
                  <a:lnTo>
                    <a:pt x="162420" y="110744"/>
                  </a:lnTo>
                  <a:lnTo>
                    <a:pt x="162420" y="121285"/>
                  </a:lnTo>
                  <a:lnTo>
                    <a:pt x="169456" y="121285"/>
                  </a:lnTo>
                  <a:lnTo>
                    <a:pt x="169456" y="161925"/>
                  </a:lnTo>
                  <a:lnTo>
                    <a:pt x="162420" y="183896"/>
                  </a:lnTo>
                  <a:lnTo>
                    <a:pt x="167665" y="183896"/>
                  </a:lnTo>
                  <a:lnTo>
                    <a:pt x="167665" y="259080"/>
                  </a:lnTo>
                  <a:lnTo>
                    <a:pt x="203708" y="259080"/>
                  </a:lnTo>
                  <a:lnTo>
                    <a:pt x="203708" y="183896"/>
                  </a:lnTo>
                  <a:lnTo>
                    <a:pt x="234442" y="183896"/>
                  </a:lnTo>
                  <a:lnTo>
                    <a:pt x="234442" y="259080"/>
                  </a:lnTo>
                  <a:lnTo>
                    <a:pt x="270408" y="259080"/>
                  </a:lnTo>
                  <a:lnTo>
                    <a:pt x="270408" y="183896"/>
                  </a:lnTo>
                  <a:lnTo>
                    <a:pt x="293268" y="183896"/>
                  </a:lnTo>
                  <a:lnTo>
                    <a:pt x="297891" y="167259"/>
                  </a:lnTo>
                  <a:lnTo>
                    <a:pt x="339547" y="16764"/>
                  </a:lnTo>
                  <a:lnTo>
                    <a:pt x="3441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243840" y="3534118"/>
              <a:ext cx="1602105" cy="899160"/>
            </a:xfrm>
            <a:custGeom>
              <a:avLst/>
              <a:gdLst/>
              <a:ahLst/>
              <a:cxnLst/>
              <a:rect l="l" t="t" r="r" b="b"/>
              <a:pathLst>
                <a:path w="1602105" h="899160">
                  <a:moveTo>
                    <a:pt x="1601597" y="0"/>
                  </a:moveTo>
                  <a:lnTo>
                    <a:pt x="0" y="0"/>
                  </a:lnTo>
                  <a:lnTo>
                    <a:pt x="0" y="898944"/>
                  </a:lnTo>
                  <a:lnTo>
                    <a:pt x="1601597" y="898944"/>
                  </a:lnTo>
                  <a:lnTo>
                    <a:pt x="1601597" y="0"/>
                  </a:lnTo>
                  <a:close/>
                </a:path>
              </a:pathLst>
            </a:custGeom>
            <a:solidFill>
              <a:srgbClr val="04070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248411" y="3968241"/>
            <a:ext cx="1592580" cy="327025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637540" marR="253365" indent="-382905">
              <a:lnSpc>
                <a:spcPts val="1180"/>
              </a:lnSpc>
              <a:spcBef>
                <a:spcPts val="150"/>
              </a:spcBef>
            </a:pPr>
            <a:r>
              <a:rPr dirty="0" sz="1000" b="1">
                <a:solidFill>
                  <a:srgbClr val="FFFFFF"/>
                </a:solidFill>
                <a:latin typeface="Arial"/>
                <a:cs typeface="Arial"/>
              </a:rPr>
              <a:t>Weakening</a:t>
            </a:r>
            <a:r>
              <a:rPr dirty="0" sz="100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FFFFFF"/>
                </a:solidFill>
                <a:latin typeface="Arial"/>
                <a:cs typeface="Arial"/>
              </a:rPr>
              <a:t>global trade</a:t>
            </a:r>
            <a:endParaRPr sz="1000">
              <a:latin typeface="Arial"/>
              <a:cs typeface="Arial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975485" y="3577844"/>
            <a:ext cx="7873365" cy="6470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0340" marR="5080" indent="-16827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182880" algn="l"/>
              </a:tabLst>
            </a:pPr>
            <a:r>
              <a:rPr dirty="0" sz="1000" b="1">
                <a:latin typeface="Arial"/>
                <a:cs typeface="Arial"/>
              </a:rPr>
              <a:t>China's</a:t>
            </a:r>
            <a:r>
              <a:rPr dirty="0" sz="1000" spc="-3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trade</a:t>
            </a:r>
            <a:r>
              <a:rPr dirty="0" sz="1000" spc="-2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performance</a:t>
            </a:r>
            <a:r>
              <a:rPr dirty="0" sz="1000" spc="-2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showed</a:t>
            </a:r>
            <a:r>
              <a:rPr dirty="0" sz="1000" spc="-4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a</a:t>
            </a:r>
            <a:r>
              <a:rPr dirty="0" sz="1000" spc="-2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8.8%</a:t>
            </a:r>
            <a:r>
              <a:rPr dirty="0" sz="1000" spc="-3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(y/y)</a:t>
            </a:r>
            <a:r>
              <a:rPr dirty="0" sz="1000" spc="-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decrease</a:t>
            </a:r>
            <a:r>
              <a:rPr dirty="0" sz="1000" spc="-4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in</a:t>
            </a:r>
            <a:r>
              <a:rPr dirty="0" sz="1000" spc="-2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exports</a:t>
            </a:r>
            <a:r>
              <a:rPr dirty="0" sz="1000" spc="-2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and</a:t>
            </a:r>
            <a:r>
              <a:rPr dirty="0" sz="1000" spc="-2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a</a:t>
            </a:r>
            <a:r>
              <a:rPr dirty="0" sz="1000" spc="-2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7.3%</a:t>
            </a:r>
            <a:r>
              <a:rPr dirty="0" sz="1000" spc="-3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drop</a:t>
            </a:r>
            <a:r>
              <a:rPr dirty="0" sz="1000" spc="-1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in</a:t>
            </a:r>
            <a:r>
              <a:rPr dirty="0" sz="1000" spc="-3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imports</a:t>
            </a:r>
            <a:r>
              <a:rPr dirty="0" sz="1000" spc="-1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in</a:t>
            </a:r>
            <a:r>
              <a:rPr dirty="0" sz="1000" spc="-3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August</a:t>
            </a:r>
            <a:r>
              <a:rPr dirty="0" sz="1000">
                <a:latin typeface="Arial MT"/>
                <a:cs typeface="Arial MT"/>
              </a:rPr>
              <a:t>.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While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United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State’ </a:t>
            </a:r>
            <a:r>
              <a:rPr dirty="0" sz="1000" spc="-10">
                <a:latin typeface="Arial MT"/>
                <a:cs typeface="Arial MT"/>
              </a:rPr>
              <a:t>	</a:t>
            </a:r>
            <a:r>
              <a:rPr dirty="0" sz="1000">
                <a:latin typeface="Arial MT"/>
                <a:cs typeface="Arial MT"/>
              </a:rPr>
              <a:t>recorded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slow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growth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in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import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and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export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(y/y)</a:t>
            </a:r>
            <a:r>
              <a:rPr dirty="0" sz="1000" spc="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by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1.7%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and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1.6%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respectively</a:t>
            </a:r>
            <a:endParaRPr sz="1000">
              <a:latin typeface="Arial MT"/>
              <a:cs typeface="Arial MT"/>
            </a:endParaRPr>
          </a:p>
          <a:p>
            <a:pPr marL="151765" marR="207645" indent="-139700">
              <a:lnSpc>
                <a:spcPct val="100000"/>
              </a:lnSpc>
              <a:spcBef>
                <a:spcPts val="95"/>
              </a:spcBef>
              <a:buChar char="•"/>
              <a:tabLst>
                <a:tab pos="154305" algn="l"/>
              </a:tabLst>
            </a:pPr>
            <a:r>
              <a:rPr dirty="0" sz="1000">
                <a:latin typeface="Arial MT"/>
                <a:cs typeface="Arial MT"/>
              </a:rPr>
              <a:t>Due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to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supply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chain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disruptions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and</a:t>
            </a:r>
            <a:r>
              <a:rPr dirty="0" sz="1000" spc="-4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national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security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concerns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trade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restrictions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by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countries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have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increased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significantly.</a:t>
            </a:r>
            <a:r>
              <a:rPr dirty="0" sz="1000" spc="5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These</a:t>
            </a:r>
            <a:r>
              <a:rPr dirty="0" sz="1000" spc="-5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trade </a:t>
            </a:r>
            <a:r>
              <a:rPr dirty="0" sz="1000" spc="-10">
                <a:latin typeface="Arial MT"/>
                <a:cs typeface="Arial MT"/>
              </a:rPr>
              <a:t>	</a:t>
            </a:r>
            <a:r>
              <a:rPr dirty="0" sz="1000">
                <a:latin typeface="Arial MT"/>
                <a:cs typeface="Arial MT"/>
              </a:rPr>
              <a:t>policy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actions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could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pose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serious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threat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to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global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prosperity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248411" y="3654552"/>
            <a:ext cx="1592580" cy="1630680"/>
            <a:chOff x="248411" y="3654552"/>
            <a:chExt cx="1592580" cy="1630680"/>
          </a:xfrm>
        </p:grpSpPr>
        <p:sp>
          <p:nvSpPr>
            <p:cNvPr id="24" name="object 24" descr=""/>
            <p:cNvSpPr/>
            <p:nvPr/>
          </p:nvSpPr>
          <p:spPr>
            <a:xfrm>
              <a:off x="789431" y="3654552"/>
              <a:ext cx="386080" cy="208915"/>
            </a:xfrm>
            <a:custGeom>
              <a:avLst/>
              <a:gdLst/>
              <a:ahLst/>
              <a:cxnLst/>
              <a:rect l="l" t="t" r="r" b="b"/>
              <a:pathLst>
                <a:path w="386080" h="208914">
                  <a:moveTo>
                    <a:pt x="195273" y="191516"/>
                  </a:moveTo>
                  <a:lnTo>
                    <a:pt x="158432" y="191516"/>
                  </a:lnTo>
                  <a:lnTo>
                    <a:pt x="160337" y="199262"/>
                  </a:lnTo>
                  <a:lnTo>
                    <a:pt x="162242" y="203073"/>
                  </a:lnTo>
                  <a:lnTo>
                    <a:pt x="166065" y="206883"/>
                  </a:lnTo>
                  <a:lnTo>
                    <a:pt x="169875" y="208787"/>
                  </a:lnTo>
                  <a:lnTo>
                    <a:pt x="179425" y="208787"/>
                  </a:lnTo>
                  <a:lnTo>
                    <a:pt x="183248" y="206883"/>
                  </a:lnTo>
                  <a:lnTo>
                    <a:pt x="190881" y="199262"/>
                  </a:lnTo>
                  <a:lnTo>
                    <a:pt x="195273" y="191516"/>
                  </a:lnTo>
                  <a:close/>
                </a:path>
                <a:path w="386080" h="208914">
                  <a:moveTo>
                    <a:pt x="198513" y="185800"/>
                  </a:moveTo>
                  <a:lnTo>
                    <a:pt x="122161" y="185800"/>
                  </a:lnTo>
                  <a:lnTo>
                    <a:pt x="122161" y="189611"/>
                  </a:lnTo>
                  <a:lnTo>
                    <a:pt x="124066" y="195325"/>
                  </a:lnTo>
                  <a:lnTo>
                    <a:pt x="125984" y="199262"/>
                  </a:lnTo>
                  <a:lnTo>
                    <a:pt x="131699" y="203073"/>
                  </a:lnTo>
                  <a:lnTo>
                    <a:pt x="135521" y="204978"/>
                  </a:lnTo>
                  <a:lnTo>
                    <a:pt x="145072" y="204978"/>
                  </a:lnTo>
                  <a:lnTo>
                    <a:pt x="148882" y="203073"/>
                  </a:lnTo>
                  <a:lnTo>
                    <a:pt x="152704" y="199262"/>
                  </a:lnTo>
                  <a:lnTo>
                    <a:pt x="154609" y="195325"/>
                  </a:lnTo>
                  <a:lnTo>
                    <a:pt x="158432" y="191516"/>
                  </a:lnTo>
                  <a:lnTo>
                    <a:pt x="195273" y="191516"/>
                  </a:lnTo>
                  <a:lnTo>
                    <a:pt x="198513" y="185800"/>
                  </a:lnTo>
                  <a:close/>
                </a:path>
                <a:path w="386080" h="208914">
                  <a:moveTo>
                    <a:pt x="131699" y="126365"/>
                  </a:moveTo>
                  <a:lnTo>
                    <a:pt x="122161" y="126365"/>
                  </a:lnTo>
                  <a:lnTo>
                    <a:pt x="118338" y="128397"/>
                  </a:lnTo>
                  <a:lnTo>
                    <a:pt x="114528" y="132206"/>
                  </a:lnTo>
                  <a:lnTo>
                    <a:pt x="112623" y="136017"/>
                  </a:lnTo>
                  <a:lnTo>
                    <a:pt x="97345" y="162814"/>
                  </a:lnTo>
                  <a:lnTo>
                    <a:pt x="93535" y="168529"/>
                  </a:lnTo>
                  <a:lnTo>
                    <a:pt x="95440" y="176275"/>
                  </a:lnTo>
                  <a:lnTo>
                    <a:pt x="97345" y="181991"/>
                  </a:lnTo>
                  <a:lnTo>
                    <a:pt x="103073" y="185800"/>
                  </a:lnTo>
                  <a:lnTo>
                    <a:pt x="106895" y="187706"/>
                  </a:lnTo>
                  <a:lnTo>
                    <a:pt x="112623" y="189611"/>
                  </a:lnTo>
                  <a:lnTo>
                    <a:pt x="116433" y="187706"/>
                  </a:lnTo>
                  <a:lnTo>
                    <a:pt x="122161" y="185800"/>
                  </a:lnTo>
                  <a:lnTo>
                    <a:pt x="198513" y="185800"/>
                  </a:lnTo>
                  <a:lnTo>
                    <a:pt x="200418" y="180086"/>
                  </a:lnTo>
                  <a:lnTo>
                    <a:pt x="200418" y="172339"/>
                  </a:lnTo>
                  <a:lnTo>
                    <a:pt x="194058" y="162814"/>
                  </a:lnTo>
                  <a:lnTo>
                    <a:pt x="173697" y="162814"/>
                  </a:lnTo>
                  <a:lnTo>
                    <a:pt x="171792" y="157099"/>
                  </a:lnTo>
                  <a:lnTo>
                    <a:pt x="171792" y="153289"/>
                  </a:lnTo>
                  <a:lnTo>
                    <a:pt x="167970" y="149352"/>
                  </a:lnTo>
                  <a:lnTo>
                    <a:pt x="164160" y="145542"/>
                  </a:lnTo>
                  <a:lnTo>
                    <a:pt x="145072" y="145542"/>
                  </a:lnTo>
                  <a:lnTo>
                    <a:pt x="145072" y="141731"/>
                  </a:lnTo>
                  <a:lnTo>
                    <a:pt x="143154" y="136017"/>
                  </a:lnTo>
                  <a:lnTo>
                    <a:pt x="135521" y="128397"/>
                  </a:lnTo>
                  <a:lnTo>
                    <a:pt x="131699" y="126365"/>
                  </a:lnTo>
                  <a:close/>
                </a:path>
                <a:path w="386080" h="208914">
                  <a:moveTo>
                    <a:pt x="294153" y="114935"/>
                  </a:moveTo>
                  <a:lnTo>
                    <a:pt x="127889" y="114935"/>
                  </a:lnTo>
                  <a:lnTo>
                    <a:pt x="135521" y="116840"/>
                  </a:lnTo>
                  <a:lnTo>
                    <a:pt x="141249" y="118745"/>
                  </a:lnTo>
                  <a:lnTo>
                    <a:pt x="148882" y="124460"/>
                  </a:lnTo>
                  <a:lnTo>
                    <a:pt x="152704" y="132206"/>
                  </a:lnTo>
                  <a:lnTo>
                    <a:pt x="162242" y="132206"/>
                  </a:lnTo>
                  <a:lnTo>
                    <a:pt x="177520" y="139827"/>
                  </a:lnTo>
                  <a:lnTo>
                    <a:pt x="181330" y="147447"/>
                  </a:lnTo>
                  <a:lnTo>
                    <a:pt x="183248" y="147447"/>
                  </a:lnTo>
                  <a:lnTo>
                    <a:pt x="190881" y="149352"/>
                  </a:lnTo>
                  <a:lnTo>
                    <a:pt x="198513" y="151384"/>
                  </a:lnTo>
                  <a:lnTo>
                    <a:pt x="206146" y="159004"/>
                  </a:lnTo>
                  <a:lnTo>
                    <a:pt x="211874" y="168529"/>
                  </a:lnTo>
                  <a:lnTo>
                    <a:pt x="211874" y="180086"/>
                  </a:lnTo>
                  <a:lnTo>
                    <a:pt x="227139" y="180086"/>
                  </a:lnTo>
                  <a:lnTo>
                    <a:pt x="232867" y="178181"/>
                  </a:lnTo>
                  <a:lnTo>
                    <a:pt x="236689" y="174371"/>
                  </a:lnTo>
                  <a:lnTo>
                    <a:pt x="238594" y="170434"/>
                  </a:lnTo>
                  <a:lnTo>
                    <a:pt x="240499" y="162814"/>
                  </a:lnTo>
                  <a:lnTo>
                    <a:pt x="275815" y="162814"/>
                  </a:lnTo>
                  <a:lnTo>
                    <a:pt x="276771" y="160909"/>
                  </a:lnTo>
                  <a:lnTo>
                    <a:pt x="276771" y="155194"/>
                  </a:lnTo>
                  <a:lnTo>
                    <a:pt x="295859" y="155194"/>
                  </a:lnTo>
                  <a:lnTo>
                    <a:pt x="301586" y="151384"/>
                  </a:lnTo>
                  <a:lnTo>
                    <a:pt x="305409" y="143637"/>
                  </a:lnTo>
                  <a:lnTo>
                    <a:pt x="305409" y="137922"/>
                  </a:lnTo>
                  <a:lnTo>
                    <a:pt x="303491" y="130302"/>
                  </a:lnTo>
                  <a:lnTo>
                    <a:pt x="294153" y="114935"/>
                  </a:lnTo>
                  <a:close/>
                </a:path>
                <a:path w="386080" h="208914">
                  <a:moveTo>
                    <a:pt x="24815" y="0"/>
                  </a:moveTo>
                  <a:lnTo>
                    <a:pt x="13360" y="21081"/>
                  </a:lnTo>
                  <a:lnTo>
                    <a:pt x="5727" y="44068"/>
                  </a:lnTo>
                  <a:lnTo>
                    <a:pt x="1905" y="67056"/>
                  </a:lnTo>
                  <a:lnTo>
                    <a:pt x="0" y="91948"/>
                  </a:lnTo>
                  <a:lnTo>
                    <a:pt x="1905" y="113030"/>
                  </a:lnTo>
                  <a:lnTo>
                    <a:pt x="5727" y="134112"/>
                  </a:lnTo>
                  <a:lnTo>
                    <a:pt x="9537" y="153289"/>
                  </a:lnTo>
                  <a:lnTo>
                    <a:pt x="17183" y="170434"/>
                  </a:lnTo>
                  <a:lnTo>
                    <a:pt x="38176" y="176275"/>
                  </a:lnTo>
                  <a:lnTo>
                    <a:pt x="83985" y="17272"/>
                  </a:lnTo>
                  <a:lnTo>
                    <a:pt x="24815" y="0"/>
                  </a:lnTo>
                  <a:close/>
                </a:path>
                <a:path w="386080" h="208914">
                  <a:moveTo>
                    <a:pt x="275815" y="162814"/>
                  </a:moveTo>
                  <a:lnTo>
                    <a:pt x="240499" y="162814"/>
                  </a:lnTo>
                  <a:lnTo>
                    <a:pt x="244322" y="166624"/>
                  </a:lnTo>
                  <a:lnTo>
                    <a:pt x="246227" y="170434"/>
                  </a:lnTo>
                  <a:lnTo>
                    <a:pt x="250050" y="172339"/>
                  </a:lnTo>
                  <a:lnTo>
                    <a:pt x="259587" y="176275"/>
                  </a:lnTo>
                  <a:lnTo>
                    <a:pt x="263410" y="174371"/>
                  </a:lnTo>
                  <a:lnTo>
                    <a:pt x="269138" y="172339"/>
                  </a:lnTo>
                  <a:lnTo>
                    <a:pt x="272948" y="168529"/>
                  </a:lnTo>
                  <a:lnTo>
                    <a:pt x="275815" y="162814"/>
                  </a:lnTo>
                  <a:close/>
                </a:path>
                <a:path w="386080" h="208914">
                  <a:moveTo>
                    <a:pt x="360756" y="0"/>
                  </a:moveTo>
                  <a:lnTo>
                    <a:pt x="301586" y="17272"/>
                  </a:lnTo>
                  <a:lnTo>
                    <a:pt x="349300" y="176275"/>
                  </a:lnTo>
                  <a:lnTo>
                    <a:pt x="368388" y="170434"/>
                  </a:lnTo>
                  <a:lnTo>
                    <a:pt x="376034" y="153289"/>
                  </a:lnTo>
                  <a:lnTo>
                    <a:pt x="379844" y="134112"/>
                  </a:lnTo>
                  <a:lnTo>
                    <a:pt x="383667" y="113030"/>
                  </a:lnTo>
                  <a:lnTo>
                    <a:pt x="385572" y="91948"/>
                  </a:lnTo>
                  <a:lnTo>
                    <a:pt x="383667" y="67056"/>
                  </a:lnTo>
                  <a:lnTo>
                    <a:pt x="379844" y="44068"/>
                  </a:lnTo>
                  <a:lnTo>
                    <a:pt x="372211" y="21081"/>
                  </a:lnTo>
                  <a:lnTo>
                    <a:pt x="360756" y="0"/>
                  </a:lnTo>
                  <a:close/>
                </a:path>
                <a:path w="386080" h="208914">
                  <a:moveTo>
                    <a:pt x="66802" y="132206"/>
                  </a:moveTo>
                  <a:lnTo>
                    <a:pt x="61087" y="143637"/>
                  </a:lnTo>
                  <a:lnTo>
                    <a:pt x="62992" y="151384"/>
                  </a:lnTo>
                  <a:lnTo>
                    <a:pt x="64896" y="157099"/>
                  </a:lnTo>
                  <a:lnTo>
                    <a:pt x="70624" y="162814"/>
                  </a:lnTo>
                  <a:lnTo>
                    <a:pt x="76352" y="164719"/>
                  </a:lnTo>
                  <a:lnTo>
                    <a:pt x="83985" y="164719"/>
                  </a:lnTo>
                  <a:lnTo>
                    <a:pt x="85890" y="157099"/>
                  </a:lnTo>
                  <a:lnTo>
                    <a:pt x="91617" y="147447"/>
                  </a:lnTo>
                  <a:lnTo>
                    <a:pt x="70624" y="136017"/>
                  </a:lnTo>
                  <a:lnTo>
                    <a:pt x="66802" y="132206"/>
                  </a:lnTo>
                  <a:close/>
                </a:path>
                <a:path w="386080" h="208914">
                  <a:moveTo>
                    <a:pt x="187058" y="159004"/>
                  </a:moveTo>
                  <a:lnTo>
                    <a:pt x="183248" y="159004"/>
                  </a:lnTo>
                  <a:lnTo>
                    <a:pt x="177520" y="160909"/>
                  </a:lnTo>
                  <a:lnTo>
                    <a:pt x="173697" y="162814"/>
                  </a:lnTo>
                  <a:lnTo>
                    <a:pt x="194058" y="162814"/>
                  </a:lnTo>
                  <a:lnTo>
                    <a:pt x="192786" y="160909"/>
                  </a:lnTo>
                  <a:lnTo>
                    <a:pt x="187058" y="159004"/>
                  </a:lnTo>
                  <a:close/>
                </a:path>
                <a:path w="386080" h="208914">
                  <a:moveTo>
                    <a:pt x="295859" y="155194"/>
                  </a:moveTo>
                  <a:lnTo>
                    <a:pt x="276771" y="155194"/>
                  </a:lnTo>
                  <a:lnTo>
                    <a:pt x="282498" y="157099"/>
                  </a:lnTo>
                  <a:lnTo>
                    <a:pt x="286321" y="159004"/>
                  </a:lnTo>
                  <a:lnTo>
                    <a:pt x="292036" y="157099"/>
                  </a:lnTo>
                  <a:lnTo>
                    <a:pt x="295859" y="155194"/>
                  </a:lnTo>
                  <a:close/>
                </a:path>
                <a:path w="386080" h="208914">
                  <a:moveTo>
                    <a:pt x="160337" y="143637"/>
                  </a:moveTo>
                  <a:lnTo>
                    <a:pt x="148882" y="143637"/>
                  </a:lnTo>
                  <a:lnTo>
                    <a:pt x="145072" y="145542"/>
                  </a:lnTo>
                  <a:lnTo>
                    <a:pt x="164160" y="145542"/>
                  </a:lnTo>
                  <a:lnTo>
                    <a:pt x="160337" y="143637"/>
                  </a:lnTo>
                  <a:close/>
                </a:path>
                <a:path w="386080" h="208914">
                  <a:moveTo>
                    <a:pt x="133616" y="32512"/>
                  </a:moveTo>
                  <a:lnTo>
                    <a:pt x="101168" y="34417"/>
                  </a:lnTo>
                  <a:lnTo>
                    <a:pt x="97345" y="34417"/>
                  </a:lnTo>
                  <a:lnTo>
                    <a:pt x="93535" y="36449"/>
                  </a:lnTo>
                  <a:lnTo>
                    <a:pt x="89712" y="40259"/>
                  </a:lnTo>
                  <a:lnTo>
                    <a:pt x="87807" y="44068"/>
                  </a:lnTo>
                  <a:lnTo>
                    <a:pt x="70624" y="109220"/>
                  </a:lnTo>
                  <a:lnTo>
                    <a:pt x="68719" y="114935"/>
                  </a:lnTo>
                  <a:lnTo>
                    <a:pt x="72529" y="122555"/>
                  </a:lnTo>
                  <a:lnTo>
                    <a:pt x="76352" y="126365"/>
                  </a:lnTo>
                  <a:lnTo>
                    <a:pt x="97345" y="137922"/>
                  </a:lnTo>
                  <a:lnTo>
                    <a:pt x="101168" y="130302"/>
                  </a:lnTo>
                  <a:lnTo>
                    <a:pt x="106895" y="124460"/>
                  </a:lnTo>
                  <a:lnTo>
                    <a:pt x="112623" y="118745"/>
                  </a:lnTo>
                  <a:lnTo>
                    <a:pt x="127889" y="114935"/>
                  </a:lnTo>
                  <a:lnTo>
                    <a:pt x="294153" y="114935"/>
                  </a:lnTo>
                  <a:lnTo>
                    <a:pt x="282498" y="95758"/>
                  </a:lnTo>
                  <a:lnTo>
                    <a:pt x="280593" y="95758"/>
                  </a:lnTo>
                  <a:lnTo>
                    <a:pt x="280593" y="93853"/>
                  </a:lnTo>
                  <a:lnTo>
                    <a:pt x="274866" y="88137"/>
                  </a:lnTo>
                  <a:lnTo>
                    <a:pt x="150787" y="88137"/>
                  </a:lnTo>
                  <a:lnTo>
                    <a:pt x="143154" y="84328"/>
                  </a:lnTo>
                  <a:lnTo>
                    <a:pt x="137426" y="80391"/>
                  </a:lnTo>
                  <a:lnTo>
                    <a:pt x="129793" y="68961"/>
                  </a:lnTo>
                  <a:lnTo>
                    <a:pt x="127889" y="63246"/>
                  </a:lnTo>
                  <a:lnTo>
                    <a:pt x="125984" y="57404"/>
                  </a:lnTo>
                  <a:lnTo>
                    <a:pt x="125984" y="49784"/>
                  </a:lnTo>
                  <a:lnTo>
                    <a:pt x="127889" y="44068"/>
                  </a:lnTo>
                  <a:lnTo>
                    <a:pt x="131699" y="36449"/>
                  </a:lnTo>
                  <a:lnTo>
                    <a:pt x="133616" y="32512"/>
                  </a:lnTo>
                  <a:close/>
                </a:path>
                <a:path w="386080" h="208914">
                  <a:moveTo>
                    <a:pt x="292616" y="34417"/>
                  </a:moveTo>
                  <a:lnTo>
                    <a:pt x="198513" y="34417"/>
                  </a:lnTo>
                  <a:lnTo>
                    <a:pt x="278676" y="78486"/>
                  </a:lnTo>
                  <a:lnTo>
                    <a:pt x="284403" y="82423"/>
                  </a:lnTo>
                  <a:lnTo>
                    <a:pt x="290131" y="86233"/>
                  </a:lnTo>
                  <a:lnTo>
                    <a:pt x="290131" y="90043"/>
                  </a:lnTo>
                  <a:lnTo>
                    <a:pt x="292036" y="90043"/>
                  </a:lnTo>
                  <a:lnTo>
                    <a:pt x="309219" y="118745"/>
                  </a:lnTo>
                  <a:lnTo>
                    <a:pt x="313042" y="111125"/>
                  </a:lnTo>
                  <a:lnTo>
                    <a:pt x="314947" y="105410"/>
                  </a:lnTo>
                  <a:lnTo>
                    <a:pt x="313042" y="101473"/>
                  </a:lnTo>
                  <a:lnTo>
                    <a:pt x="292616" y="34417"/>
                  </a:lnTo>
                  <a:close/>
                </a:path>
                <a:path w="386080" h="208914">
                  <a:moveTo>
                    <a:pt x="202323" y="49784"/>
                  </a:moveTo>
                  <a:lnTo>
                    <a:pt x="188963" y="70866"/>
                  </a:lnTo>
                  <a:lnTo>
                    <a:pt x="185153" y="78486"/>
                  </a:lnTo>
                  <a:lnTo>
                    <a:pt x="177520" y="84328"/>
                  </a:lnTo>
                  <a:lnTo>
                    <a:pt x="169875" y="88137"/>
                  </a:lnTo>
                  <a:lnTo>
                    <a:pt x="274866" y="88137"/>
                  </a:lnTo>
                  <a:lnTo>
                    <a:pt x="202323" y="49784"/>
                  </a:lnTo>
                  <a:close/>
                </a:path>
                <a:path w="386080" h="208914">
                  <a:moveTo>
                    <a:pt x="183248" y="0"/>
                  </a:moveTo>
                  <a:lnTo>
                    <a:pt x="179425" y="0"/>
                  </a:lnTo>
                  <a:lnTo>
                    <a:pt x="167970" y="3810"/>
                  </a:lnTo>
                  <a:lnTo>
                    <a:pt x="162242" y="7620"/>
                  </a:lnTo>
                  <a:lnTo>
                    <a:pt x="158432" y="11430"/>
                  </a:lnTo>
                  <a:lnTo>
                    <a:pt x="141249" y="42164"/>
                  </a:lnTo>
                  <a:lnTo>
                    <a:pt x="137426" y="51689"/>
                  </a:lnTo>
                  <a:lnTo>
                    <a:pt x="139344" y="59436"/>
                  </a:lnTo>
                  <a:lnTo>
                    <a:pt x="143154" y="68961"/>
                  </a:lnTo>
                  <a:lnTo>
                    <a:pt x="148882" y="74675"/>
                  </a:lnTo>
                  <a:lnTo>
                    <a:pt x="154609" y="76581"/>
                  </a:lnTo>
                  <a:lnTo>
                    <a:pt x="166065" y="76581"/>
                  </a:lnTo>
                  <a:lnTo>
                    <a:pt x="171792" y="74675"/>
                  </a:lnTo>
                  <a:lnTo>
                    <a:pt x="175602" y="70866"/>
                  </a:lnTo>
                  <a:lnTo>
                    <a:pt x="179425" y="65150"/>
                  </a:lnTo>
                  <a:lnTo>
                    <a:pt x="198513" y="34417"/>
                  </a:lnTo>
                  <a:lnTo>
                    <a:pt x="292616" y="34417"/>
                  </a:lnTo>
                  <a:lnTo>
                    <a:pt x="219506" y="7620"/>
                  </a:lnTo>
                  <a:lnTo>
                    <a:pt x="185153" y="1905"/>
                  </a:lnTo>
                  <a:lnTo>
                    <a:pt x="183248" y="1905"/>
                  </a:lnTo>
                  <a:lnTo>
                    <a:pt x="1832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248411" y="4468368"/>
              <a:ext cx="1592580" cy="817244"/>
            </a:xfrm>
            <a:custGeom>
              <a:avLst/>
              <a:gdLst/>
              <a:ahLst/>
              <a:cxnLst/>
              <a:rect l="l" t="t" r="r" b="b"/>
              <a:pathLst>
                <a:path w="1592580" h="817245">
                  <a:moveTo>
                    <a:pt x="1592199" y="0"/>
                  </a:moveTo>
                  <a:lnTo>
                    <a:pt x="0" y="0"/>
                  </a:lnTo>
                  <a:lnTo>
                    <a:pt x="0" y="816863"/>
                  </a:lnTo>
                  <a:lnTo>
                    <a:pt x="1592199" y="816863"/>
                  </a:lnTo>
                  <a:lnTo>
                    <a:pt x="1592199" y="0"/>
                  </a:lnTo>
                  <a:close/>
                </a:path>
              </a:pathLst>
            </a:custGeom>
            <a:solidFill>
              <a:srgbClr val="DB526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248411" y="4559909"/>
            <a:ext cx="8865235" cy="6070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910714" indent="-172085">
              <a:lnSpc>
                <a:spcPct val="100000"/>
              </a:lnSpc>
              <a:spcBef>
                <a:spcPts val="95"/>
              </a:spcBef>
              <a:buChar char="•"/>
              <a:tabLst>
                <a:tab pos="1910714" algn="l"/>
              </a:tabLst>
            </a:pPr>
            <a:r>
              <a:rPr dirty="0" sz="1000">
                <a:latin typeface="Arial MT"/>
                <a:cs typeface="Arial MT"/>
              </a:rPr>
              <a:t>Global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GDP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growth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is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expected</a:t>
            </a:r>
            <a:r>
              <a:rPr dirty="0" sz="1000" spc="-5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to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slow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down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with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economic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projections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falling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short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of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historical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growth</a:t>
            </a:r>
            <a:endParaRPr sz="1000">
              <a:latin typeface="Arial MT"/>
              <a:cs typeface="Arial MT"/>
            </a:endParaRPr>
          </a:p>
          <a:p>
            <a:pPr marL="1910714" indent="-172085">
              <a:lnSpc>
                <a:spcPct val="100000"/>
              </a:lnSpc>
              <a:buFont typeface="Arial MT"/>
              <a:buChar char="•"/>
              <a:tabLst>
                <a:tab pos="1910714" algn="l"/>
              </a:tabLst>
            </a:pPr>
            <a:r>
              <a:rPr dirty="0" sz="1000" b="1">
                <a:latin typeface="Arial"/>
                <a:cs typeface="Arial"/>
              </a:rPr>
              <a:t>IMF</a:t>
            </a:r>
            <a:r>
              <a:rPr dirty="0" sz="1000" spc="-3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projects</a:t>
            </a:r>
            <a:r>
              <a:rPr dirty="0" sz="1000" spc="-3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that</a:t>
            </a:r>
            <a:r>
              <a:rPr dirty="0" sz="1000" spc="-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GDP</a:t>
            </a:r>
            <a:r>
              <a:rPr dirty="0" sz="1000" spc="-2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growth</a:t>
            </a:r>
            <a:r>
              <a:rPr dirty="0" sz="1000" spc="-3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in</a:t>
            </a:r>
            <a:r>
              <a:rPr dirty="0" sz="1000" spc="-2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the</a:t>
            </a:r>
            <a:r>
              <a:rPr dirty="0" sz="1000" spc="-2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United</a:t>
            </a:r>
            <a:r>
              <a:rPr dirty="0" sz="1000" spc="-2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States,</a:t>
            </a:r>
            <a:r>
              <a:rPr dirty="0" sz="1000" spc="-2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the</a:t>
            </a:r>
            <a:r>
              <a:rPr dirty="0" sz="1000" spc="-2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EU</a:t>
            </a:r>
            <a:r>
              <a:rPr dirty="0" sz="1000" spc="-2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and</a:t>
            </a:r>
            <a:r>
              <a:rPr dirty="0" sz="1000" spc="-1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the</a:t>
            </a:r>
            <a:r>
              <a:rPr dirty="0" sz="1000" spc="-2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UK</a:t>
            </a:r>
            <a:r>
              <a:rPr dirty="0" sz="1000" spc="-1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is</a:t>
            </a:r>
            <a:r>
              <a:rPr dirty="0" sz="1000" spc="-3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expected</a:t>
            </a:r>
            <a:r>
              <a:rPr dirty="0" sz="1000" spc="-2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to</a:t>
            </a:r>
            <a:r>
              <a:rPr dirty="0" sz="1000" spc="-2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decline</a:t>
            </a:r>
            <a:r>
              <a:rPr dirty="0" sz="1000" spc="-3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to</a:t>
            </a:r>
            <a:r>
              <a:rPr dirty="0" sz="1000" spc="-2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1.8%,</a:t>
            </a:r>
            <a:r>
              <a:rPr dirty="0" sz="1000" spc="-2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0.9%</a:t>
            </a:r>
            <a:r>
              <a:rPr dirty="0" sz="1000" spc="-2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and</a:t>
            </a:r>
            <a:r>
              <a:rPr dirty="0" sz="1000" spc="-15" b="1">
                <a:latin typeface="Arial"/>
                <a:cs typeface="Arial"/>
              </a:rPr>
              <a:t> </a:t>
            </a:r>
            <a:r>
              <a:rPr dirty="0" sz="1000" spc="-20" b="1">
                <a:latin typeface="Arial"/>
                <a:cs typeface="Arial"/>
              </a:rPr>
              <a:t>0.4%</a:t>
            </a:r>
            <a:endParaRPr sz="1000">
              <a:latin typeface="Arial"/>
              <a:cs typeface="Arial"/>
            </a:endParaRPr>
          </a:p>
          <a:p>
            <a:pPr marL="1910714">
              <a:lnSpc>
                <a:spcPts val="1090"/>
              </a:lnSpc>
            </a:pPr>
            <a:r>
              <a:rPr dirty="0" sz="1000" b="1">
                <a:latin typeface="Arial"/>
                <a:cs typeface="Arial"/>
              </a:rPr>
              <a:t>respectively</a:t>
            </a:r>
            <a:r>
              <a:rPr dirty="0" sz="1000" spc="-5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in</a:t>
            </a:r>
            <a:r>
              <a:rPr dirty="0" sz="1000" spc="-25" b="1">
                <a:latin typeface="Arial"/>
                <a:cs typeface="Arial"/>
              </a:rPr>
              <a:t> </a:t>
            </a:r>
            <a:r>
              <a:rPr dirty="0" sz="1000" spc="-20" b="1">
                <a:latin typeface="Arial"/>
                <a:cs typeface="Arial"/>
              </a:rPr>
              <a:t>2023</a:t>
            </a:r>
            <a:endParaRPr sz="1000">
              <a:latin typeface="Arial"/>
              <a:cs typeface="Arial"/>
            </a:endParaRPr>
          </a:p>
          <a:p>
            <a:pPr marL="133350">
              <a:lnSpc>
                <a:spcPts val="1090"/>
              </a:lnSpc>
            </a:pPr>
            <a:r>
              <a:rPr dirty="0" sz="1000" b="1">
                <a:solidFill>
                  <a:srgbClr val="FFFFFF"/>
                </a:solidFill>
                <a:latin typeface="Arial"/>
                <a:cs typeface="Arial"/>
              </a:rPr>
              <a:t>Slowing</a:t>
            </a:r>
            <a:r>
              <a:rPr dirty="0" sz="10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FFFFF"/>
                </a:solidFill>
                <a:latin typeface="Arial"/>
                <a:cs typeface="Arial"/>
              </a:rPr>
              <a:t>GDP</a:t>
            </a:r>
            <a:r>
              <a:rPr dirty="0" sz="10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FFFFFF"/>
                </a:solidFill>
                <a:latin typeface="Arial"/>
                <a:cs typeface="Arial"/>
              </a:rPr>
              <a:t>growth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229997" y="3463925"/>
            <a:ext cx="9587865" cy="1445260"/>
            <a:chOff x="229997" y="3463925"/>
            <a:chExt cx="9587865" cy="1445260"/>
          </a:xfrm>
        </p:grpSpPr>
        <p:sp>
          <p:nvSpPr>
            <p:cNvPr id="28" name="object 28" descr=""/>
            <p:cNvSpPr/>
            <p:nvPr/>
          </p:nvSpPr>
          <p:spPr>
            <a:xfrm>
              <a:off x="819912" y="4617719"/>
              <a:ext cx="317500" cy="291465"/>
            </a:xfrm>
            <a:custGeom>
              <a:avLst/>
              <a:gdLst/>
              <a:ahLst/>
              <a:cxnLst/>
              <a:rect l="l" t="t" r="r" b="b"/>
              <a:pathLst>
                <a:path w="317500" h="291464">
                  <a:moveTo>
                    <a:pt x="53619" y="211543"/>
                  </a:moveTo>
                  <a:lnTo>
                    <a:pt x="6311" y="211543"/>
                  </a:lnTo>
                  <a:lnTo>
                    <a:pt x="1574" y="216623"/>
                  </a:lnTo>
                  <a:lnTo>
                    <a:pt x="1574" y="287693"/>
                  </a:lnTo>
                  <a:lnTo>
                    <a:pt x="6311" y="291083"/>
                  </a:lnTo>
                  <a:lnTo>
                    <a:pt x="53619" y="291083"/>
                  </a:lnTo>
                  <a:lnTo>
                    <a:pt x="58356" y="287693"/>
                  </a:lnTo>
                  <a:lnTo>
                    <a:pt x="58356" y="216623"/>
                  </a:lnTo>
                  <a:lnTo>
                    <a:pt x="53619" y="211543"/>
                  </a:lnTo>
                  <a:close/>
                </a:path>
                <a:path w="317500" h="291464">
                  <a:moveTo>
                    <a:pt x="138785" y="154000"/>
                  </a:moveTo>
                  <a:lnTo>
                    <a:pt x="91465" y="154000"/>
                  </a:lnTo>
                  <a:lnTo>
                    <a:pt x="86740" y="159080"/>
                  </a:lnTo>
                  <a:lnTo>
                    <a:pt x="86740" y="287693"/>
                  </a:lnTo>
                  <a:lnTo>
                    <a:pt x="91465" y="291083"/>
                  </a:lnTo>
                  <a:lnTo>
                    <a:pt x="138785" y="291083"/>
                  </a:lnTo>
                  <a:lnTo>
                    <a:pt x="143509" y="287693"/>
                  </a:lnTo>
                  <a:lnTo>
                    <a:pt x="143509" y="159080"/>
                  </a:lnTo>
                  <a:lnTo>
                    <a:pt x="138785" y="154000"/>
                  </a:lnTo>
                  <a:close/>
                </a:path>
                <a:path w="317500" h="291464">
                  <a:moveTo>
                    <a:pt x="227101" y="172618"/>
                  </a:moveTo>
                  <a:lnTo>
                    <a:pt x="176631" y="172618"/>
                  </a:lnTo>
                  <a:lnTo>
                    <a:pt x="173481" y="177698"/>
                  </a:lnTo>
                  <a:lnTo>
                    <a:pt x="173481" y="287693"/>
                  </a:lnTo>
                  <a:lnTo>
                    <a:pt x="176631" y="291083"/>
                  </a:lnTo>
                  <a:lnTo>
                    <a:pt x="227101" y="291083"/>
                  </a:lnTo>
                  <a:lnTo>
                    <a:pt x="231825" y="287693"/>
                  </a:lnTo>
                  <a:lnTo>
                    <a:pt x="231825" y="177698"/>
                  </a:lnTo>
                  <a:lnTo>
                    <a:pt x="227101" y="172618"/>
                  </a:lnTo>
                  <a:close/>
                </a:path>
                <a:path w="317500" h="291464">
                  <a:moveTo>
                    <a:pt x="312254" y="104927"/>
                  </a:moveTo>
                  <a:lnTo>
                    <a:pt x="264947" y="104927"/>
                  </a:lnTo>
                  <a:lnTo>
                    <a:pt x="260222" y="110007"/>
                  </a:lnTo>
                  <a:lnTo>
                    <a:pt x="260222" y="287693"/>
                  </a:lnTo>
                  <a:lnTo>
                    <a:pt x="264947" y="291083"/>
                  </a:lnTo>
                  <a:lnTo>
                    <a:pt x="312254" y="291083"/>
                  </a:lnTo>
                  <a:lnTo>
                    <a:pt x="316991" y="287693"/>
                  </a:lnTo>
                  <a:lnTo>
                    <a:pt x="316991" y="110007"/>
                  </a:lnTo>
                  <a:lnTo>
                    <a:pt x="312254" y="104927"/>
                  </a:lnTo>
                  <a:close/>
                </a:path>
                <a:path w="317500" h="291464">
                  <a:moveTo>
                    <a:pt x="99352" y="81229"/>
                  </a:moveTo>
                  <a:lnTo>
                    <a:pt x="93052" y="81229"/>
                  </a:lnTo>
                  <a:lnTo>
                    <a:pt x="89890" y="84620"/>
                  </a:lnTo>
                  <a:lnTo>
                    <a:pt x="4737" y="167538"/>
                  </a:lnTo>
                  <a:lnTo>
                    <a:pt x="0" y="172618"/>
                  </a:lnTo>
                  <a:lnTo>
                    <a:pt x="0" y="181076"/>
                  </a:lnTo>
                  <a:lnTo>
                    <a:pt x="4737" y="186156"/>
                  </a:lnTo>
                  <a:lnTo>
                    <a:pt x="6311" y="189547"/>
                  </a:lnTo>
                  <a:lnTo>
                    <a:pt x="9461" y="191236"/>
                  </a:lnTo>
                  <a:lnTo>
                    <a:pt x="15773" y="191236"/>
                  </a:lnTo>
                  <a:lnTo>
                    <a:pt x="22085" y="187845"/>
                  </a:lnTo>
                  <a:lnTo>
                    <a:pt x="99352" y="110007"/>
                  </a:lnTo>
                  <a:lnTo>
                    <a:pt x="154025" y="110007"/>
                  </a:lnTo>
                  <a:lnTo>
                    <a:pt x="102514" y="82930"/>
                  </a:lnTo>
                  <a:lnTo>
                    <a:pt x="99352" y="81229"/>
                  </a:lnTo>
                  <a:close/>
                </a:path>
                <a:path w="317500" h="291464">
                  <a:moveTo>
                    <a:pt x="154025" y="110007"/>
                  </a:moveTo>
                  <a:lnTo>
                    <a:pt x="99352" y="110007"/>
                  </a:lnTo>
                  <a:lnTo>
                    <a:pt x="176631" y="150621"/>
                  </a:lnTo>
                  <a:lnTo>
                    <a:pt x="181368" y="154000"/>
                  </a:lnTo>
                  <a:lnTo>
                    <a:pt x="187667" y="152311"/>
                  </a:lnTo>
                  <a:lnTo>
                    <a:pt x="190830" y="148920"/>
                  </a:lnTo>
                  <a:lnTo>
                    <a:pt x="214871" y="123545"/>
                  </a:lnTo>
                  <a:lnTo>
                    <a:pt x="179781" y="123545"/>
                  </a:lnTo>
                  <a:lnTo>
                    <a:pt x="154025" y="110007"/>
                  </a:lnTo>
                  <a:close/>
                </a:path>
                <a:path w="317500" h="291464">
                  <a:moveTo>
                    <a:pt x="313842" y="0"/>
                  </a:moveTo>
                  <a:lnTo>
                    <a:pt x="242874" y="0"/>
                  </a:lnTo>
                  <a:lnTo>
                    <a:pt x="269684" y="30467"/>
                  </a:lnTo>
                  <a:lnTo>
                    <a:pt x="179781" y="123545"/>
                  </a:lnTo>
                  <a:lnTo>
                    <a:pt x="214871" y="123545"/>
                  </a:lnTo>
                  <a:lnTo>
                    <a:pt x="287032" y="47383"/>
                  </a:lnTo>
                  <a:lnTo>
                    <a:pt x="313842" y="47383"/>
                  </a:lnTo>
                  <a:lnTo>
                    <a:pt x="313842" y="0"/>
                  </a:lnTo>
                  <a:close/>
                </a:path>
                <a:path w="317500" h="291464">
                  <a:moveTo>
                    <a:pt x="313842" y="47383"/>
                  </a:moveTo>
                  <a:lnTo>
                    <a:pt x="287032" y="47383"/>
                  </a:lnTo>
                  <a:lnTo>
                    <a:pt x="313842" y="76149"/>
                  </a:lnTo>
                  <a:lnTo>
                    <a:pt x="313842" y="4738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233172" y="3467100"/>
              <a:ext cx="9581515" cy="982980"/>
            </a:xfrm>
            <a:custGeom>
              <a:avLst/>
              <a:gdLst/>
              <a:ahLst/>
              <a:cxnLst/>
              <a:rect l="l" t="t" r="r" b="b"/>
              <a:pathLst>
                <a:path w="9581515" h="982979">
                  <a:moveTo>
                    <a:pt x="0" y="50164"/>
                  </a:moveTo>
                  <a:lnTo>
                    <a:pt x="9581515" y="0"/>
                  </a:lnTo>
                </a:path>
                <a:path w="9581515" h="982979">
                  <a:moveTo>
                    <a:pt x="0" y="982840"/>
                  </a:moveTo>
                  <a:lnTo>
                    <a:pt x="9581515" y="932688"/>
                  </a:lnTo>
                </a:path>
              </a:pathLst>
            </a:custGeom>
            <a:ln w="635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49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Key</a:t>
            </a:r>
            <a:r>
              <a:rPr dirty="0" spc="-50"/>
              <a:t> </a:t>
            </a:r>
            <a:r>
              <a:rPr dirty="0"/>
              <a:t>global</a:t>
            </a:r>
            <a:r>
              <a:rPr dirty="0" spc="-30"/>
              <a:t> </a:t>
            </a:r>
            <a:r>
              <a:rPr dirty="0" spc="-10"/>
              <a:t>trends</a:t>
            </a:r>
          </a:p>
        </p:txBody>
      </p:sp>
      <p:sp>
        <p:nvSpPr>
          <p:cNvPr id="31" name="object 3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Impact</a:t>
            </a:r>
            <a:r>
              <a:rPr dirty="0" spc="35"/>
              <a:t> </a:t>
            </a:r>
            <a:r>
              <a:rPr dirty="0"/>
              <a:t>of</a:t>
            </a:r>
            <a:r>
              <a:rPr dirty="0" spc="50"/>
              <a:t> </a:t>
            </a:r>
            <a:r>
              <a:rPr dirty="0"/>
              <a:t>Global</a:t>
            </a:r>
            <a:r>
              <a:rPr dirty="0" spc="65"/>
              <a:t> </a:t>
            </a:r>
            <a:r>
              <a:rPr dirty="0"/>
              <a:t>Economic</a:t>
            </a:r>
            <a:r>
              <a:rPr dirty="0" spc="30"/>
              <a:t> </a:t>
            </a:r>
            <a:r>
              <a:rPr dirty="0"/>
              <a:t>Trends</a:t>
            </a:r>
            <a:r>
              <a:rPr dirty="0" spc="45"/>
              <a:t> </a:t>
            </a:r>
            <a:r>
              <a:rPr dirty="0"/>
              <a:t>on</a:t>
            </a:r>
            <a:r>
              <a:rPr dirty="0" spc="40"/>
              <a:t> </a:t>
            </a:r>
            <a:r>
              <a:rPr dirty="0"/>
              <a:t>Nigeria’s</a:t>
            </a:r>
            <a:r>
              <a:rPr dirty="0" spc="60"/>
              <a:t> </a:t>
            </a:r>
            <a:r>
              <a:rPr dirty="0"/>
              <a:t>Foreign</a:t>
            </a:r>
            <a:r>
              <a:rPr dirty="0" spc="45"/>
              <a:t> </a:t>
            </a:r>
            <a:r>
              <a:rPr dirty="0"/>
              <a:t>Exchange</a:t>
            </a:r>
            <a:r>
              <a:rPr dirty="0" spc="60"/>
              <a:t> </a:t>
            </a:r>
            <a:r>
              <a:rPr dirty="0" spc="-10"/>
              <a:t>Market</a:t>
            </a:r>
          </a:p>
        </p:txBody>
      </p:sp>
      <p:sp>
        <p:nvSpPr>
          <p:cNvPr id="32" name="object 32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October</a:t>
            </a:r>
            <a:r>
              <a:rPr dirty="0" spc="80"/>
              <a:t> </a:t>
            </a:r>
            <a:r>
              <a:rPr dirty="0" spc="-20"/>
              <a:t>2023</a:t>
            </a:r>
          </a:p>
        </p:txBody>
      </p:sp>
      <p:sp>
        <p:nvSpPr>
          <p:cNvPr id="33" name="object 3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815"/>
              </a:lnSpc>
            </a:pPr>
            <a:fld id="{81D60167-4931-47E6-BA6A-407CBD079E47}" type="slidenum">
              <a:rPr dirty="0" spc="-25"/>
              <a:t>26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273050" y="830961"/>
          <a:ext cx="9680575" cy="43275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4015"/>
                <a:gridCol w="1184910"/>
                <a:gridCol w="8032750"/>
              </a:tblGrid>
              <a:tr h="701040">
                <a:tc grid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12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Transmission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dirty="0" sz="12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Mechanism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412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12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Assessing</a:t>
                      </a:r>
                      <a:r>
                        <a:rPr dirty="0" sz="12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2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transmission</a:t>
                      </a:r>
                      <a:r>
                        <a:rPr dirty="0" sz="1200" spc="-4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mechanism</a:t>
                      </a:r>
                      <a:r>
                        <a:rPr dirty="0" sz="1200" spc="-5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on</a:t>
                      </a:r>
                      <a:r>
                        <a:rPr dirty="0" sz="1200" spc="-1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price</a:t>
                      </a:r>
                      <a:r>
                        <a:rPr dirty="0" sz="1200" spc="-3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discovery, liquidity,</a:t>
                      </a:r>
                      <a:r>
                        <a:rPr dirty="0" sz="1200" spc="3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12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friction</a:t>
                      </a:r>
                      <a:r>
                        <a:rPr dirty="0" sz="1200" spc="-2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in</a:t>
                      </a:r>
                      <a:r>
                        <a:rPr dirty="0" sz="12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forex</a:t>
                      </a:r>
                      <a:r>
                        <a:rPr dirty="0" sz="1200" spc="-3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access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412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2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583565">
                        <a:lnSpc>
                          <a:spcPts val="1400"/>
                        </a:lnSpc>
                        <a:spcBef>
                          <a:spcPts val="409"/>
                        </a:spcBef>
                      </a:pPr>
                      <a:r>
                        <a:rPr dirty="0" sz="120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Cost</a:t>
                      </a:r>
                      <a:r>
                        <a:rPr dirty="0" sz="1200" spc="-2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35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of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funding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3953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116839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Increase</a:t>
                      </a:r>
                      <a:r>
                        <a:rPr dirty="0" sz="12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debt</a:t>
                      </a:r>
                      <a:r>
                        <a:rPr dirty="0" sz="12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concerns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which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has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led</a:t>
                      </a:r>
                      <a:r>
                        <a:rPr dirty="0" sz="12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2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lowering</a:t>
                      </a:r>
                      <a:r>
                        <a:rPr dirty="0" sz="1200" spc="-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of credit</a:t>
                      </a:r>
                      <a:r>
                        <a:rPr dirty="0" sz="12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ratings</a:t>
                      </a:r>
                      <a:r>
                        <a:rPr dirty="0" sz="1200" spc="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may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lead</a:t>
                      </a:r>
                      <a:r>
                        <a:rPr dirty="0" sz="12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increase</a:t>
                      </a:r>
                      <a:r>
                        <a:rPr dirty="0" sz="12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2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cost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25">
                          <a:latin typeface="Arial MT"/>
                          <a:cs typeface="Arial MT"/>
                        </a:rPr>
                        <a:t>of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international</a:t>
                      </a:r>
                      <a:r>
                        <a:rPr dirty="0" sz="12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fund.</a:t>
                      </a:r>
                      <a:r>
                        <a:rPr dirty="0" sz="1200" spc="-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This</a:t>
                      </a:r>
                      <a:r>
                        <a:rPr dirty="0" sz="12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may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increase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2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demand</a:t>
                      </a:r>
                      <a:r>
                        <a:rPr dirty="0" sz="12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pressure</a:t>
                      </a:r>
                      <a:r>
                        <a:rPr dirty="0" sz="12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on</a:t>
                      </a:r>
                      <a:r>
                        <a:rPr dirty="0" sz="1200" spc="3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forex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meet</a:t>
                      </a:r>
                      <a:r>
                        <a:rPr dirty="0" sz="12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future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FX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debt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service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obligations. </a:t>
                      </a:r>
                      <a:r>
                        <a:rPr dirty="0" sz="1200" spc="-20">
                          <a:latin typeface="Arial MT"/>
                          <a:cs typeface="Arial MT"/>
                        </a:rPr>
                        <a:t>This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evident</a:t>
                      </a:r>
                      <a:r>
                        <a:rPr dirty="0" sz="1200" spc="-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200" spc="28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decline</a:t>
                      </a:r>
                      <a:r>
                        <a:rPr dirty="0" sz="1200" spc="-5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in</a:t>
                      </a:r>
                      <a:r>
                        <a:rPr dirty="0" sz="120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capital</a:t>
                      </a:r>
                      <a:r>
                        <a:rPr dirty="0" sz="1200" spc="-4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importation</a:t>
                      </a:r>
                      <a:r>
                        <a:rPr dirty="0" sz="1200" spc="-5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from</a:t>
                      </a:r>
                      <a:r>
                        <a:rPr dirty="0" sz="1200" spc="-4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$24</a:t>
                      </a:r>
                      <a:r>
                        <a:rPr dirty="0" sz="1200" spc="-5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billion</a:t>
                      </a:r>
                      <a:r>
                        <a:rPr dirty="0" sz="1200" spc="-4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in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2018</a:t>
                      </a:r>
                      <a:r>
                        <a:rPr dirty="0" sz="1200" spc="-6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1200" spc="-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$5.3</a:t>
                      </a:r>
                      <a:r>
                        <a:rPr dirty="0" sz="1200" spc="-5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billion</a:t>
                      </a:r>
                      <a:r>
                        <a:rPr dirty="0" sz="120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in</a:t>
                      </a:r>
                      <a:r>
                        <a:rPr dirty="0" sz="120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20" b="1">
                          <a:latin typeface="Arial"/>
                          <a:cs typeface="Arial"/>
                        </a:rPr>
                        <a:t>2022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8223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2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30607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20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Capital reallocation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3953"/>
                    </a:solidFill>
                  </a:tcPr>
                </a:tc>
                <a:tc>
                  <a:txBody>
                    <a:bodyPr/>
                    <a:lstStyle/>
                    <a:p>
                      <a:pPr marL="274320" marR="446405" indent="-91440">
                        <a:lnSpc>
                          <a:spcPct val="100000"/>
                        </a:lnSpc>
                        <a:spcBef>
                          <a:spcPts val="330"/>
                        </a:spcBef>
                        <a:buChar char="•"/>
                        <a:tabLst>
                          <a:tab pos="274320" algn="l"/>
                        </a:tabLst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increase</a:t>
                      </a:r>
                      <a:r>
                        <a:rPr dirty="0" sz="12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global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Central</a:t>
                      </a:r>
                      <a:r>
                        <a:rPr dirty="0" sz="12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Bank’s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policy</a:t>
                      </a:r>
                      <a:r>
                        <a:rPr dirty="0" sz="12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rate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may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lead</a:t>
                      </a:r>
                      <a:r>
                        <a:rPr dirty="0" sz="12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capital</a:t>
                      </a:r>
                      <a:r>
                        <a:rPr dirty="0" sz="12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reallocation</a:t>
                      </a:r>
                      <a:r>
                        <a:rPr dirty="0" sz="12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away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from</a:t>
                      </a:r>
                      <a:r>
                        <a:rPr dirty="0" sz="12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Nigeria</a:t>
                      </a:r>
                      <a:r>
                        <a:rPr dirty="0" sz="12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financial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market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other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markets</a:t>
                      </a:r>
                      <a:r>
                        <a:rPr dirty="0" sz="12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with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more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attractive</a:t>
                      </a:r>
                      <a:r>
                        <a:rPr dirty="0" sz="12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yields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on</a:t>
                      </a:r>
                      <a:r>
                        <a:rPr dirty="0" sz="12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investment.</a:t>
                      </a:r>
                      <a:r>
                        <a:rPr dirty="0" sz="12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This</a:t>
                      </a:r>
                      <a:r>
                        <a:rPr dirty="0" sz="12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may</a:t>
                      </a:r>
                      <a:r>
                        <a:rPr dirty="0" sz="12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reduce</a:t>
                      </a:r>
                      <a:r>
                        <a:rPr dirty="0" sz="12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FX</a:t>
                      </a:r>
                      <a:r>
                        <a:rPr dirty="0" sz="12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flows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economy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274320" indent="-91440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274320" algn="l"/>
                        </a:tabLst>
                      </a:pPr>
                      <a:r>
                        <a:rPr dirty="0" sz="1200" b="1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Nigeria</a:t>
                      </a:r>
                      <a:r>
                        <a:rPr dirty="0" sz="12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MSCI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index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recorded</a:t>
                      </a:r>
                      <a:r>
                        <a:rPr dirty="0" sz="1200" spc="-3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12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significant</a:t>
                      </a:r>
                      <a:r>
                        <a:rPr dirty="0" sz="12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decline</a:t>
                      </a:r>
                      <a:r>
                        <a:rPr dirty="0" sz="12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113%,</a:t>
                      </a:r>
                      <a:r>
                        <a:rPr dirty="0" sz="1200" spc="-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from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23.5%</a:t>
                      </a:r>
                      <a:r>
                        <a:rPr dirty="0" sz="1200" spc="-3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in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2020</a:t>
                      </a:r>
                      <a:r>
                        <a:rPr dirty="0" sz="1200" spc="-4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1200" spc="4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3.02%</a:t>
                      </a:r>
                      <a:r>
                        <a:rPr dirty="0" sz="1200" spc="-3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in 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2022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,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274320">
                        <a:lnSpc>
                          <a:spcPct val="100000"/>
                        </a:lnSpc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reflecting</a:t>
                      </a:r>
                      <a:r>
                        <a:rPr dirty="0" sz="12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capital</a:t>
                      </a:r>
                      <a:r>
                        <a:rPr dirty="0" sz="12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reallocation</a:t>
                      </a:r>
                      <a:r>
                        <a:rPr dirty="0" sz="12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to other</a:t>
                      </a:r>
                      <a:r>
                        <a:rPr dirty="0" sz="12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economies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2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20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Trade</a:t>
                      </a:r>
                      <a:r>
                        <a:rPr dirty="0" sz="1200" spc="-7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balance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3953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31877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200" spc="-7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marginal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trade</a:t>
                      </a:r>
                      <a:r>
                        <a:rPr dirty="0" sz="12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surplus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may</a:t>
                      </a:r>
                      <a:r>
                        <a:rPr dirty="0" sz="12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lead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to an</a:t>
                      </a:r>
                      <a:r>
                        <a:rPr dirty="0" sz="12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increased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pressure</a:t>
                      </a:r>
                      <a:r>
                        <a:rPr dirty="0" sz="12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on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FX threatening</a:t>
                      </a:r>
                      <a:r>
                        <a:rPr dirty="0" sz="12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liquidity</a:t>
                      </a:r>
                      <a:r>
                        <a:rPr dirty="0" sz="12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in the</a:t>
                      </a:r>
                      <a:r>
                        <a:rPr dirty="0" sz="12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forex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market.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25">
                          <a:latin typeface="Arial MT"/>
                          <a:cs typeface="Arial MT"/>
                        </a:rPr>
                        <a:t>Q2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2023,</a:t>
                      </a:r>
                      <a:r>
                        <a:rPr dirty="0" sz="12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Nigeria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recorded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2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positive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balance</a:t>
                      </a:r>
                      <a:r>
                        <a:rPr dirty="0" sz="12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12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trade</a:t>
                      </a:r>
                      <a:r>
                        <a:rPr dirty="0" sz="12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$2.3</a:t>
                      </a:r>
                      <a:r>
                        <a:rPr dirty="0" sz="12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billion.</a:t>
                      </a:r>
                      <a:r>
                        <a:rPr dirty="0" sz="1200" spc="-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2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positive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trade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balance</a:t>
                      </a:r>
                      <a:r>
                        <a:rPr dirty="0" sz="12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could</a:t>
                      </a:r>
                      <a:r>
                        <a:rPr dirty="0" sz="12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be</a:t>
                      </a:r>
                      <a:r>
                        <a:rPr dirty="0" sz="12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attributed</a:t>
                      </a:r>
                      <a:r>
                        <a:rPr dirty="0" sz="12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25">
                          <a:latin typeface="Arial MT"/>
                          <a:cs typeface="Arial MT"/>
                        </a:rPr>
                        <a:t>to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growth</a:t>
                      </a:r>
                      <a:r>
                        <a:rPr dirty="0" sz="120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200" spc="3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total</a:t>
                      </a:r>
                      <a:r>
                        <a:rPr dirty="0" sz="1200" spc="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export</a:t>
                      </a:r>
                      <a:r>
                        <a:rPr dirty="0" sz="12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by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9%</a:t>
                      </a:r>
                      <a:r>
                        <a:rPr dirty="0" sz="12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(y/y)</a:t>
                      </a:r>
                      <a:r>
                        <a:rPr dirty="0" sz="1200" spc="4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to $12.5</a:t>
                      </a:r>
                      <a:r>
                        <a:rPr dirty="0" sz="1200" spc="-3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billion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2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20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Remittances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3953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15875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200" spc="-7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weak</a:t>
                      </a:r>
                      <a:r>
                        <a:rPr dirty="0" sz="12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global</a:t>
                      </a:r>
                      <a:r>
                        <a:rPr dirty="0" sz="12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economic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growth may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negatively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affect</a:t>
                      </a:r>
                      <a:r>
                        <a:rPr dirty="0" sz="12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remittance</a:t>
                      </a:r>
                      <a:r>
                        <a:rPr dirty="0" sz="12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flows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into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20">
                          <a:latin typeface="Arial MT"/>
                          <a:cs typeface="Arial MT"/>
                        </a:rPr>
                        <a:t>economy.</a:t>
                      </a:r>
                      <a:r>
                        <a:rPr dirty="0" sz="12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2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decline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12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remittance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flows</a:t>
                      </a:r>
                      <a:r>
                        <a:rPr dirty="0" sz="12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may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reduce</a:t>
                      </a:r>
                      <a:r>
                        <a:rPr dirty="0" sz="12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FX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flows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2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2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economy.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solidFill>
                            <a:srgbClr val="1F2023"/>
                          </a:solidFill>
                          <a:latin typeface="Arial MT"/>
                          <a:cs typeface="Arial MT"/>
                        </a:rPr>
                        <a:t>Though</a:t>
                      </a:r>
                      <a:r>
                        <a:rPr dirty="0" sz="1200" spc="-15">
                          <a:solidFill>
                            <a:srgbClr val="1F2023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b="1">
                          <a:solidFill>
                            <a:srgbClr val="1F2023"/>
                          </a:solidFill>
                          <a:latin typeface="Arial"/>
                          <a:cs typeface="Arial"/>
                        </a:rPr>
                        <a:t>remittances</a:t>
                      </a:r>
                      <a:r>
                        <a:rPr dirty="0" sz="1200" spc="-55" b="1">
                          <a:solidFill>
                            <a:srgbClr val="1F202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solidFill>
                            <a:srgbClr val="1F2023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1200" spc="-10" b="1">
                          <a:solidFill>
                            <a:srgbClr val="1F202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solidFill>
                            <a:srgbClr val="1F2023"/>
                          </a:solidFill>
                          <a:latin typeface="Arial"/>
                          <a:cs typeface="Arial"/>
                        </a:rPr>
                        <a:t>Nigeria</a:t>
                      </a:r>
                      <a:r>
                        <a:rPr dirty="0" sz="1200" spc="-20" b="1">
                          <a:solidFill>
                            <a:srgbClr val="1F202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solidFill>
                            <a:srgbClr val="1F2023"/>
                          </a:solidFill>
                          <a:latin typeface="Arial"/>
                          <a:cs typeface="Arial"/>
                        </a:rPr>
                        <a:t>accounted</a:t>
                      </a:r>
                      <a:r>
                        <a:rPr dirty="0" sz="1200" spc="-30" b="1">
                          <a:solidFill>
                            <a:srgbClr val="1F202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solidFill>
                            <a:srgbClr val="1F2023"/>
                          </a:solidFill>
                          <a:latin typeface="Arial"/>
                          <a:cs typeface="Arial"/>
                        </a:rPr>
                        <a:t>for</a:t>
                      </a:r>
                      <a:r>
                        <a:rPr dirty="0" sz="1200" spc="-10" b="1">
                          <a:solidFill>
                            <a:srgbClr val="1F202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solidFill>
                            <a:srgbClr val="1F2023"/>
                          </a:solidFill>
                          <a:latin typeface="Arial"/>
                          <a:cs typeface="Arial"/>
                        </a:rPr>
                        <a:t>38%</a:t>
                      </a:r>
                      <a:r>
                        <a:rPr dirty="0" sz="1200" spc="-40" b="1">
                          <a:solidFill>
                            <a:srgbClr val="1F202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solidFill>
                            <a:srgbClr val="1F2023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200" spc="-10" b="1">
                          <a:solidFill>
                            <a:srgbClr val="1F202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solidFill>
                            <a:srgbClr val="1F2023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200" spc="-15" b="1">
                          <a:solidFill>
                            <a:srgbClr val="1F202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solidFill>
                            <a:srgbClr val="1F2023"/>
                          </a:solidFill>
                          <a:latin typeface="Arial"/>
                          <a:cs typeface="Arial"/>
                        </a:rPr>
                        <a:t>total </a:t>
                      </a:r>
                      <a:r>
                        <a:rPr dirty="0" sz="1200" spc="-10" b="1">
                          <a:solidFill>
                            <a:srgbClr val="1F2023"/>
                          </a:solidFill>
                          <a:latin typeface="Arial"/>
                          <a:cs typeface="Arial"/>
                        </a:rPr>
                        <a:t>flows </a:t>
                      </a:r>
                      <a:r>
                        <a:rPr dirty="0" sz="1200" b="1">
                          <a:solidFill>
                            <a:srgbClr val="1F2023"/>
                          </a:solidFill>
                          <a:latin typeface="Arial"/>
                          <a:cs typeface="Arial"/>
                        </a:rPr>
                        <a:t>to the</a:t>
                      </a:r>
                      <a:r>
                        <a:rPr dirty="0" sz="1200" spc="-10" b="1">
                          <a:solidFill>
                            <a:srgbClr val="1F202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solidFill>
                            <a:srgbClr val="1F2023"/>
                          </a:solidFill>
                          <a:latin typeface="Arial"/>
                          <a:cs typeface="Arial"/>
                        </a:rPr>
                        <a:t>region,</a:t>
                      </a:r>
                      <a:r>
                        <a:rPr dirty="0" sz="1200" spc="5" b="1">
                          <a:solidFill>
                            <a:srgbClr val="1F202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solidFill>
                            <a:srgbClr val="1F2023"/>
                          </a:solidFill>
                          <a:latin typeface="Arial"/>
                          <a:cs typeface="Arial"/>
                        </a:rPr>
                        <a:t>it</a:t>
                      </a:r>
                      <a:r>
                        <a:rPr dirty="0" sz="1200" spc="-10" b="1">
                          <a:solidFill>
                            <a:srgbClr val="1F202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solidFill>
                            <a:srgbClr val="1F2023"/>
                          </a:solidFill>
                          <a:latin typeface="Arial"/>
                          <a:cs typeface="Arial"/>
                        </a:rPr>
                        <a:t>increased</a:t>
                      </a:r>
                      <a:r>
                        <a:rPr dirty="0" sz="1200" spc="-35" b="1">
                          <a:solidFill>
                            <a:srgbClr val="1F202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solidFill>
                            <a:srgbClr val="1F2023"/>
                          </a:solidFill>
                          <a:latin typeface="Arial"/>
                          <a:cs typeface="Arial"/>
                        </a:rPr>
                        <a:t>by</a:t>
                      </a:r>
                      <a:r>
                        <a:rPr dirty="0" sz="1200" spc="-10" b="1">
                          <a:solidFill>
                            <a:srgbClr val="1F202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solidFill>
                            <a:srgbClr val="1F2023"/>
                          </a:solidFill>
                          <a:latin typeface="Arial"/>
                          <a:cs typeface="Arial"/>
                        </a:rPr>
                        <a:t>only</a:t>
                      </a:r>
                      <a:r>
                        <a:rPr dirty="0" sz="1200" spc="-5" b="1">
                          <a:solidFill>
                            <a:srgbClr val="1F202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solidFill>
                            <a:srgbClr val="1F2023"/>
                          </a:solidFill>
                          <a:latin typeface="Arial"/>
                          <a:cs typeface="Arial"/>
                        </a:rPr>
                        <a:t>3.3%</a:t>
                      </a:r>
                      <a:r>
                        <a:rPr dirty="0" sz="1200" spc="-25" b="1">
                          <a:solidFill>
                            <a:srgbClr val="1F202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solidFill>
                            <a:srgbClr val="1F2023"/>
                          </a:solidFill>
                          <a:latin typeface="Arial"/>
                          <a:cs typeface="Arial"/>
                        </a:rPr>
                        <a:t>to $20.1</a:t>
                      </a:r>
                      <a:r>
                        <a:rPr dirty="0" sz="1200" spc="-45" b="1">
                          <a:solidFill>
                            <a:srgbClr val="1F202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10" b="1">
                          <a:solidFill>
                            <a:srgbClr val="1F2023"/>
                          </a:solidFill>
                          <a:latin typeface="Arial"/>
                          <a:cs typeface="Arial"/>
                        </a:rPr>
                        <a:t>billion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200" spc="-5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200" spc="-1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Confidence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93953"/>
                    </a:solidFill>
                  </a:tcPr>
                </a:tc>
                <a:tc>
                  <a:txBody>
                    <a:bodyPr/>
                    <a:lstStyle/>
                    <a:p>
                      <a:pPr algn="just" marL="91440" marR="2438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200">
                          <a:latin typeface="Arial MT"/>
                          <a:cs typeface="Arial MT"/>
                        </a:rPr>
                        <a:t>Lower</a:t>
                      </a:r>
                      <a:r>
                        <a:rPr dirty="0" sz="12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credit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ratings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due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2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Nigeria’s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widening</a:t>
                      </a:r>
                      <a:r>
                        <a:rPr dirty="0" sz="12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fiscal</a:t>
                      </a:r>
                      <a:r>
                        <a:rPr dirty="0" sz="12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deficit,</a:t>
                      </a:r>
                      <a:r>
                        <a:rPr dirty="0" sz="12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debt</a:t>
                      </a:r>
                      <a:r>
                        <a:rPr dirty="0" sz="12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service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2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revenue</a:t>
                      </a:r>
                      <a:r>
                        <a:rPr dirty="0" sz="12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ratio</a:t>
                      </a:r>
                      <a:r>
                        <a:rPr dirty="0" sz="12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may</a:t>
                      </a:r>
                      <a:r>
                        <a:rPr dirty="0" sz="12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reduce</a:t>
                      </a:r>
                      <a:r>
                        <a:rPr dirty="0" sz="12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confidence</a:t>
                      </a:r>
                      <a:r>
                        <a:rPr dirty="0" sz="12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25">
                          <a:latin typeface="Arial MT"/>
                          <a:cs typeface="Arial MT"/>
                        </a:rPr>
                        <a:t>in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2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>
                          <a:latin typeface="Arial MT"/>
                          <a:cs typeface="Arial MT"/>
                        </a:rPr>
                        <a:t>Nigeria</a:t>
                      </a:r>
                      <a:r>
                        <a:rPr dirty="0" sz="12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spc="-10">
                          <a:latin typeface="Arial MT"/>
                          <a:cs typeface="Arial MT"/>
                        </a:rPr>
                        <a:t>economy.</a:t>
                      </a:r>
                      <a:r>
                        <a:rPr dirty="0" sz="12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This may</a:t>
                      </a:r>
                      <a:r>
                        <a:rPr dirty="0" sz="1200" spc="-4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lead</a:t>
                      </a:r>
                      <a:r>
                        <a:rPr dirty="0" sz="1200" spc="-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12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reallocation</a:t>
                      </a:r>
                      <a:r>
                        <a:rPr dirty="0" sz="1200" spc="-4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2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funds from</a:t>
                      </a:r>
                      <a:r>
                        <a:rPr dirty="0" sz="12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200" spc="-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Nigerian</a:t>
                      </a:r>
                      <a:r>
                        <a:rPr dirty="0" sz="1200" spc="-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economy</a:t>
                      </a:r>
                      <a:r>
                        <a:rPr dirty="0" sz="1200" spc="-4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reduction</a:t>
                      </a:r>
                      <a:r>
                        <a:rPr dirty="0" sz="12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b="1">
                          <a:latin typeface="Arial"/>
                          <a:cs typeface="Arial"/>
                        </a:rPr>
                        <a:t>in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200" spc="-25" b="1">
                          <a:latin typeface="Arial"/>
                          <a:cs typeface="Arial"/>
                        </a:rPr>
                        <a:t>FX </a:t>
                      </a:r>
                      <a:r>
                        <a:rPr dirty="0" sz="1200" spc="-10" b="1">
                          <a:latin typeface="Arial"/>
                          <a:cs typeface="Arial"/>
                        </a:rPr>
                        <a:t>flows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</a:tbl>
          </a:graphicData>
        </a:graphic>
      </p:graphicFrame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Impact</a:t>
            </a:r>
            <a:r>
              <a:rPr dirty="0" spc="35"/>
              <a:t> </a:t>
            </a:r>
            <a:r>
              <a:rPr dirty="0"/>
              <a:t>of</a:t>
            </a:r>
            <a:r>
              <a:rPr dirty="0" spc="50"/>
              <a:t> </a:t>
            </a:r>
            <a:r>
              <a:rPr dirty="0"/>
              <a:t>Global</a:t>
            </a:r>
            <a:r>
              <a:rPr dirty="0" spc="65"/>
              <a:t> </a:t>
            </a:r>
            <a:r>
              <a:rPr dirty="0"/>
              <a:t>Economic</a:t>
            </a:r>
            <a:r>
              <a:rPr dirty="0" spc="30"/>
              <a:t> </a:t>
            </a:r>
            <a:r>
              <a:rPr dirty="0"/>
              <a:t>Trends</a:t>
            </a:r>
            <a:r>
              <a:rPr dirty="0" spc="45"/>
              <a:t> </a:t>
            </a:r>
            <a:r>
              <a:rPr dirty="0"/>
              <a:t>on</a:t>
            </a:r>
            <a:r>
              <a:rPr dirty="0" spc="40"/>
              <a:t> </a:t>
            </a:r>
            <a:r>
              <a:rPr dirty="0"/>
              <a:t>Nigeria’s</a:t>
            </a:r>
            <a:r>
              <a:rPr dirty="0" spc="60"/>
              <a:t> </a:t>
            </a:r>
            <a:r>
              <a:rPr dirty="0"/>
              <a:t>Foreign</a:t>
            </a:r>
            <a:r>
              <a:rPr dirty="0" spc="45"/>
              <a:t> </a:t>
            </a:r>
            <a:r>
              <a:rPr dirty="0"/>
              <a:t>Exchange</a:t>
            </a:r>
            <a:r>
              <a:rPr dirty="0" spc="60"/>
              <a:t> </a:t>
            </a:r>
            <a:r>
              <a:rPr dirty="0" spc="-10"/>
              <a:t>Market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October</a:t>
            </a:r>
            <a:r>
              <a:rPr dirty="0" spc="80"/>
              <a:t> </a:t>
            </a:r>
            <a:r>
              <a:rPr dirty="0" spc="-20"/>
              <a:t>2023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815"/>
              </a:lnSpc>
            </a:pPr>
            <a:fld id="{81D60167-4931-47E6-BA6A-407CBD079E47}" type="slidenum">
              <a:rPr dirty="0" spc="-25"/>
              <a:t>26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500"/>
              <a:t>The</a:t>
            </a:r>
            <a:r>
              <a:rPr dirty="0" sz="1500" spc="-25"/>
              <a:t> </a:t>
            </a:r>
            <a:r>
              <a:rPr dirty="0" sz="1500"/>
              <a:t>impact</a:t>
            </a:r>
            <a:r>
              <a:rPr dirty="0" sz="1500" spc="-45"/>
              <a:t> </a:t>
            </a:r>
            <a:r>
              <a:rPr dirty="0" sz="1500"/>
              <a:t>of</a:t>
            </a:r>
            <a:r>
              <a:rPr dirty="0" sz="1500" spc="-20"/>
              <a:t> </a:t>
            </a:r>
            <a:r>
              <a:rPr dirty="0" sz="1500"/>
              <a:t>the</a:t>
            </a:r>
            <a:r>
              <a:rPr dirty="0" sz="1500" spc="-40"/>
              <a:t> </a:t>
            </a:r>
            <a:r>
              <a:rPr dirty="0" sz="1500"/>
              <a:t>global</a:t>
            </a:r>
            <a:r>
              <a:rPr dirty="0" sz="1500" spc="-50"/>
              <a:t> </a:t>
            </a:r>
            <a:r>
              <a:rPr dirty="0" sz="1500"/>
              <a:t>transmission</a:t>
            </a:r>
            <a:r>
              <a:rPr dirty="0" sz="1500" spc="-30"/>
              <a:t> </a:t>
            </a:r>
            <a:r>
              <a:rPr dirty="0" sz="1500"/>
              <a:t>mechanisms</a:t>
            </a:r>
            <a:r>
              <a:rPr dirty="0" sz="1500" spc="-35"/>
              <a:t> </a:t>
            </a:r>
            <a:r>
              <a:rPr dirty="0" sz="1500"/>
              <a:t>on</a:t>
            </a:r>
            <a:r>
              <a:rPr dirty="0" sz="1500" spc="-20"/>
              <a:t> </a:t>
            </a:r>
            <a:r>
              <a:rPr dirty="0" sz="1500"/>
              <a:t>price</a:t>
            </a:r>
            <a:r>
              <a:rPr dirty="0" sz="1500" spc="-30"/>
              <a:t> </a:t>
            </a:r>
            <a:r>
              <a:rPr dirty="0" sz="1500"/>
              <a:t>discovery,</a:t>
            </a:r>
            <a:r>
              <a:rPr dirty="0" sz="1500" spc="-30"/>
              <a:t> </a:t>
            </a:r>
            <a:r>
              <a:rPr dirty="0" sz="1500"/>
              <a:t>liquidity,</a:t>
            </a:r>
            <a:r>
              <a:rPr dirty="0" sz="1500" spc="-60"/>
              <a:t> </a:t>
            </a:r>
            <a:r>
              <a:rPr dirty="0" sz="1500"/>
              <a:t>and</a:t>
            </a:r>
            <a:r>
              <a:rPr dirty="0" sz="1500" spc="-35"/>
              <a:t> </a:t>
            </a:r>
            <a:r>
              <a:rPr dirty="0" sz="1500"/>
              <a:t>friction</a:t>
            </a:r>
            <a:r>
              <a:rPr dirty="0" sz="1500" spc="-50"/>
              <a:t> </a:t>
            </a:r>
            <a:r>
              <a:rPr dirty="0" sz="1500"/>
              <a:t>in</a:t>
            </a:r>
            <a:r>
              <a:rPr dirty="0" sz="1500" spc="-35"/>
              <a:t> </a:t>
            </a:r>
            <a:r>
              <a:rPr dirty="0" sz="1500"/>
              <a:t>forex</a:t>
            </a:r>
            <a:r>
              <a:rPr dirty="0" sz="1500" spc="-20"/>
              <a:t> </a:t>
            </a:r>
            <a:r>
              <a:rPr dirty="0" sz="1500"/>
              <a:t>access</a:t>
            </a:r>
            <a:r>
              <a:rPr dirty="0" sz="1500" spc="-45"/>
              <a:t> </a:t>
            </a:r>
            <a:r>
              <a:rPr dirty="0" sz="1500" spc="-25"/>
              <a:t>in </a:t>
            </a:r>
            <a:r>
              <a:rPr dirty="0" sz="1500" spc="-10"/>
              <a:t>Nigeria</a:t>
            </a:r>
            <a:endParaRPr sz="15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405193" y="1469992"/>
            <a:ext cx="9280525" cy="1789430"/>
            <a:chOff x="405193" y="1469992"/>
            <a:chExt cx="9280525" cy="1789430"/>
          </a:xfrm>
        </p:grpSpPr>
        <p:sp>
          <p:nvSpPr>
            <p:cNvPr id="3" name="object 3" descr=""/>
            <p:cNvSpPr/>
            <p:nvPr/>
          </p:nvSpPr>
          <p:spPr>
            <a:xfrm>
              <a:off x="409956" y="2488691"/>
              <a:ext cx="9271000" cy="0"/>
            </a:xfrm>
            <a:custGeom>
              <a:avLst/>
              <a:gdLst/>
              <a:ahLst/>
              <a:cxnLst/>
              <a:rect l="l" t="t" r="r" b="b"/>
              <a:pathLst>
                <a:path w="9271000" h="0">
                  <a:moveTo>
                    <a:pt x="0" y="0"/>
                  </a:moveTo>
                  <a:lnTo>
                    <a:pt x="9270492" y="0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8282" y="1469992"/>
              <a:ext cx="9133840" cy="1789081"/>
            </a:xfrm>
            <a:prstGeom prst="rect">
              <a:avLst/>
            </a:prstGeom>
          </p:spPr>
        </p:pic>
      </p:grpSp>
      <p:sp>
        <p:nvSpPr>
          <p:cNvPr id="5" name="object 5" descr=""/>
          <p:cNvSpPr txBox="1"/>
          <p:nvPr/>
        </p:nvSpPr>
        <p:spPr>
          <a:xfrm>
            <a:off x="242112" y="1134617"/>
            <a:ext cx="104139" cy="23755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1910">
              <a:lnSpc>
                <a:spcPct val="100000"/>
              </a:lnSpc>
              <a:spcBef>
                <a:spcPts val="95"/>
              </a:spcBef>
            </a:pPr>
            <a:r>
              <a:rPr dirty="0" sz="700" spc="-50" b="1">
                <a:solidFill>
                  <a:srgbClr val="0D0D0D"/>
                </a:solidFill>
                <a:latin typeface="Arial"/>
                <a:cs typeface="Arial"/>
              </a:rPr>
              <a:t>8</a:t>
            </a: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700">
              <a:latin typeface="Arial"/>
              <a:cs typeface="Arial"/>
            </a:endParaRPr>
          </a:p>
          <a:p>
            <a:pPr marL="41910">
              <a:lnSpc>
                <a:spcPct val="100000"/>
              </a:lnSpc>
            </a:pPr>
            <a:r>
              <a:rPr dirty="0" sz="700" spc="-50" b="1">
                <a:solidFill>
                  <a:srgbClr val="0D0D0D"/>
                </a:solidFill>
                <a:latin typeface="Arial"/>
                <a:cs typeface="Arial"/>
              </a:rPr>
              <a:t>6</a:t>
            </a: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700">
              <a:latin typeface="Arial"/>
              <a:cs typeface="Arial"/>
            </a:endParaRPr>
          </a:p>
          <a:p>
            <a:pPr marL="41910">
              <a:lnSpc>
                <a:spcPct val="100000"/>
              </a:lnSpc>
            </a:pPr>
            <a:r>
              <a:rPr dirty="0" sz="700" spc="-50" b="1">
                <a:solidFill>
                  <a:srgbClr val="0D0D0D"/>
                </a:solidFill>
                <a:latin typeface="Arial"/>
                <a:cs typeface="Arial"/>
              </a:rPr>
              <a:t>4</a:t>
            </a: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700">
              <a:latin typeface="Arial"/>
              <a:cs typeface="Arial"/>
            </a:endParaRPr>
          </a:p>
          <a:p>
            <a:pPr marL="41910">
              <a:lnSpc>
                <a:spcPct val="100000"/>
              </a:lnSpc>
            </a:pPr>
            <a:r>
              <a:rPr dirty="0" sz="700" spc="-50" b="1">
                <a:solidFill>
                  <a:srgbClr val="0D0D0D"/>
                </a:solidFill>
                <a:latin typeface="Arial"/>
                <a:cs typeface="Arial"/>
              </a:rPr>
              <a:t>2</a:t>
            </a: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700">
              <a:latin typeface="Arial"/>
              <a:cs typeface="Arial"/>
            </a:endParaRPr>
          </a:p>
          <a:p>
            <a:pPr marL="41910">
              <a:lnSpc>
                <a:spcPct val="100000"/>
              </a:lnSpc>
            </a:pPr>
            <a:r>
              <a:rPr dirty="0" sz="700" spc="-50" b="1">
                <a:solidFill>
                  <a:srgbClr val="0D0D0D"/>
                </a:solidFill>
                <a:latin typeface="Arial"/>
                <a:cs typeface="Arial"/>
              </a:rPr>
              <a:t>0</a:t>
            </a: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700" spc="-10" b="1">
                <a:solidFill>
                  <a:srgbClr val="0D0D0D"/>
                </a:solidFill>
                <a:latin typeface="Arial"/>
                <a:cs typeface="Arial"/>
              </a:rPr>
              <a:t>-</a:t>
            </a:r>
            <a:r>
              <a:rPr dirty="0" sz="700" spc="-60" b="1">
                <a:solidFill>
                  <a:srgbClr val="0D0D0D"/>
                </a:solidFill>
                <a:latin typeface="Arial"/>
                <a:cs typeface="Arial"/>
              </a:rPr>
              <a:t>2</a:t>
            </a: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700" spc="-10" b="1">
                <a:solidFill>
                  <a:srgbClr val="0D0D0D"/>
                </a:solidFill>
                <a:latin typeface="Arial"/>
                <a:cs typeface="Arial"/>
              </a:rPr>
              <a:t>-</a:t>
            </a:r>
            <a:r>
              <a:rPr dirty="0" sz="700" spc="-60" b="1">
                <a:solidFill>
                  <a:srgbClr val="0D0D0D"/>
                </a:solidFill>
                <a:latin typeface="Arial"/>
                <a:cs typeface="Arial"/>
              </a:rPr>
              <a:t>4</a:t>
            </a: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700" spc="-10" b="1">
                <a:solidFill>
                  <a:srgbClr val="0D0D0D"/>
                </a:solidFill>
                <a:latin typeface="Arial"/>
                <a:cs typeface="Arial"/>
              </a:rPr>
              <a:t>-</a:t>
            </a:r>
            <a:r>
              <a:rPr dirty="0" sz="700" spc="-60" b="1">
                <a:solidFill>
                  <a:srgbClr val="0D0D0D"/>
                </a:solidFill>
                <a:latin typeface="Arial"/>
                <a:cs typeface="Arial"/>
              </a:rPr>
              <a:t>6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234734" y="1532382"/>
            <a:ext cx="9554845" cy="2463800"/>
            <a:chOff x="234734" y="1532382"/>
            <a:chExt cx="9554845" cy="2463800"/>
          </a:xfrm>
        </p:grpSpPr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4734" y="3520186"/>
              <a:ext cx="9382086" cy="268096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4216908" y="3989832"/>
              <a:ext cx="243840" cy="0"/>
            </a:xfrm>
            <a:custGeom>
              <a:avLst/>
              <a:gdLst/>
              <a:ahLst/>
              <a:cxnLst/>
              <a:rect l="l" t="t" r="r" b="b"/>
              <a:pathLst>
                <a:path w="243839" h="0">
                  <a:moveTo>
                    <a:pt x="0" y="0"/>
                  </a:moveTo>
                  <a:lnTo>
                    <a:pt x="243839" y="0"/>
                  </a:lnTo>
                </a:path>
              </a:pathLst>
            </a:custGeom>
            <a:ln w="127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5021579" y="3989832"/>
              <a:ext cx="243840" cy="0"/>
            </a:xfrm>
            <a:custGeom>
              <a:avLst/>
              <a:gdLst/>
              <a:ahLst/>
              <a:cxnLst/>
              <a:rect l="l" t="t" r="r" b="b"/>
              <a:pathLst>
                <a:path w="243839" h="0">
                  <a:moveTo>
                    <a:pt x="0" y="0"/>
                  </a:moveTo>
                  <a:lnTo>
                    <a:pt x="243840" y="0"/>
                  </a:lnTo>
                </a:path>
              </a:pathLst>
            </a:custGeom>
            <a:ln w="12700">
              <a:solidFill>
                <a:srgbClr val="DF2F1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5975603" y="3989832"/>
              <a:ext cx="243840" cy="0"/>
            </a:xfrm>
            <a:custGeom>
              <a:avLst/>
              <a:gdLst/>
              <a:ahLst/>
              <a:cxnLst/>
              <a:rect l="l" t="t" r="r" b="b"/>
              <a:pathLst>
                <a:path w="243839" h="0">
                  <a:moveTo>
                    <a:pt x="0" y="0"/>
                  </a:moveTo>
                  <a:lnTo>
                    <a:pt x="243840" y="0"/>
                  </a:lnTo>
                </a:path>
              </a:pathLst>
            </a:custGeom>
            <a:ln w="12700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9710166" y="1532381"/>
              <a:ext cx="79375" cy="1924050"/>
            </a:xfrm>
            <a:custGeom>
              <a:avLst/>
              <a:gdLst/>
              <a:ahLst/>
              <a:cxnLst/>
              <a:rect l="l" t="t" r="r" b="b"/>
              <a:pathLst>
                <a:path w="79375" h="1924050">
                  <a:moveTo>
                    <a:pt x="76200" y="1847596"/>
                  </a:moveTo>
                  <a:lnTo>
                    <a:pt x="47625" y="1847596"/>
                  </a:lnTo>
                  <a:lnTo>
                    <a:pt x="47625" y="989076"/>
                  </a:lnTo>
                  <a:lnTo>
                    <a:pt x="28575" y="989076"/>
                  </a:lnTo>
                  <a:lnTo>
                    <a:pt x="28575" y="1847596"/>
                  </a:lnTo>
                  <a:lnTo>
                    <a:pt x="0" y="1847596"/>
                  </a:lnTo>
                  <a:lnTo>
                    <a:pt x="38100" y="1923796"/>
                  </a:lnTo>
                  <a:lnTo>
                    <a:pt x="69850" y="1860296"/>
                  </a:lnTo>
                  <a:lnTo>
                    <a:pt x="76200" y="1847596"/>
                  </a:lnTo>
                  <a:close/>
                </a:path>
                <a:path w="79375" h="1924050">
                  <a:moveTo>
                    <a:pt x="79248" y="76200"/>
                  </a:moveTo>
                  <a:lnTo>
                    <a:pt x="72898" y="63500"/>
                  </a:lnTo>
                  <a:lnTo>
                    <a:pt x="41148" y="0"/>
                  </a:lnTo>
                  <a:lnTo>
                    <a:pt x="3048" y="76200"/>
                  </a:lnTo>
                  <a:lnTo>
                    <a:pt x="31623" y="76200"/>
                  </a:lnTo>
                  <a:lnTo>
                    <a:pt x="31623" y="871855"/>
                  </a:lnTo>
                  <a:lnTo>
                    <a:pt x="50673" y="871855"/>
                  </a:lnTo>
                  <a:lnTo>
                    <a:pt x="50673" y="76200"/>
                  </a:lnTo>
                  <a:lnTo>
                    <a:pt x="79248" y="76200"/>
                  </a:lnTo>
                  <a:close/>
                </a:path>
              </a:pathLst>
            </a:custGeom>
            <a:solidFill>
              <a:srgbClr val="0D0D0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9729051" y="1716151"/>
            <a:ext cx="196215" cy="553720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 sz="1200" spc="-10" b="1">
                <a:latin typeface="Arial"/>
                <a:cs typeface="Arial"/>
              </a:rPr>
              <a:t>Inflows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9717747" y="2608833"/>
            <a:ext cx="196215" cy="680085"/>
          </a:xfrm>
          <a:prstGeom prst="rect">
            <a:avLst/>
          </a:prstGeom>
        </p:spPr>
        <p:txBody>
          <a:bodyPr wrap="square" lIns="0" tIns="0" rIns="0" bIns="0" rtlCol="0" vert="vert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 sz="1200" spc="-10" b="1">
                <a:latin typeface="Arial"/>
                <a:cs typeface="Arial"/>
              </a:rPr>
              <a:t>Outflows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149161" y="797051"/>
            <a:ext cx="9829165" cy="3354704"/>
            <a:chOff x="149161" y="797051"/>
            <a:chExt cx="9829165" cy="3354704"/>
          </a:xfrm>
        </p:grpSpPr>
        <p:sp>
          <p:nvSpPr>
            <p:cNvPr id="15" name="object 15" descr=""/>
            <p:cNvSpPr/>
            <p:nvPr/>
          </p:nvSpPr>
          <p:spPr>
            <a:xfrm>
              <a:off x="153923" y="894587"/>
              <a:ext cx="9819640" cy="3252470"/>
            </a:xfrm>
            <a:custGeom>
              <a:avLst/>
              <a:gdLst/>
              <a:ahLst/>
              <a:cxnLst/>
              <a:rect l="l" t="t" r="r" b="b"/>
              <a:pathLst>
                <a:path w="9819640" h="3252470">
                  <a:moveTo>
                    <a:pt x="0" y="3252216"/>
                  </a:moveTo>
                  <a:lnTo>
                    <a:pt x="9819132" y="3252216"/>
                  </a:lnTo>
                  <a:lnTo>
                    <a:pt x="9819132" y="0"/>
                  </a:lnTo>
                  <a:lnTo>
                    <a:pt x="0" y="0"/>
                  </a:lnTo>
                  <a:lnTo>
                    <a:pt x="0" y="3252216"/>
                  </a:lnTo>
                  <a:close/>
                </a:path>
              </a:pathLst>
            </a:custGeom>
            <a:ln w="9524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2967228" y="797051"/>
              <a:ext cx="4773295" cy="381000"/>
            </a:xfrm>
            <a:custGeom>
              <a:avLst/>
              <a:gdLst/>
              <a:ahLst/>
              <a:cxnLst/>
              <a:rect l="l" t="t" r="r" b="b"/>
              <a:pathLst>
                <a:path w="4773295" h="381000">
                  <a:moveTo>
                    <a:pt x="4773168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4773168" y="381000"/>
                  </a:lnTo>
                  <a:lnTo>
                    <a:pt x="47731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3224276" y="791032"/>
            <a:ext cx="4517390" cy="3924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0D0D0D"/>
                </a:solidFill>
                <a:latin typeface="Arial"/>
                <a:cs typeface="Arial"/>
              </a:rPr>
              <a:t>Emerging</a:t>
            </a:r>
            <a:r>
              <a:rPr dirty="0" sz="1200" spc="-35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0D0D0D"/>
                </a:solidFill>
                <a:latin typeface="Arial"/>
                <a:cs typeface="Arial"/>
              </a:rPr>
              <a:t>Market</a:t>
            </a:r>
            <a:r>
              <a:rPr dirty="0" sz="1200" spc="-35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0D0D0D"/>
                </a:solidFill>
                <a:latin typeface="Arial"/>
                <a:cs typeface="Arial"/>
              </a:rPr>
              <a:t>(EM)</a:t>
            </a:r>
            <a:r>
              <a:rPr dirty="0" sz="1200" spc="-15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0D0D0D"/>
                </a:solidFill>
                <a:latin typeface="Arial"/>
                <a:cs typeface="Arial"/>
              </a:rPr>
              <a:t>Net</a:t>
            </a:r>
            <a:r>
              <a:rPr dirty="0" sz="1200" spc="-10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0D0D0D"/>
                </a:solidFill>
                <a:latin typeface="Arial"/>
                <a:cs typeface="Arial"/>
              </a:rPr>
              <a:t>Portfolio Flows</a:t>
            </a:r>
            <a:r>
              <a:rPr dirty="0" sz="1200" spc="-5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0D0D0D"/>
                </a:solidFill>
                <a:latin typeface="Arial MT"/>
                <a:cs typeface="Arial MT"/>
              </a:rPr>
              <a:t>(%</a:t>
            </a:r>
            <a:r>
              <a:rPr dirty="0" sz="1200" spc="-1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0D0D0D"/>
                </a:solidFill>
                <a:latin typeface="Arial MT"/>
                <a:cs typeface="Arial MT"/>
              </a:rPr>
              <a:t>of</a:t>
            </a:r>
            <a:r>
              <a:rPr dirty="0" sz="1200" spc="-2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200" spc="-35">
                <a:solidFill>
                  <a:srgbClr val="0D0D0D"/>
                </a:solidFill>
                <a:latin typeface="Arial MT"/>
                <a:cs typeface="Arial MT"/>
              </a:rPr>
              <a:t>GDP,</a:t>
            </a:r>
            <a:r>
              <a:rPr dirty="0" sz="1200" spc="-1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0D0D0D"/>
                </a:solidFill>
                <a:latin typeface="Arial MT"/>
                <a:cs typeface="Arial MT"/>
              </a:rPr>
              <a:t>4</a:t>
            </a:r>
            <a:r>
              <a:rPr dirty="0" sz="1200" spc="-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0D0D0D"/>
                </a:solidFill>
                <a:latin typeface="Arial MT"/>
                <a:cs typeface="Arial MT"/>
              </a:rPr>
              <a:t>quarter</a:t>
            </a:r>
            <a:endParaRPr sz="1200">
              <a:latin typeface="Arial MT"/>
              <a:cs typeface="Arial MT"/>
            </a:endParaRPr>
          </a:p>
          <a:p>
            <a:pPr algn="ctr" marR="249554">
              <a:lnSpc>
                <a:spcPct val="100000"/>
              </a:lnSpc>
              <a:spcBef>
                <a:spcPts val="5"/>
              </a:spcBef>
            </a:pPr>
            <a:r>
              <a:rPr dirty="0" sz="1200">
                <a:solidFill>
                  <a:srgbClr val="0D0D0D"/>
                </a:solidFill>
                <a:latin typeface="Arial MT"/>
                <a:cs typeface="Arial MT"/>
              </a:rPr>
              <a:t>rolling</a:t>
            </a:r>
            <a:r>
              <a:rPr dirty="0" sz="1200" spc="-20">
                <a:solidFill>
                  <a:srgbClr val="0D0D0D"/>
                </a:solidFill>
                <a:latin typeface="Arial MT"/>
                <a:cs typeface="Arial MT"/>
              </a:rPr>
              <a:t> sum)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4187697" y="3917950"/>
            <a:ext cx="2762250" cy="3975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9720">
              <a:lnSpc>
                <a:spcPct val="100000"/>
              </a:lnSpc>
              <a:spcBef>
                <a:spcPts val="95"/>
              </a:spcBef>
              <a:tabLst>
                <a:tab pos="1104265" algn="l"/>
                <a:tab pos="2057400" algn="l"/>
              </a:tabLst>
            </a:pPr>
            <a:r>
              <a:rPr dirty="0" sz="700" spc="-10" b="1">
                <a:solidFill>
                  <a:srgbClr val="0D0D0D"/>
                </a:solidFill>
                <a:latin typeface="Arial"/>
                <a:cs typeface="Arial"/>
              </a:rPr>
              <a:t>China</a:t>
            </a:r>
            <a:r>
              <a:rPr dirty="0" sz="700" b="1">
                <a:solidFill>
                  <a:srgbClr val="0D0D0D"/>
                </a:solidFill>
                <a:latin typeface="Arial"/>
                <a:cs typeface="Arial"/>
              </a:rPr>
              <a:t>	Other</a:t>
            </a:r>
            <a:r>
              <a:rPr dirty="0" sz="700" spc="-30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700" spc="-25" b="1">
                <a:solidFill>
                  <a:srgbClr val="0D0D0D"/>
                </a:solidFill>
                <a:latin typeface="Arial"/>
                <a:cs typeface="Arial"/>
              </a:rPr>
              <a:t>EM</a:t>
            </a:r>
            <a:r>
              <a:rPr dirty="0" sz="700" b="1">
                <a:solidFill>
                  <a:srgbClr val="0D0D0D"/>
                </a:solidFill>
                <a:latin typeface="Arial"/>
                <a:cs typeface="Arial"/>
              </a:rPr>
              <a:t>	</a:t>
            </a:r>
            <a:r>
              <a:rPr dirty="0" sz="700" spc="-20" b="1">
                <a:solidFill>
                  <a:srgbClr val="0D0D0D"/>
                </a:solidFill>
                <a:latin typeface="Arial"/>
                <a:cs typeface="Arial"/>
              </a:rPr>
              <a:t>Total</a:t>
            </a: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endParaRPr sz="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700" i="1">
                <a:solidFill>
                  <a:srgbClr val="0D0D0D"/>
                </a:solidFill>
                <a:latin typeface="Arial"/>
                <a:cs typeface="Arial"/>
              </a:rPr>
              <a:t>Sources:</a:t>
            </a:r>
            <a:r>
              <a:rPr dirty="0" sz="700" spc="-10" i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0D0D0D"/>
                </a:solidFill>
                <a:latin typeface="Arial"/>
                <a:cs typeface="Arial"/>
              </a:rPr>
              <a:t>IMF,</a:t>
            </a:r>
            <a:r>
              <a:rPr dirty="0" sz="700" spc="-10" i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0D0D0D"/>
                </a:solidFill>
                <a:latin typeface="Arial"/>
                <a:cs typeface="Arial"/>
              </a:rPr>
              <a:t>2023</a:t>
            </a:r>
            <a:r>
              <a:rPr dirty="0" sz="700" spc="-20" i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0D0D0D"/>
                </a:solidFill>
                <a:latin typeface="Arial"/>
                <a:cs typeface="Arial"/>
              </a:rPr>
              <a:t>External</a:t>
            </a:r>
            <a:r>
              <a:rPr dirty="0" sz="700" spc="-5" i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0D0D0D"/>
                </a:solidFill>
                <a:latin typeface="Arial"/>
                <a:cs typeface="Arial"/>
              </a:rPr>
              <a:t>Sector</a:t>
            </a:r>
            <a:r>
              <a:rPr dirty="0" sz="700" spc="-15" i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0D0D0D"/>
                </a:solidFill>
                <a:latin typeface="Arial"/>
                <a:cs typeface="Arial"/>
              </a:rPr>
              <a:t>Report</a:t>
            </a:r>
            <a:r>
              <a:rPr dirty="0" sz="700" spc="-20" i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0D0D0D"/>
                </a:solidFill>
                <a:latin typeface="Arial"/>
                <a:cs typeface="Arial"/>
              </a:rPr>
              <a:t>and</a:t>
            </a:r>
            <a:r>
              <a:rPr dirty="0" sz="700" spc="-20" i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0D0D0D"/>
                </a:solidFill>
                <a:latin typeface="Arial"/>
                <a:cs typeface="Arial"/>
              </a:rPr>
              <a:t>IMF</a:t>
            </a:r>
            <a:r>
              <a:rPr dirty="0" sz="700" spc="-10" i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0D0D0D"/>
                </a:solidFill>
                <a:latin typeface="Arial"/>
                <a:cs typeface="Arial"/>
              </a:rPr>
              <a:t>staff</a:t>
            </a:r>
            <a:r>
              <a:rPr dirty="0" sz="700" spc="-10" i="1">
                <a:solidFill>
                  <a:srgbClr val="0D0D0D"/>
                </a:solidFill>
                <a:latin typeface="Arial"/>
                <a:cs typeface="Arial"/>
              </a:rPr>
              <a:t> calculations</a:t>
            </a:r>
            <a:endParaRPr sz="700">
              <a:latin typeface="Arial"/>
              <a:cs typeface="Arial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140207" y="4331208"/>
            <a:ext cx="9814560" cy="908685"/>
          </a:xfrm>
          <a:custGeom>
            <a:avLst/>
            <a:gdLst/>
            <a:ahLst/>
            <a:cxnLst/>
            <a:rect l="l" t="t" r="r" b="b"/>
            <a:pathLst>
              <a:path w="9814560" h="908685">
                <a:moveTo>
                  <a:pt x="0" y="908303"/>
                </a:moveTo>
                <a:lnTo>
                  <a:pt x="9814433" y="908303"/>
                </a:lnTo>
                <a:lnTo>
                  <a:pt x="9814433" y="0"/>
                </a:lnTo>
                <a:lnTo>
                  <a:pt x="0" y="0"/>
                </a:lnTo>
                <a:lnTo>
                  <a:pt x="0" y="908303"/>
                </a:lnTo>
                <a:close/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152400" y="4326635"/>
            <a:ext cx="9813290" cy="172085"/>
          </a:xfrm>
          <a:prstGeom prst="rect">
            <a:avLst/>
          </a:prstGeom>
          <a:solidFill>
            <a:srgbClr val="5F5F5F"/>
          </a:solidFill>
        </p:spPr>
        <p:txBody>
          <a:bodyPr wrap="square" lIns="0" tIns="12700" rIns="0" bIns="0" rtlCol="0" vert="horz">
            <a:spAutoFit/>
          </a:bodyPr>
          <a:lstStyle/>
          <a:p>
            <a:pPr marL="13335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Insights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3" name="object 2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Impact</a:t>
            </a:r>
            <a:r>
              <a:rPr dirty="0" spc="35"/>
              <a:t> </a:t>
            </a:r>
            <a:r>
              <a:rPr dirty="0"/>
              <a:t>of</a:t>
            </a:r>
            <a:r>
              <a:rPr dirty="0" spc="50"/>
              <a:t> </a:t>
            </a:r>
            <a:r>
              <a:rPr dirty="0"/>
              <a:t>Global</a:t>
            </a:r>
            <a:r>
              <a:rPr dirty="0" spc="65"/>
              <a:t> </a:t>
            </a:r>
            <a:r>
              <a:rPr dirty="0"/>
              <a:t>Economic</a:t>
            </a:r>
            <a:r>
              <a:rPr dirty="0" spc="30"/>
              <a:t> </a:t>
            </a:r>
            <a:r>
              <a:rPr dirty="0"/>
              <a:t>Trends</a:t>
            </a:r>
            <a:r>
              <a:rPr dirty="0" spc="45"/>
              <a:t> </a:t>
            </a:r>
            <a:r>
              <a:rPr dirty="0"/>
              <a:t>on</a:t>
            </a:r>
            <a:r>
              <a:rPr dirty="0" spc="40"/>
              <a:t> </a:t>
            </a:r>
            <a:r>
              <a:rPr dirty="0"/>
              <a:t>Nigeria’s</a:t>
            </a:r>
            <a:r>
              <a:rPr dirty="0" spc="60"/>
              <a:t> </a:t>
            </a:r>
            <a:r>
              <a:rPr dirty="0"/>
              <a:t>Foreign</a:t>
            </a:r>
            <a:r>
              <a:rPr dirty="0" spc="45"/>
              <a:t> </a:t>
            </a:r>
            <a:r>
              <a:rPr dirty="0"/>
              <a:t>Exchange</a:t>
            </a:r>
            <a:r>
              <a:rPr dirty="0" spc="60"/>
              <a:t> </a:t>
            </a:r>
            <a:r>
              <a:rPr dirty="0" spc="-10"/>
              <a:t>Market</a:t>
            </a:r>
          </a:p>
        </p:txBody>
      </p:sp>
      <p:sp>
        <p:nvSpPr>
          <p:cNvPr id="24" name="object 2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October</a:t>
            </a:r>
            <a:r>
              <a:rPr dirty="0" spc="80"/>
              <a:t> </a:t>
            </a:r>
            <a:r>
              <a:rPr dirty="0" spc="-20"/>
              <a:t>2023</a:t>
            </a:r>
          </a:p>
        </p:txBody>
      </p:sp>
      <p:sp>
        <p:nvSpPr>
          <p:cNvPr id="25" name="object 2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815"/>
              </a:lnSpc>
            </a:pPr>
            <a:fld id="{81D60167-4931-47E6-BA6A-407CBD079E47}" type="slidenum">
              <a:rPr dirty="0" spc="-25"/>
              <a:t>26</a:t>
            </a:fld>
          </a:p>
        </p:txBody>
      </p:sp>
      <p:sp>
        <p:nvSpPr>
          <p:cNvPr id="21" name="object 21" descr=""/>
          <p:cNvSpPr txBox="1"/>
          <p:nvPr/>
        </p:nvSpPr>
        <p:spPr>
          <a:xfrm>
            <a:off x="144970" y="4633366"/>
            <a:ext cx="980503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10515" marR="241300" indent="-172720">
              <a:lnSpc>
                <a:spcPct val="100000"/>
              </a:lnSpc>
              <a:spcBef>
                <a:spcPts val="95"/>
              </a:spcBef>
              <a:buChar char="•"/>
              <a:tabLst>
                <a:tab pos="310515" algn="l"/>
              </a:tabLst>
            </a:pPr>
            <a:r>
              <a:rPr dirty="0" sz="1000">
                <a:latin typeface="Arial MT"/>
                <a:cs typeface="Arial MT"/>
              </a:rPr>
              <a:t>Since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U.S.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began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its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tightening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cycle 18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months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ago,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EM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dollar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bond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yields</a:t>
            </a:r>
            <a:r>
              <a:rPr dirty="0" sz="1000" spc="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rose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by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roughly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200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basis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points,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foreign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currency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bond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issuance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fell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significantly,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and </a:t>
            </a:r>
            <a:r>
              <a:rPr dirty="0" sz="1000">
                <a:latin typeface="Arial MT"/>
                <a:cs typeface="Arial MT"/>
              </a:rPr>
              <a:t>portfolio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flows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to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major</a:t>
            </a:r>
            <a:r>
              <a:rPr dirty="0" sz="1000" spc="-4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EMs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sharply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declined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49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The</a:t>
            </a:r>
            <a:r>
              <a:rPr dirty="0" spc="-50"/>
              <a:t> </a:t>
            </a:r>
            <a:r>
              <a:rPr dirty="0"/>
              <a:t>global</a:t>
            </a:r>
            <a:r>
              <a:rPr dirty="0" spc="-35"/>
              <a:t> </a:t>
            </a:r>
            <a:r>
              <a:rPr dirty="0"/>
              <a:t>financial</a:t>
            </a:r>
            <a:r>
              <a:rPr dirty="0" spc="-15"/>
              <a:t> </a:t>
            </a:r>
            <a:r>
              <a:rPr dirty="0"/>
              <a:t>landscape</a:t>
            </a:r>
            <a:r>
              <a:rPr dirty="0" spc="-20"/>
              <a:t> </a:t>
            </a:r>
            <a:r>
              <a:rPr dirty="0"/>
              <a:t>is</a:t>
            </a:r>
            <a:r>
              <a:rPr dirty="0" spc="-60"/>
              <a:t> </a:t>
            </a:r>
            <a:r>
              <a:rPr dirty="0"/>
              <a:t>more</a:t>
            </a:r>
            <a:r>
              <a:rPr dirty="0" spc="-50"/>
              <a:t> </a:t>
            </a:r>
            <a:r>
              <a:rPr dirty="0"/>
              <a:t>challenging</a:t>
            </a:r>
            <a:r>
              <a:rPr dirty="0" spc="-20"/>
              <a:t> </a:t>
            </a:r>
            <a:r>
              <a:rPr dirty="0" spc="-10"/>
              <a:t>(1/2)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00660" y="3736085"/>
            <a:ext cx="174053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 i="1">
                <a:latin typeface="Arial"/>
                <a:cs typeface="Arial"/>
              </a:rPr>
              <a:t>Source:</a:t>
            </a:r>
            <a:r>
              <a:rPr dirty="0" sz="700" spc="-15" i="1">
                <a:latin typeface="Arial"/>
                <a:cs typeface="Arial"/>
              </a:rPr>
              <a:t> </a:t>
            </a:r>
            <a:r>
              <a:rPr dirty="0" sz="700" i="1">
                <a:latin typeface="Arial"/>
                <a:cs typeface="Arial"/>
              </a:rPr>
              <a:t>DMO,</a:t>
            </a:r>
            <a:r>
              <a:rPr dirty="0" sz="700" spc="20" i="1">
                <a:latin typeface="Arial"/>
                <a:cs typeface="Arial"/>
              </a:rPr>
              <a:t> </a:t>
            </a:r>
            <a:r>
              <a:rPr dirty="0" sz="700" spc="-10" i="1">
                <a:latin typeface="Arial"/>
                <a:cs typeface="Arial"/>
              </a:rPr>
              <a:t>Investing.com,</a:t>
            </a:r>
            <a:r>
              <a:rPr dirty="0" sz="700" spc="80" i="1">
                <a:latin typeface="Arial"/>
                <a:cs typeface="Arial"/>
              </a:rPr>
              <a:t> </a:t>
            </a:r>
            <a:r>
              <a:rPr dirty="0" sz="700" spc="-10" i="1">
                <a:latin typeface="Arial"/>
                <a:cs typeface="Arial"/>
              </a:rPr>
              <a:t>PwC</a:t>
            </a:r>
            <a:r>
              <a:rPr dirty="0" sz="700" spc="-60" i="1">
                <a:latin typeface="Arial"/>
                <a:cs typeface="Arial"/>
              </a:rPr>
              <a:t> </a:t>
            </a:r>
            <a:r>
              <a:rPr dirty="0" sz="700" spc="-10" i="1">
                <a:latin typeface="Arial"/>
                <a:cs typeface="Arial"/>
              </a:rPr>
              <a:t>Analysis</a:t>
            </a:r>
            <a:endParaRPr sz="7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98120" y="4293108"/>
            <a:ext cx="9755505" cy="489584"/>
          </a:xfrm>
          <a:prstGeom prst="rect">
            <a:avLst/>
          </a:prstGeom>
          <a:ln w="12700">
            <a:solidFill>
              <a:srgbClr val="0D0D0D"/>
            </a:solidFill>
          </a:ln>
        </p:spPr>
        <p:txBody>
          <a:bodyPr wrap="square" lIns="0" tIns="2286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80"/>
              </a:spcBef>
            </a:pPr>
            <a:endParaRPr sz="1000">
              <a:latin typeface="Times New Roman"/>
              <a:cs typeface="Times New Roman"/>
            </a:endParaRPr>
          </a:p>
          <a:p>
            <a:pPr marL="262890" indent="-171450">
              <a:lnSpc>
                <a:spcPct val="100000"/>
              </a:lnSpc>
              <a:buSzPct val="140000"/>
              <a:buChar char="•"/>
              <a:tabLst>
                <a:tab pos="262890" algn="l"/>
              </a:tabLst>
            </a:pP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nominal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yields</a:t>
            </a:r>
            <a:r>
              <a:rPr dirty="0" sz="1000" spc="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on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10-</a:t>
            </a:r>
            <a:r>
              <a:rPr dirty="0" sz="1000">
                <a:latin typeface="Arial MT"/>
                <a:cs typeface="Arial MT"/>
              </a:rPr>
              <a:t>year US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Treasury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bonds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have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risen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above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4%,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reaching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their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highest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point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since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Global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Financial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Crisis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98120" y="4110253"/>
            <a:ext cx="9755505" cy="182880"/>
          </a:xfrm>
          <a:prstGeom prst="rect">
            <a:avLst/>
          </a:prstGeom>
          <a:solidFill>
            <a:srgbClr val="5F5F5F"/>
          </a:solidFill>
        </p:spPr>
        <p:txBody>
          <a:bodyPr wrap="square" lIns="0" tIns="18415" rIns="0" bIns="0" rtlCol="0" vert="horz">
            <a:spAutoFit/>
          </a:bodyPr>
          <a:lstStyle/>
          <a:p>
            <a:pPr marL="111125">
              <a:lnSpc>
                <a:spcPct val="100000"/>
              </a:lnSpc>
              <a:spcBef>
                <a:spcPts val="145"/>
              </a:spcBef>
            </a:pP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Insights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452437" y="1469516"/>
            <a:ext cx="9222105" cy="1447800"/>
            <a:chOff x="452437" y="1469516"/>
            <a:chExt cx="9222105" cy="1447800"/>
          </a:xfrm>
        </p:grpSpPr>
        <p:sp>
          <p:nvSpPr>
            <p:cNvPr id="6" name="object 6" descr=""/>
            <p:cNvSpPr/>
            <p:nvPr/>
          </p:nvSpPr>
          <p:spPr>
            <a:xfrm>
              <a:off x="457200" y="2884931"/>
              <a:ext cx="9212580" cy="27940"/>
            </a:xfrm>
            <a:custGeom>
              <a:avLst/>
              <a:gdLst/>
              <a:ahLst/>
              <a:cxnLst/>
              <a:rect l="l" t="t" r="r" b="b"/>
              <a:pathLst>
                <a:path w="9212580" h="27939">
                  <a:moveTo>
                    <a:pt x="0" y="0"/>
                  </a:moveTo>
                  <a:lnTo>
                    <a:pt x="9212580" y="0"/>
                  </a:lnTo>
                </a:path>
                <a:path w="9212580" h="27939">
                  <a:moveTo>
                    <a:pt x="0" y="0"/>
                  </a:moveTo>
                  <a:lnTo>
                    <a:pt x="0" y="27431"/>
                  </a:lnTo>
                </a:path>
                <a:path w="9212580" h="27939">
                  <a:moveTo>
                    <a:pt x="146304" y="0"/>
                  </a:moveTo>
                  <a:lnTo>
                    <a:pt x="146304" y="27431"/>
                  </a:lnTo>
                </a:path>
                <a:path w="9212580" h="27939">
                  <a:moveTo>
                    <a:pt x="294131" y="0"/>
                  </a:moveTo>
                  <a:lnTo>
                    <a:pt x="294131" y="27431"/>
                  </a:lnTo>
                </a:path>
                <a:path w="9212580" h="27939">
                  <a:moveTo>
                    <a:pt x="440436" y="0"/>
                  </a:moveTo>
                  <a:lnTo>
                    <a:pt x="440436" y="27431"/>
                  </a:lnTo>
                </a:path>
                <a:path w="9212580" h="27939">
                  <a:moveTo>
                    <a:pt x="588263" y="0"/>
                  </a:moveTo>
                  <a:lnTo>
                    <a:pt x="588263" y="27431"/>
                  </a:lnTo>
                </a:path>
                <a:path w="9212580" h="27939">
                  <a:moveTo>
                    <a:pt x="734568" y="0"/>
                  </a:moveTo>
                  <a:lnTo>
                    <a:pt x="734568" y="27431"/>
                  </a:lnTo>
                </a:path>
                <a:path w="9212580" h="27939">
                  <a:moveTo>
                    <a:pt x="880872" y="0"/>
                  </a:moveTo>
                  <a:lnTo>
                    <a:pt x="880872" y="27431"/>
                  </a:lnTo>
                </a:path>
                <a:path w="9212580" h="27939">
                  <a:moveTo>
                    <a:pt x="1028700" y="0"/>
                  </a:moveTo>
                  <a:lnTo>
                    <a:pt x="1028700" y="27431"/>
                  </a:lnTo>
                </a:path>
                <a:path w="9212580" h="27939">
                  <a:moveTo>
                    <a:pt x="1175004" y="0"/>
                  </a:moveTo>
                  <a:lnTo>
                    <a:pt x="1175004" y="27431"/>
                  </a:lnTo>
                </a:path>
                <a:path w="9212580" h="27939">
                  <a:moveTo>
                    <a:pt x="1322832" y="0"/>
                  </a:moveTo>
                  <a:lnTo>
                    <a:pt x="1322832" y="27431"/>
                  </a:lnTo>
                </a:path>
                <a:path w="9212580" h="27939">
                  <a:moveTo>
                    <a:pt x="1469136" y="0"/>
                  </a:moveTo>
                  <a:lnTo>
                    <a:pt x="1469136" y="27431"/>
                  </a:lnTo>
                </a:path>
                <a:path w="9212580" h="27939">
                  <a:moveTo>
                    <a:pt x="1616964" y="0"/>
                  </a:moveTo>
                  <a:lnTo>
                    <a:pt x="1616964" y="27431"/>
                  </a:lnTo>
                </a:path>
                <a:path w="9212580" h="27939">
                  <a:moveTo>
                    <a:pt x="1763268" y="0"/>
                  </a:moveTo>
                  <a:lnTo>
                    <a:pt x="1763268" y="27431"/>
                  </a:lnTo>
                </a:path>
                <a:path w="9212580" h="27939">
                  <a:moveTo>
                    <a:pt x="1911095" y="0"/>
                  </a:moveTo>
                  <a:lnTo>
                    <a:pt x="1911095" y="27431"/>
                  </a:lnTo>
                </a:path>
                <a:path w="9212580" h="27939">
                  <a:moveTo>
                    <a:pt x="2057400" y="0"/>
                  </a:moveTo>
                  <a:lnTo>
                    <a:pt x="2057400" y="27431"/>
                  </a:lnTo>
                </a:path>
                <a:path w="9212580" h="27939">
                  <a:moveTo>
                    <a:pt x="2205228" y="0"/>
                  </a:moveTo>
                  <a:lnTo>
                    <a:pt x="2205228" y="27431"/>
                  </a:lnTo>
                </a:path>
                <a:path w="9212580" h="27939">
                  <a:moveTo>
                    <a:pt x="2351532" y="0"/>
                  </a:moveTo>
                  <a:lnTo>
                    <a:pt x="2351532" y="27431"/>
                  </a:lnTo>
                </a:path>
                <a:path w="9212580" h="27939">
                  <a:moveTo>
                    <a:pt x="2499360" y="0"/>
                  </a:moveTo>
                  <a:lnTo>
                    <a:pt x="2499360" y="27431"/>
                  </a:lnTo>
                </a:path>
                <a:path w="9212580" h="27939">
                  <a:moveTo>
                    <a:pt x="2645664" y="0"/>
                  </a:moveTo>
                  <a:lnTo>
                    <a:pt x="2645664" y="27431"/>
                  </a:lnTo>
                </a:path>
                <a:path w="9212580" h="27939">
                  <a:moveTo>
                    <a:pt x="2793492" y="0"/>
                  </a:moveTo>
                  <a:lnTo>
                    <a:pt x="2793492" y="27431"/>
                  </a:lnTo>
                </a:path>
                <a:path w="9212580" h="27939">
                  <a:moveTo>
                    <a:pt x="2939796" y="0"/>
                  </a:moveTo>
                  <a:lnTo>
                    <a:pt x="2939796" y="27431"/>
                  </a:lnTo>
                </a:path>
                <a:path w="9212580" h="27939">
                  <a:moveTo>
                    <a:pt x="3087624" y="0"/>
                  </a:moveTo>
                  <a:lnTo>
                    <a:pt x="3087624" y="27431"/>
                  </a:lnTo>
                </a:path>
                <a:path w="9212580" h="27939">
                  <a:moveTo>
                    <a:pt x="3233928" y="0"/>
                  </a:moveTo>
                  <a:lnTo>
                    <a:pt x="3233928" y="27431"/>
                  </a:lnTo>
                </a:path>
                <a:path w="9212580" h="27939">
                  <a:moveTo>
                    <a:pt x="3380232" y="0"/>
                  </a:moveTo>
                  <a:lnTo>
                    <a:pt x="3380232" y="27431"/>
                  </a:lnTo>
                </a:path>
                <a:path w="9212580" h="27939">
                  <a:moveTo>
                    <a:pt x="3528060" y="0"/>
                  </a:moveTo>
                  <a:lnTo>
                    <a:pt x="3528060" y="27431"/>
                  </a:lnTo>
                </a:path>
                <a:path w="9212580" h="27939">
                  <a:moveTo>
                    <a:pt x="3674364" y="0"/>
                  </a:moveTo>
                  <a:lnTo>
                    <a:pt x="3674364" y="27431"/>
                  </a:lnTo>
                </a:path>
                <a:path w="9212580" h="27939">
                  <a:moveTo>
                    <a:pt x="3822191" y="0"/>
                  </a:moveTo>
                  <a:lnTo>
                    <a:pt x="3822191" y="27431"/>
                  </a:lnTo>
                </a:path>
                <a:path w="9212580" h="27939">
                  <a:moveTo>
                    <a:pt x="3968496" y="0"/>
                  </a:moveTo>
                  <a:lnTo>
                    <a:pt x="3968496" y="27431"/>
                  </a:lnTo>
                </a:path>
                <a:path w="9212580" h="27939">
                  <a:moveTo>
                    <a:pt x="4116324" y="0"/>
                  </a:moveTo>
                  <a:lnTo>
                    <a:pt x="4116324" y="27431"/>
                  </a:lnTo>
                </a:path>
                <a:path w="9212580" h="27939">
                  <a:moveTo>
                    <a:pt x="4262628" y="0"/>
                  </a:moveTo>
                  <a:lnTo>
                    <a:pt x="4262628" y="27431"/>
                  </a:lnTo>
                </a:path>
                <a:path w="9212580" h="27939">
                  <a:moveTo>
                    <a:pt x="4410456" y="0"/>
                  </a:moveTo>
                  <a:lnTo>
                    <a:pt x="4410456" y="27431"/>
                  </a:lnTo>
                </a:path>
                <a:path w="9212580" h="27939">
                  <a:moveTo>
                    <a:pt x="4556760" y="0"/>
                  </a:moveTo>
                  <a:lnTo>
                    <a:pt x="4556760" y="27431"/>
                  </a:lnTo>
                </a:path>
                <a:path w="9212580" h="27939">
                  <a:moveTo>
                    <a:pt x="4704588" y="0"/>
                  </a:moveTo>
                  <a:lnTo>
                    <a:pt x="4704588" y="27431"/>
                  </a:lnTo>
                </a:path>
                <a:path w="9212580" h="27939">
                  <a:moveTo>
                    <a:pt x="4850892" y="0"/>
                  </a:moveTo>
                  <a:lnTo>
                    <a:pt x="4850892" y="27431"/>
                  </a:lnTo>
                </a:path>
                <a:path w="9212580" h="27939">
                  <a:moveTo>
                    <a:pt x="4998720" y="0"/>
                  </a:moveTo>
                  <a:lnTo>
                    <a:pt x="4998720" y="27431"/>
                  </a:lnTo>
                </a:path>
                <a:path w="9212580" h="27939">
                  <a:moveTo>
                    <a:pt x="5145024" y="0"/>
                  </a:moveTo>
                  <a:lnTo>
                    <a:pt x="5145024" y="27431"/>
                  </a:lnTo>
                </a:path>
                <a:path w="9212580" h="27939">
                  <a:moveTo>
                    <a:pt x="5292852" y="0"/>
                  </a:moveTo>
                  <a:lnTo>
                    <a:pt x="5292852" y="27431"/>
                  </a:lnTo>
                </a:path>
                <a:path w="9212580" h="27939">
                  <a:moveTo>
                    <a:pt x="5439156" y="0"/>
                  </a:moveTo>
                  <a:lnTo>
                    <a:pt x="5439156" y="27431"/>
                  </a:lnTo>
                </a:path>
                <a:path w="9212580" h="27939">
                  <a:moveTo>
                    <a:pt x="5585460" y="0"/>
                  </a:moveTo>
                  <a:lnTo>
                    <a:pt x="5585460" y="27431"/>
                  </a:lnTo>
                </a:path>
                <a:path w="9212580" h="27939">
                  <a:moveTo>
                    <a:pt x="5733288" y="0"/>
                  </a:moveTo>
                  <a:lnTo>
                    <a:pt x="5733288" y="27431"/>
                  </a:lnTo>
                </a:path>
                <a:path w="9212580" h="27939">
                  <a:moveTo>
                    <a:pt x="5879592" y="0"/>
                  </a:moveTo>
                  <a:lnTo>
                    <a:pt x="5879592" y="27431"/>
                  </a:lnTo>
                </a:path>
                <a:path w="9212580" h="27939">
                  <a:moveTo>
                    <a:pt x="6027420" y="0"/>
                  </a:moveTo>
                  <a:lnTo>
                    <a:pt x="6027420" y="27431"/>
                  </a:lnTo>
                </a:path>
                <a:path w="9212580" h="27939">
                  <a:moveTo>
                    <a:pt x="6173724" y="0"/>
                  </a:moveTo>
                  <a:lnTo>
                    <a:pt x="6173724" y="27431"/>
                  </a:lnTo>
                </a:path>
                <a:path w="9212580" h="27939">
                  <a:moveTo>
                    <a:pt x="6321552" y="0"/>
                  </a:moveTo>
                  <a:lnTo>
                    <a:pt x="6321552" y="27431"/>
                  </a:lnTo>
                </a:path>
                <a:path w="9212580" h="27939">
                  <a:moveTo>
                    <a:pt x="6467856" y="0"/>
                  </a:moveTo>
                  <a:lnTo>
                    <a:pt x="6467856" y="27431"/>
                  </a:lnTo>
                </a:path>
                <a:path w="9212580" h="27939">
                  <a:moveTo>
                    <a:pt x="6615683" y="0"/>
                  </a:moveTo>
                  <a:lnTo>
                    <a:pt x="6615683" y="27431"/>
                  </a:lnTo>
                </a:path>
                <a:path w="9212580" h="27939">
                  <a:moveTo>
                    <a:pt x="6761988" y="0"/>
                  </a:moveTo>
                  <a:lnTo>
                    <a:pt x="6761988" y="27431"/>
                  </a:lnTo>
                </a:path>
                <a:path w="9212580" h="27939">
                  <a:moveTo>
                    <a:pt x="6909816" y="0"/>
                  </a:moveTo>
                  <a:lnTo>
                    <a:pt x="6909816" y="27431"/>
                  </a:lnTo>
                </a:path>
                <a:path w="9212580" h="27939">
                  <a:moveTo>
                    <a:pt x="7056120" y="0"/>
                  </a:moveTo>
                  <a:lnTo>
                    <a:pt x="7056120" y="27431"/>
                  </a:lnTo>
                </a:path>
                <a:path w="9212580" h="27939">
                  <a:moveTo>
                    <a:pt x="7203948" y="0"/>
                  </a:moveTo>
                  <a:lnTo>
                    <a:pt x="7203948" y="27431"/>
                  </a:lnTo>
                </a:path>
                <a:path w="9212580" h="27939">
                  <a:moveTo>
                    <a:pt x="7350252" y="0"/>
                  </a:moveTo>
                  <a:lnTo>
                    <a:pt x="7350252" y="27431"/>
                  </a:lnTo>
                </a:path>
                <a:path w="9212580" h="27939">
                  <a:moveTo>
                    <a:pt x="7498080" y="0"/>
                  </a:moveTo>
                  <a:lnTo>
                    <a:pt x="7498080" y="27431"/>
                  </a:lnTo>
                </a:path>
                <a:path w="9212580" h="27939">
                  <a:moveTo>
                    <a:pt x="7644383" y="0"/>
                  </a:moveTo>
                  <a:lnTo>
                    <a:pt x="7644383" y="27431"/>
                  </a:lnTo>
                </a:path>
                <a:path w="9212580" h="27939">
                  <a:moveTo>
                    <a:pt x="7792211" y="0"/>
                  </a:moveTo>
                  <a:lnTo>
                    <a:pt x="7792211" y="27431"/>
                  </a:lnTo>
                </a:path>
                <a:path w="9212580" h="27939">
                  <a:moveTo>
                    <a:pt x="7938516" y="0"/>
                  </a:moveTo>
                  <a:lnTo>
                    <a:pt x="7938516" y="27431"/>
                  </a:lnTo>
                </a:path>
                <a:path w="9212580" h="27939">
                  <a:moveTo>
                    <a:pt x="8084820" y="0"/>
                  </a:moveTo>
                  <a:lnTo>
                    <a:pt x="8084820" y="27431"/>
                  </a:lnTo>
                </a:path>
                <a:path w="9212580" h="27939">
                  <a:moveTo>
                    <a:pt x="8232648" y="0"/>
                  </a:moveTo>
                  <a:lnTo>
                    <a:pt x="8232648" y="27431"/>
                  </a:lnTo>
                </a:path>
                <a:path w="9212580" h="27939">
                  <a:moveTo>
                    <a:pt x="8378952" y="0"/>
                  </a:moveTo>
                  <a:lnTo>
                    <a:pt x="8378952" y="27431"/>
                  </a:lnTo>
                </a:path>
                <a:path w="9212580" h="27939">
                  <a:moveTo>
                    <a:pt x="8526780" y="0"/>
                  </a:moveTo>
                  <a:lnTo>
                    <a:pt x="8526780" y="27431"/>
                  </a:lnTo>
                </a:path>
                <a:path w="9212580" h="27939">
                  <a:moveTo>
                    <a:pt x="8673084" y="0"/>
                  </a:moveTo>
                  <a:lnTo>
                    <a:pt x="8673084" y="27431"/>
                  </a:lnTo>
                </a:path>
                <a:path w="9212580" h="27939">
                  <a:moveTo>
                    <a:pt x="8820912" y="0"/>
                  </a:moveTo>
                  <a:lnTo>
                    <a:pt x="8820912" y="27431"/>
                  </a:lnTo>
                </a:path>
                <a:path w="9212580" h="27939">
                  <a:moveTo>
                    <a:pt x="8967216" y="0"/>
                  </a:moveTo>
                  <a:lnTo>
                    <a:pt x="8967216" y="27431"/>
                  </a:lnTo>
                </a:path>
                <a:path w="9212580" h="27939">
                  <a:moveTo>
                    <a:pt x="9115044" y="0"/>
                  </a:moveTo>
                  <a:lnTo>
                    <a:pt x="9115044" y="27431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1297" y="1469516"/>
              <a:ext cx="9182862" cy="1247775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9735439" y="1095146"/>
            <a:ext cx="149860" cy="1849755"/>
          </a:xfrm>
          <a:prstGeom prst="rect">
            <a:avLst/>
          </a:prstGeom>
        </p:spPr>
        <p:txBody>
          <a:bodyPr wrap="square" lIns="0" tIns="717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5.0</a:t>
            </a:r>
            <a:endParaRPr sz="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4.5</a:t>
            </a:r>
            <a:endParaRPr sz="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4.0</a:t>
            </a:r>
            <a:endParaRPr sz="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3.5</a:t>
            </a:r>
            <a:endParaRPr sz="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3.0</a:t>
            </a:r>
            <a:endParaRPr sz="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64"/>
              </a:spcBef>
            </a:pP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2.5</a:t>
            </a:r>
            <a:endParaRPr sz="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2.0</a:t>
            </a:r>
            <a:endParaRPr sz="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1.5</a:t>
            </a:r>
            <a:endParaRPr sz="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1.0</a:t>
            </a:r>
            <a:endParaRPr sz="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64"/>
              </a:spcBef>
            </a:pP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0.5</a:t>
            </a:r>
            <a:endParaRPr sz="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0.0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18008" y="2813430"/>
            <a:ext cx="7493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solidFill>
                  <a:srgbClr val="585858"/>
                </a:solidFill>
                <a:latin typeface="Arial MT"/>
                <a:cs typeface="Arial MT"/>
              </a:rPr>
              <a:t>0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18008" y="2398902"/>
            <a:ext cx="7493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solidFill>
                  <a:srgbClr val="585858"/>
                </a:solidFill>
                <a:latin typeface="Arial MT"/>
                <a:cs typeface="Arial MT"/>
              </a:rPr>
              <a:t>5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68630" y="1983689"/>
            <a:ext cx="123189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10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268630" y="1569466"/>
            <a:ext cx="123189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15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68630" y="1154937"/>
            <a:ext cx="123189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20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419649" y="2925908"/>
            <a:ext cx="9241155" cy="471805"/>
          </a:xfrm>
          <a:prstGeom prst="rect">
            <a:avLst/>
          </a:prstGeom>
        </p:spPr>
        <p:txBody>
          <a:bodyPr wrap="square" lIns="0" tIns="3810" rIns="0" bIns="0" rtlCol="0" vert="vert270">
            <a:spAutoFit/>
          </a:bodyPr>
          <a:lstStyle/>
          <a:p>
            <a:pPr algn="r" marR="6985">
              <a:lnSpc>
                <a:spcPct val="100000"/>
              </a:lnSpc>
              <a:spcBef>
                <a:spcPts val="30"/>
              </a:spcBef>
            </a:pPr>
            <a:r>
              <a:rPr dirty="0" sz="700" spc="-10">
                <a:solidFill>
                  <a:srgbClr val="585858"/>
                </a:solidFill>
                <a:latin typeface="Arial MT"/>
                <a:cs typeface="Arial MT"/>
              </a:rPr>
              <a:t>January-</a:t>
            </a: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08</a:t>
            </a:r>
            <a:endParaRPr sz="700">
              <a:latin typeface="Arial MT"/>
              <a:cs typeface="Arial MT"/>
            </a:endParaRPr>
          </a:p>
          <a:p>
            <a:pPr algn="r" marL="12700" marR="5080" indent="138430">
              <a:lnSpc>
                <a:spcPct val="137800"/>
              </a:lnSpc>
            </a:pPr>
            <a:r>
              <a:rPr dirty="0" sz="700" spc="-10">
                <a:solidFill>
                  <a:srgbClr val="585858"/>
                </a:solidFill>
                <a:latin typeface="Arial MT"/>
                <a:cs typeface="Arial MT"/>
              </a:rPr>
              <a:t>April-</a:t>
            </a: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08</a:t>
            </a:r>
            <a:r>
              <a:rPr dirty="0" sz="700" spc="50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585858"/>
                </a:solidFill>
                <a:latin typeface="Arial MT"/>
                <a:cs typeface="Arial MT"/>
              </a:rPr>
              <a:t>July-</a:t>
            </a: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08</a:t>
            </a:r>
            <a:r>
              <a:rPr dirty="0" sz="700" spc="50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585858"/>
                </a:solidFill>
                <a:latin typeface="Arial MT"/>
                <a:cs typeface="Arial MT"/>
              </a:rPr>
              <a:t>October-</a:t>
            </a: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08</a:t>
            </a:r>
            <a:r>
              <a:rPr dirty="0" sz="700" spc="50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585858"/>
                </a:solidFill>
                <a:latin typeface="Arial MT"/>
                <a:cs typeface="Arial MT"/>
              </a:rPr>
              <a:t>January-</a:t>
            </a: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09</a:t>
            </a:r>
            <a:endParaRPr sz="700">
              <a:latin typeface="Arial MT"/>
              <a:cs typeface="Arial MT"/>
            </a:endParaRPr>
          </a:p>
          <a:p>
            <a:pPr algn="r" marL="12700" marR="5080" indent="138430">
              <a:lnSpc>
                <a:spcPct val="137800"/>
              </a:lnSpc>
            </a:pPr>
            <a:r>
              <a:rPr dirty="0" sz="700" spc="-10">
                <a:solidFill>
                  <a:srgbClr val="585858"/>
                </a:solidFill>
                <a:latin typeface="Arial MT"/>
                <a:cs typeface="Arial MT"/>
              </a:rPr>
              <a:t>April-</a:t>
            </a: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09</a:t>
            </a:r>
            <a:r>
              <a:rPr dirty="0" sz="700" spc="50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585858"/>
                </a:solidFill>
                <a:latin typeface="Arial MT"/>
                <a:cs typeface="Arial MT"/>
              </a:rPr>
              <a:t>July-</a:t>
            </a: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09</a:t>
            </a:r>
            <a:r>
              <a:rPr dirty="0" sz="700" spc="50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585858"/>
                </a:solidFill>
                <a:latin typeface="Arial MT"/>
                <a:cs typeface="Arial MT"/>
              </a:rPr>
              <a:t>October-</a:t>
            </a: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09</a:t>
            </a:r>
            <a:endParaRPr sz="700">
              <a:latin typeface="Arial MT"/>
              <a:cs typeface="Arial MT"/>
            </a:endParaRPr>
          </a:p>
          <a:p>
            <a:pPr algn="r" marR="6985">
              <a:lnSpc>
                <a:spcPct val="100000"/>
              </a:lnSpc>
              <a:spcBef>
                <a:spcPts val="320"/>
              </a:spcBef>
            </a:pPr>
            <a:r>
              <a:rPr dirty="0" sz="700" spc="-10">
                <a:solidFill>
                  <a:srgbClr val="585858"/>
                </a:solidFill>
                <a:latin typeface="Arial MT"/>
                <a:cs typeface="Arial MT"/>
              </a:rPr>
              <a:t>January-</a:t>
            </a: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10</a:t>
            </a:r>
            <a:endParaRPr sz="700">
              <a:latin typeface="Arial MT"/>
              <a:cs typeface="Arial MT"/>
            </a:endParaRPr>
          </a:p>
          <a:p>
            <a:pPr algn="r" marL="170815" marR="5080" indent="-20320">
              <a:lnSpc>
                <a:spcPct val="137700"/>
              </a:lnSpc>
            </a:pPr>
            <a:r>
              <a:rPr dirty="0" sz="700" spc="-10">
                <a:solidFill>
                  <a:srgbClr val="585858"/>
                </a:solidFill>
                <a:latin typeface="Arial MT"/>
                <a:cs typeface="Arial MT"/>
              </a:rPr>
              <a:t>April-</a:t>
            </a: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10</a:t>
            </a:r>
            <a:r>
              <a:rPr dirty="0" sz="700" spc="50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585858"/>
                </a:solidFill>
                <a:latin typeface="Arial MT"/>
                <a:cs typeface="Arial MT"/>
              </a:rPr>
              <a:t>July-</a:t>
            </a: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10</a:t>
            </a:r>
            <a:endParaRPr sz="700">
              <a:latin typeface="Arial MT"/>
              <a:cs typeface="Arial MT"/>
            </a:endParaRPr>
          </a:p>
          <a:p>
            <a:pPr algn="r" marL="12700" marR="6985">
              <a:lnSpc>
                <a:spcPct val="137700"/>
              </a:lnSpc>
            </a:pPr>
            <a:r>
              <a:rPr dirty="0" sz="700" spc="-10">
                <a:solidFill>
                  <a:srgbClr val="585858"/>
                </a:solidFill>
                <a:latin typeface="Arial MT"/>
                <a:cs typeface="Arial MT"/>
              </a:rPr>
              <a:t>October-</a:t>
            </a: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10</a:t>
            </a:r>
            <a:r>
              <a:rPr dirty="0" sz="700" spc="50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585858"/>
                </a:solidFill>
                <a:latin typeface="Arial MT"/>
                <a:cs typeface="Arial MT"/>
              </a:rPr>
              <a:t>January-</a:t>
            </a: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11</a:t>
            </a:r>
            <a:endParaRPr sz="700">
              <a:latin typeface="Arial MT"/>
              <a:cs typeface="Arial MT"/>
            </a:endParaRPr>
          </a:p>
          <a:p>
            <a:pPr algn="r" marL="12700" marR="5080" indent="138430">
              <a:lnSpc>
                <a:spcPct val="137800"/>
              </a:lnSpc>
              <a:spcBef>
                <a:spcPts val="5"/>
              </a:spcBef>
            </a:pPr>
            <a:r>
              <a:rPr dirty="0" sz="700" spc="-10">
                <a:solidFill>
                  <a:srgbClr val="585858"/>
                </a:solidFill>
                <a:latin typeface="Arial MT"/>
                <a:cs typeface="Arial MT"/>
              </a:rPr>
              <a:t>April-</a:t>
            </a: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11</a:t>
            </a:r>
            <a:r>
              <a:rPr dirty="0" sz="700" spc="50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585858"/>
                </a:solidFill>
                <a:latin typeface="Arial MT"/>
                <a:cs typeface="Arial MT"/>
              </a:rPr>
              <a:t>July-</a:t>
            </a: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11</a:t>
            </a:r>
            <a:r>
              <a:rPr dirty="0" sz="700" spc="50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585858"/>
                </a:solidFill>
                <a:latin typeface="Arial MT"/>
                <a:cs typeface="Arial MT"/>
              </a:rPr>
              <a:t>October-</a:t>
            </a: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11</a:t>
            </a:r>
            <a:r>
              <a:rPr dirty="0" sz="700" spc="50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585858"/>
                </a:solidFill>
                <a:latin typeface="Arial MT"/>
                <a:cs typeface="Arial MT"/>
              </a:rPr>
              <a:t>January-</a:t>
            </a: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12</a:t>
            </a:r>
            <a:endParaRPr sz="7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315"/>
              </a:spcBef>
            </a:pPr>
            <a:r>
              <a:rPr dirty="0" sz="700" spc="-10">
                <a:solidFill>
                  <a:srgbClr val="585858"/>
                </a:solidFill>
                <a:latin typeface="Arial MT"/>
                <a:cs typeface="Arial MT"/>
              </a:rPr>
              <a:t>April-</a:t>
            </a: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12</a:t>
            </a:r>
            <a:endParaRPr sz="700">
              <a:latin typeface="Arial MT"/>
              <a:cs typeface="Arial MT"/>
            </a:endParaRPr>
          </a:p>
          <a:p>
            <a:pPr algn="just" marL="12700" marR="5715" indent="158115">
              <a:lnSpc>
                <a:spcPct val="137900"/>
              </a:lnSpc>
            </a:pPr>
            <a:r>
              <a:rPr dirty="0" sz="700" spc="-10">
                <a:solidFill>
                  <a:srgbClr val="585858"/>
                </a:solidFill>
                <a:latin typeface="Arial MT"/>
                <a:cs typeface="Arial MT"/>
              </a:rPr>
              <a:t>July-</a:t>
            </a: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12</a:t>
            </a:r>
            <a:r>
              <a:rPr dirty="0" sz="700" spc="50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585858"/>
                </a:solidFill>
                <a:latin typeface="Arial MT"/>
                <a:cs typeface="Arial MT"/>
              </a:rPr>
              <a:t>October-</a:t>
            </a: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12</a:t>
            </a:r>
            <a:r>
              <a:rPr dirty="0" sz="700" spc="50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585858"/>
                </a:solidFill>
                <a:latin typeface="Arial MT"/>
                <a:cs typeface="Arial MT"/>
              </a:rPr>
              <a:t>January-</a:t>
            </a: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13</a:t>
            </a:r>
            <a:endParaRPr sz="700">
              <a:latin typeface="Arial MT"/>
              <a:cs typeface="Arial MT"/>
            </a:endParaRPr>
          </a:p>
          <a:p>
            <a:pPr algn="r" marL="12700" marR="5080" indent="138430">
              <a:lnSpc>
                <a:spcPct val="137800"/>
              </a:lnSpc>
            </a:pPr>
            <a:r>
              <a:rPr dirty="0" sz="700" spc="-10">
                <a:solidFill>
                  <a:srgbClr val="585858"/>
                </a:solidFill>
                <a:latin typeface="Arial MT"/>
                <a:cs typeface="Arial MT"/>
              </a:rPr>
              <a:t>April-</a:t>
            </a: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13</a:t>
            </a:r>
            <a:r>
              <a:rPr dirty="0" sz="700" spc="50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585858"/>
                </a:solidFill>
                <a:latin typeface="Arial MT"/>
                <a:cs typeface="Arial MT"/>
              </a:rPr>
              <a:t>July-</a:t>
            </a: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13</a:t>
            </a:r>
            <a:r>
              <a:rPr dirty="0" sz="700" spc="50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585858"/>
                </a:solidFill>
                <a:latin typeface="Arial MT"/>
                <a:cs typeface="Arial MT"/>
              </a:rPr>
              <a:t>October-</a:t>
            </a: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13</a:t>
            </a:r>
            <a:r>
              <a:rPr dirty="0" sz="700" spc="50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585858"/>
                </a:solidFill>
                <a:latin typeface="Arial MT"/>
                <a:cs typeface="Arial MT"/>
              </a:rPr>
              <a:t>January-</a:t>
            </a: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14</a:t>
            </a:r>
            <a:endParaRPr sz="700">
              <a:latin typeface="Arial MT"/>
              <a:cs typeface="Arial MT"/>
            </a:endParaRPr>
          </a:p>
          <a:p>
            <a:pPr algn="r" marL="12700" marR="5080" indent="138430">
              <a:lnSpc>
                <a:spcPct val="137800"/>
              </a:lnSpc>
            </a:pPr>
            <a:r>
              <a:rPr dirty="0" sz="700" spc="-10">
                <a:solidFill>
                  <a:srgbClr val="585858"/>
                </a:solidFill>
                <a:latin typeface="Arial MT"/>
                <a:cs typeface="Arial MT"/>
              </a:rPr>
              <a:t>April-</a:t>
            </a: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14</a:t>
            </a:r>
            <a:r>
              <a:rPr dirty="0" sz="700" spc="50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585858"/>
                </a:solidFill>
                <a:latin typeface="Arial MT"/>
                <a:cs typeface="Arial MT"/>
              </a:rPr>
              <a:t>July-</a:t>
            </a: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14</a:t>
            </a:r>
            <a:r>
              <a:rPr dirty="0" sz="700" spc="50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585858"/>
                </a:solidFill>
                <a:latin typeface="Arial MT"/>
                <a:cs typeface="Arial MT"/>
              </a:rPr>
              <a:t>October-</a:t>
            </a: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14</a:t>
            </a:r>
            <a:r>
              <a:rPr dirty="0" sz="700" spc="50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585858"/>
                </a:solidFill>
                <a:latin typeface="Arial MT"/>
                <a:cs typeface="Arial MT"/>
              </a:rPr>
              <a:t>January-</a:t>
            </a: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15</a:t>
            </a:r>
            <a:endParaRPr sz="7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315"/>
              </a:spcBef>
            </a:pPr>
            <a:r>
              <a:rPr dirty="0" sz="700" spc="-10">
                <a:solidFill>
                  <a:srgbClr val="585858"/>
                </a:solidFill>
                <a:latin typeface="Arial MT"/>
                <a:cs typeface="Arial MT"/>
              </a:rPr>
              <a:t>April-</a:t>
            </a: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15</a:t>
            </a:r>
            <a:endParaRPr sz="700">
              <a:latin typeface="Arial MT"/>
              <a:cs typeface="Arial MT"/>
            </a:endParaRPr>
          </a:p>
          <a:p>
            <a:pPr algn="just" marL="12700" marR="5715" indent="158115">
              <a:lnSpc>
                <a:spcPct val="137900"/>
              </a:lnSpc>
              <a:spcBef>
                <a:spcPts val="5"/>
              </a:spcBef>
            </a:pPr>
            <a:r>
              <a:rPr dirty="0" sz="700" spc="-10">
                <a:solidFill>
                  <a:srgbClr val="585858"/>
                </a:solidFill>
                <a:latin typeface="Arial MT"/>
                <a:cs typeface="Arial MT"/>
              </a:rPr>
              <a:t>July-</a:t>
            </a: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15</a:t>
            </a:r>
            <a:r>
              <a:rPr dirty="0" sz="700" spc="50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585858"/>
                </a:solidFill>
                <a:latin typeface="Arial MT"/>
                <a:cs typeface="Arial MT"/>
              </a:rPr>
              <a:t>October-</a:t>
            </a: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15</a:t>
            </a:r>
            <a:r>
              <a:rPr dirty="0" sz="700" spc="50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585858"/>
                </a:solidFill>
                <a:latin typeface="Arial MT"/>
                <a:cs typeface="Arial MT"/>
              </a:rPr>
              <a:t>January-</a:t>
            </a: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16</a:t>
            </a:r>
            <a:endParaRPr sz="7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315"/>
              </a:spcBef>
            </a:pPr>
            <a:r>
              <a:rPr dirty="0" sz="700" spc="-10">
                <a:solidFill>
                  <a:srgbClr val="585858"/>
                </a:solidFill>
                <a:latin typeface="Arial MT"/>
                <a:cs typeface="Arial MT"/>
              </a:rPr>
              <a:t>April-</a:t>
            </a: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16</a:t>
            </a:r>
            <a:endParaRPr sz="700">
              <a:latin typeface="Arial MT"/>
              <a:cs typeface="Arial MT"/>
            </a:endParaRPr>
          </a:p>
          <a:p>
            <a:pPr algn="just" marL="12700" marR="5715" indent="158115">
              <a:lnSpc>
                <a:spcPct val="137700"/>
              </a:lnSpc>
              <a:spcBef>
                <a:spcPts val="5"/>
              </a:spcBef>
            </a:pPr>
            <a:r>
              <a:rPr dirty="0" sz="700" spc="-10">
                <a:solidFill>
                  <a:srgbClr val="585858"/>
                </a:solidFill>
                <a:latin typeface="Arial MT"/>
                <a:cs typeface="Arial MT"/>
              </a:rPr>
              <a:t>July-</a:t>
            </a: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16</a:t>
            </a:r>
            <a:r>
              <a:rPr dirty="0" sz="700" spc="50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585858"/>
                </a:solidFill>
                <a:latin typeface="Arial MT"/>
                <a:cs typeface="Arial MT"/>
              </a:rPr>
              <a:t>October-</a:t>
            </a: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16</a:t>
            </a:r>
            <a:r>
              <a:rPr dirty="0" sz="700" spc="50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585858"/>
                </a:solidFill>
                <a:latin typeface="Arial MT"/>
                <a:cs typeface="Arial MT"/>
              </a:rPr>
              <a:t>January-</a:t>
            </a: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17</a:t>
            </a:r>
            <a:endParaRPr sz="700">
              <a:latin typeface="Arial MT"/>
              <a:cs typeface="Arial MT"/>
            </a:endParaRPr>
          </a:p>
          <a:p>
            <a:pPr algn="r" marL="12700" marR="5080" indent="138430">
              <a:lnSpc>
                <a:spcPct val="137800"/>
              </a:lnSpc>
            </a:pPr>
            <a:r>
              <a:rPr dirty="0" sz="700" spc="-10">
                <a:solidFill>
                  <a:srgbClr val="585858"/>
                </a:solidFill>
                <a:latin typeface="Arial MT"/>
                <a:cs typeface="Arial MT"/>
              </a:rPr>
              <a:t>April-</a:t>
            </a: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17</a:t>
            </a:r>
            <a:r>
              <a:rPr dirty="0" sz="700" spc="50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585858"/>
                </a:solidFill>
                <a:latin typeface="Arial MT"/>
                <a:cs typeface="Arial MT"/>
              </a:rPr>
              <a:t>July-</a:t>
            </a: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17</a:t>
            </a:r>
            <a:r>
              <a:rPr dirty="0" sz="700" spc="50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585858"/>
                </a:solidFill>
                <a:latin typeface="Arial MT"/>
                <a:cs typeface="Arial MT"/>
              </a:rPr>
              <a:t>October-</a:t>
            </a: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17</a:t>
            </a:r>
            <a:r>
              <a:rPr dirty="0" sz="700" spc="50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585858"/>
                </a:solidFill>
                <a:latin typeface="Arial MT"/>
                <a:cs typeface="Arial MT"/>
              </a:rPr>
              <a:t>January-</a:t>
            </a: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18</a:t>
            </a:r>
            <a:endParaRPr sz="700">
              <a:latin typeface="Arial MT"/>
              <a:cs typeface="Arial MT"/>
            </a:endParaRPr>
          </a:p>
          <a:p>
            <a:pPr algn="r" marL="12700" marR="5080" indent="138430">
              <a:lnSpc>
                <a:spcPct val="137800"/>
              </a:lnSpc>
            </a:pPr>
            <a:r>
              <a:rPr dirty="0" sz="700" spc="-10">
                <a:solidFill>
                  <a:srgbClr val="585858"/>
                </a:solidFill>
                <a:latin typeface="Arial MT"/>
                <a:cs typeface="Arial MT"/>
              </a:rPr>
              <a:t>April-</a:t>
            </a: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18</a:t>
            </a:r>
            <a:r>
              <a:rPr dirty="0" sz="700" spc="50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585858"/>
                </a:solidFill>
                <a:latin typeface="Arial MT"/>
                <a:cs typeface="Arial MT"/>
              </a:rPr>
              <a:t>July-</a:t>
            </a: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18</a:t>
            </a:r>
            <a:r>
              <a:rPr dirty="0" sz="700" spc="50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585858"/>
                </a:solidFill>
                <a:latin typeface="Arial MT"/>
                <a:cs typeface="Arial MT"/>
              </a:rPr>
              <a:t>October-</a:t>
            </a: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18</a:t>
            </a:r>
            <a:r>
              <a:rPr dirty="0" sz="700" spc="50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585858"/>
                </a:solidFill>
                <a:latin typeface="Arial MT"/>
                <a:cs typeface="Arial MT"/>
              </a:rPr>
              <a:t>January-</a:t>
            </a: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19</a:t>
            </a:r>
            <a:endParaRPr sz="700">
              <a:latin typeface="Arial MT"/>
              <a:cs typeface="Arial MT"/>
            </a:endParaRPr>
          </a:p>
          <a:p>
            <a:pPr algn="r" marL="12700" marR="5080" indent="138430">
              <a:lnSpc>
                <a:spcPts val="1160"/>
              </a:lnSpc>
              <a:spcBef>
                <a:spcPts val="90"/>
              </a:spcBef>
            </a:pPr>
            <a:r>
              <a:rPr dirty="0" sz="700" spc="-10">
                <a:solidFill>
                  <a:srgbClr val="585858"/>
                </a:solidFill>
                <a:latin typeface="Arial MT"/>
                <a:cs typeface="Arial MT"/>
              </a:rPr>
              <a:t>April-</a:t>
            </a: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19</a:t>
            </a:r>
            <a:r>
              <a:rPr dirty="0" sz="700" spc="50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585858"/>
                </a:solidFill>
                <a:latin typeface="Arial MT"/>
                <a:cs typeface="Arial MT"/>
              </a:rPr>
              <a:t>July-</a:t>
            </a: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19</a:t>
            </a:r>
            <a:r>
              <a:rPr dirty="0" sz="700" spc="50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585858"/>
                </a:solidFill>
                <a:latin typeface="Arial MT"/>
                <a:cs typeface="Arial MT"/>
              </a:rPr>
              <a:t>October-</a:t>
            </a: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19</a:t>
            </a:r>
            <a:endParaRPr sz="700">
              <a:latin typeface="Arial MT"/>
              <a:cs typeface="Arial MT"/>
            </a:endParaRPr>
          </a:p>
          <a:p>
            <a:pPr algn="r" marR="6985">
              <a:lnSpc>
                <a:spcPct val="100000"/>
              </a:lnSpc>
              <a:spcBef>
                <a:spcPts val="225"/>
              </a:spcBef>
            </a:pPr>
            <a:r>
              <a:rPr dirty="0" sz="700" spc="-10">
                <a:solidFill>
                  <a:srgbClr val="585858"/>
                </a:solidFill>
                <a:latin typeface="Arial MT"/>
                <a:cs typeface="Arial MT"/>
              </a:rPr>
              <a:t>January-</a:t>
            </a: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20</a:t>
            </a:r>
            <a:endParaRPr sz="700">
              <a:latin typeface="Arial MT"/>
              <a:cs typeface="Arial MT"/>
            </a:endParaRPr>
          </a:p>
          <a:p>
            <a:pPr algn="r" marL="12700" marR="5080" indent="138430">
              <a:lnSpc>
                <a:spcPct val="137800"/>
              </a:lnSpc>
            </a:pPr>
            <a:r>
              <a:rPr dirty="0" sz="700" spc="-10">
                <a:solidFill>
                  <a:srgbClr val="585858"/>
                </a:solidFill>
                <a:latin typeface="Arial MT"/>
                <a:cs typeface="Arial MT"/>
              </a:rPr>
              <a:t>April-</a:t>
            </a: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20</a:t>
            </a:r>
            <a:r>
              <a:rPr dirty="0" sz="700" spc="50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585858"/>
                </a:solidFill>
                <a:latin typeface="Arial MT"/>
                <a:cs typeface="Arial MT"/>
              </a:rPr>
              <a:t>July-</a:t>
            </a: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20</a:t>
            </a:r>
            <a:r>
              <a:rPr dirty="0" sz="700" spc="50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585858"/>
                </a:solidFill>
                <a:latin typeface="Arial MT"/>
                <a:cs typeface="Arial MT"/>
              </a:rPr>
              <a:t>October-</a:t>
            </a: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20</a:t>
            </a:r>
            <a:r>
              <a:rPr dirty="0" sz="700" spc="50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585858"/>
                </a:solidFill>
                <a:latin typeface="Arial MT"/>
                <a:cs typeface="Arial MT"/>
              </a:rPr>
              <a:t>January-</a:t>
            </a: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21</a:t>
            </a:r>
            <a:endParaRPr sz="700">
              <a:latin typeface="Arial MT"/>
              <a:cs typeface="Arial MT"/>
            </a:endParaRPr>
          </a:p>
          <a:p>
            <a:pPr algn="r" marL="12700" marR="5080" indent="138430">
              <a:lnSpc>
                <a:spcPct val="137800"/>
              </a:lnSpc>
            </a:pPr>
            <a:r>
              <a:rPr dirty="0" sz="700" spc="-10">
                <a:solidFill>
                  <a:srgbClr val="585858"/>
                </a:solidFill>
                <a:latin typeface="Arial MT"/>
                <a:cs typeface="Arial MT"/>
              </a:rPr>
              <a:t>April-</a:t>
            </a: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21</a:t>
            </a:r>
            <a:r>
              <a:rPr dirty="0" sz="700" spc="50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585858"/>
                </a:solidFill>
                <a:latin typeface="Arial MT"/>
                <a:cs typeface="Arial MT"/>
              </a:rPr>
              <a:t>July-</a:t>
            </a: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21</a:t>
            </a:r>
            <a:r>
              <a:rPr dirty="0" sz="700" spc="50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585858"/>
                </a:solidFill>
                <a:latin typeface="Arial MT"/>
                <a:cs typeface="Arial MT"/>
              </a:rPr>
              <a:t>October-</a:t>
            </a: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21</a:t>
            </a:r>
            <a:r>
              <a:rPr dirty="0" sz="700" spc="50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585858"/>
                </a:solidFill>
                <a:latin typeface="Arial MT"/>
                <a:cs typeface="Arial MT"/>
              </a:rPr>
              <a:t>January-</a:t>
            </a: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22</a:t>
            </a:r>
            <a:endParaRPr sz="700">
              <a:latin typeface="Arial MT"/>
              <a:cs typeface="Arial MT"/>
            </a:endParaRPr>
          </a:p>
          <a:p>
            <a:pPr algn="r" marL="12700" marR="5080" indent="138430">
              <a:lnSpc>
                <a:spcPts val="1160"/>
              </a:lnSpc>
              <a:spcBef>
                <a:spcPts val="90"/>
              </a:spcBef>
            </a:pPr>
            <a:r>
              <a:rPr dirty="0" sz="700" spc="-10">
                <a:solidFill>
                  <a:srgbClr val="585858"/>
                </a:solidFill>
                <a:latin typeface="Arial MT"/>
                <a:cs typeface="Arial MT"/>
              </a:rPr>
              <a:t>April-</a:t>
            </a: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22</a:t>
            </a:r>
            <a:r>
              <a:rPr dirty="0" sz="700" spc="50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585858"/>
                </a:solidFill>
                <a:latin typeface="Arial MT"/>
                <a:cs typeface="Arial MT"/>
              </a:rPr>
              <a:t>July-</a:t>
            </a: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22</a:t>
            </a:r>
            <a:r>
              <a:rPr dirty="0" sz="700" spc="50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585858"/>
                </a:solidFill>
                <a:latin typeface="Arial MT"/>
                <a:cs typeface="Arial MT"/>
              </a:rPr>
              <a:t>October-</a:t>
            </a: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22</a:t>
            </a:r>
            <a:endParaRPr sz="700">
              <a:latin typeface="Arial MT"/>
              <a:cs typeface="Arial MT"/>
            </a:endParaRPr>
          </a:p>
          <a:p>
            <a:pPr algn="r" marR="6985">
              <a:lnSpc>
                <a:spcPct val="100000"/>
              </a:lnSpc>
              <a:spcBef>
                <a:spcPts val="220"/>
              </a:spcBef>
            </a:pPr>
            <a:r>
              <a:rPr dirty="0" sz="700" spc="-10">
                <a:solidFill>
                  <a:srgbClr val="585858"/>
                </a:solidFill>
                <a:latin typeface="Arial MT"/>
                <a:cs typeface="Arial MT"/>
              </a:rPr>
              <a:t>January-</a:t>
            </a: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23</a:t>
            </a:r>
            <a:endParaRPr sz="7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320"/>
              </a:spcBef>
            </a:pPr>
            <a:r>
              <a:rPr dirty="0" sz="700" spc="-10">
                <a:solidFill>
                  <a:srgbClr val="585858"/>
                </a:solidFill>
                <a:latin typeface="Arial MT"/>
                <a:cs typeface="Arial MT"/>
              </a:rPr>
              <a:t>April-</a:t>
            </a: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23</a:t>
            </a:r>
            <a:endParaRPr sz="700">
              <a:latin typeface="Arial MT"/>
              <a:cs typeface="Arial MT"/>
            </a:endParaRPr>
          </a:p>
          <a:p>
            <a:pPr algn="r" marR="5715">
              <a:lnSpc>
                <a:spcPct val="100000"/>
              </a:lnSpc>
              <a:spcBef>
                <a:spcPts val="315"/>
              </a:spcBef>
            </a:pPr>
            <a:r>
              <a:rPr dirty="0" sz="700" spc="-10">
                <a:solidFill>
                  <a:srgbClr val="585858"/>
                </a:solidFill>
                <a:latin typeface="Arial MT"/>
                <a:cs typeface="Arial MT"/>
              </a:rPr>
              <a:t>July-</a:t>
            </a: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23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3725417" y="3553205"/>
            <a:ext cx="243840" cy="0"/>
          </a:xfrm>
          <a:custGeom>
            <a:avLst/>
            <a:gdLst/>
            <a:ahLst/>
            <a:cxnLst/>
            <a:rect l="l" t="t" r="r" b="b"/>
            <a:pathLst>
              <a:path w="243839" h="0">
                <a:moveTo>
                  <a:pt x="0" y="0"/>
                </a:moveTo>
                <a:lnTo>
                  <a:pt x="243840" y="0"/>
                </a:lnTo>
              </a:path>
            </a:pathLst>
          </a:custGeom>
          <a:ln w="19050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3982339" y="3481832"/>
            <a:ext cx="116141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b="1">
                <a:solidFill>
                  <a:srgbClr val="585858"/>
                </a:solidFill>
                <a:latin typeface="Arial"/>
                <a:cs typeface="Arial"/>
              </a:rPr>
              <a:t>Nigeria</a:t>
            </a:r>
            <a:r>
              <a:rPr dirty="0" sz="700" spc="-10" b="1">
                <a:solidFill>
                  <a:srgbClr val="585858"/>
                </a:solidFill>
                <a:latin typeface="Arial"/>
                <a:cs typeface="Arial"/>
              </a:rPr>
              <a:t> 10-</a:t>
            </a:r>
            <a:r>
              <a:rPr dirty="0" sz="700" b="1">
                <a:solidFill>
                  <a:srgbClr val="585858"/>
                </a:solidFill>
                <a:latin typeface="Arial"/>
                <a:cs typeface="Arial"/>
              </a:rPr>
              <a:t>Year</a:t>
            </a:r>
            <a:r>
              <a:rPr dirty="0" sz="700" spc="-15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700" b="1">
                <a:solidFill>
                  <a:srgbClr val="585858"/>
                </a:solidFill>
                <a:latin typeface="Arial"/>
                <a:cs typeface="Arial"/>
              </a:rPr>
              <a:t>Bond</a:t>
            </a:r>
            <a:r>
              <a:rPr dirty="0" sz="700" spc="-10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700" spc="-20" b="1">
                <a:solidFill>
                  <a:srgbClr val="585858"/>
                </a:solidFill>
                <a:latin typeface="Arial"/>
                <a:cs typeface="Arial"/>
              </a:rPr>
              <a:t>Yield</a:t>
            </a:r>
            <a:endParaRPr sz="700">
              <a:latin typeface="Arial"/>
              <a:cs typeface="Arial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6125717" y="3553205"/>
            <a:ext cx="243840" cy="0"/>
          </a:xfrm>
          <a:custGeom>
            <a:avLst/>
            <a:gdLst/>
            <a:ahLst/>
            <a:cxnLst/>
            <a:rect l="l" t="t" r="r" b="b"/>
            <a:pathLst>
              <a:path w="243839" h="0">
                <a:moveTo>
                  <a:pt x="0" y="0"/>
                </a:moveTo>
                <a:lnTo>
                  <a:pt x="243840" y="0"/>
                </a:lnTo>
              </a:path>
            </a:pathLst>
          </a:custGeom>
          <a:ln w="19050">
            <a:solidFill>
              <a:srgbClr val="DF2F1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6383273" y="3481832"/>
            <a:ext cx="104711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b="1">
                <a:solidFill>
                  <a:srgbClr val="585858"/>
                </a:solidFill>
                <a:latin typeface="Arial"/>
                <a:cs typeface="Arial"/>
              </a:rPr>
              <a:t>USA</a:t>
            </a:r>
            <a:r>
              <a:rPr dirty="0" sz="700" spc="-5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700" spc="-10" b="1">
                <a:solidFill>
                  <a:srgbClr val="585858"/>
                </a:solidFill>
                <a:latin typeface="Arial"/>
                <a:cs typeface="Arial"/>
              </a:rPr>
              <a:t>10-</a:t>
            </a:r>
            <a:r>
              <a:rPr dirty="0" sz="700" b="1">
                <a:solidFill>
                  <a:srgbClr val="585858"/>
                </a:solidFill>
                <a:latin typeface="Arial"/>
                <a:cs typeface="Arial"/>
              </a:rPr>
              <a:t>Year</a:t>
            </a:r>
            <a:r>
              <a:rPr dirty="0" sz="700" spc="-5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700" b="1">
                <a:solidFill>
                  <a:srgbClr val="585858"/>
                </a:solidFill>
                <a:latin typeface="Arial"/>
                <a:cs typeface="Arial"/>
              </a:rPr>
              <a:t>Bond</a:t>
            </a:r>
            <a:r>
              <a:rPr dirty="0" sz="700" spc="5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700" spc="-20" b="1">
                <a:solidFill>
                  <a:srgbClr val="585858"/>
                </a:solidFill>
                <a:latin typeface="Arial"/>
                <a:cs typeface="Arial"/>
              </a:rPr>
              <a:t>Yield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193357" y="716280"/>
            <a:ext cx="9765030" cy="3006090"/>
            <a:chOff x="193357" y="716280"/>
            <a:chExt cx="9765030" cy="3006090"/>
          </a:xfrm>
        </p:grpSpPr>
        <p:sp>
          <p:nvSpPr>
            <p:cNvPr id="20" name="object 20" descr=""/>
            <p:cNvSpPr/>
            <p:nvPr/>
          </p:nvSpPr>
          <p:spPr>
            <a:xfrm>
              <a:off x="198120" y="783336"/>
              <a:ext cx="9755505" cy="2933700"/>
            </a:xfrm>
            <a:custGeom>
              <a:avLst/>
              <a:gdLst/>
              <a:ahLst/>
              <a:cxnLst/>
              <a:rect l="l" t="t" r="r" b="b"/>
              <a:pathLst>
                <a:path w="9755505" h="2933700">
                  <a:moveTo>
                    <a:pt x="0" y="2933700"/>
                  </a:moveTo>
                  <a:lnTo>
                    <a:pt x="9755124" y="2933700"/>
                  </a:lnTo>
                  <a:lnTo>
                    <a:pt x="9755124" y="0"/>
                  </a:lnTo>
                  <a:lnTo>
                    <a:pt x="0" y="0"/>
                  </a:lnTo>
                  <a:lnTo>
                    <a:pt x="0" y="29337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2634996" y="716280"/>
              <a:ext cx="4773295" cy="370840"/>
            </a:xfrm>
            <a:custGeom>
              <a:avLst/>
              <a:gdLst/>
              <a:ahLst/>
              <a:cxnLst/>
              <a:rect l="l" t="t" r="r" b="b"/>
              <a:pathLst>
                <a:path w="4773295" h="370840">
                  <a:moveTo>
                    <a:pt x="4773167" y="0"/>
                  </a:moveTo>
                  <a:lnTo>
                    <a:pt x="0" y="0"/>
                  </a:lnTo>
                  <a:lnTo>
                    <a:pt x="0" y="370332"/>
                  </a:lnTo>
                  <a:lnTo>
                    <a:pt x="4773167" y="370332"/>
                  </a:lnTo>
                  <a:lnTo>
                    <a:pt x="47731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4202938" y="711454"/>
            <a:ext cx="1635760" cy="38163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b="1">
                <a:solidFill>
                  <a:srgbClr val="0D0D0D"/>
                </a:solidFill>
                <a:latin typeface="Arial"/>
                <a:cs typeface="Arial"/>
              </a:rPr>
              <a:t>Sovereign</a:t>
            </a:r>
            <a:r>
              <a:rPr dirty="0" sz="1150" spc="55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0D0D0D"/>
                </a:solidFill>
                <a:latin typeface="Arial"/>
                <a:cs typeface="Arial"/>
              </a:rPr>
              <a:t>Bond</a:t>
            </a:r>
            <a:r>
              <a:rPr dirty="0" sz="1150" spc="40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0D0D0D"/>
                </a:solidFill>
                <a:latin typeface="Arial"/>
                <a:cs typeface="Arial"/>
              </a:rPr>
              <a:t>Yields</a:t>
            </a:r>
            <a:endParaRPr sz="1150">
              <a:latin typeface="Arial"/>
              <a:cs typeface="Arial"/>
            </a:endParaRPr>
          </a:p>
          <a:p>
            <a:pPr marL="67310">
              <a:lnSpc>
                <a:spcPct val="100000"/>
              </a:lnSpc>
              <a:spcBef>
                <a:spcPts val="25"/>
              </a:spcBef>
            </a:pPr>
            <a:r>
              <a:rPr dirty="0" sz="1150">
                <a:solidFill>
                  <a:srgbClr val="0D0D0D"/>
                </a:solidFill>
                <a:latin typeface="Arial MT"/>
                <a:cs typeface="Arial MT"/>
              </a:rPr>
              <a:t>(%,</a:t>
            </a:r>
            <a:r>
              <a:rPr dirty="0" sz="1150" spc="1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0D0D0D"/>
                </a:solidFill>
                <a:latin typeface="Arial MT"/>
                <a:cs typeface="Arial MT"/>
              </a:rPr>
              <a:t>US$</a:t>
            </a:r>
            <a:r>
              <a:rPr dirty="0" sz="1150" spc="2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0D0D0D"/>
                </a:solidFill>
                <a:latin typeface="Arial MT"/>
                <a:cs typeface="Arial MT"/>
              </a:rPr>
              <a:t>denominated)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24" name="object 2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Impact</a:t>
            </a:r>
            <a:r>
              <a:rPr dirty="0" spc="35"/>
              <a:t> </a:t>
            </a:r>
            <a:r>
              <a:rPr dirty="0"/>
              <a:t>of</a:t>
            </a:r>
            <a:r>
              <a:rPr dirty="0" spc="50"/>
              <a:t> </a:t>
            </a:r>
            <a:r>
              <a:rPr dirty="0"/>
              <a:t>Global</a:t>
            </a:r>
            <a:r>
              <a:rPr dirty="0" spc="65"/>
              <a:t> </a:t>
            </a:r>
            <a:r>
              <a:rPr dirty="0"/>
              <a:t>Economic</a:t>
            </a:r>
            <a:r>
              <a:rPr dirty="0" spc="30"/>
              <a:t> </a:t>
            </a:r>
            <a:r>
              <a:rPr dirty="0"/>
              <a:t>Trends</a:t>
            </a:r>
            <a:r>
              <a:rPr dirty="0" spc="45"/>
              <a:t> </a:t>
            </a:r>
            <a:r>
              <a:rPr dirty="0"/>
              <a:t>on</a:t>
            </a:r>
            <a:r>
              <a:rPr dirty="0" spc="40"/>
              <a:t> </a:t>
            </a:r>
            <a:r>
              <a:rPr dirty="0"/>
              <a:t>Nigeria’s</a:t>
            </a:r>
            <a:r>
              <a:rPr dirty="0" spc="60"/>
              <a:t> </a:t>
            </a:r>
            <a:r>
              <a:rPr dirty="0"/>
              <a:t>Foreign</a:t>
            </a:r>
            <a:r>
              <a:rPr dirty="0" spc="45"/>
              <a:t> </a:t>
            </a:r>
            <a:r>
              <a:rPr dirty="0"/>
              <a:t>Exchange</a:t>
            </a:r>
            <a:r>
              <a:rPr dirty="0" spc="60"/>
              <a:t> </a:t>
            </a:r>
            <a:r>
              <a:rPr dirty="0" spc="-10"/>
              <a:t>Market</a:t>
            </a:r>
          </a:p>
        </p:txBody>
      </p:sp>
      <p:sp>
        <p:nvSpPr>
          <p:cNvPr id="25" name="object 2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October</a:t>
            </a:r>
            <a:r>
              <a:rPr dirty="0" spc="80"/>
              <a:t> </a:t>
            </a:r>
            <a:r>
              <a:rPr dirty="0" spc="-20"/>
              <a:t>2023</a:t>
            </a:r>
          </a:p>
        </p:txBody>
      </p:sp>
      <p:sp>
        <p:nvSpPr>
          <p:cNvPr id="26" name="object 2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815"/>
              </a:lnSpc>
            </a:pPr>
            <a:fld id="{81D60167-4931-47E6-BA6A-407CBD079E47}" type="slidenum">
              <a:rPr dirty="0" spc="-25"/>
              <a:t>26</a:t>
            </a:fld>
          </a:p>
        </p:txBody>
      </p: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49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The</a:t>
            </a:r>
            <a:r>
              <a:rPr dirty="0" spc="-50"/>
              <a:t> </a:t>
            </a:r>
            <a:r>
              <a:rPr dirty="0"/>
              <a:t>global</a:t>
            </a:r>
            <a:r>
              <a:rPr dirty="0" spc="-35"/>
              <a:t> </a:t>
            </a:r>
            <a:r>
              <a:rPr dirty="0"/>
              <a:t>financial</a:t>
            </a:r>
            <a:r>
              <a:rPr dirty="0" spc="-15"/>
              <a:t> </a:t>
            </a:r>
            <a:r>
              <a:rPr dirty="0"/>
              <a:t>landscape</a:t>
            </a:r>
            <a:r>
              <a:rPr dirty="0" spc="-20"/>
              <a:t> </a:t>
            </a:r>
            <a:r>
              <a:rPr dirty="0"/>
              <a:t>is</a:t>
            </a:r>
            <a:r>
              <a:rPr dirty="0" spc="-60"/>
              <a:t> </a:t>
            </a:r>
            <a:r>
              <a:rPr dirty="0"/>
              <a:t>more</a:t>
            </a:r>
            <a:r>
              <a:rPr dirty="0" spc="-50"/>
              <a:t> </a:t>
            </a:r>
            <a:r>
              <a:rPr dirty="0"/>
              <a:t>challenging</a:t>
            </a:r>
            <a:r>
              <a:rPr dirty="0" spc="-20"/>
              <a:t> </a:t>
            </a:r>
            <a:r>
              <a:rPr dirty="0" spc="-10"/>
              <a:t>(2/2)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31266" y="1443227"/>
            <a:ext cx="8911590" cy="1480185"/>
            <a:chOff x="731266" y="1443227"/>
            <a:chExt cx="8911590" cy="1480185"/>
          </a:xfrm>
        </p:grpSpPr>
        <p:sp>
          <p:nvSpPr>
            <p:cNvPr id="3" name="object 3" descr=""/>
            <p:cNvSpPr/>
            <p:nvPr/>
          </p:nvSpPr>
          <p:spPr>
            <a:xfrm>
              <a:off x="8718804" y="1443227"/>
              <a:ext cx="923925" cy="1469390"/>
            </a:xfrm>
            <a:custGeom>
              <a:avLst/>
              <a:gdLst/>
              <a:ahLst/>
              <a:cxnLst/>
              <a:rect l="l" t="t" r="r" b="b"/>
              <a:pathLst>
                <a:path w="923925" h="1469389">
                  <a:moveTo>
                    <a:pt x="923544" y="0"/>
                  </a:moveTo>
                  <a:lnTo>
                    <a:pt x="0" y="0"/>
                  </a:lnTo>
                  <a:lnTo>
                    <a:pt x="0" y="1469136"/>
                  </a:lnTo>
                  <a:lnTo>
                    <a:pt x="923544" y="1469136"/>
                  </a:lnTo>
                  <a:lnTo>
                    <a:pt x="92354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737616" y="2618231"/>
              <a:ext cx="8775700" cy="99060"/>
            </a:xfrm>
            <a:custGeom>
              <a:avLst/>
              <a:gdLst/>
              <a:ahLst/>
              <a:cxnLst/>
              <a:rect l="l" t="t" r="r" b="b"/>
              <a:pathLst>
                <a:path w="8775700" h="99060">
                  <a:moveTo>
                    <a:pt x="0" y="74675"/>
                  </a:moveTo>
                  <a:lnTo>
                    <a:pt x="213359" y="68580"/>
                  </a:lnTo>
                  <a:lnTo>
                    <a:pt x="428244" y="64007"/>
                  </a:lnTo>
                  <a:lnTo>
                    <a:pt x="641604" y="50292"/>
                  </a:lnTo>
                  <a:lnTo>
                    <a:pt x="856488" y="36575"/>
                  </a:lnTo>
                  <a:lnTo>
                    <a:pt x="1069848" y="7619"/>
                  </a:lnTo>
                  <a:lnTo>
                    <a:pt x="1283208" y="0"/>
                  </a:lnTo>
                  <a:lnTo>
                    <a:pt x="1498092" y="25907"/>
                  </a:lnTo>
                  <a:lnTo>
                    <a:pt x="1711452" y="47243"/>
                  </a:lnTo>
                  <a:lnTo>
                    <a:pt x="1926336" y="48768"/>
                  </a:lnTo>
                  <a:lnTo>
                    <a:pt x="2139696" y="71628"/>
                  </a:lnTo>
                  <a:lnTo>
                    <a:pt x="2354579" y="79248"/>
                  </a:lnTo>
                  <a:lnTo>
                    <a:pt x="2567940" y="92963"/>
                  </a:lnTo>
                  <a:lnTo>
                    <a:pt x="2782824" y="85343"/>
                  </a:lnTo>
                  <a:lnTo>
                    <a:pt x="2996184" y="88392"/>
                  </a:lnTo>
                  <a:lnTo>
                    <a:pt x="3209544" y="88392"/>
                  </a:lnTo>
                  <a:lnTo>
                    <a:pt x="3424428" y="71628"/>
                  </a:lnTo>
                  <a:lnTo>
                    <a:pt x="3637788" y="62484"/>
                  </a:lnTo>
                  <a:lnTo>
                    <a:pt x="3852672" y="47243"/>
                  </a:lnTo>
                  <a:lnTo>
                    <a:pt x="4066032" y="33528"/>
                  </a:lnTo>
                  <a:lnTo>
                    <a:pt x="4280916" y="13716"/>
                  </a:lnTo>
                  <a:lnTo>
                    <a:pt x="4494276" y="47243"/>
                  </a:lnTo>
                  <a:lnTo>
                    <a:pt x="4709160" y="64007"/>
                  </a:lnTo>
                  <a:lnTo>
                    <a:pt x="4922520" y="76200"/>
                  </a:lnTo>
                  <a:lnTo>
                    <a:pt x="5135880" y="67056"/>
                  </a:lnTo>
                  <a:lnTo>
                    <a:pt x="5350764" y="64007"/>
                  </a:lnTo>
                  <a:lnTo>
                    <a:pt x="5564124" y="59436"/>
                  </a:lnTo>
                  <a:lnTo>
                    <a:pt x="5779008" y="56387"/>
                  </a:lnTo>
                  <a:lnTo>
                    <a:pt x="5992368" y="77724"/>
                  </a:lnTo>
                  <a:lnTo>
                    <a:pt x="6207252" y="99060"/>
                  </a:lnTo>
                  <a:lnTo>
                    <a:pt x="6420612" y="85343"/>
                  </a:lnTo>
                  <a:lnTo>
                    <a:pt x="6633972" y="67056"/>
                  </a:lnTo>
                  <a:lnTo>
                    <a:pt x="6848856" y="54863"/>
                  </a:lnTo>
                  <a:lnTo>
                    <a:pt x="7062215" y="30480"/>
                  </a:lnTo>
                  <a:lnTo>
                    <a:pt x="7277100" y="19812"/>
                  </a:lnTo>
                  <a:lnTo>
                    <a:pt x="7490459" y="13716"/>
                  </a:lnTo>
                  <a:lnTo>
                    <a:pt x="7705343" y="33528"/>
                  </a:lnTo>
                  <a:lnTo>
                    <a:pt x="7918704" y="64007"/>
                  </a:lnTo>
                  <a:lnTo>
                    <a:pt x="8133587" y="82295"/>
                  </a:lnTo>
                  <a:lnTo>
                    <a:pt x="8346948" y="99060"/>
                  </a:lnTo>
                  <a:lnTo>
                    <a:pt x="8560308" y="91440"/>
                  </a:lnTo>
                  <a:lnTo>
                    <a:pt x="8775191" y="92963"/>
                  </a:lnTo>
                </a:path>
              </a:pathLst>
            </a:custGeom>
            <a:ln w="12700">
              <a:solidFill>
                <a:srgbClr val="DF2F1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737616" y="2334767"/>
              <a:ext cx="8775700" cy="253365"/>
            </a:xfrm>
            <a:custGeom>
              <a:avLst/>
              <a:gdLst/>
              <a:ahLst/>
              <a:cxnLst/>
              <a:rect l="l" t="t" r="r" b="b"/>
              <a:pathLst>
                <a:path w="8775700" h="253364">
                  <a:moveTo>
                    <a:pt x="0" y="134112"/>
                  </a:moveTo>
                  <a:lnTo>
                    <a:pt x="213359" y="158496"/>
                  </a:lnTo>
                  <a:lnTo>
                    <a:pt x="428244" y="175260"/>
                  </a:lnTo>
                  <a:lnTo>
                    <a:pt x="641604" y="147828"/>
                  </a:lnTo>
                  <a:lnTo>
                    <a:pt x="856488" y="170688"/>
                  </a:lnTo>
                  <a:lnTo>
                    <a:pt x="1069848" y="146304"/>
                  </a:lnTo>
                  <a:lnTo>
                    <a:pt x="1283208" y="134112"/>
                  </a:lnTo>
                  <a:lnTo>
                    <a:pt x="1498092" y="160020"/>
                  </a:lnTo>
                  <a:lnTo>
                    <a:pt x="1711452" y="166116"/>
                  </a:lnTo>
                  <a:lnTo>
                    <a:pt x="1926336" y="152400"/>
                  </a:lnTo>
                  <a:lnTo>
                    <a:pt x="2139696" y="225552"/>
                  </a:lnTo>
                  <a:lnTo>
                    <a:pt x="2354579" y="233172"/>
                  </a:lnTo>
                  <a:lnTo>
                    <a:pt x="2567940" y="252984"/>
                  </a:lnTo>
                  <a:lnTo>
                    <a:pt x="2782824" y="230124"/>
                  </a:lnTo>
                  <a:lnTo>
                    <a:pt x="2996184" y="202692"/>
                  </a:lnTo>
                  <a:lnTo>
                    <a:pt x="3209544" y="208788"/>
                  </a:lnTo>
                  <a:lnTo>
                    <a:pt x="3424428" y="184404"/>
                  </a:lnTo>
                  <a:lnTo>
                    <a:pt x="3637788" y="156972"/>
                  </a:lnTo>
                  <a:lnTo>
                    <a:pt x="3852672" y="123444"/>
                  </a:lnTo>
                  <a:lnTo>
                    <a:pt x="4066032" y="99060"/>
                  </a:lnTo>
                  <a:lnTo>
                    <a:pt x="4280916" y="68580"/>
                  </a:lnTo>
                  <a:lnTo>
                    <a:pt x="4494276" y="105156"/>
                  </a:lnTo>
                  <a:lnTo>
                    <a:pt x="4709160" y="129540"/>
                  </a:lnTo>
                  <a:lnTo>
                    <a:pt x="4922520" y="167640"/>
                  </a:lnTo>
                  <a:lnTo>
                    <a:pt x="5135880" y="134112"/>
                  </a:lnTo>
                  <a:lnTo>
                    <a:pt x="5350764" y="137160"/>
                  </a:lnTo>
                  <a:lnTo>
                    <a:pt x="5564124" y="152400"/>
                  </a:lnTo>
                  <a:lnTo>
                    <a:pt x="5779008" y="128016"/>
                  </a:lnTo>
                  <a:lnTo>
                    <a:pt x="5992368" y="167640"/>
                  </a:lnTo>
                  <a:lnTo>
                    <a:pt x="6207252" y="176784"/>
                  </a:lnTo>
                  <a:lnTo>
                    <a:pt x="6420612" y="118872"/>
                  </a:lnTo>
                  <a:lnTo>
                    <a:pt x="6633972" y="71628"/>
                  </a:lnTo>
                  <a:lnTo>
                    <a:pt x="6848856" y="16764"/>
                  </a:lnTo>
                  <a:lnTo>
                    <a:pt x="7062215" y="0"/>
                  </a:lnTo>
                  <a:lnTo>
                    <a:pt x="7277100" y="36576"/>
                  </a:lnTo>
                  <a:lnTo>
                    <a:pt x="7490459" y="54864"/>
                  </a:lnTo>
                  <a:lnTo>
                    <a:pt x="7705343" y="82296"/>
                  </a:lnTo>
                  <a:lnTo>
                    <a:pt x="7918704" y="134112"/>
                  </a:lnTo>
                  <a:lnTo>
                    <a:pt x="8133587" y="175260"/>
                  </a:lnTo>
                  <a:lnTo>
                    <a:pt x="8346948" y="187452"/>
                  </a:lnTo>
                  <a:lnTo>
                    <a:pt x="8560308" y="158496"/>
                  </a:lnTo>
                  <a:lnTo>
                    <a:pt x="8775191" y="167640"/>
                  </a:lnTo>
                </a:path>
              </a:pathLst>
            </a:custGeom>
            <a:ln w="1270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737616" y="1566671"/>
              <a:ext cx="8775700" cy="748665"/>
            </a:xfrm>
            <a:custGeom>
              <a:avLst/>
              <a:gdLst/>
              <a:ahLst/>
              <a:cxnLst/>
              <a:rect l="l" t="t" r="r" b="b"/>
              <a:pathLst>
                <a:path w="8775700" h="748664">
                  <a:moveTo>
                    <a:pt x="0" y="748283"/>
                  </a:moveTo>
                  <a:lnTo>
                    <a:pt x="213359" y="728472"/>
                  </a:lnTo>
                  <a:lnTo>
                    <a:pt x="428244" y="707136"/>
                  </a:lnTo>
                  <a:lnTo>
                    <a:pt x="641604" y="655319"/>
                  </a:lnTo>
                  <a:lnTo>
                    <a:pt x="856488" y="647700"/>
                  </a:lnTo>
                  <a:lnTo>
                    <a:pt x="1069848" y="620267"/>
                  </a:lnTo>
                  <a:lnTo>
                    <a:pt x="1283208" y="617219"/>
                  </a:lnTo>
                  <a:lnTo>
                    <a:pt x="1498092" y="618743"/>
                  </a:lnTo>
                  <a:lnTo>
                    <a:pt x="1711452" y="612648"/>
                  </a:lnTo>
                  <a:lnTo>
                    <a:pt x="1926336" y="598931"/>
                  </a:lnTo>
                  <a:lnTo>
                    <a:pt x="2139696" y="641603"/>
                  </a:lnTo>
                  <a:lnTo>
                    <a:pt x="2354579" y="630936"/>
                  </a:lnTo>
                  <a:lnTo>
                    <a:pt x="2567940" y="675131"/>
                  </a:lnTo>
                  <a:lnTo>
                    <a:pt x="2782824" y="640079"/>
                  </a:lnTo>
                  <a:lnTo>
                    <a:pt x="2996184" y="617219"/>
                  </a:lnTo>
                  <a:lnTo>
                    <a:pt x="3209544" y="618743"/>
                  </a:lnTo>
                  <a:lnTo>
                    <a:pt x="3424428" y="571500"/>
                  </a:lnTo>
                  <a:lnTo>
                    <a:pt x="3637788" y="539495"/>
                  </a:lnTo>
                  <a:lnTo>
                    <a:pt x="3852672" y="509015"/>
                  </a:lnTo>
                  <a:lnTo>
                    <a:pt x="4066032" y="467867"/>
                  </a:lnTo>
                  <a:lnTo>
                    <a:pt x="4280916" y="441960"/>
                  </a:lnTo>
                  <a:lnTo>
                    <a:pt x="4494276" y="460248"/>
                  </a:lnTo>
                  <a:lnTo>
                    <a:pt x="4709160" y="425195"/>
                  </a:lnTo>
                  <a:lnTo>
                    <a:pt x="4922520" y="505967"/>
                  </a:lnTo>
                  <a:lnTo>
                    <a:pt x="5135880" y="466343"/>
                  </a:lnTo>
                  <a:lnTo>
                    <a:pt x="5350764" y="440436"/>
                  </a:lnTo>
                  <a:lnTo>
                    <a:pt x="5564124" y="426719"/>
                  </a:lnTo>
                  <a:lnTo>
                    <a:pt x="5779008" y="373379"/>
                  </a:lnTo>
                  <a:lnTo>
                    <a:pt x="5992368" y="451103"/>
                  </a:lnTo>
                  <a:lnTo>
                    <a:pt x="6207252" y="440436"/>
                  </a:lnTo>
                  <a:lnTo>
                    <a:pt x="6420612" y="338327"/>
                  </a:lnTo>
                  <a:lnTo>
                    <a:pt x="6633972" y="275843"/>
                  </a:lnTo>
                  <a:lnTo>
                    <a:pt x="6848856" y="185927"/>
                  </a:lnTo>
                  <a:lnTo>
                    <a:pt x="7062215" y="82295"/>
                  </a:lnTo>
                  <a:lnTo>
                    <a:pt x="7277100" y="41148"/>
                  </a:lnTo>
                  <a:lnTo>
                    <a:pt x="7490459" y="0"/>
                  </a:lnTo>
                  <a:lnTo>
                    <a:pt x="7705343" y="59436"/>
                  </a:lnTo>
                  <a:lnTo>
                    <a:pt x="7918704" y="195072"/>
                  </a:lnTo>
                  <a:lnTo>
                    <a:pt x="8133587" y="249936"/>
                  </a:lnTo>
                  <a:lnTo>
                    <a:pt x="8346948" y="233172"/>
                  </a:lnTo>
                  <a:lnTo>
                    <a:pt x="8560308" y="173736"/>
                  </a:lnTo>
                  <a:lnTo>
                    <a:pt x="8775191" y="128015"/>
                  </a:lnTo>
                </a:path>
              </a:pathLst>
            </a:custGeom>
            <a:ln w="12699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737616" y="1655063"/>
              <a:ext cx="8775700" cy="1247140"/>
            </a:xfrm>
            <a:custGeom>
              <a:avLst/>
              <a:gdLst/>
              <a:ahLst/>
              <a:cxnLst/>
              <a:rect l="l" t="t" r="r" b="b"/>
              <a:pathLst>
                <a:path w="8775700" h="1247139">
                  <a:moveTo>
                    <a:pt x="0" y="1226820"/>
                  </a:moveTo>
                  <a:lnTo>
                    <a:pt x="213359" y="1232916"/>
                  </a:lnTo>
                  <a:lnTo>
                    <a:pt x="428244" y="1240536"/>
                  </a:lnTo>
                  <a:lnTo>
                    <a:pt x="641604" y="1240536"/>
                  </a:lnTo>
                  <a:lnTo>
                    <a:pt x="856488" y="1243584"/>
                  </a:lnTo>
                  <a:lnTo>
                    <a:pt x="1069848" y="1239012"/>
                  </a:lnTo>
                  <a:lnTo>
                    <a:pt x="1283208" y="1240536"/>
                  </a:lnTo>
                  <a:lnTo>
                    <a:pt x="1498092" y="1237488"/>
                  </a:lnTo>
                  <a:lnTo>
                    <a:pt x="1711452" y="1234440"/>
                  </a:lnTo>
                  <a:lnTo>
                    <a:pt x="1926336" y="1231392"/>
                  </a:lnTo>
                  <a:lnTo>
                    <a:pt x="2139696" y="1228344"/>
                  </a:lnTo>
                  <a:lnTo>
                    <a:pt x="2354579" y="1222248"/>
                  </a:lnTo>
                  <a:lnTo>
                    <a:pt x="2567940" y="1171956"/>
                  </a:lnTo>
                  <a:lnTo>
                    <a:pt x="2782824" y="1170432"/>
                  </a:lnTo>
                  <a:lnTo>
                    <a:pt x="2996184" y="1164336"/>
                  </a:lnTo>
                  <a:lnTo>
                    <a:pt x="3209544" y="1150620"/>
                  </a:lnTo>
                  <a:lnTo>
                    <a:pt x="3424428" y="1088136"/>
                  </a:lnTo>
                  <a:lnTo>
                    <a:pt x="3637788" y="1027176"/>
                  </a:lnTo>
                  <a:lnTo>
                    <a:pt x="3852672" y="975360"/>
                  </a:lnTo>
                  <a:lnTo>
                    <a:pt x="4066032" y="963168"/>
                  </a:lnTo>
                  <a:lnTo>
                    <a:pt x="4280916" y="902208"/>
                  </a:lnTo>
                  <a:lnTo>
                    <a:pt x="4494276" y="830580"/>
                  </a:lnTo>
                  <a:lnTo>
                    <a:pt x="4709160" y="783336"/>
                  </a:lnTo>
                  <a:lnTo>
                    <a:pt x="4922520" y="710184"/>
                  </a:lnTo>
                  <a:lnTo>
                    <a:pt x="5135880" y="664463"/>
                  </a:lnTo>
                  <a:lnTo>
                    <a:pt x="5350764" y="665988"/>
                  </a:lnTo>
                  <a:lnTo>
                    <a:pt x="5564124" y="717803"/>
                  </a:lnTo>
                  <a:lnTo>
                    <a:pt x="5779008" y="853440"/>
                  </a:lnTo>
                  <a:lnTo>
                    <a:pt x="5992368" y="947928"/>
                  </a:lnTo>
                  <a:lnTo>
                    <a:pt x="6207252" y="1246632"/>
                  </a:lnTo>
                  <a:lnTo>
                    <a:pt x="6420612" y="1239012"/>
                  </a:lnTo>
                  <a:lnTo>
                    <a:pt x="6633972" y="1240536"/>
                  </a:lnTo>
                  <a:lnTo>
                    <a:pt x="6848856" y="1243584"/>
                  </a:lnTo>
                  <a:lnTo>
                    <a:pt x="7062215" y="1245108"/>
                  </a:lnTo>
                  <a:lnTo>
                    <a:pt x="7277100" y="1239012"/>
                  </a:lnTo>
                  <a:lnTo>
                    <a:pt x="7490459" y="1242060"/>
                  </a:lnTo>
                  <a:lnTo>
                    <a:pt x="7705343" y="1231392"/>
                  </a:lnTo>
                  <a:lnTo>
                    <a:pt x="7918704" y="1071372"/>
                  </a:lnTo>
                  <a:lnTo>
                    <a:pt x="8133587" y="717803"/>
                  </a:lnTo>
                  <a:lnTo>
                    <a:pt x="8346948" y="353568"/>
                  </a:lnTo>
                  <a:lnTo>
                    <a:pt x="8560308" y="140208"/>
                  </a:lnTo>
                  <a:lnTo>
                    <a:pt x="8775191" y="0"/>
                  </a:lnTo>
                </a:path>
              </a:pathLst>
            </a:custGeom>
            <a:ln w="12700">
              <a:solidFill>
                <a:srgbClr val="A44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737616" y="1860804"/>
              <a:ext cx="8775700" cy="1056640"/>
            </a:xfrm>
            <a:custGeom>
              <a:avLst/>
              <a:gdLst/>
              <a:ahLst/>
              <a:cxnLst/>
              <a:rect l="l" t="t" r="r" b="b"/>
              <a:pathLst>
                <a:path w="8775700" h="1056639">
                  <a:moveTo>
                    <a:pt x="0" y="932688"/>
                  </a:moveTo>
                  <a:lnTo>
                    <a:pt x="213359" y="932688"/>
                  </a:lnTo>
                  <a:lnTo>
                    <a:pt x="428244" y="932688"/>
                  </a:lnTo>
                  <a:lnTo>
                    <a:pt x="641604" y="993648"/>
                  </a:lnTo>
                  <a:lnTo>
                    <a:pt x="856488" y="993648"/>
                  </a:lnTo>
                  <a:lnTo>
                    <a:pt x="1069848" y="1019556"/>
                  </a:lnTo>
                  <a:lnTo>
                    <a:pt x="1283208" y="1043940"/>
                  </a:lnTo>
                  <a:lnTo>
                    <a:pt x="6633972" y="1043940"/>
                  </a:lnTo>
                  <a:lnTo>
                    <a:pt x="6848856" y="1056132"/>
                  </a:lnTo>
                  <a:lnTo>
                    <a:pt x="7062215" y="1056132"/>
                  </a:lnTo>
                  <a:lnTo>
                    <a:pt x="7277100" y="745236"/>
                  </a:lnTo>
                  <a:lnTo>
                    <a:pt x="7490459" y="559308"/>
                  </a:lnTo>
                  <a:lnTo>
                    <a:pt x="7705343" y="434340"/>
                  </a:lnTo>
                  <a:lnTo>
                    <a:pt x="7918704" y="310896"/>
                  </a:lnTo>
                  <a:lnTo>
                    <a:pt x="8133587" y="185928"/>
                  </a:lnTo>
                  <a:lnTo>
                    <a:pt x="8346948" y="124968"/>
                  </a:lnTo>
                  <a:lnTo>
                    <a:pt x="8560308" y="62484"/>
                  </a:lnTo>
                  <a:lnTo>
                    <a:pt x="8775191" y="0"/>
                  </a:lnTo>
                </a:path>
              </a:pathLst>
            </a:custGeom>
            <a:ln w="127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737616" y="1612391"/>
              <a:ext cx="8775700" cy="1280160"/>
            </a:xfrm>
            <a:custGeom>
              <a:avLst/>
              <a:gdLst/>
              <a:ahLst/>
              <a:cxnLst/>
              <a:rect l="l" t="t" r="r" b="b"/>
              <a:pathLst>
                <a:path w="8775700" h="1280160">
                  <a:moveTo>
                    <a:pt x="0" y="1181100"/>
                  </a:moveTo>
                  <a:lnTo>
                    <a:pt x="0" y="1181100"/>
                  </a:lnTo>
                  <a:lnTo>
                    <a:pt x="2782824" y="1181100"/>
                  </a:lnTo>
                  <a:lnTo>
                    <a:pt x="2996184" y="1242060"/>
                  </a:lnTo>
                  <a:lnTo>
                    <a:pt x="3209544" y="1242060"/>
                  </a:lnTo>
                  <a:lnTo>
                    <a:pt x="3424428" y="1242060"/>
                  </a:lnTo>
                  <a:lnTo>
                    <a:pt x="3637788" y="1242060"/>
                  </a:lnTo>
                  <a:lnTo>
                    <a:pt x="3852672" y="1242060"/>
                  </a:lnTo>
                  <a:lnTo>
                    <a:pt x="4066032" y="1181100"/>
                  </a:lnTo>
                  <a:lnTo>
                    <a:pt x="4280916" y="1181100"/>
                  </a:lnTo>
                  <a:lnTo>
                    <a:pt x="4494276" y="1181100"/>
                  </a:lnTo>
                  <a:lnTo>
                    <a:pt x="4709160" y="1118616"/>
                  </a:lnTo>
                  <a:lnTo>
                    <a:pt x="5779008" y="1118616"/>
                  </a:lnTo>
                  <a:lnTo>
                    <a:pt x="5992368" y="1280160"/>
                  </a:lnTo>
                  <a:lnTo>
                    <a:pt x="6207252" y="1280160"/>
                  </a:lnTo>
                  <a:lnTo>
                    <a:pt x="6420612" y="1280160"/>
                  </a:lnTo>
                  <a:lnTo>
                    <a:pt x="6633972" y="1280160"/>
                  </a:lnTo>
                  <a:lnTo>
                    <a:pt x="6848856" y="1280160"/>
                  </a:lnTo>
                  <a:lnTo>
                    <a:pt x="7062215" y="1242060"/>
                  </a:lnTo>
                  <a:lnTo>
                    <a:pt x="7277100" y="1280160"/>
                  </a:lnTo>
                  <a:lnTo>
                    <a:pt x="7490459" y="1242060"/>
                  </a:lnTo>
                  <a:lnTo>
                    <a:pt x="7705343" y="993648"/>
                  </a:lnTo>
                  <a:lnTo>
                    <a:pt x="7918704" y="870204"/>
                  </a:lnTo>
                  <a:lnTo>
                    <a:pt x="8133587" y="745236"/>
                  </a:lnTo>
                  <a:lnTo>
                    <a:pt x="8346948" y="434340"/>
                  </a:lnTo>
                  <a:lnTo>
                    <a:pt x="8560308" y="185928"/>
                  </a:lnTo>
                  <a:lnTo>
                    <a:pt x="8775191" y="0"/>
                  </a:lnTo>
                </a:path>
              </a:pathLst>
            </a:custGeom>
            <a:ln w="12700">
              <a:solidFill>
                <a:srgbClr val="F7C7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9685146" y="2845434"/>
            <a:ext cx="7493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solidFill>
                  <a:srgbClr val="0D0D0D"/>
                </a:solidFill>
                <a:latin typeface="Arial MT"/>
                <a:cs typeface="Arial MT"/>
              </a:rPr>
              <a:t>0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9685146" y="2596641"/>
            <a:ext cx="7493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solidFill>
                  <a:srgbClr val="0D0D0D"/>
                </a:solidFill>
                <a:latin typeface="Arial MT"/>
                <a:cs typeface="Arial MT"/>
              </a:rPr>
              <a:t>1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9685146" y="2347975"/>
            <a:ext cx="7493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solidFill>
                  <a:srgbClr val="0D0D0D"/>
                </a:solidFill>
                <a:latin typeface="Arial MT"/>
                <a:cs typeface="Arial MT"/>
              </a:rPr>
              <a:t>2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9685146" y="2099563"/>
            <a:ext cx="7493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solidFill>
                  <a:srgbClr val="0D0D0D"/>
                </a:solidFill>
                <a:latin typeface="Arial MT"/>
                <a:cs typeface="Arial MT"/>
              </a:rPr>
              <a:t>3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9685146" y="1850898"/>
            <a:ext cx="7493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solidFill>
                  <a:srgbClr val="0D0D0D"/>
                </a:solidFill>
                <a:latin typeface="Arial MT"/>
                <a:cs typeface="Arial MT"/>
              </a:rPr>
              <a:t>4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9685146" y="1602486"/>
            <a:ext cx="7493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solidFill>
                  <a:srgbClr val="0D0D0D"/>
                </a:solidFill>
                <a:latin typeface="Arial MT"/>
                <a:cs typeface="Arial MT"/>
              </a:rPr>
              <a:t>5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9685146" y="1353692"/>
            <a:ext cx="7493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solidFill>
                  <a:srgbClr val="0D0D0D"/>
                </a:solidFill>
                <a:latin typeface="Arial MT"/>
                <a:cs typeface="Arial MT"/>
              </a:rPr>
              <a:t>6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491744" y="2845434"/>
            <a:ext cx="7493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solidFill>
                  <a:srgbClr val="0D0D0D"/>
                </a:solidFill>
                <a:latin typeface="Arial MT"/>
                <a:cs typeface="Arial MT"/>
              </a:rPr>
              <a:t>0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392684" y="2631770"/>
            <a:ext cx="17399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>
                <a:solidFill>
                  <a:srgbClr val="0D0D0D"/>
                </a:solidFill>
                <a:latin typeface="Arial MT"/>
                <a:cs typeface="Arial MT"/>
              </a:rPr>
              <a:t>500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318617" y="2418664"/>
            <a:ext cx="24892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0D0D0D"/>
                </a:solidFill>
                <a:latin typeface="Arial MT"/>
                <a:cs typeface="Arial MT"/>
              </a:rPr>
              <a:t>1,000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318617" y="2205989"/>
            <a:ext cx="2482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0D0D0D"/>
                </a:solidFill>
                <a:latin typeface="Arial MT"/>
                <a:cs typeface="Arial MT"/>
              </a:rPr>
              <a:t>1,500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318617" y="1992883"/>
            <a:ext cx="2482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0D0D0D"/>
                </a:solidFill>
                <a:latin typeface="Arial MT"/>
                <a:cs typeface="Arial MT"/>
              </a:rPr>
              <a:t>2,000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318617" y="1779777"/>
            <a:ext cx="2482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0D0D0D"/>
                </a:solidFill>
                <a:latin typeface="Arial MT"/>
                <a:cs typeface="Arial MT"/>
              </a:rPr>
              <a:t>2,500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318617" y="1566798"/>
            <a:ext cx="2482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0D0D0D"/>
                </a:solidFill>
                <a:latin typeface="Arial MT"/>
                <a:cs typeface="Arial MT"/>
              </a:rPr>
              <a:t>3,000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318617" y="1353692"/>
            <a:ext cx="2482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0D0D0D"/>
                </a:solidFill>
                <a:latin typeface="Arial MT"/>
                <a:cs typeface="Arial MT"/>
              </a:rPr>
              <a:t>3,500</a:t>
            </a:r>
            <a:endParaRPr sz="700">
              <a:latin typeface="Arial MT"/>
              <a:cs typeface="Arial MT"/>
            </a:endParaRPr>
          </a:p>
        </p:txBody>
      </p:sp>
      <p:graphicFrame>
        <p:nvGraphicFramePr>
          <p:cNvPr id="25" name="object 25" descr=""/>
          <p:cNvGraphicFramePr>
            <a:graphicFrameLocks noGrp="1"/>
          </p:cNvGraphicFramePr>
          <p:nvPr/>
        </p:nvGraphicFramePr>
        <p:xfrm>
          <a:off x="626173" y="2912173"/>
          <a:ext cx="9074785" cy="3244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4710"/>
                <a:gridCol w="855979"/>
                <a:gridCol w="855980"/>
                <a:gridCol w="855980"/>
                <a:gridCol w="854710"/>
                <a:gridCol w="855980"/>
                <a:gridCol w="855979"/>
                <a:gridCol w="855979"/>
                <a:gridCol w="854709"/>
                <a:gridCol w="855979"/>
                <a:gridCol w="427990"/>
              </a:tblGrid>
              <a:tr h="324485">
                <a:tc>
                  <a:txBody>
                    <a:bodyPr/>
                    <a:lstStyle/>
                    <a:p>
                      <a:pPr marL="328295" marR="40005" indent="-281940">
                        <a:lnSpc>
                          <a:spcPts val="1280"/>
                        </a:lnSpc>
                      </a:pPr>
                      <a:r>
                        <a:rPr dirty="0" sz="70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Q1</a:t>
                      </a:r>
                      <a:r>
                        <a:rPr dirty="0" sz="700" spc="18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  </a:t>
                      </a:r>
                      <a:r>
                        <a:rPr dirty="0" sz="70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Q2</a:t>
                      </a:r>
                      <a:r>
                        <a:rPr dirty="0" sz="700" spc="18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  </a:t>
                      </a:r>
                      <a:r>
                        <a:rPr dirty="0" sz="70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Q3</a:t>
                      </a:r>
                      <a:r>
                        <a:rPr dirty="0" sz="700" spc="18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  </a:t>
                      </a:r>
                      <a:r>
                        <a:rPr dirty="0" sz="700" spc="-5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Q4</a:t>
                      </a:r>
                      <a:r>
                        <a:rPr dirty="0" sz="700" spc="50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 spc="-2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2013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29565" marR="40640" indent="-281305">
                        <a:lnSpc>
                          <a:spcPts val="1280"/>
                        </a:lnSpc>
                      </a:pPr>
                      <a:r>
                        <a:rPr dirty="0" sz="70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Q1</a:t>
                      </a:r>
                      <a:r>
                        <a:rPr dirty="0" sz="700" spc="18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  </a:t>
                      </a:r>
                      <a:r>
                        <a:rPr dirty="0" sz="70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Q2</a:t>
                      </a:r>
                      <a:r>
                        <a:rPr dirty="0" sz="700" spc="18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  </a:t>
                      </a:r>
                      <a:r>
                        <a:rPr dirty="0" sz="70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Q3</a:t>
                      </a:r>
                      <a:r>
                        <a:rPr dirty="0" sz="700" spc="18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  </a:t>
                      </a:r>
                      <a:r>
                        <a:rPr dirty="0" sz="700" spc="-55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Q4</a:t>
                      </a:r>
                      <a:r>
                        <a:rPr dirty="0" sz="700" spc="50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 spc="-2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2014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29565" marR="40640" indent="-281940">
                        <a:lnSpc>
                          <a:spcPts val="1280"/>
                        </a:lnSpc>
                      </a:pPr>
                      <a:r>
                        <a:rPr dirty="0" sz="70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Q1</a:t>
                      </a:r>
                      <a:r>
                        <a:rPr dirty="0" sz="700" spc="18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  </a:t>
                      </a:r>
                      <a:r>
                        <a:rPr dirty="0" sz="70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Q2</a:t>
                      </a:r>
                      <a:r>
                        <a:rPr dirty="0" sz="700" spc="185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  </a:t>
                      </a:r>
                      <a:r>
                        <a:rPr dirty="0" sz="70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Q3</a:t>
                      </a:r>
                      <a:r>
                        <a:rPr dirty="0" sz="700" spc="18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  </a:t>
                      </a:r>
                      <a:r>
                        <a:rPr dirty="0" sz="700" spc="-6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Q4</a:t>
                      </a:r>
                      <a:r>
                        <a:rPr dirty="0" sz="700" spc="50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 spc="-2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2015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28930" marR="40640" indent="-281305">
                        <a:lnSpc>
                          <a:spcPts val="1280"/>
                        </a:lnSpc>
                      </a:pPr>
                      <a:r>
                        <a:rPr dirty="0" sz="70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Q1</a:t>
                      </a:r>
                      <a:r>
                        <a:rPr dirty="0" sz="700" spc="18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  </a:t>
                      </a:r>
                      <a:r>
                        <a:rPr dirty="0" sz="70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Q2</a:t>
                      </a:r>
                      <a:r>
                        <a:rPr dirty="0" sz="700" spc="185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  </a:t>
                      </a:r>
                      <a:r>
                        <a:rPr dirty="0" sz="70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Q3</a:t>
                      </a:r>
                      <a:r>
                        <a:rPr dirty="0" sz="700" spc="18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  </a:t>
                      </a:r>
                      <a:r>
                        <a:rPr dirty="0" sz="700" spc="-6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Q4</a:t>
                      </a:r>
                      <a:r>
                        <a:rPr dirty="0" sz="700" spc="50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 spc="-2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2016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28930" marR="39370" indent="-281305">
                        <a:lnSpc>
                          <a:spcPts val="1280"/>
                        </a:lnSpc>
                      </a:pPr>
                      <a:r>
                        <a:rPr dirty="0" sz="70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Q1</a:t>
                      </a:r>
                      <a:r>
                        <a:rPr dirty="0" sz="700" spc="18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  </a:t>
                      </a:r>
                      <a:r>
                        <a:rPr dirty="0" sz="70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Q2</a:t>
                      </a:r>
                      <a:r>
                        <a:rPr dirty="0" sz="700" spc="185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  </a:t>
                      </a:r>
                      <a:r>
                        <a:rPr dirty="0" sz="70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Q3</a:t>
                      </a:r>
                      <a:r>
                        <a:rPr dirty="0" sz="700" spc="18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  </a:t>
                      </a:r>
                      <a:r>
                        <a:rPr dirty="0" sz="700" spc="-6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Q4</a:t>
                      </a:r>
                      <a:r>
                        <a:rPr dirty="0" sz="700" spc="50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 spc="-2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2017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30200" marR="40005" indent="-281940">
                        <a:lnSpc>
                          <a:spcPts val="1280"/>
                        </a:lnSpc>
                      </a:pPr>
                      <a:r>
                        <a:rPr dirty="0" sz="70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Q1</a:t>
                      </a:r>
                      <a:r>
                        <a:rPr dirty="0" sz="700" spc="18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  </a:t>
                      </a:r>
                      <a:r>
                        <a:rPr dirty="0" sz="70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Q2</a:t>
                      </a:r>
                      <a:r>
                        <a:rPr dirty="0" sz="700" spc="18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  </a:t>
                      </a:r>
                      <a:r>
                        <a:rPr dirty="0" sz="70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Q3</a:t>
                      </a:r>
                      <a:r>
                        <a:rPr dirty="0" sz="700" spc="185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  </a:t>
                      </a:r>
                      <a:r>
                        <a:rPr dirty="0" sz="700" spc="-55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Q4</a:t>
                      </a:r>
                      <a:r>
                        <a:rPr dirty="0" sz="700" spc="50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 spc="-2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2018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30200" marR="40005" indent="-281940">
                        <a:lnSpc>
                          <a:spcPts val="1280"/>
                        </a:lnSpc>
                      </a:pPr>
                      <a:r>
                        <a:rPr dirty="0" sz="70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Q1</a:t>
                      </a:r>
                      <a:r>
                        <a:rPr dirty="0" sz="700" spc="18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  </a:t>
                      </a:r>
                      <a:r>
                        <a:rPr dirty="0" sz="70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Q2</a:t>
                      </a:r>
                      <a:r>
                        <a:rPr dirty="0" sz="700" spc="185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  </a:t>
                      </a:r>
                      <a:r>
                        <a:rPr dirty="0" sz="70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Q3</a:t>
                      </a:r>
                      <a:r>
                        <a:rPr dirty="0" sz="700" spc="18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  </a:t>
                      </a:r>
                      <a:r>
                        <a:rPr dirty="0" sz="700" spc="-6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Q4</a:t>
                      </a:r>
                      <a:r>
                        <a:rPr dirty="0" sz="700" spc="50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 spc="-2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2019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29565" marR="40005" indent="-281305">
                        <a:lnSpc>
                          <a:spcPts val="1280"/>
                        </a:lnSpc>
                      </a:pPr>
                      <a:r>
                        <a:rPr dirty="0" sz="70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Q1</a:t>
                      </a:r>
                      <a:r>
                        <a:rPr dirty="0" sz="700" spc="18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  </a:t>
                      </a:r>
                      <a:r>
                        <a:rPr dirty="0" sz="70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Q2</a:t>
                      </a:r>
                      <a:r>
                        <a:rPr dirty="0" sz="700" spc="185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  </a:t>
                      </a:r>
                      <a:r>
                        <a:rPr dirty="0" sz="70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Q3</a:t>
                      </a:r>
                      <a:r>
                        <a:rPr dirty="0" sz="700" spc="18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  </a:t>
                      </a:r>
                      <a:r>
                        <a:rPr dirty="0" sz="700" spc="-6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Q4</a:t>
                      </a:r>
                      <a:r>
                        <a:rPr dirty="0" sz="700" spc="50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 spc="-2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2020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29565" marR="38735" indent="-281940">
                        <a:lnSpc>
                          <a:spcPts val="1280"/>
                        </a:lnSpc>
                      </a:pPr>
                      <a:r>
                        <a:rPr dirty="0" sz="70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Q1</a:t>
                      </a:r>
                      <a:r>
                        <a:rPr dirty="0" sz="700" spc="18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  </a:t>
                      </a:r>
                      <a:r>
                        <a:rPr dirty="0" sz="70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Q2</a:t>
                      </a:r>
                      <a:r>
                        <a:rPr dirty="0" sz="700" spc="185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  </a:t>
                      </a:r>
                      <a:r>
                        <a:rPr dirty="0" sz="70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Q3</a:t>
                      </a:r>
                      <a:r>
                        <a:rPr dirty="0" sz="700" spc="18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  </a:t>
                      </a:r>
                      <a:r>
                        <a:rPr dirty="0" sz="700" spc="-55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Q4</a:t>
                      </a:r>
                      <a:r>
                        <a:rPr dirty="0" sz="700" spc="50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 spc="-2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2021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30835" marR="38735" indent="-281305">
                        <a:lnSpc>
                          <a:spcPts val="1280"/>
                        </a:lnSpc>
                      </a:pPr>
                      <a:r>
                        <a:rPr dirty="0" sz="70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Q1</a:t>
                      </a:r>
                      <a:r>
                        <a:rPr dirty="0" sz="700" spc="18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  </a:t>
                      </a:r>
                      <a:r>
                        <a:rPr dirty="0" sz="70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Q2</a:t>
                      </a:r>
                      <a:r>
                        <a:rPr dirty="0" sz="700" spc="18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  </a:t>
                      </a:r>
                      <a:r>
                        <a:rPr dirty="0" sz="70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Q3</a:t>
                      </a:r>
                      <a:r>
                        <a:rPr dirty="0" sz="700" spc="185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  </a:t>
                      </a:r>
                      <a:r>
                        <a:rPr dirty="0" sz="700" spc="-55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Q4</a:t>
                      </a:r>
                      <a:r>
                        <a:rPr dirty="0" sz="700" spc="50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 spc="-2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2022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16839" marR="39370" indent="-67945">
                        <a:lnSpc>
                          <a:spcPts val="1280"/>
                        </a:lnSpc>
                      </a:pPr>
                      <a:r>
                        <a:rPr dirty="0" sz="70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Q1</a:t>
                      </a:r>
                      <a:r>
                        <a:rPr dirty="0" sz="700" spc="18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  </a:t>
                      </a:r>
                      <a:r>
                        <a:rPr dirty="0" sz="700" spc="-4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Q2</a:t>
                      </a:r>
                      <a:r>
                        <a:rPr dirty="0" sz="700" spc="50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00" spc="-20">
                          <a:solidFill>
                            <a:srgbClr val="0D0D0D"/>
                          </a:solidFill>
                          <a:latin typeface="Arial MT"/>
                          <a:cs typeface="Arial MT"/>
                        </a:rPr>
                        <a:t>2023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26" name="object 26" descr=""/>
          <p:cNvSpPr/>
          <p:nvPr/>
        </p:nvSpPr>
        <p:spPr>
          <a:xfrm>
            <a:off x="1645920" y="3342132"/>
            <a:ext cx="243840" cy="0"/>
          </a:xfrm>
          <a:custGeom>
            <a:avLst/>
            <a:gdLst/>
            <a:ahLst/>
            <a:cxnLst/>
            <a:rect l="l" t="t" r="r" b="b"/>
            <a:pathLst>
              <a:path w="243839" h="0">
                <a:moveTo>
                  <a:pt x="0" y="0"/>
                </a:moveTo>
                <a:lnTo>
                  <a:pt x="243840" y="0"/>
                </a:lnTo>
              </a:path>
            </a:pathLst>
          </a:custGeom>
          <a:ln w="12700">
            <a:solidFill>
              <a:srgbClr val="DF2F1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 txBox="1"/>
          <p:nvPr/>
        </p:nvSpPr>
        <p:spPr>
          <a:xfrm>
            <a:off x="1903602" y="3270250"/>
            <a:ext cx="62738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Frontier</a:t>
            </a:r>
            <a:r>
              <a:rPr dirty="0" sz="700" spc="-3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0D0D0D"/>
                </a:solidFill>
                <a:latin typeface="Arial MT"/>
                <a:cs typeface="Arial MT"/>
              </a:rPr>
              <a:t>Market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8" name="object 28" descr=""/>
          <p:cNvSpPr/>
          <p:nvPr/>
        </p:nvSpPr>
        <p:spPr>
          <a:xfrm>
            <a:off x="2726435" y="3342132"/>
            <a:ext cx="243840" cy="0"/>
          </a:xfrm>
          <a:custGeom>
            <a:avLst/>
            <a:gdLst/>
            <a:ahLst/>
            <a:cxnLst/>
            <a:rect l="l" t="t" r="r" b="b"/>
            <a:pathLst>
              <a:path w="243839" h="0">
                <a:moveTo>
                  <a:pt x="0" y="0"/>
                </a:moveTo>
                <a:lnTo>
                  <a:pt x="243839" y="0"/>
                </a:lnTo>
              </a:path>
            </a:pathLst>
          </a:custGeom>
          <a:ln w="12700">
            <a:solidFill>
              <a:srgbClr val="EC7C3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 txBox="1"/>
          <p:nvPr/>
        </p:nvSpPr>
        <p:spPr>
          <a:xfrm>
            <a:off x="2984119" y="3270250"/>
            <a:ext cx="70231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Emerging</a:t>
            </a:r>
            <a:r>
              <a:rPr dirty="0" sz="700" spc="-2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0D0D0D"/>
                </a:solidFill>
                <a:latin typeface="Arial MT"/>
                <a:cs typeface="Arial MT"/>
              </a:rPr>
              <a:t>Market</a:t>
            </a:r>
            <a:endParaRPr sz="700">
              <a:latin typeface="Arial MT"/>
              <a:cs typeface="Arial MT"/>
            </a:endParaRPr>
          </a:p>
        </p:txBody>
      </p:sp>
      <p:grpSp>
        <p:nvGrpSpPr>
          <p:cNvPr id="30" name="object 30" descr=""/>
          <p:cNvGrpSpPr/>
          <p:nvPr/>
        </p:nvGrpSpPr>
        <p:grpSpPr>
          <a:xfrm>
            <a:off x="3875278" y="3335782"/>
            <a:ext cx="2625090" cy="12700"/>
            <a:chOff x="3875278" y="3335782"/>
            <a:chExt cx="2625090" cy="12700"/>
          </a:xfrm>
        </p:grpSpPr>
        <p:sp>
          <p:nvSpPr>
            <p:cNvPr id="31" name="object 31" descr=""/>
            <p:cNvSpPr/>
            <p:nvPr/>
          </p:nvSpPr>
          <p:spPr>
            <a:xfrm>
              <a:off x="3881628" y="3342132"/>
              <a:ext cx="243840" cy="0"/>
            </a:xfrm>
            <a:custGeom>
              <a:avLst/>
              <a:gdLst/>
              <a:ahLst/>
              <a:cxnLst/>
              <a:rect l="l" t="t" r="r" b="b"/>
              <a:pathLst>
                <a:path w="243839" h="0">
                  <a:moveTo>
                    <a:pt x="0" y="0"/>
                  </a:moveTo>
                  <a:lnTo>
                    <a:pt x="243839" y="0"/>
                  </a:lnTo>
                </a:path>
              </a:pathLst>
            </a:custGeom>
            <a:ln w="12700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4887468" y="3342132"/>
              <a:ext cx="243840" cy="0"/>
            </a:xfrm>
            <a:custGeom>
              <a:avLst/>
              <a:gdLst/>
              <a:ahLst/>
              <a:cxnLst/>
              <a:rect l="l" t="t" r="r" b="b"/>
              <a:pathLst>
                <a:path w="243839" h="0">
                  <a:moveTo>
                    <a:pt x="0" y="0"/>
                  </a:moveTo>
                  <a:lnTo>
                    <a:pt x="243840" y="0"/>
                  </a:lnTo>
                </a:path>
              </a:pathLst>
            </a:custGeom>
            <a:ln w="12700">
              <a:solidFill>
                <a:srgbClr val="A44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6249924" y="3342132"/>
              <a:ext cx="243840" cy="0"/>
            </a:xfrm>
            <a:custGeom>
              <a:avLst/>
              <a:gdLst/>
              <a:ahLst/>
              <a:cxnLst/>
              <a:rect l="l" t="t" r="r" b="b"/>
              <a:pathLst>
                <a:path w="243839" h="0">
                  <a:moveTo>
                    <a:pt x="0" y="0"/>
                  </a:moveTo>
                  <a:lnTo>
                    <a:pt x="243839" y="0"/>
                  </a:lnTo>
                </a:path>
              </a:pathLst>
            </a:custGeom>
            <a:ln w="127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 descr=""/>
          <p:cNvSpPr txBox="1"/>
          <p:nvPr/>
        </p:nvSpPr>
        <p:spPr>
          <a:xfrm>
            <a:off x="6507606" y="3270250"/>
            <a:ext cx="70739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ECB</a:t>
            </a:r>
            <a:r>
              <a:rPr dirty="0" sz="700" spc="-2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Interest</a:t>
            </a:r>
            <a:r>
              <a:rPr dirty="0" sz="700" spc="-2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700" spc="-20">
                <a:solidFill>
                  <a:srgbClr val="0D0D0D"/>
                </a:solidFill>
                <a:latin typeface="Arial MT"/>
                <a:cs typeface="Arial MT"/>
              </a:rPr>
              <a:t>rate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35" name="object 35" descr=""/>
          <p:cNvSpPr/>
          <p:nvPr/>
        </p:nvSpPr>
        <p:spPr>
          <a:xfrm>
            <a:off x="7409688" y="3342132"/>
            <a:ext cx="243840" cy="0"/>
          </a:xfrm>
          <a:custGeom>
            <a:avLst/>
            <a:gdLst/>
            <a:ahLst/>
            <a:cxnLst/>
            <a:rect l="l" t="t" r="r" b="b"/>
            <a:pathLst>
              <a:path w="243840" h="0">
                <a:moveTo>
                  <a:pt x="0" y="0"/>
                </a:moveTo>
                <a:lnTo>
                  <a:pt x="243839" y="0"/>
                </a:lnTo>
              </a:path>
            </a:pathLst>
          </a:custGeom>
          <a:ln w="12700">
            <a:solidFill>
              <a:srgbClr val="F7C7C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 descr=""/>
          <p:cNvSpPr txBox="1"/>
          <p:nvPr/>
        </p:nvSpPr>
        <p:spPr>
          <a:xfrm>
            <a:off x="7667370" y="3270250"/>
            <a:ext cx="86995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BOE</a:t>
            </a:r>
            <a:r>
              <a:rPr dirty="0" sz="700" spc="-2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interest</a:t>
            </a:r>
            <a:r>
              <a:rPr dirty="0" sz="700" spc="-2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rate</a:t>
            </a:r>
            <a:r>
              <a:rPr dirty="0" sz="700" spc="-1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700" spc="-25">
                <a:solidFill>
                  <a:srgbClr val="0D0D0D"/>
                </a:solidFill>
                <a:latin typeface="Arial MT"/>
                <a:cs typeface="Arial MT"/>
              </a:rPr>
              <a:t>(%)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37" name="object 37" descr=""/>
          <p:cNvSpPr/>
          <p:nvPr/>
        </p:nvSpPr>
        <p:spPr>
          <a:xfrm>
            <a:off x="306324" y="3663696"/>
            <a:ext cx="9470390" cy="1153795"/>
          </a:xfrm>
          <a:custGeom>
            <a:avLst/>
            <a:gdLst/>
            <a:ahLst/>
            <a:cxnLst/>
            <a:rect l="l" t="t" r="r" b="b"/>
            <a:pathLst>
              <a:path w="9470390" h="1153795">
                <a:moveTo>
                  <a:pt x="0" y="1153667"/>
                </a:moveTo>
                <a:lnTo>
                  <a:pt x="9470009" y="1153667"/>
                </a:lnTo>
                <a:lnTo>
                  <a:pt x="9470009" y="0"/>
                </a:lnTo>
                <a:lnTo>
                  <a:pt x="0" y="0"/>
                </a:lnTo>
                <a:lnTo>
                  <a:pt x="0" y="1153667"/>
                </a:lnTo>
                <a:close/>
              </a:path>
            </a:pathLst>
          </a:custGeom>
          <a:ln w="9524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 descr=""/>
          <p:cNvSpPr txBox="1"/>
          <p:nvPr/>
        </p:nvSpPr>
        <p:spPr>
          <a:xfrm>
            <a:off x="316991" y="3657625"/>
            <a:ext cx="9470390" cy="178435"/>
          </a:xfrm>
          <a:prstGeom prst="rect">
            <a:avLst/>
          </a:prstGeom>
          <a:solidFill>
            <a:srgbClr val="5F5F5F"/>
          </a:solidFill>
        </p:spPr>
        <p:txBody>
          <a:bodyPr wrap="square" lIns="0" tIns="10795" rIns="0" bIns="0" rtlCol="0" vert="horz">
            <a:spAutoFit/>
          </a:bodyPr>
          <a:lstStyle/>
          <a:p>
            <a:pPr marL="90170">
              <a:lnSpc>
                <a:spcPct val="100000"/>
              </a:lnSpc>
              <a:spcBef>
                <a:spcPts val="85"/>
              </a:spcBef>
            </a:pP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Insights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311086" y="3918026"/>
            <a:ext cx="9460865" cy="13569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35585" indent="-172085">
              <a:lnSpc>
                <a:spcPct val="100000"/>
              </a:lnSpc>
              <a:spcBef>
                <a:spcPts val="95"/>
              </a:spcBef>
              <a:buChar char="•"/>
              <a:tabLst>
                <a:tab pos="235585" algn="l"/>
              </a:tabLst>
            </a:pPr>
            <a:r>
              <a:rPr dirty="0" sz="1000">
                <a:latin typeface="Arial MT"/>
                <a:cs typeface="Arial MT"/>
              </a:rPr>
              <a:t>Following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increase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in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fed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funds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rate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to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target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range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of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10" b="1">
                <a:latin typeface="Arial"/>
                <a:cs typeface="Arial"/>
              </a:rPr>
              <a:t>5.25%-</a:t>
            </a:r>
            <a:r>
              <a:rPr dirty="0" sz="1000" b="1">
                <a:latin typeface="Arial"/>
                <a:cs typeface="Arial"/>
              </a:rPr>
              <a:t>5.5%,</a:t>
            </a:r>
            <a:r>
              <a:rPr dirty="0" sz="1000" spc="-5" b="1">
                <a:latin typeface="Arial"/>
                <a:cs typeface="Arial"/>
              </a:rPr>
              <a:t> </a:t>
            </a:r>
            <a:r>
              <a:rPr dirty="0" sz="1000">
                <a:latin typeface="Arial MT"/>
                <a:cs typeface="Arial MT"/>
              </a:rPr>
              <a:t>there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has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b="1">
                <a:latin typeface="Arial"/>
                <a:cs typeface="Arial"/>
              </a:rPr>
              <a:t>been</a:t>
            </a:r>
            <a:r>
              <a:rPr dirty="0" sz="1000" spc="-1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a</a:t>
            </a:r>
            <a:r>
              <a:rPr dirty="0" sz="1000" spc="-1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rise</a:t>
            </a:r>
            <a:r>
              <a:rPr dirty="0" sz="1000" spc="-2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the</a:t>
            </a:r>
            <a:r>
              <a:rPr dirty="0" sz="1000" spc="-1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MSCI</a:t>
            </a:r>
            <a:r>
              <a:rPr dirty="0" sz="1000" spc="-2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index</a:t>
            </a:r>
            <a:r>
              <a:rPr dirty="0" sz="1000" spc="-3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of</a:t>
            </a:r>
            <a:r>
              <a:rPr dirty="0" sz="1000" spc="-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the</a:t>
            </a:r>
            <a:r>
              <a:rPr dirty="0" sz="1000" spc="-2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developed</a:t>
            </a:r>
            <a:r>
              <a:rPr dirty="0" sz="1000" spc="-2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markets</a:t>
            </a:r>
            <a:r>
              <a:rPr dirty="0" sz="1000" spc="-75" b="1">
                <a:latin typeface="Arial"/>
                <a:cs typeface="Arial"/>
              </a:rPr>
              <a:t> </a:t>
            </a:r>
            <a:r>
              <a:rPr dirty="0" sz="1000">
                <a:latin typeface="Arial MT"/>
                <a:cs typeface="Arial MT"/>
              </a:rPr>
              <a:t>as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b="1">
                <a:latin typeface="Arial"/>
                <a:cs typeface="Arial"/>
              </a:rPr>
              <a:t>investors</a:t>
            </a:r>
            <a:r>
              <a:rPr dirty="0" sz="1000" spc="-40" b="1">
                <a:latin typeface="Arial"/>
                <a:cs typeface="Arial"/>
              </a:rPr>
              <a:t> </a:t>
            </a:r>
            <a:r>
              <a:rPr dirty="0" sz="1000" spc="-20">
                <a:latin typeface="Arial MT"/>
                <a:cs typeface="Arial MT"/>
              </a:rPr>
              <a:t>move</a:t>
            </a:r>
            <a:endParaRPr sz="1000">
              <a:latin typeface="Arial MT"/>
              <a:cs typeface="Arial MT"/>
            </a:endParaRPr>
          </a:p>
          <a:p>
            <a:pPr marL="235585">
              <a:lnSpc>
                <a:spcPct val="100000"/>
              </a:lnSpc>
              <a:spcBef>
                <a:spcPts val="5"/>
              </a:spcBef>
            </a:pPr>
            <a:r>
              <a:rPr dirty="0" sz="1000">
                <a:latin typeface="Arial MT"/>
                <a:cs typeface="Arial MT"/>
              </a:rPr>
              <a:t>capital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from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frontier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markets</a:t>
            </a:r>
            <a:r>
              <a:rPr dirty="0" sz="1000" spc="-5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to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take</a:t>
            </a:r>
            <a:r>
              <a:rPr dirty="0" sz="1000" spc="-4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advantage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of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higher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attractive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yields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>
              <a:latin typeface="Arial MT"/>
              <a:cs typeface="Arial MT"/>
            </a:endParaRPr>
          </a:p>
          <a:p>
            <a:pPr marL="235585" marR="81915" indent="-172720">
              <a:lnSpc>
                <a:spcPct val="100000"/>
              </a:lnSpc>
              <a:buChar char="•"/>
              <a:tabLst>
                <a:tab pos="235585" algn="l"/>
              </a:tabLst>
            </a:pP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Nigeria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MSCI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index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outperformed</a:t>
            </a:r>
            <a:r>
              <a:rPr dirty="0" sz="1000" spc="-6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both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MSCI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frontier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index </a:t>
            </a:r>
            <a:r>
              <a:rPr dirty="0" sz="1000" b="1">
                <a:latin typeface="Arial"/>
                <a:cs typeface="Arial"/>
              </a:rPr>
              <a:t>(23.52%</a:t>
            </a:r>
            <a:r>
              <a:rPr dirty="0" sz="1000" spc="-3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vs.</a:t>
            </a:r>
            <a:r>
              <a:rPr dirty="0" sz="1000" spc="-3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1.43%)</a:t>
            </a:r>
            <a:r>
              <a:rPr dirty="0" sz="1000" spc="-15" b="1">
                <a:latin typeface="Arial"/>
                <a:cs typeface="Arial"/>
              </a:rPr>
              <a:t> </a:t>
            </a:r>
            <a:r>
              <a:rPr dirty="0" sz="1000">
                <a:latin typeface="Arial MT"/>
                <a:cs typeface="Arial MT"/>
              </a:rPr>
              <a:t>and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ACWI</a:t>
            </a:r>
            <a:r>
              <a:rPr dirty="0" sz="1000" spc="-5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index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b="1">
                <a:latin typeface="Arial"/>
                <a:cs typeface="Arial"/>
              </a:rPr>
              <a:t>(23.52%</a:t>
            </a:r>
            <a:r>
              <a:rPr dirty="0" sz="1000" spc="-3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vs.</a:t>
            </a:r>
            <a:r>
              <a:rPr dirty="0" sz="1000" spc="-4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16.25%).</a:t>
            </a:r>
            <a:r>
              <a:rPr dirty="0" sz="1000" spc="-15" b="1">
                <a:latin typeface="Arial"/>
                <a:cs typeface="Arial"/>
              </a:rPr>
              <a:t> </a:t>
            </a:r>
            <a:r>
              <a:rPr dirty="0" sz="1000">
                <a:latin typeface="Arial MT"/>
                <a:cs typeface="Arial MT"/>
              </a:rPr>
              <a:t>However, between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2020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and </a:t>
            </a:r>
            <a:r>
              <a:rPr dirty="0" sz="1000">
                <a:latin typeface="Arial MT"/>
                <a:cs typeface="Arial MT"/>
              </a:rPr>
              <a:t>2022,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Nigeria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MSCI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index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experienced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b="1">
                <a:latin typeface="Arial"/>
                <a:cs typeface="Arial"/>
              </a:rPr>
              <a:t>a</a:t>
            </a:r>
            <a:r>
              <a:rPr dirty="0" sz="1000" spc="-2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significant</a:t>
            </a:r>
            <a:r>
              <a:rPr dirty="0" sz="1000" spc="-3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decline</a:t>
            </a:r>
            <a:r>
              <a:rPr dirty="0" sz="1000" spc="-2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of</a:t>
            </a:r>
            <a:r>
              <a:rPr dirty="0" sz="1000" spc="-1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113%</a:t>
            </a:r>
            <a:r>
              <a:rPr dirty="0" sz="1000" spc="-3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to</a:t>
            </a:r>
            <a:r>
              <a:rPr dirty="0" sz="1000" spc="-10" b="1">
                <a:latin typeface="Arial"/>
                <a:cs typeface="Arial"/>
              </a:rPr>
              <a:t> -</a:t>
            </a:r>
            <a:r>
              <a:rPr dirty="0" sz="1000" b="1">
                <a:latin typeface="Arial"/>
                <a:cs typeface="Arial"/>
              </a:rPr>
              <a:t>3.02%</a:t>
            </a:r>
            <a:r>
              <a:rPr dirty="0" sz="1000" spc="-2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in</a:t>
            </a:r>
            <a:r>
              <a:rPr dirty="0" sz="1000" spc="-2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2022</a:t>
            </a:r>
            <a:r>
              <a:rPr dirty="0" sz="1000">
                <a:latin typeface="Arial MT"/>
                <a:cs typeface="Arial MT"/>
              </a:rPr>
              <a:t>.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This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suggests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b="1">
                <a:latin typeface="Arial"/>
                <a:cs typeface="Arial"/>
              </a:rPr>
              <a:t>notable</a:t>
            </a:r>
            <a:r>
              <a:rPr dirty="0" sz="1000" spc="-2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capital</a:t>
            </a:r>
            <a:r>
              <a:rPr dirty="0" sz="1000" spc="-4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fligh</a:t>
            </a:r>
            <a:r>
              <a:rPr dirty="0" sz="1000">
                <a:latin typeface="Arial MT"/>
                <a:cs typeface="Arial MT"/>
              </a:rPr>
              <a:t>t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from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Nigeria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during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that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period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0"/>
              </a:spcBef>
              <a:buFont typeface="Arial MT"/>
              <a:buChar char="•"/>
            </a:pPr>
            <a:endParaRPr sz="1000">
              <a:latin typeface="Arial MT"/>
              <a:cs typeface="Arial MT"/>
            </a:endParaRPr>
          </a:p>
          <a:p>
            <a:pPr marL="235585" marR="699770" indent="-172720">
              <a:lnSpc>
                <a:spcPct val="100000"/>
              </a:lnSpc>
              <a:buChar char="•"/>
              <a:tabLst>
                <a:tab pos="235585" algn="l"/>
              </a:tabLst>
            </a:pPr>
            <a:r>
              <a:rPr dirty="0" sz="800">
                <a:latin typeface="Arial MT"/>
                <a:cs typeface="Arial MT"/>
              </a:rPr>
              <a:t>Frontier</a:t>
            </a:r>
            <a:r>
              <a:rPr dirty="0" sz="800" spc="-4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Markets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countries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include: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Bahrain,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Bangladesh,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Burkina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Faso,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Benin,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Croatia,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Estonia,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Guinea-</a:t>
            </a:r>
            <a:r>
              <a:rPr dirty="0" sz="800">
                <a:latin typeface="Arial MT"/>
                <a:cs typeface="Arial MT"/>
              </a:rPr>
              <a:t>Bissau,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Iceland,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Ivory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Coast,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Jordan,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Kenya,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Lithuania,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Kazakhstan,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Mauritius,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Mali, </a:t>
            </a:r>
            <a:r>
              <a:rPr dirty="0" sz="800">
                <a:latin typeface="Arial MT"/>
                <a:cs typeface="Arial MT"/>
              </a:rPr>
              <a:t>Morocco,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Niger,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Nigeria,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Oman,</a:t>
            </a:r>
            <a:r>
              <a:rPr dirty="0" sz="800" spc="-4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Pakistan,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Romania,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Serbia,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Senegal,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Slovenia,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Sri</a:t>
            </a:r>
            <a:r>
              <a:rPr dirty="0" sz="800" spc="-3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Lanka,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Togo,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Tunisia</a:t>
            </a:r>
            <a:r>
              <a:rPr dirty="0" sz="800" spc="-3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and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Vietnam.</a:t>
            </a:r>
            <a:endParaRPr sz="800">
              <a:latin typeface="Arial MT"/>
              <a:cs typeface="Arial MT"/>
            </a:endParaRPr>
          </a:p>
          <a:p>
            <a:pPr marL="235585" indent="-172085">
              <a:lnSpc>
                <a:spcPct val="100000"/>
              </a:lnSpc>
              <a:buChar char="•"/>
              <a:tabLst>
                <a:tab pos="235585" algn="l"/>
              </a:tabLst>
            </a:pPr>
            <a:r>
              <a:rPr dirty="0" sz="800">
                <a:solidFill>
                  <a:srgbClr val="111111"/>
                </a:solidFill>
                <a:latin typeface="Arial MT"/>
                <a:cs typeface="Arial MT"/>
              </a:rPr>
              <a:t>MSCI</a:t>
            </a:r>
            <a:r>
              <a:rPr dirty="0" sz="800" spc="-3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111111"/>
                </a:solidFill>
                <a:latin typeface="Arial MT"/>
                <a:cs typeface="Arial MT"/>
              </a:rPr>
              <a:t>is</a:t>
            </a:r>
            <a:r>
              <a:rPr dirty="0" sz="800" spc="-2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111111"/>
                </a:solidFill>
                <a:latin typeface="Arial MT"/>
                <a:cs typeface="Arial MT"/>
              </a:rPr>
              <a:t>an</a:t>
            </a:r>
            <a:r>
              <a:rPr dirty="0" sz="800" spc="-1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111111"/>
                </a:solidFill>
                <a:latin typeface="Arial MT"/>
                <a:cs typeface="Arial MT"/>
              </a:rPr>
              <a:t>acronym</a:t>
            </a:r>
            <a:r>
              <a:rPr dirty="0" sz="800" spc="-1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111111"/>
                </a:solidFill>
                <a:latin typeface="Arial MT"/>
                <a:cs typeface="Arial MT"/>
              </a:rPr>
              <a:t>for</a:t>
            </a:r>
            <a:r>
              <a:rPr dirty="0" sz="800" spc="-2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111111"/>
                </a:solidFill>
                <a:latin typeface="Arial MT"/>
                <a:cs typeface="Arial MT"/>
              </a:rPr>
              <a:t>Morgan</a:t>
            </a:r>
            <a:r>
              <a:rPr dirty="0" sz="800" spc="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111111"/>
                </a:solidFill>
                <a:latin typeface="Arial MT"/>
                <a:cs typeface="Arial MT"/>
              </a:rPr>
              <a:t>Stanley</a:t>
            </a:r>
            <a:r>
              <a:rPr dirty="0" sz="800" spc="-2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111111"/>
                </a:solidFill>
                <a:latin typeface="Arial MT"/>
                <a:cs typeface="Arial MT"/>
              </a:rPr>
              <a:t>Capital</a:t>
            </a:r>
            <a:r>
              <a:rPr dirty="0" sz="800" spc="-2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111111"/>
                </a:solidFill>
                <a:latin typeface="Arial MT"/>
                <a:cs typeface="Arial MT"/>
              </a:rPr>
              <a:t>International*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40" name="object 40" descr=""/>
          <p:cNvGrpSpPr/>
          <p:nvPr/>
        </p:nvGrpSpPr>
        <p:grpSpPr>
          <a:xfrm>
            <a:off x="284924" y="661416"/>
            <a:ext cx="9516110" cy="2798445"/>
            <a:chOff x="284924" y="661416"/>
            <a:chExt cx="9516110" cy="2798445"/>
          </a:xfrm>
        </p:grpSpPr>
        <p:sp>
          <p:nvSpPr>
            <p:cNvPr id="41" name="object 41" descr=""/>
            <p:cNvSpPr/>
            <p:nvPr/>
          </p:nvSpPr>
          <p:spPr>
            <a:xfrm>
              <a:off x="286511" y="739140"/>
              <a:ext cx="9512935" cy="2719070"/>
            </a:xfrm>
            <a:custGeom>
              <a:avLst/>
              <a:gdLst/>
              <a:ahLst/>
              <a:cxnLst/>
              <a:rect l="l" t="t" r="r" b="b"/>
              <a:pathLst>
                <a:path w="9512935" h="2719070">
                  <a:moveTo>
                    <a:pt x="0" y="2718816"/>
                  </a:moveTo>
                  <a:lnTo>
                    <a:pt x="9512808" y="2718816"/>
                  </a:lnTo>
                  <a:lnTo>
                    <a:pt x="9512808" y="0"/>
                  </a:lnTo>
                  <a:lnTo>
                    <a:pt x="0" y="0"/>
                  </a:lnTo>
                  <a:lnTo>
                    <a:pt x="0" y="271881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2430779" y="661416"/>
              <a:ext cx="4729480" cy="190500"/>
            </a:xfrm>
            <a:custGeom>
              <a:avLst/>
              <a:gdLst/>
              <a:ahLst/>
              <a:cxnLst/>
              <a:rect l="l" t="t" r="r" b="b"/>
              <a:pathLst>
                <a:path w="4729480" h="190500">
                  <a:moveTo>
                    <a:pt x="4728972" y="0"/>
                  </a:moveTo>
                  <a:lnTo>
                    <a:pt x="0" y="0"/>
                  </a:lnTo>
                  <a:lnTo>
                    <a:pt x="0" y="190500"/>
                  </a:lnTo>
                  <a:lnTo>
                    <a:pt x="4728972" y="190500"/>
                  </a:lnTo>
                  <a:lnTo>
                    <a:pt x="47289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 descr=""/>
          <p:cNvSpPr txBox="1"/>
          <p:nvPr/>
        </p:nvSpPr>
        <p:spPr>
          <a:xfrm>
            <a:off x="3537584" y="657225"/>
            <a:ext cx="2527935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b="1">
                <a:latin typeface="Arial"/>
                <a:cs typeface="Arial"/>
              </a:rPr>
              <a:t>Federal</a:t>
            </a:r>
            <a:r>
              <a:rPr dirty="0" sz="1150" spc="-1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Funds</a:t>
            </a:r>
            <a:r>
              <a:rPr dirty="0" sz="1150" spc="2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Rate</a:t>
            </a:r>
            <a:r>
              <a:rPr dirty="0" sz="1150" spc="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vs</a:t>
            </a:r>
            <a:r>
              <a:rPr dirty="0" sz="1150" spc="36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MSCI*</a:t>
            </a:r>
            <a:r>
              <a:rPr dirty="0" sz="1150" spc="-35" b="1">
                <a:latin typeface="Arial"/>
                <a:cs typeface="Arial"/>
              </a:rPr>
              <a:t> </a:t>
            </a:r>
            <a:r>
              <a:rPr dirty="0" sz="1150" spc="-20" b="1">
                <a:latin typeface="Arial"/>
                <a:cs typeface="Arial"/>
              </a:rPr>
              <a:t>Index</a:t>
            </a:r>
            <a:endParaRPr sz="1150">
              <a:latin typeface="Arial"/>
              <a:cs typeface="Arial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4138676" y="3270250"/>
            <a:ext cx="1915795" cy="3219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18540" algn="l"/>
              </a:tabLst>
            </a:pP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World</a:t>
            </a:r>
            <a:r>
              <a:rPr dirty="0" sz="700" spc="-1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0D0D0D"/>
                </a:solidFill>
                <a:latin typeface="Arial MT"/>
                <a:cs typeface="Arial MT"/>
              </a:rPr>
              <a:t>Market</a:t>
            </a: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	Federal</a:t>
            </a:r>
            <a:r>
              <a:rPr dirty="0" sz="700" spc="-3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funds</a:t>
            </a:r>
            <a:r>
              <a:rPr dirty="0" sz="700" spc="-2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rate</a:t>
            </a:r>
            <a:r>
              <a:rPr dirty="0" sz="700" spc="-1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700" spc="-25">
                <a:solidFill>
                  <a:srgbClr val="0D0D0D"/>
                </a:solidFill>
                <a:latin typeface="Arial MT"/>
                <a:cs typeface="Arial MT"/>
              </a:rPr>
              <a:t>(%)</a:t>
            </a:r>
            <a:endParaRPr sz="700">
              <a:latin typeface="Arial MT"/>
              <a:cs typeface="Arial MT"/>
            </a:endParaRPr>
          </a:p>
          <a:p>
            <a:pPr marL="168275">
              <a:lnSpc>
                <a:spcPct val="100000"/>
              </a:lnSpc>
              <a:spcBef>
                <a:spcPts val="710"/>
              </a:spcBef>
            </a:pPr>
            <a:r>
              <a:rPr dirty="0" sz="650" i="1">
                <a:latin typeface="Arial"/>
                <a:cs typeface="Arial"/>
              </a:rPr>
              <a:t>Source:</a:t>
            </a:r>
            <a:r>
              <a:rPr dirty="0" sz="650" spc="15" i="1">
                <a:latin typeface="Arial"/>
                <a:cs typeface="Arial"/>
              </a:rPr>
              <a:t> </a:t>
            </a:r>
            <a:r>
              <a:rPr dirty="0" sz="650" i="1">
                <a:latin typeface="Arial"/>
                <a:cs typeface="Arial"/>
              </a:rPr>
              <a:t>NBS,</a:t>
            </a:r>
            <a:r>
              <a:rPr dirty="0" sz="650" spc="50" i="1">
                <a:latin typeface="Arial"/>
                <a:cs typeface="Arial"/>
              </a:rPr>
              <a:t> </a:t>
            </a:r>
            <a:r>
              <a:rPr dirty="0" sz="650" i="1">
                <a:latin typeface="Arial"/>
                <a:cs typeface="Arial"/>
              </a:rPr>
              <a:t>MSCI,</a:t>
            </a:r>
            <a:r>
              <a:rPr dirty="0" sz="650" spc="35" i="1">
                <a:latin typeface="Arial"/>
                <a:cs typeface="Arial"/>
              </a:rPr>
              <a:t> </a:t>
            </a:r>
            <a:r>
              <a:rPr dirty="0" sz="650" i="1">
                <a:latin typeface="Arial"/>
                <a:cs typeface="Arial"/>
              </a:rPr>
              <a:t>PwC</a:t>
            </a:r>
            <a:r>
              <a:rPr dirty="0" sz="650" spc="5" i="1">
                <a:latin typeface="Arial"/>
                <a:cs typeface="Arial"/>
              </a:rPr>
              <a:t> </a:t>
            </a:r>
            <a:r>
              <a:rPr dirty="0" sz="650" spc="-10" i="1">
                <a:latin typeface="Arial"/>
                <a:cs typeface="Arial"/>
              </a:rPr>
              <a:t>Analysis</a:t>
            </a:r>
            <a:endParaRPr sz="650">
              <a:latin typeface="Arial"/>
              <a:cs typeface="Arial"/>
            </a:endParaRPr>
          </a:p>
        </p:txBody>
      </p:sp>
      <p:pic>
        <p:nvPicPr>
          <p:cNvPr id="45" name="object 4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87611" y="1274063"/>
            <a:ext cx="76200" cy="175387"/>
          </a:xfrm>
          <a:prstGeom prst="rect">
            <a:avLst/>
          </a:prstGeom>
        </p:spPr>
      </p:pic>
      <p:sp>
        <p:nvSpPr>
          <p:cNvPr id="46" name="object 46" descr=""/>
          <p:cNvSpPr txBox="1"/>
          <p:nvPr/>
        </p:nvSpPr>
        <p:spPr>
          <a:xfrm>
            <a:off x="8404352" y="1184528"/>
            <a:ext cx="763270" cy="1282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749935" algn="l"/>
              </a:tabLst>
            </a:pPr>
            <a:r>
              <a:rPr dirty="0" u="sng" sz="650" b="1">
                <a:uFill>
                  <a:solidFill>
                    <a:srgbClr val="0D0D0D"/>
                  </a:solidFill>
                </a:uFill>
                <a:latin typeface="Arial"/>
                <a:cs typeface="Arial"/>
              </a:rPr>
              <a:t>	</a:t>
            </a:r>
            <a:endParaRPr sz="650">
              <a:latin typeface="Arial"/>
              <a:cs typeface="Arial"/>
            </a:endParaRPr>
          </a:p>
        </p:txBody>
      </p:sp>
      <p:sp>
        <p:nvSpPr>
          <p:cNvPr id="49" name="object 4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Impact</a:t>
            </a:r>
            <a:r>
              <a:rPr dirty="0" spc="35"/>
              <a:t> </a:t>
            </a:r>
            <a:r>
              <a:rPr dirty="0"/>
              <a:t>of</a:t>
            </a:r>
            <a:r>
              <a:rPr dirty="0" spc="50"/>
              <a:t> </a:t>
            </a:r>
            <a:r>
              <a:rPr dirty="0"/>
              <a:t>Global</a:t>
            </a:r>
            <a:r>
              <a:rPr dirty="0" spc="65"/>
              <a:t> </a:t>
            </a:r>
            <a:r>
              <a:rPr dirty="0"/>
              <a:t>Economic</a:t>
            </a:r>
            <a:r>
              <a:rPr dirty="0" spc="30"/>
              <a:t> </a:t>
            </a:r>
            <a:r>
              <a:rPr dirty="0"/>
              <a:t>Trends</a:t>
            </a:r>
            <a:r>
              <a:rPr dirty="0" spc="45"/>
              <a:t> </a:t>
            </a:r>
            <a:r>
              <a:rPr dirty="0"/>
              <a:t>on</a:t>
            </a:r>
            <a:r>
              <a:rPr dirty="0" spc="40"/>
              <a:t> </a:t>
            </a:r>
            <a:r>
              <a:rPr dirty="0"/>
              <a:t>Nigeria’s</a:t>
            </a:r>
            <a:r>
              <a:rPr dirty="0" spc="60"/>
              <a:t> </a:t>
            </a:r>
            <a:r>
              <a:rPr dirty="0"/>
              <a:t>Foreign</a:t>
            </a:r>
            <a:r>
              <a:rPr dirty="0" spc="45"/>
              <a:t> </a:t>
            </a:r>
            <a:r>
              <a:rPr dirty="0"/>
              <a:t>Exchange</a:t>
            </a:r>
            <a:r>
              <a:rPr dirty="0" spc="60"/>
              <a:t> </a:t>
            </a:r>
            <a:r>
              <a:rPr dirty="0" spc="-10"/>
              <a:t>Market</a:t>
            </a:r>
          </a:p>
        </p:txBody>
      </p:sp>
      <p:sp>
        <p:nvSpPr>
          <p:cNvPr id="50" name="object 50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October</a:t>
            </a:r>
            <a:r>
              <a:rPr dirty="0" spc="80"/>
              <a:t> </a:t>
            </a:r>
            <a:r>
              <a:rPr dirty="0" spc="-20"/>
              <a:t>2023</a:t>
            </a:r>
          </a:p>
        </p:txBody>
      </p:sp>
      <p:sp>
        <p:nvSpPr>
          <p:cNvPr id="51" name="object 5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815"/>
              </a:lnSpc>
            </a:pPr>
            <a:fld id="{81D60167-4931-47E6-BA6A-407CBD079E47}" type="slidenum">
              <a:rPr dirty="0" spc="-25"/>
              <a:t>26</a:t>
            </a:fld>
          </a:p>
        </p:txBody>
      </p:sp>
      <p:sp>
        <p:nvSpPr>
          <p:cNvPr id="47" name="object 47" descr=""/>
          <p:cNvSpPr txBox="1"/>
          <p:nvPr/>
        </p:nvSpPr>
        <p:spPr>
          <a:xfrm>
            <a:off x="6502654" y="981836"/>
            <a:ext cx="1877060" cy="4330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 indent="3810">
              <a:lnSpc>
                <a:spcPct val="102600"/>
              </a:lnSpc>
              <a:spcBef>
                <a:spcPts val="100"/>
              </a:spcBef>
            </a:pPr>
            <a:r>
              <a:rPr dirty="0" sz="650" b="1">
                <a:latin typeface="Arial"/>
                <a:cs typeface="Arial"/>
              </a:rPr>
              <a:t>The</a:t>
            </a:r>
            <a:r>
              <a:rPr dirty="0" sz="650" spc="40" b="1">
                <a:latin typeface="Arial"/>
                <a:cs typeface="Arial"/>
              </a:rPr>
              <a:t> </a:t>
            </a:r>
            <a:r>
              <a:rPr dirty="0" sz="650" b="1">
                <a:latin typeface="Arial"/>
                <a:cs typeface="Arial"/>
              </a:rPr>
              <a:t>ECB,</a:t>
            </a:r>
            <a:r>
              <a:rPr dirty="0" sz="650" spc="65" b="1">
                <a:latin typeface="Arial"/>
                <a:cs typeface="Arial"/>
              </a:rPr>
              <a:t> </a:t>
            </a:r>
            <a:r>
              <a:rPr dirty="0" sz="650" b="1">
                <a:latin typeface="Arial"/>
                <a:cs typeface="Arial"/>
              </a:rPr>
              <a:t>BOE,</a:t>
            </a:r>
            <a:r>
              <a:rPr dirty="0" sz="650" spc="50" b="1">
                <a:latin typeface="Arial"/>
                <a:cs typeface="Arial"/>
              </a:rPr>
              <a:t> </a:t>
            </a:r>
            <a:r>
              <a:rPr dirty="0" sz="650" b="1">
                <a:latin typeface="Arial"/>
                <a:cs typeface="Arial"/>
              </a:rPr>
              <a:t>and</a:t>
            </a:r>
            <a:r>
              <a:rPr dirty="0" sz="650" spc="40" b="1">
                <a:latin typeface="Arial"/>
                <a:cs typeface="Arial"/>
              </a:rPr>
              <a:t> </a:t>
            </a:r>
            <a:r>
              <a:rPr dirty="0" sz="650" b="1">
                <a:latin typeface="Arial"/>
                <a:cs typeface="Arial"/>
              </a:rPr>
              <a:t>Federal</a:t>
            </a:r>
            <a:r>
              <a:rPr dirty="0" sz="650" spc="65" b="1">
                <a:latin typeface="Arial"/>
                <a:cs typeface="Arial"/>
              </a:rPr>
              <a:t> </a:t>
            </a:r>
            <a:r>
              <a:rPr dirty="0" sz="650" b="1">
                <a:latin typeface="Arial"/>
                <a:cs typeface="Arial"/>
              </a:rPr>
              <a:t>reserve</a:t>
            </a:r>
            <a:r>
              <a:rPr dirty="0" sz="650" spc="60" b="1">
                <a:latin typeface="Arial"/>
                <a:cs typeface="Arial"/>
              </a:rPr>
              <a:t> </a:t>
            </a:r>
            <a:r>
              <a:rPr dirty="0" sz="650" spc="-10" b="1">
                <a:latin typeface="Arial"/>
                <a:cs typeface="Arial"/>
              </a:rPr>
              <a:t>raised</a:t>
            </a:r>
            <a:r>
              <a:rPr dirty="0" sz="650" spc="500" b="1">
                <a:latin typeface="Arial"/>
                <a:cs typeface="Arial"/>
              </a:rPr>
              <a:t> </a:t>
            </a:r>
            <a:r>
              <a:rPr dirty="0" sz="650" b="1">
                <a:latin typeface="Arial"/>
                <a:cs typeface="Arial"/>
              </a:rPr>
              <a:t>rates</a:t>
            </a:r>
            <a:r>
              <a:rPr dirty="0" sz="650" spc="45" b="1">
                <a:latin typeface="Arial"/>
                <a:cs typeface="Arial"/>
              </a:rPr>
              <a:t> </a:t>
            </a:r>
            <a:r>
              <a:rPr dirty="0" sz="650" b="1">
                <a:latin typeface="Arial"/>
                <a:cs typeface="Arial"/>
              </a:rPr>
              <a:t>to</a:t>
            </a:r>
            <a:r>
              <a:rPr dirty="0" sz="650" spc="45" b="1">
                <a:latin typeface="Arial"/>
                <a:cs typeface="Arial"/>
              </a:rPr>
              <a:t> </a:t>
            </a:r>
            <a:r>
              <a:rPr dirty="0" sz="650" b="1">
                <a:latin typeface="Arial"/>
                <a:cs typeface="Arial"/>
              </a:rPr>
              <a:t>curtail</a:t>
            </a:r>
            <a:r>
              <a:rPr dirty="0" sz="650" spc="35" b="1">
                <a:latin typeface="Arial"/>
                <a:cs typeface="Arial"/>
              </a:rPr>
              <a:t> </a:t>
            </a:r>
            <a:r>
              <a:rPr dirty="0" sz="650" b="1">
                <a:latin typeface="Arial"/>
                <a:cs typeface="Arial"/>
              </a:rPr>
              <a:t>the</a:t>
            </a:r>
            <a:r>
              <a:rPr dirty="0" sz="650" spc="45" b="1">
                <a:latin typeface="Arial"/>
                <a:cs typeface="Arial"/>
              </a:rPr>
              <a:t> </a:t>
            </a:r>
            <a:r>
              <a:rPr dirty="0" sz="650" b="1">
                <a:latin typeface="Arial"/>
                <a:cs typeface="Arial"/>
              </a:rPr>
              <a:t>rise</a:t>
            </a:r>
            <a:r>
              <a:rPr dirty="0" sz="650" spc="50" b="1">
                <a:latin typeface="Arial"/>
                <a:cs typeface="Arial"/>
              </a:rPr>
              <a:t> </a:t>
            </a:r>
            <a:r>
              <a:rPr dirty="0" sz="650" b="1">
                <a:latin typeface="Arial"/>
                <a:cs typeface="Arial"/>
              </a:rPr>
              <a:t>in</a:t>
            </a:r>
            <a:r>
              <a:rPr dirty="0" sz="650" spc="30" b="1">
                <a:latin typeface="Arial"/>
                <a:cs typeface="Arial"/>
              </a:rPr>
              <a:t> </a:t>
            </a:r>
            <a:r>
              <a:rPr dirty="0" sz="650" b="1">
                <a:latin typeface="Arial"/>
                <a:cs typeface="Arial"/>
              </a:rPr>
              <a:t>inflation.</a:t>
            </a:r>
            <a:r>
              <a:rPr dirty="0" sz="650" spc="40" b="1">
                <a:latin typeface="Arial"/>
                <a:cs typeface="Arial"/>
              </a:rPr>
              <a:t> </a:t>
            </a:r>
            <a:r>
              <a:rPr dirty="0" sz="650" b="1">
                <a:latin typeface="Arial"/>
                <a:cs typeface="Arial"/>
              </a:rPr>
              <a:t>This</a:t>
            </a:r>
            <a:r>
              <a:rPr dirty="0" sz="650" spc="45" b="1">
                <a:latin typeface="Arial"/>
                <a:cs typeface="Arial"/>
              </a:rPr>
              <a:t> </a:t>
            </a:r>
            <a:r>
              <a:rPr dirty="0" sz="650" b="1">
                <a:latin typeface="Arial"/>
                <a:cs typeface="Arial"/>
              </a:rPr>
              <a:t>led</a:t>
            </a:r>
            <a:r>
              <a:rPr dirty="0" sz="650" spc="45" b="1">
                <a:latin typeface="Arial"/>
                <a:cs typeface="Arial"/>
              </a:rPr>
              <a:t> </a:t>
            </a:r>
            <a:r>
              <a:rPr dirty="0" sz="650" spc="-25" b="1">
                <a:latin typeface="Arial"/>
                <a:cs typeface="Arial"/>
              </a:rPr>
              <a:t>to</a:t>
            </a:r>
            <a:r>
              <a:rPr dirty="0" sz="650" spc="500" b="1">
                <a:latin typeface="Arial"/>
                <a:cs typeface="Arial"/>
              </a:rPr>
              <a:t> </a:t>
            </a:r>
            <a:r>
              <a:rPr dirty="0" sz="650" b="1">
                <a:latin typeface="Arial"/>
                <a:cs typeface="Arial"/>
              </a:rPr>
              <a:t>capital</a:t>
            </a:r>
            <a:r>
              <a:rPr dirty="0" sz="650" spc="75" b="1">
                <a:latin typeface="Arial"/>
                <a:cs typeface="Arial"/>
              </a:rPr>
              <a:t> </a:t>
            </a:r>
            <a:r>
              <a:rPr dirty="0" sz="650" b="1">
                <a:latin typeface="Arial"/>
                <a:cs typeface="Arial"/>
              </a:rPr>
              <a:t>reallocation</a:t>
            </a:r>
            <a:r>
              <a:rPr dirty="0" sz="650" spc="75" b="1">
                <a:latin typeface="Arial"/>
                <a:cs typeface="Arial"/>
              </a:rPr>
              <a:t> </a:t>
            </a:r>
            <a:r>
              <a:rPr dirty="0" sz="650" b="1">
                <a:latin typeface="Arial"/>
                <a:cs typeface="Arial"/>
              </a:rPr>
              <a:t>from</a:t>
            </a:r>
            <a:r>
              <a:rPr dirty="0" sz="650" spc="65" b="1">
                <a:latin typeface="Arial"/>
                <a:cs typeface="Arial"/>
              </a:rPr>
              <a:t> </a:t>
            </a:r>
            <a:r>
              <a:rPr dirty="0" sz="650" b="1">
                <a:latin typeface="Arial"/>
                <a:cs typeface="Arial"/>
              </a:rPr>
              <a:t>frontier</a:t>
            </a:r>
            <a:r>
              <a:rPr dirty="0" sz="650" spc="65" b="1">
                <a:latin typeface="Arial"/>
                <a:cs typeface="Arial"/>
              </a:rPr>
              <a:t> </a:t>
            </a:r>
            <a:r>
              <a:rPr dirty="0" sz="650" spc="-25" b="1">
                <a:latin typeface="Arial"/>
                <a:cs typeface="Arial"/>
              </a:rPr>
              <a:t>and</a:t>
            </a:r>
            <a:r>
              <a:rPr dirty="0" sz="650" spc="500" b="1">
                <a:latin typeface="Arial"/>
                <a:cs typeface="Arial"/>
              </a:rPr>
              <a:t> </a:t>
            </a:r>
            <a:r>
              <a:rPr dirty="0" sz="650" b="1">
                <a:latin typeface="Arial"/>
                <a:cs typeface="Arial"/>
              </a:rPr>
              <a:t>emerging</a:t>
            </a:r>
            <a:r>
              <a:rPr dirty="0" sz="650" spc="55" b="1">
                <a:latin typeface="Arial"/>
                <a:cs typeface="Arial"/>
              </a:rPr>
              <a:t> </a:t>
            </a:r>
            <a:r>
              <a:rPr dirty="0" sz="650" b="1">
                <a:latin typeface="Arial"/>
                <a:cs typeface="Arial"/>
              </a:rPr>
              <a:t>markets</a:t>
            </a:r>
            <a:r>
              <a:rPr dirty="0" sz="650" spc="50" b="1">
                <a:latin typeface="Arial"/>
                <a:cs typeface="Arial"/>
              </a:rPr>
              <a:t> </a:t>
            </a:r>
            <a:r>
              <a:rPr dirty="0" sz="650" b="1">
                <a:latin typeface="Arial"/>
                <a:cs typeface="Arial"/>
              </a:rPr>
              <a:t>to</a:t>
            </a:r>
            <a:r>
              <a:rPr dirty="0" sz="650" spc="60" b="1">
                <a:latin typeface="Arial"/>
                <a:cs typeface="Arial"/>
              </a:rPr>
              <a:t> </a:t>
            </a:r>
            <a:r>
              <a:rPr dirty="0" sz="650" b="1">
                <a:latin typeface="Arial"/>
                <a:cs typeface="Arial"/>
              </a:rPr>
              <a:t>advanced</a:t>
            </a:r>
            <a:r>
              <a:rPr dirty="0" sz="650" spc="90" b="1">
                <a:latin typeface="Arial"/>
                <a:cs typeface="Arial"/>
              </a:rPr>
              <a:t> </a:t>
            </a:r>
            <a:r>
              <a:rPr dirty="0" sz="650" spc="-10" b="1">
                <a:latin typeface="Arial"/>
                <a:cs typeface="Arial"/>
              </a:rPr>
              <a:t>markets</a:t>
            </a:r>
            <a:endParaRPr sz="650">
              <a:latin typeface="Arial"/>
              <a:cs typeface="Arial"/>
            </a:endParaRPr>
          </a:p>
        </p:txBody>
      </p:sp>
      <p:sp>
        <p:nvSpPr>
          <p:cNvPr id="48" name="object 4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49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Increase</a:t>
            </a:r>
            <a:r>
              <a:rPr dirty="0" spc="-35"/>
              <a:t> </a:t>
            </a:r>
            <a:r>
              <a:rPr dirty="0"/>
              <a:t>in</a:t>
            </a:r>
            <a:r>
              <a:rPr dirty="0" spc="-40"/>
              <a:t> </a:t>
            </a:r>
            <a:r>
              <a:rPr dirty="0"/>
              <a:t>interest</a:t>
            </a:r>
            <a:r>
              <a:rPr dirty="0" spc="-30"/>
              <a:t> </a:t>
            </a:r>
            <a:r>
              <a:rPr dirty="0"/>
              <a:t>rates</a:t>
            </a:r>
            <a:r>
              <a:rPr dirty="0" spc="-40"/>
              <a:t> </a:t>
            </a:r>
            <a:r>
              <a:rPr dirty="0"/>
              <a:t>may</a:t>
            </a:r>
            <a:r>
              <a:rPr dirty="0" spc="-45"/>
              <a:t> </a:t>
            </a:r>
            <a:r>
              <a:rPr dirty="0"/>
              <a:t>lead</a:t>
            </a:r>
            <a:r>
              <a:rPr dirty="0" spc="-35"/>
              <a:t> </a:t>
            </a:r>
            <a:r>
              <a:rPr dirty="0"/>
              <a:t>to</a:t>
            </a:r>
            <a:r>
              <a:rPr dirty="0" spc="-50"/>
              <a:t> </a:t>
            </a:r>
            <a:r>
              <a:rPr dirty="0"/>
              <a:t>reallocation</a:t>
            </a:r>
            <a:r>
              <a:rPr dirty="0" spc="-10"/>
              <a:t> </a:t>
            </a:r>
            <a:r>
              <a:rPr dirty="0"/>
              <a:t>of</a:t>
            </a:r>
            <a:r>
              <a:rPr dirty="0" spc="-50"/>
              <a:t> </a:t>
            </a:r>
            <a:r>
              <a:rPr dirty="0"/>
              <a:t>capital</a:t>
            </a:r>
            <a:r>
              <a:rPr dirty="0" spc="-25"/>
              <a:t> </a:t>
            </a:r>
            <a:r>
              <a:rPr dirty="0"/>
              <a:t>from</a:t>
            </a:r>
            <a:r>
              <a:rPr dirty="0" spc="-35"/>
              <a:t> </a:t>
            </a:r>
            <a:r>
              <a:rPr dirty="0"/>
              <a:t>frontier</a:t>
            </a:r>
            <a:r>
              <a:rPr dirty="0" spc="-35"/>
              <a:t> </a:t>
            </a:r>
            <a:r>
              <a:rPr dirty="0" spc="-10"/>
              <a:t>markets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0160635" cy="614680"/>
            <a:chOff x="0" y="0"/>
            <a:chExt cx="10160635" cy="614680"/>
          </a:xfrm>
        </p:grpSpPr>
        <p:sp>
          <p:nvSpPr>
            <p:cNvPr id="3" name="object 3" descr=""/>
            <p:cNvSpPr/>
            <p:nvPr/>
          </p:nvSpPr>
          <p:spPr>
            <a:xfrm>
              <a:off x="0" y="585216"/>
              <a:ext cx="8371840" cy="29209"/>
            </a:xfrm>
            <a:custGeom>
              <a:avLst/>
              <a:gdLst/>
              <a:ahLst/>
              <a:cxnLst/>
              <a:rect l="l" t="t" r="r" b="b"/>
              <a:pathLst>
                <a:path w="8371840" h="29209">
                  <a:moveTo>
                    <a:pt x="0" y="28955"/>
                  </a:moveTo>
                  <a:lnTo>
                    <a:pt x="8371332" y="28955"/>
                  </a:lnTo>
                  <a:lnTo>
                    <a:pt x="8371332" y="0"/>
                  </a:lnTo>
                  <a:lnTo>
                    <a:pt x="0" y="0"/>
                  </a:lnTo>
                  <a:lnTo>
                    <a:pt x="0" y="28955"/>
                  </a:lnTo>
                  <a:close/>
                </a:path>
              </a:pathLst>
            </a:custGeom>
            <a:solidFill>
              <a:srgbClr val="D22D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0" y="0"/>
              <a:ext cx="10160635" cy="585470"/>
            </a:xfrm>
            <a:custGeom>
              <a:avLst/>
              <a:gdLst/>
              <a:ahLst/>
              <a:cxnLst/>
              <a:rect l="l" t="t" r="r" b="b"/>
              <a:pathLst>
                <a:path w="10160635" h="585470">
                  <a:moveTo>
                    <a:pt x="10160507" y="0"/>
                  </a:moveTo>
                  <a:lnTo>
                    <a:pt x="0" y="0"/>
                  </a:lnTo>
                  <a:lnTo>
                    <a:pt x="0" y="585215"/>
                  </a:lnTo>
                  <a:lnTo>
                    <a:pt x="10160507" y="585216"/>
                  </a:lnTo>
                  <a:lnTo>
                    <a:pt x="10160507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 descr=""/>
          <p:cNvGrpSpPr/>
          <p:nvPr/>
        </p:nvGrpSpPr>
        <p:grpSpPr>
          <a:xfrm>
            <a:off x="222313" y="3931970"/>
            <a:ext cx="9709785" cy="1299210"/>
            <a:chOff x="222313" y="3931970"/>
            <a:chExt cx="9709785" cy="1299210"/>
          </a:xfrm>
        </p:grpSpPr>
        <p:sp>
          <p:nvSpPr>
            <p:cNvPr id="6" name="object 6" descr=""/>
            <p:cNvSpPr/>
            <p:nvPr/>
          </p:nvSpPr>
          <p:spPr>
            <a:xfrm>
              <a:off x="227075" y="3938016"/>
              <a:ext cx="9694545" cy="1287780"/>
            </a:xfrm>
            <a:custGeom>
              <a:avLst/>
              <a:gdLst/>
              <a:ahLst/>
              <a:cxnLst/>
              <a:rect l="l" t="t" r="r" b="b"/>
              <a:pathLst>
                <a:path w="9694545" h="1287779">
                  <a:moveTo>
                    <a:pt x="0" y="1287780"/>
                  </a:moveTo>
                  <a:lnTo>
                    <a:pt x="9694037" y="1287780"/>
                  </a:lnTo>
                  <a:lnTo>
                    <a:pt x="9694037" y="0"/>
                  </a:lnTo>
                  <a:lnTo>
                    <a:pt x="0" y="0"/>
                  </a:lnTo>
                  <a:lnTo>
                    <a:pt x="0" y="1287780"/>
                  </a:lnTo>
                  <a:close/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239267" y="3931970"/>
              <a:ext cx="9692640" cy="354965"/>
            </a:xfrm>
            <a:custGeom>
              <a:avLst/>
              <a:gdLst/>
              <a:ahLst/>
              <a:cxnLst/>
              <a:rect l="l" t="t" r="r" b="b"/>
              <a:pathLst>
                <a:path w="9692640" h="354964">
                  <a:moveTo>
                    <a:pt x="9692513" y="0"/>
                  </a:moveTo>
                  <a:lnTo>
                    <a:pt x="0" y="0"/>
                  </a:lnTo>
                  <a:lnTo>
                    <a:pt x="0" y="354787"/>
                  </a:lnTo>
                  <a:lnTo>
                    <a:pt x="9692513" y="354787"/>
                  </a:lnTo>
                  <a:lnTo>
                    <a:pt x="9692513" y="0"/>
                  </a:lnTo>
                  <a:close/>
                </a:path>
              </a:pathLst>
            </a:custGeom>
            <a:solidFill>
              <a:srgbClr val="5F5F5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329488" y="3994784"/>
            <a:ext cx="448309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Insights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243586" y="804672"/>
            <a:ext cx="9695180" cy="2919095"/>
            <a:chOff x="243586" y="804672"/>
            <a:chExt cx="9695180" cy="2919095"/>
          </a:xfrm>
        </p:grpSpPr>
        <p:sp>
          <p:nvSpPr>
            <p:cNvPr id="10" name="object 10" descr=""/>
            <p:cNvSpPr/>
            <p:nvPr/>
          </p:nvSpPr>
          <p:spPr>
            <a:xfrm>
              <a:off x="249936" y="890016"/>
              <a:ext cx="9682480" cy="2827020"/>
            </a:xfrm>
            <a:custGeom>
              <a:avLst/>
              <a:gdLst/>
              <a:ahLst/>
              <a:cxnLst/>
              <a:rect l="l" t="t" r="r" b="b"/>
              <a:pathLst>
                <a:path w="9682480" h="2827020">
                  <a:moveTo>
                    <a:pt x="0" y="2827019"/>
                  </a:moveTo>
                  <a:lnTo>
                    <a:pt x="9681972" y="2827019"/>
                  </a:lnTo>
                  <a:lnTo>
                    <a:pt x="9681972" y="0"/>
                  </a:lnTo>
                  <a:lnTo>
                    <a:pt x="0" y="0"/>
                  </a:lnTo>
                  <a:lnTo>
                    <a:pt x="0" y="282701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2264663" y="804672"/>
              <a:ext cx="5641975" cy="190500"/>
            </a:xfrm>
            <a:custGeom>
              <a:avLst/>
              <a:gdLst/>
              <a:ahLst/>
              <a:cxnLst/>
              <a:rect l="l" t="t" r="r" b="b"/>
              <a:pathLst>
                <a:path w="5641975" h="190500">
                  <a:moveTo>
                    <a:pt x="5641847" y="0"/>
                  </a:moveTo>
                  <a:lnTo>
                    <a:pt x="0" y="0"/>
                  </a:lnTo>
                  <a:lnTo>
                    <a:pt x="0" y="190500"/>
                  </a:lnTo>
                  <a:lnTo>
                    <a:pt x="5641847" y="190500"/>
                  </a:lnTo>
                  <a:lnTo>
                    <a:pt x="56418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3422141" y="800481"/>
            <a:ext cx="3336925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b="1">
                <a:latin typeface="Arial"/>
                <a:cs typeface="Arial"/>
              </a:rPr>
              <a:t>Nigeria’s</a:t>
            </a:r>
            <a:r>
              <a:rPr dirty="0" sz="1150" spc="-3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Debt</a:t>
            </a:r>
            <a:r>
              <a:rPr dirty="0" sz="1150" spc="-1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Dynamics</a:t>
            </a:r>
            <a:r>
              <a:rPr dirty="0" sz="1150" spc="3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vs</a:t>
            </a:r>
            <a:r>
              <a:rPr dirty="0" sz="1150" spc="2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Capital</a:t>
            </a:r>
            <a:r>
              <a:rPr dirty="0" sz="1150" spc="-20" b="1">
                <a:latin typeface="Arial"/>
                <a:cs typeface="Arial"/>
              </a:rPr>
              <a:t> </a:t>
            </a:r>
            <a:r>
              <a:rPr dirty="0" sz="1150" spc="-10" b="1">
                <a:latin typeface="Arial"/>
                <a:cs typeface="Arial"/>
              </a:rPr>
              <a:t>Importation</a:t>
            </a:r>
            <a:endParaRPr sz="1150">
              <a:latin typeface="Arial"/>
              <a:cs typeface="Arial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513397" y="1704213"/>
            <a:ext cx="9224010" cy="1579245"/>
            <a:chOff x="513397" y="1704213"/>
            <a:chExt cx="9224010" cy="1579245"/>
          </a:xfrm>
        </p:grpSpPr>
        <p:sp>
          <p:nvSpPr>
            <p:cNvPr id="14" name="object 14" descr=""/>
            <p:cNvSpPr/>
            <p:nvPr/>
          </p:nvSpPr>
          <p:spPr>
            <a:xfrm>
              <a:off x="518159" y="3278124"/>
              <a:ext cx="9214485" cy="0"/>
            </a:xfrm>
            <a:custGeom>
              <a:avLst/>
              <a:gdLst/>
              <a:ahLst/>
              <a:cxnLst/>
              <a:rect l="l" t="t" r="r" b="b"/>
              <a:pathLst>
                <a:path w="9214485" h="0">
                  <a:moveTo>
                    <a:pt x="0" y="0"/>
                  </a:moveTo>
                  <a:lnTo>
                    <a:pt x="9214104" y="0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938022" y="2884860"/>
              <a:ext cx="8374380" cy="318135"/>
            </a:xfrm>
            <a:custGeom>
              <a:avLst/>
              <a:gdLst/>
              <a:ahLst/>
              <a:cxnLst/>
              <a:rect l="l" t="t" r="r" b="b"/>
              <a:pathLst>
                <a:path w="8374380" h="318135">
                  <a:moveTo>
                    <a:pt x="0" y="200858"/>
                  </a:moveTo>
                  <a:lnTo>
                    <a:pt x="49261" y="191792"/>
                  </a:lnTo>
                  <a:lnTo>
                    <a:pt x="98522" y="181803"/>
                  </a:lnTo>
                  <a:lnTo>
                    <a:pt x="147783" y="171089"/>
                  </a:lnTo>
                  <a:lnTo>
                    <a:pt x="197044" y="159849"/>
                  </a:lnTo>
                  <a:lnTo>
                    <a:pt x="246305" y="148279"/>
                  </a:lnTo>
                  <a:lnTo>
                    <a:pt x="295566" y="136579"/>
                  </a:lnTo>
                  <a:lnTo>
                    <a:pt x="344827" y="124945"/>
                  </a:lnTo>
                  <a:lnTo>
                    <a:pt x="394088" y="113576"/>
                  </a:lnTo>
                  <a:lnTo>
                    <a:pt x="443349" y="102670"/>
                  </a:lnTo>
                  <a:lnTo>
                    <a:pt x="492610" y="92424"/>
                  </a:lnTo>
                  <a:lnTo>
                    <a:pt x="541871" y="83037"/>
                  </a:lnTo>
                  <a:lnTo>
                    <a:pt x="591132" y="74706"/>
                  </a:lnTo>
                  <a:lnTo>
                    <a:pt x="640393" y="67629"/>
                  </a:lnTo>
                  <a:lnTo>
                    <a:pt x="689654" y="62005"/>
                  </a:lnTo>
                  <a:lnTo>
                    <a:pt x="738915" y="58031"/>
                  </a:lnTo>
                  <a:lnTo>
                    <a:pt x="788176" y="55904"/>
                  </a:lnTo>
                  <a:lnTo>
                    <a:pt x="837438" y="55824"/>
                  </a:lnTo>
                  <a:lnTo>
                    <a:pt x="886699" y="58089"/>
                  </a:lnTo>
                  <a:lnTo>
                    <a:pt x="935960" y="62693"/>
                  </a:lnTo>
                  <a:lnTo>
                    <a:pt x="985221" y="69374"/>
                  </a:lnTo>
                  <a:lnTo>
                    <a:pt x="1034482" y="77873"/>
                  </a:lnTo>
                  <a:lnTo>
                    <a:pt x="1083743" y="87929"/>
                  </a:lnTo>
                  <a:lnTo>
                    <a:pt x="1133004" y="99279"/>
                  </a:lnTo>
                  <a:lnTo>
                    <a:pt x="1182265" y="111664"/>
                  </a:lnTo>
                  <a:lnTo>
                    <a:pt x="1231526" y="124823"/>
                  </a:lnTo>
                  <a:lnTo>
                    <a:pt x="1280787" y="138495"/>
                  </a:lnTo>
                  <a:lnTo>
                    <a:pt x="1330048" y="152418"/>
                  </a:lnTo>
                  <a:lnTo>
                    <a:pt x="1379309" y="166332"/>
                  </a:lnTo>
                  <a:lnTo>
                    <a:pt x="1428570" y="179977"/>
                  </a:lnTo>
                  <a:lnTo>
                    <a:pt x="1477831" y="193091"/>
                  </a:lnTo>
                  <a:lnTo>
                    <a:pt x="1527092" y="205413"/>
                  </a:lnTo>
                  <a:lnTo>
                    <a:pt x="1576353" y="216683"/>
                  </a:lnTo>
                  <a:lnTo>
                    <a:pt x="1625614" y="226639"/>
                  </a:lnTo>
                  <a:lnTo>
                    <a:pt x="1674876" y="235021"/>
                  </a:lnTo>
                  <a:lnTo>
                    <a:pt x="1724137" y="242704"/>
                  </a:lnTo>
                  <a:lnTo>
                    <a:pt x="1773398" y="250651"/>
                  </a:lnTo>
                  <a:lnTo>
                    <a:pt x="1822659" y="258726"/>
                  </a:lnTo>
                  <a:lnTo>
                    <a:pt x="1871920" y="266799"/>
                  </a:lnTo>
                  <a:lnTo>
                    <a:pt x="1921181" y="274735"/>
                  </a:lnTo>
                  <a:lnTo>
                    <a:pt x="1970442" y="282402"/>
                  </a:lnTo>
                  <a:lnTo>
                    <a:pt x="2019703" y="289668"/>
                  </a:lnTo>
                  <a:lnTo>
                    <a:pt x="2068964" y="296398"/>
                  </a:lnTo>
                  <a:lnTo>
                    <a:pt x="2118225" y="302460"/>
                  </a:lnTo>
                  <a:lnTo>
                    <a:pt x="2167486" y="307722"/>
                  </a:lnTo>
                  <a:lnTo>
                    <a:pt x="2216747" y="312050"/>
                  </a:lnTo>
                  <a:lnTo>
                    <a:pt x="2266008" y="315311"/>
                  </a:lnTo>
                  <a:lnTo>
                    <a:pt x="2315269" y="317373"/>
                  </a:lnTo>
                  <a:lnTo>
                    <a:pt x="2364530" y="318103"/>
                  </a:lnTo>
                  <a:lnTo>
                    <a:pt x="2413791" y="317367"/>
                  </a:lnTo>
                  <a:lnTo>
                    <a:pt x="2463052" y="315032"/>
                  </a:lnTo>
                  <a:lnTo>
                    <a:pt x="2512314" y="310967"/>
                  </a:lnTo>
                  <a:lnTo>
                    <a:pt x="2558838" y="304849"/>
                  </a:lnTo>
                  <a:lnTo>
                    <a:pt x="2605362" y="296147"/>
                  </a:lnTo>
                  <a:lnTo>
                    <a:pt x="2651887" y="285181"/>
                  </a:lnTo>
                  <a:lnTo>
                    <a:pt x="2698411" y="272268"/>
                  </a:lnTo>
                  <a:lnTo>
                    <a:pt x="2744935" y="257728"/>
                  </a:lnTo>
                  <a:lnTo>
                    <a:pt x="2791460" y="241879"/>
                  </a:lnTo>
                  <a:lnTo>
                    <a:pt x="2837984" y="225040"/>
                  </a:lnTo>
                  <a:lnTo>
                    <a:pt x="2884508" y="207529"/>
                  </a:lnTo>
                  <a:lnTo>
                    <a:pt x="2931033" y="189666"/>
                  </a:lnTo>
                  <a:lnTo>
                    <a:pt x="2977557" y="171769"/>
                  </a:lnTo>
                  <a:lnTo>
                    <a:pt x="3024081" y="154156"/>
                  </a:lnTo>
                  <a:lnTo>
                    <a:pt x="3070606" y="137146"/>
                  </a:lnTo>
                  <a:lnTo>
                    <a:pt x="3117130" y="121059"/>
                  </a:lnTo>
                  <a:lnTo>
                    <a:pt x="3163654" y="106212"/>
                  </a:lnTo>
                  <a:lnTo>
                    <a:pt x="3210179" y="92924"/>
                  </a:lnTo>
                  <a:lnTo>
                    <a:pt x="3256703" y="81514"/>
                  </a:lnTo>
                  <a:lnTo>
                    <a:pt x="3303227" y="72301"/>
                  </a:lnTo>
                  <a:lnTo>
                    <a:pt x="3349752" y="65603"/>
                  </a:lnTo>
                  <a:lnTo>
                    <a:pt x="3399013" y="61234"/>
                  </a:lnTo>
                  <a:lnTo>
                    <a:pt x="3448274" y="59231"/>
                  </a:lnTo>
                  <a:lnTo>
                    <a:pt x="3497535" y="59309"/>
                  </a:lnTo>
                  <a:lnTo>
                    <a:pt x="3546796" y="61181"/>
                  </a:lnTo>
                  <a:lnTo>
                    <a:pt x="3596057" y="64562"/>
                  </a:lnTo>
                  <a:lnTo>
                    <a:pt x="3645318" y="69165"/>
                  </a:lnTo>
                  <a:lnTo>
                    <a:pt x="3694579" y="74705"/>
                  </a:lnTo>
                  <a:lnTo>
                    <a:pt x="3743840" y="80895"/>
                  </a:lnTo>
                  <a:lnTo>
                    <a:pt x="3793101" y="87450"/>
                  </a:lnTo>
                  <a:lnTo>
                    <a:pt x="3842362" y="94083"/>
                  </a:lnTo>
                  <a:lnTo>
                    <a:pt x="3891623" y="100509"/>
                  </a:lnTo>
                  <a:lnTo>
                    <a:pt x="3940884" y="106441"/>
                  </a:lnTo>
                  <a:lnTo>
                    <a:pt x="3990145" y="111594"/>
                  </a:lnTo>
                  <a:lnTo>
                    <a:pt x="4039406" y="115681"/>
                  </a:lnTo>
                  <a:lnTo>
                    <a:pt x="4088667" y="118416"/>
                  </a:lnTo>
                  <a:lnTo>
                    <a:pt x="4137928" y="119514"/>
                  </a:lnTo>
                  <a:lnTo>
                    <a:pt x="4187190" y="118689"/>
                  </a:lnTo>
                  <a:lnTo>
                    <a:pt x="4236451" y="115687"/>
                  </a:lnTo>
                  <a:lnTo>
                    <a:pt x="4285712" y="110614"/>
                  </a:lnTo>
                  <a:lnTo>
                    <a:pt x="4334973" y="103788"/>
                  </a:lnTo>
                  <a:lnTo>
                    <a:pt x="4384234" y="95526"/>
                  </a:lnTo>
                  <a:lnTo>
                    <a:pt x="4433495" y="86145"/>
                  </a:lnTo>
                  <a:lnTo>
                    <a:pt x="4482756" y="75964"/>
                  </a:lnTo>
                  <a:lnTo>
                    <a:pt x="4532017" y="65300"/>
                  </a:lnTo>
                  <a:lnTo>
                    <a:pt x="4581278" y="54470"/>
                  </a:lnTo>
                  <a:lnTo>
                    <a:pt x="4630539" y="43793"/>
                  </a:lnTo>
                  <a:lnTo>
                    <a:pt x="4679800" y="33586"/>
                  </a:lnTo>
                  <a:lnTo>
                    <a:pt x="4729061" y="24166"/>
                  </a:lnTo>
                  <a:lnTo>
                    <a:pt x="4778322" y="15852"/>
                  </a:lnTo>
                  <a:lnTo>
                    <a:pt x="4827583" y="8960"/>
                  </a:lnTo>
                  <a:lnTo>
                    <a:pt x="4876844" y="3809"/>
                  </a:lnTo>
                  <a:lnTo>
                    <a:pt x="4926105" y="717"/>
                  </a:lnTo>
                  <a:lnTo>
                    <a:pt x="4975366" y="0"/>
                  </a:lnTo>
                  <a:lnTo>
                    <a:pt x="5024628" y="1976"/>
                  </a:lnTo>
                  <a:lnTo>
                    <a:pt x="5073889" y="6859"/>
                  </a:lnTo>
                  <a:lnTo>
                    <a:pt x="5123150" y="14476"/>
                  </a:lnTo>
                  <a:lnTo>
                    <a:pt x="5172411" y="24503"/>
                  </a:lnTo>
                  <a:lnTo>
                    <a:pt x="5221672" y="36611"/>
                  </a:lnTo>
                  <a:lnTo>
                    <a:pt x="5270933" y="50475"/>
                  </a:lnTo>
                  <a:lnTo>
                    <a:pt x="5320194" y="65769"/>
                  </a:lnTo>
                  <a:lnTo>
                    <a:pt x="5369455" y="82166"/>
                  </a:lnTo>
                  <a:lnTo>
                    <a:pt x="5418716" y="99340"/>
                  </a:lnTo>
                  <a:lnTo>
                    <a:pt x="5467977" y="116964"/>
                  </a:lnTo>
                  <a:lnTo>
                    <a:pt x="5517238" y="134713"/>
                  </a:lnTo>
                  <a:lnTo>
                    <a:pt x="5566499" y="152260"/>
                  </a:lnTo>
                  <a:lnTo>
                    <a:pt x="5615760" y="169278"/>
                  </a:lnTo>
                  <a:lnTo>
                    <a:pt x="5665021" y="185441"/>
                  </a:lnTo>
                  <a:lnTo>
                    <a:pt x="5714282" y="200424"/>
                  </a:lnTo>
                  <a:lnTo>
                    <a:pt x="5763543" y="213899"/>
                  </a:lnTo>
                  <a:lnTo>
                    <a:pt x="5812804" y="225540"/>
                  </a:lnTo>
                  <a:lnTo>
                    <a:pt x="5862066" y="235021"/>
                  </a:lnTo>
                  <a:lnTo>
                    <a:pt x="5911327" y="242739"/>
                  </a:lnTo>
                  <a:lnTo>
                    <a:pt x="5960588" y="249371"/>
                  </a:lnTo>
                  <a:lnTo>
                    <a:pt x="6009849" y="255013"/>
                  </a:lnTo>
                  <a:lnTo>
                    <a:pt x="6059110" y="259761"/>
                  </a:lnTo>
                  <a:lnTo>
                    <a:pt x="6108371" y="263711"/>
                  </a:lnTo>
                  <a:lnTo>
                    <a:pt x="6157632" y="266958"/>
                  </a:lnTo>
                  <a:lnTo>
                    <a:pt x="6206893" y="269598"/>
                  </a:lnTo>
                  <a:lnTo>
                    <a:pt x="6256154" y="271726"/>
                  </a:lnTo>
                  <a:lnTo>
                    <a:pt x="6305415" y="273439"/>
                  </a:lnTo>
                  <a:lnTo>
                    <a:pt x="6354676" y="274832"/>
                  </a:lnTo>
                  <a:lnTo>
                    <a:pt x="6403937" y="276001"/>
                  </a:lnTo>
                  <a:lnTo>
                    <a:pt x="6453198" y="277041"/>
                  </a:lnTo>
                  <a:lnTo>
                    <a:pt x="6502459" y="278048"/>
                  </a:lnTo>
                  <a:lnTo>
                    <a:pt x="6551720" y="279118"/>
                  </a:lnTo>
                  <a:lnTo>
                    <a:pt x="6600981" y="280347"/>
                  </a:lnTo>
                  <a:lnTo>
                    <a:pt x="6650242" y="281829"/>
                  </a:lnTo>
                  <a:lnTo>
                    <a:pt x="6699504" y="283662"/>
                  </a:lnTo>
                  <a:lnTo>
                    <a:pt x="6751843" y="285785"/>
                  </a:lnTo>
                  <a:lnTo>
                    <a:pt x="6804183" y="287777"/>
                  </a:lnTo>
                  <a:lnTo>
                    <a:pt x="6856523" y="289644"/>
                  </a:lnTo>
                  <a:lnTo>
                    <a:pt x="6908863" y="291391"/>
                  </a:lnTo>
                  <a:lnTo>
                    <a:pt x="6961203" y="293024"/>
                  </a:lnTo>
                  <a:lnTo>
                    <a:pt x="7013543" y="294549"/>
                  </a:lnTo>
                  <a:lnTo>
                    <a:pt x="7065883" y="295972"/>
                  </a:lnTo>
                  <a:lnTo>
                    <a:pt x="7118223" y="297299"/>
                  </a:lnTo>
                  <a:lnTo>
                    <a:pt x="7170562" y="298534"/>
                  </a:lnTo>
                  <a:lnTo>
                    <a:pt x="7222902" y="299684"/>
                  </a:lnTo>
                  <a:lnTo>
                    <a:pt x="7275242" y="300756"/>
                  </a:lnTo>
                  <a:lnTo>
                    <a:pt x="7327582" y="301753"/>
                  </a:lnTo>
                  <a:lnTo>
                    <a:pt x="7379922" y="302683"/>
                  </a:lnTo>
                  <a:lnTo>
                    <a:pt x="7432262" y="303552"/>
                  </a:lnTo>
                  <a:lnTo>
                    <a:pt x="7484602" y="304363"/>
                  </a:lnTo>
                  <a:lnTo>
                    <a:pt x="7536942" y="305125"/>
                  </a:lnTo>
                  <a:lnTo>
                    <a:pt x="7589281" y="305764"/>
                  </a:lnTo>
                  <a:lnTo>
                    <a:pt x="7641621" y="306263"/>
                  </a:lnTo>
                  <a:lnTo>
                    <a:pt x="7693961" y="306637"/>
                  </a:lnTo>
                  <a:lnTo>
                    <a:pt x="7746301" y="306899"/>
                  </a:lnTo>
                  <a:lnTo>
                    <a:pt x="7798641" y="307064"/>
                  </a:lnTo>
                  <a:lnTo>
                    <a:pt x="7850981" y="307147"/>
                  </a:lnTo>
                  <a:lnTo>
                    <a:pt x="7903321" y="307163"/>
                  </a:lnTo>
                  <a:lnTo>
                    <a:pt x="7955661" y="307125"/>
                  </a:lnTo>
                  <a:lnTo>
                    <a:pt x="8008000" y="307049"/>
                  </a:lnTo>
                  <a:lnTo>
                    <a:pt x="8060340" y="306948"/>
                  </a:lnTo>
                  <a:lnTo>
                    <a:pt x="8112680" y="306838"/>
                  </a:lnTo>
                  <a:lnTo>
                    <a:pt x="8165020" y="306732"/>
                  </a:lnTo>
                  <a:lnTo>
                    <a:pt x="8217360" y="306646"/>
                  </a:lnTo>
                  <a:lnTo>
                    <a:pt x="8269700" y="306594"/>
                  </a:lnTo>
                  <a:lnTo>
                    <a:pt x="8322040" y="306590"/>
                  </a:lnTo>
                  <a:lnTo>
                    <a:pt x="8374380" y="306649"/>
                  </a:lnTo>
                </a:path>
              </a:pathLst>
            </a:custGeom>
            <a:ln w="19049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938022" y="1713738"/>
              <a:ext cx="8374380" cy="1205865"/>
            </a:xfrm>
            <a:custGeom>
              <a:avLst/>
              <a:gdLst/>
              <a:ahLst/>
              <a:cxnLst/>
              <a:rect l="l" t="t" r="r" b="b"/>
              <a:pathLst>
                <a:path w="8374380" h="1205864">
                  <a:moveTo>
                    <a:pt x="0" y="1205484"/>
                  </a:moveTo>
                  <a:lnTo>
                    <a:pt x="52339" y="1203466"/>
                  </a:lnTo>
                  <a:lnTo>
                    <a:pt x="104679" y="1201503"/>
                  </a:lnTo>
                  <a:lnTo>
                    <a:pt x="157019" y="1199580"/>
                  </a:lnTo>
                  <a:lnTo>
                    <a:pt x="209359" y="1197687"/>
                  </a:lnTo>
                  <a:lnTo>
                    <a:pt x="261699" y="1195811"/>
                  </a:lnTo>
                  <a:lnTo>
                    <a:pt x="314039" y="1193940"/>
                  </a:lnTo>
                  <a:lnTo>
                    <a:pt x="366379" y="1192061"/>
                  </a:lnTo>
                  <a:lnTo>
                    <a:pt x="418719" y="1190164"/>
                  </a:lnTo>
                  <a:lnTo>
                    <a:pt x="471058" y="1188236"/>
                  </a:lnTo>
                  <a:lnTo>
                    <a:pt x="523398" y="1186264"/>
                  </a:lnTo>
                  <a:lnTo>
                    <a:pt x="575738" y="1184236"/>
                  </a:lnTo>
                  <a:lnTo>
                    <a:pt x="628078" y="1182141"/>
                  </a:lnTo>
                  <a:lnTo>
                    <a:pt x="680418" y="1179967"/>
                  </a:lnTo>
                  <a:lnTo>
                    <a:pt x="732758" y="1177701"/>
                  </a:lnTo>
                  <a:lnTo>
                    <a:pt x="785098" y="1175330"/>
                  </a:lnTo>
                  <a:lnTo>
                    <a:pt x="837438" y="1172845"/>
                  </a:lnTo>
                  <a:lnTo>
                    <a:pt x="886699" y="1170492"/>
                  </a:lnTo>
                  <a:lnTo>
                    <a:pt x="935960" y="1168173"/>
                  </a:lnTo>
                  <a:lnTo>
                    <a:pt x="985221" y="1165867"/>
                  </a:lnTo>
                  <a:lnTo>
                    <a:pt x="1034482" y="1163555"/>
                  </a:lnTo>
                  <a:lnTo>
                    <a:pt x="1083743" y="1161218"/>
                  </a:lnTo>
                  <a:lnTo>
                    <a:pt x="1133004" y="1158836"/>
                  </a:lnTo>
                  <a:lnTo>
                    <a:pt x="1182265" y="1156390"/>
                  </a:lnTo>
                  <a:lnTo>
                    <a:pt x="1231526" y="1153859"/>
                  </a:lnTo>
                  <a:lnTo>
                    <a:pt x="1280787" y="1151225"/>
                  </a:lnTo>
                  <a:lnTo>
                    <a:pt x="1330048" y="1148468"/>
                  </a:lnTo>
                  <a:lnTo>
                    <a:pt x="1379309" y="1145568"/>
                  </a:lnTo>
                  <a:lnTo>
                    <a:pt x="1428570" y="1142505"/>
                  </a:lnTo>
                  <a:lnTo>
                    <a:pt x="1477831" y="1139261"/>
                  </a:lnTo>
                  <a:lnTo>
                    <a:pt x="1527092" y="1135816"/>
                  </a:lnTo>
                  <a:lnTo>
                    <a:pt x="1576353" y="1132150"/>
                  </a:lnTo>
                  <a:lnTo>
                    <a:pt x="1625614" y="1128243"/>
                  </a:lnTo>
                  <a:lnTo>
                    <a:pt x="1674876" y="1124077"/>
                  </a:lnTo>
                  <a:lnTo>
                    <a:pt x="1724137" y="1119747"/>
                  </a:lnTo>
                  <a:lnTo>
                    <a:pt x="1773398" y="1115391"/>
                  </a:lnTo>
                  <a:lnTo>
                    <a:pt x="1822659" y="1110977"/>
                  </a:lnTo>
                  <a:lnTo>
                    <a:pt x="1871920" y="1106475"/>
                  </a:lnTo>
                  <a:lnTo>
                    <a:pt x="1921181" y="1101855"/>
                  </a:lnTo>
                  <a:lnTo>
                    <a:pt x="1970442" y="1097088"/>
                  </a:lnTo>
                  <a:lnTo>
                    <a:pt x="2019703" y="1092143"/>
                  </a:lnTo>
                  <a:lnTo>
                    <a:pt x="2068964" y="1086990"/>
                  </a:lnTo>
                  <a:lnTo>
                    <a:pt x="2118225" y="1081598"/>
                  </a:lnTo>
                  <a:lnTo>
                    <a:pt x="2167486" y="1075939"/>
                  </a:lnTo>
                  <a:lnTo>
                    <a:pt x="2216747" y="1069981"/>
                  </a:lnTo>
                  <a:lnTo>
                    <a:pt x="2266008" y="1063695"/>
                  </a:lnTo>
                  <a:lnTo>
                    <a:pt x="2315269" y="1057051"/>
                  </a:lnTo>
                  <a:lnTo>
                    <a:pt x="2364530" y="1050018"/>
                  </a:lnTo>
                  <a:lnTo>
                    <a:pt x="2413791" y="1042566"/>
                  </a:lnTo>
                  <a:lnTo>
                    <a:pt x="2463052" y="1034666"/>
                  </a:lnTo>
                  <a:lnTo>
                    <a:pt x="2512314" y="1026287"/>
                  </a:lnTo>
                  <a:lnTo>
                    <a:pt x="2561575" y="1017463"/>
                  </a:lnTo>
                  <a:lnTo>
                    <a:pt x="2610836" y="1008257"/>
                  </a:lnTo>
                  <a:lnTo>
                    <a:pt x="2660097" y="998677"/>
                  </a:lnTo>
                  <a:lnTo>
                    <a:pt x="2709358" y="988734"/>
                  </a:lnTo>
                  <a:lnTo>
                    <a:pt x="2758619" y="978437"/>
                  </a:lnTo>
                  <a:lnTo>
                    <a:pt x="2807880" y="967796"/>
                  </a:lnTo>
                  <a:lnTo>
                    <a:pt x="2857141" y="956820"/>
                  </a:lnTo>
                  <a:lnTo>
                    <a:pt x="2906402" y="945520"/>
                  </a:lnTo>
                  <a:lnTo>
                    <a:pt x="2955663" y="933906"/>
                  </a:lnTo>
                  <a:lnTo>
                    <a:pt x="3004924" y="921986"/>
                  </a:lnTo>
                  <a:lnTo>
                    <a:pt x="3054185" y="909772"/>
                  </a:lnTo>
                  <a:lnTo>
                    <a:pt x="3103446" y="897272"/>
                  </a:lnTo>
                  <a:lnTo>
                    <a:pt x="3152707" y="884496"/>
                  </a:lnTo>
                  <a:lnTo>
                    <a:pt x="3201968" y="871455"/>
                  </a:lnTo>
                  <a:lnTo>
                    <a:pt x="3251229" y="858158"/>
                  </a:lnTo>
                  <a:lnTo>
                    <a:pt x="3300490" y="844614"/>
                  </a:lnTo>
                  <a:lnTo>
                    <a:pt x="3349752" y="830834"/>
                  </a:lnTo>
                  <a:lnTo>
                    <a:pt x="3396276" y="816896"/>
                  </a:lnTo>
                  <a:lnTo>
                    <a:pt x="3442800" y="801491"/>
                  </a:lnTo>
                  <a:lnTo>
                    <a:pt x="3489325" y="784863"/>
                  </a:lnTo>
                  <a:lnTo>
                    <a:pt x="3535849" y="767254"/>
                  </a:lnTo>
                  <a:lnTo>
                    <a:pt x="3582373" y="748907"/>
                  </a:lnTo>
                  <a:lnTo>
                    <a:pt x="3628898" y="730066"/>
                  </a:lnTo>
                  <a:lnTo>
                    <a:pt x="3675422" y="710973"/>
                  </a:lnTo>
                  <a:lnTo>
                    <a:pt x="3721946" y="691871"/>
                  </a:lnTo>
                  <a:lnTo>
                    <a:pt x="3768471" y="673004"/>
                  </a:lnTo>
                  <a:lnTo>
                    <a:pt x="3814995" y="654614"/>
                  </a:lnTo>
                  <a:lnTo>
                    <a:pt x="3861519" y="636945"/>
                  </a:lnTo>
                  <a:lnTo>
                    <a:pt x="3908044" y="620239"/>
                  </a:lnTo>
                  <a:lnTo>
                    <a:pt x="3954568" y="604740"/>
                  </a:lnTo>
                  <a:lnTo>
                    <a:pt x="4001092" y="590690"/>
                  </a:lnTo>
                  <a:lnTo>
                    <a:pt x="4047617" y="578333"/>
                  </a:lnTo>
                  <a:lnTo>
                    <a:pt x="4094141" y="567911"/>
                  </a:lnTo>
                  <a:lnTo>
                    <a:pt x="4140665" y="559668"/>
                  </a:lnTo>
                  <a:lnTo>
                    <a:pt x="4187190" y="553847"/>
                  </a:lnTo>
                  <a:lnTo>
                    <a:pt x="4236451" y="550682"/>
                  </a:lnTo>
                  <a:lnTo>
                    <a:pt x="4285712" y="550542"/>
                  </a:lnTo>
                  <a:lnTo>
                    <a:pt x="4334973" y="553069"/>
                  </a:lnTo>
                  <a:lnTo>
                    <a:pt x="4384234" y="557905"/>
                  </a:lnTo>
                  <a:lnTo>
                    <a:pt x="4433495" y="564691"/>
                  </a:lnTo>
                  <a:lnTo>
                    <a:pt x="4482756" y="573069"/>
                  </a:lnTo>
                  <a:lnTo>
                    <a:pt x="4532017" y="582681"/>
                  </a:lnTo>
                  <a:lnTo>
                    <a:pt x="4581278" y="593169"/>
                  </a:lnTo>
                  <a:lnTo>
                    <a:pt x="4630539" y="604175"/>
                  </a:lnTo>
                  <a:lnTo>
                    <a:pt x="4679800" y="615341"/>
                  </a:lnTo>
                  <a:lnTo>
                    <a:pt x="4729061" y="626309"/>
                  </a:lnTo>
                  <a:lnTo>
                    <a:pt x="4778322" y="636719"/>
                  </a:lnTo>
                  <a:lnTo>
                    <a:pt x="4827583" y="646216"/>
                  </a:lnTo>
                  <a:lnTo>
                    <a:pt x="4876844" y="654439"/>
                  </a:lnTo>
                  <a:lnTo>
                    <a:pt x="4926105" y="661032"/>
                  </a:lnTo>
                  <a:lnTo>
                    <a:pt x="4975366" y="665636"/>
                  </a:lnTo>
                  <a:lnTo>
                    <a:pt x="5024628" y="667892"/>
                  </a:lnTo>
                  <a:lnTo>
                    <a:pt x="5073889" y="668783"/>
                  </a:lnTo>
                  <a:lnTo>
                    <a:pt x="5123150" y="669461"/>
                  </a:lnTo>
                  <a:lnTo>
                    <a:pt x="5172411" y="669826"/>
                  </a:lnTo>
                  <a:lnTo>
                    <a:pt x="5221672" y="669780"/>
                  </a:lnTo>
                  <a:lnTo>
                    <a:pt x="5270933" y="669223"/>
                  </a:lnTo>
                  <a:lnTo>
                    <a:pt x="5320194" y="668055"/>
                  </a:lnTo>
                  <a:lnTo>
                    <a:pt x="5369455" y="666177"/>
                  </a:lnTo>
                  <a:lnTo>
                    <a:pt x="5418716" y="663490"/>
                  </a:lnTo>
                  <a:lnTo>
                    <a:pt x="5467977" y="659895"/>
                  </a:lnTo>
                  <a:lnTo>
                    <a:pt x="5517238" y="655291"/>
                  </a:lnTo>
                  <a:lnTo>
                    <a:pt x="5566499" y="649580"/>
                  </a:lnTo>
                  <a:lnTo>
                    <a:pt x="5615760" y="642661"/>
                  </a:lnTo>
                  <a:lnTo>
                    <a:pt x="5665021" y="634437"/>
                  </a:lnTo>
                  <a:lnTo>
                    <a:pt x="5714282" y="624806"/>
                  </a:lnTo>
                  <a:lnTo>
                    <a:pt x="5763543" y="613670"/>
                  </a:lnTo>
                  <a:lnTo>
                    <a:pt x="5812804" y="600930"/>
                  </a:lnTo>
                  <a:lnTo>
                    <a:pt x="5862066" y="586486"/>
                  </a:lnTo>
                  <a:lnTo>
                    <a:pt x="5906141" y="571140"/>
                  </a:lnTo>
                  <a:lnTo>
                    <a:pt x="5950217" y="552786"/>
                  </a:lnTo>
                  <a:lnTo>
                    <a:pt x="5994293" y="531801"/>
                  </a:lnTo>
                  <a:lnTo>
                    <a:pt x="6038368" y="508565"/>
                  </a:lnTo>
                  <a:lnTo>
                    <a:pt x="6082444" y="483453"/>
                  </a:lnTo>
                  <a:lnTo>
                    <a:pt x="6126520" y="456844"/>
                  </a:lnTo>
                  <a:lnTo>
                    <a:pt x="6170595" y="429116"/>
                  </a:lnTo>
                  <a:lnTo>
                    <a:pt x="6214671" y="400647"/>
                  </a:lnTo>
                  <a:lnTo>
                    <a:pt x="6258747" y="371813"/>
                  </a:lnTo>
                  <a:lnTo>
                    <a:pt x="6302822" y="342993"/>
                  </a:lnTo>
                  <a:lnTo>
                    <a:pt x="6346898" y="314564"/>
                  </a:lnTo>
                  <a:lnTo>
                    <a:pt x="6390974" y="286905"/>
                  </a:lnTo>
                  <a:lnTo>
                    <a:pt x="6435049" y="260393"/>
                  </a:lnTo>
                  <a:lnTo>
                    <a:pt x="6479125" y="235405"/>
                  </a:lnTo>
                  <a:lnTo>
                    <a:pt x="6523201" y="212320"/>
                  </a:lnTo>
                  <a:lnTo>
                    <a:pt x="6567276" y="191515"/>
                  </a:lnTo>
                  <a:lnTo>
                    <a:pt x="6611352" y="173368"/>
                  </a:lnTo>
                  <a:lnTo>
                    <a:pt x="6655428" y="158256"/>
                  </a:lnTo>
                  <a:lnTo>
                    <a:pt x="6699504" y="146558"/>
                  </a:lnTo>
                  <a:lnTo>
                    <a:pt x="6748765" y="137699"/>
                  </a:lnTo>
                  <a:lnTo>
                    <a:pt x="6798026" y="132814"/>
                  </a:lnTo>
                  <a:lnTo>
                    <a:pt x="6847287" y="131426"/>
                  </a:lnTo>
                  <a:lnTo>
                    <a:pt x="6896548" y="133056"/>
                  </a:lnTo>
                  <a:lnTo>
                    <a:pt x="6945809" y="137228"/>
                  </a:lnTo>
                  <a:lnTo>
                    <a:pt x="6995070" y="143465"/>
                  </a:lnTo>
                  <a:lnTo>
                    <a:pt x="7044331" y="151289"/>
                  </a:lnTo>
                  <a:lnTo>
                    <a:pt x="7093592" y="160223"/>
                  </a:lnTo>
                  <a:lnTo>
                    <a:pt x="7142853" y="169789"/>
                  </a:lnTo>
                  <a:lnTo>
                    <a:pt x="7192114" y="179512"/>
                  </a:lnTo>
                  <a:lnTo>
                    <a:pt x="7241375" y="188912"/>
                  </a:lnTo>
                  <a:lnTo>
                    <a:pt x="7290636" y="197514"/>
                  </a:lnTo>
                  <a:lnTo>
                    <a:pt x="7339897" y="204840"/>
                  </a:lnTo>
                  <a:lnTo>
                    <a:pt x="7389158" y="210412"/>
                  </a:lnTo>
                  <a:lnTo>
                    <a:pt x="7438419" y="213753"/>
                  </a:lnTo>
                  <a:lnTo>
                    <a:pt x="7487680" y="214387"/>
                  </a:lnTo>
                  <a:lnTo>
                    <a:pt x="7536942" y="211836"/>
                  </a:lnTo>
                  <a:lnTo>
                    <a:pt x="7586203" y="206581"/>
                  </a:lnTo>
                  <a:lnTo>
                    <a:pt x="7635464" y="199581"/>
                  </a:lnTo>
                  <a:lnTo>
                    <a:pt x="7684725" y="191005"/>
                  </a:lnTo>
                  <a:lnTo>
                    <a:pt x="7733986" y="181021"/>
                  </a:lnTo>
                  <a:lnTo>
                    <a:pt x="7783247" y="169799"/>
                  </a:lnTo>
                  <a:lnTo>
                    <a:pt x="7832508" y="157507"/>
                  </a:lnTo>
                  <a:lnTo>
                    <a:pt x="7881769" y="144314"/>
                  </a:lnTo>
                  <a:lnTo>
                    <a:pt x="7931030" y="130389"/>
                  </a:lnTo>
                  <a:lnTo>
                    <a:pt x="7980291" y="115902"/>
                  </a:lnTo>
                  <a:lnTo>
                    <a:pt x="8029552" y="101020"/>
                  </a:lnTo>
                  <a:lnTo>
                    <a:pt x="8078813" y="85913"/>
                  </a:lnTo>
                  <a:lnTo>
                    <a:pt x="8128074" y="70749"/>
                  </a:lnTo>
                  <a:lnTo>
                    <a:pt x="8177335" y="55699"/>
                  </a:lnTo>
                  <a:lnTo>
                    <a:pt x="8226596" y="40929"/>
                  </a:lnTo>
                  <a:lnTo>
                    <a:pt x="8275857" y="26610"/>
                  </a:lnTo>
                  <a:lnTo>
                    <a:pt x="8325118" y="12911"/>
                  </a:lnTo>
                  <a:lnTo>
                    <a:pt x="8374380" y="0"/>
                  </a:lnTo>
                </a:path>
              </a:pathLst>
            </a:custGeom>
            <a:ln w="190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938022" y="3180078"/>
              <a:ext cx="8374380" cy="59055"/>
            </a:xfrm>
            <a:custGeom>
              <a:avLst/>
              <a:gdLst/>
              <a:ahLst/>
              <a:cxnLst/>
              <a:rect l="l" t="t" r="r" b="b"/>
              <a:pathLst>
                <a:path w="8374380" h="59055">
                  <a:moveTo>
                    <a:pt x="0" y="52960"/>
                  </a:moveTo>
                  <a:lnTo>
                    <a:pt x="52339" y="53318"/>
                  </a:lnTo>
                  <a:lnTo>
                    <a:pt x="104679" y="53761"/>
                  </a:lnTo>
                  <a:lnTo>
                    <a:pt x="157019" y="54268"/>
                  </a:lnTo>
                  <a:lnTo>
                    <a:pt x="209359" y="54821"/>
                  </a:lnTo>
                  <a:lnTo>
                    <a:pt x="261699" y="55399"/>
                  </a:lnTo>
                  <a:lnTo>
                    <a:pt x="314039" y="55982"/>
                  </a:lnTo>
                  <a:lnTo>
                    <a:pt x="366379" y="56552"/>
                  </a:lnTo>
                  <a:lnTo>
                    <a:pt x="418719" y="57087"/>
                  </a:lnTo>
                  <a:lnTo>
                    <a:pt x="471058" y="57569"/>
                  </a:lnTo>
                  <a:lnTo>
                    <a:pt x="523398" y="57978"/>
                  </a:lnTo>
                  <a:lnTo>
                    <a:pt x="575738" y="58293"/>
                  </a:lnTo>
                  <a:lnTo>
                    <a:pt x="628078" y="58496"/>
                  </a:lnTo>
                  <a:lnTo>
                    <a:pt x="680418" y="58566"/>
                  </a:lnTo>
                  <a:lnTo>
                    <a:pt x="732758" y="58485"/>
                  </a:lnTo>
                  <a:lnTo>
                    <a:pt x="785098" y="58231"/>
                  </a:lnTo>
                  <a:lnTo>
                    <a:pt x="837438" y="57786"/>
                  </a:lnTo>
                  <a:lnTo>
                    <a:pt x="889777" y="57119"/>
                  </a:lnTo>
                  <a:lnTo>
                    <a:pt x="942117" y="56232"/>
                  </a:lnTo>
                  <a:lnTo>
                    <a:pt x="994457" y="55150"/>
                  </a:lnTo>
                  <a:lnTo>
                    <a:pt x="1046797" y="53902"/>
                  </a:lnTo>
                  <a:lnTo>
                    <a:pt x="1099137" y="52513"/>
                  </a:lnTo>
                  <a:lnTo>
                    <a:pt x="1151477" y="51010"/>
                  </a:lnTo>
                  <a:lnTo>
                    <a:pt x="1203817" y="49420"/>
                  </a:lnTo>
                  <a:lnTo>
                    <a:pt x="1256157" y="47768"/>
                  </a:lnTo>
                  <a:lnTo>
                    <a:pt x="1308496" y="46083"/>
                  </a:lnTo>
                  <a:lnTo>
                    <a:pt x="1360836" y="44390"/>
                  </a:lnTo>
                  <a:lnTo>
                    <a:pt x="1413176" y="42716"/>
                  </a:lnTo>
                  <a:lnTo>
                    <a:pt x="1465516" y="41087"/>
                  </a:lnTo>
                  <a:lnTo>
                    <a:pt x="1517856" y="39531"/>
                  </a:lnTo>
                  <a:lnTo>
                    <a:pt x="1570196" y="38073"/>
                  </a:lnTo>
                  <a:lnTo>
                    <a:pt x="1622536" y="36741"/>
                  </a:lnTo>
                  <a:lnTo>
                    <a:pt x="1674876" y="35561"/>
                  </a:lnTo>
                  <a:lnTo>
                    <a:pt x="1727215" y="34501"/>
                  </a:lnTo>
                  <a:lnTo>
                    <a:pt x="1779555" y="33509"/>
                  </a:lnTo>
                  <a:lnTo>
                    <a:pt x="1831895" y="32577"/>
                  </a:lnTo>
                  <a:lnTo>
                    <a:pt x="1884235" y="31699"/>
                  </a:lnTo>
                  <a:lnTo>
                    <a:pt x="1936575" y="30867"/>
                  </a:lnTo>
                  <a:lnTo>
                    <a:pt x="1988915" y="30073"/>
                  </a:lnTo>
                  <a:lnTo>
                    <a:pt x="2041255" y="29312"/>
                  </a:lnTo>
                  <a:lnTo>
                    <a:pt x="2093595" y="28576"/>
                  </a:lnTo>
                  <a:lnTo>
                    <a:pt x="2145934" y="27857"/>
                  </a:lnTo>
                  <a:lnTo>
                    <a:pt x="2198274" y="27149"/>
                  </a:lnTo>
                  <a:lnTo>
                    <a:pt x="2250614" y="26445"/>
                  </a:lnTo>
                  <a:lnTo>
                    <a:pt x="2302954" y="25738"/>
                  </a:lnTo>
                  <a:lnTo>
                    <a:pt x="2355294" y="25020"/>
                  </a:lnTo>
                  <a:lnTo>
                    <a:pt x="2407634" y="24285"/>
                  </a:lnTo>
                  <a:lnTo>
                    <a:pt x="2459974" y="23525"/>
                  </a:lnTo>
                  <a:lnTo>
                    <a:pt x="2512314" y="22734"/>
                  </a:lnTo>
                  <a:lnTo>
                    <a:pt x="2564653" y="21892"/>
                  </a:lnTo>
                  <a:lnTo>
                    <a:pt x="2616993" y="20953"/>
                  </a:lnTo>
                  <a:lnTo>
                    <a:pt x="2669333" y="19940"/>
                  </a:lnTo>
                  <a:lnTo>
                    <a:pt x="2721673" y="18874"/>
                  </a:lnTo>
                  <a:lnTo>
                    <a:pt x="2774013" y="17777"/>
                  </a:lnTo>
                  <a:lnTo>
                    <a:pt x="2826353" y="16673"/>
                  </a:lnTo>
                  <a:lnTo>
                    <a:pt x="2878693" y="15581"/>
                  </a:lnTo>
                  <a:lnTo>
                    <a:pt x="2931032" y="14526"/>
                  </a:lnTo>
                  <a:lnTo>
                    <a:pt x="2983372" y="13529"/>
                  </a:lnTo>
                  <a:lnTo>
                    <a:pt x="3035712" y="12612"/>
                  </a:lnTo>
                  <a:lnTo>
                    <a:pt x="3088052" y="11797"/>
                  </a:lnTo>
                  <a:lnTo>
                    <a:pt x="3140392" y="11107"/>
                  </a:lnTo>
                  <a:lnTo>
                    <a:pt x="3192732" y="10563"/>
                  </a:lnTo>
                  <a:lnTo>
                    <a:pt x="3245072" y="10189"/>
                  </a:lnTo>
                  <a:lnTo>
                    <a:pt x="3297412" y="10005"/>
                  </a:lnTo>
                  <a:lnTo>
                    <a:pt x="3349752" y="10034"/>
                  </a:lnTo>
                  <a:lnTo>
                    <a:pt x="3402091" y="10332"/>
                  </a:lnTo>
                  <a:lnTo>
                    <a:pt x="3454431" y="10916"/>
                  </a:lnTo>
                  <a:lnTo>
                    <a:pt x="3506771" y="11746"/>
                  </a:lnTo>
                  <a:lnTo>
                    <a:pt x="3559111" y="12784"/>
                  </a:lnTo>
                  <a:lnTo>
                    <a:pt x="3611451" y="13990"/>
                  </a:lnTo>
                  <a:lnTo>
                    <a:pt x="3663791" y="15324"/>
                  </a:lnTo>
                  <a:lnTo>
                    <a:pt x="3716131" y="16749"/>
                  </a:lnTo>
                  <a:lnTo>
                    <a:pt x="3768470" y="18225"/>
                  </a:lnTo>
                  <a:lnTo>
                    <a:pt x="3820810" y="19713"/>
                  </a:lnTo>
                  <a:lnTo>
                    <a:pt x="3873150" y="21173"/>
                  </a:lnTo>
                  <a:lnTo>
                    <a:pt x="3925490" y="22568"/>
                  </a:lnTo>
                  <a:lnTo>
                    <a:pt x="3977830" y="23857"/>
                  </a:lnTo>
                  <a:lnTo>
                    <a:pt x="4030170" y="25001"/>
                  </a:lnTo>
                  <a:lnTo>
                    <a:pt x="4082510" y="25963"/>
                  </a:lnTo>
                  <a:lnTo>
                    <a:pt x="4134850" y="26701"/>
                  </a:lnTo>
                  <a:lnTo>
                    <a:pt x="4187190" y="27179"/>
                  </a:lnTo>
                  <a:lnTo>
                    <a:pt x="4239529" y="27463"/>
                  </a:lnTo>
                  <a:lnTo>
                    <a:pt x="4291869" y="27610"/>
                  </a:lnTo>
                  <a:lnTo>
                    <a:pt x="4344209" y="27630"/>
                  </a:lnTo>
                  <a:lnTo>
                    <a:pt x="4396549" y="27534"/>
                  </a:lnTo>
                  <a:lnTo>
                    <a:pt x="4448889" y="27333"/>
                  </a:lnTo>
                  <a:lnTo>
                    <a:pt x="4501229" y="27038"/>
                  </a:lnTo>
                  <a:lnTo>
                    <a:pt x="4553569" y="26660"/>
                  </a:lnTo>
                  <a:lnTo>
                    <a:pt x="4605908" y="26210"/>
                  </a:lnTo>
                  <a:lnTo>
                    <a:pt x="4658248" y="25699"/>
                  </a:lnTo>
                  <a:lnTo>
                    <a:pt x="4710588" y="25138"/>
                  </a:lnTo>
                  <a:lnTo>
                    <a:pt x="4762928" y="24538"/>
                  </a:lnTo>
                  <a:lnTo>
                    <a:pt x="4815268" y="23910"/>
                  </a:lnTo>
                  <a:lnTo>
                    <a:pt x="4867608" y="23265"/>
                  </a:lnTo>
                  <a:lnTo>
                    <a:pt x="4919948" y="22614"/>
                  </a:lnTo>
                  <a:lnTo>
                    <a:pt x="4972288" y="21967"/>
                  </a:lnTo>
                  <a:lnTo>
                    <a:pt x="5024628" y="21337"/>
                  </a:lnTo>
                  <a:lnTo>
                    <a:pt x="5076967" y="20672"/>
                  </a:lnTo>
                  <a:lnTo>
                    <a:pt x="5129307" y="19923"/>
                  </a:lnTo>
                  <a:lnTo>
                    <a:pt x="5181647" y="19102"/>
                  </a:lnTo>
                  <a:lnTo>
                    <a:pt x="5233987" y="18221"/>
                  </a:lnTo>
                  <a:lnTo>
                    <a:pt x="5286327" y="17291"/>
                  </a:lnTo>
                  <a:lnTo>
                    <a:pt x="5338667" y="16323"/>
                  </a:lnTo>
                  <a:lnTo>
                    <a:pt x="5391007" y="15328"/>
                  </a:lnTo>
                  <a:lnTo>
                    <a:pt x="5443347" y="14320"/>
                  </a:lnTo>
                  <a:lnTo>
                    <a:pt x="5495686" y="13308"/>
                  </a:lnTo>
                  <a:lnTo>
                    <a:pt x="5548026" y="12305"/>
                  </a:lnTo>
                  <a:lnTo>
                    <a:pt x="5600366" y="11322"/>
                  </a:lnTo>
                  <a:lnTo>
                    <a:pt x="5652706" y="10371"/>
                  </a:lnTo>
                  <a:lnTo>
                    <a:pt x="5705046" y="9463"/>
                  </a:lnTo>
                  <a:lnTo>
                    <a:pt x="5757386" y="8609"/>
                  </a:lnTo>
                  <a:lnTo>
                    <a:pt x="5809726" y="7822"/>
                  </a:lnTo>
                  <a:lnTo>
                    <a:pt x="5862066" y="7113"/>
                  </a:lnTo>
                  <a:lnTo>
                    <a:pt x="5914405" y="6444"/>
                  </a:lnTo>
                  <a:lnTo>
                    <a:pt x="5966745" y="5776"/>
                  </a:lnTo>
                  <a:lnTo>
                    <a:pt x="6019085" y="5114"/>
                  </a:lnTo>
                  <a:lnTo>
                    <a:pt x="6071425" y="4465"/>
                  </a:lnTo>
                  <a:lnTo>
                    <a:pt x="6123765" y="3836"/>
                  </a:lnTo>
                  <a:lnTo>
                    <a:pt x="6176105" y="3233"/>
                  </a:lnTo>
                  <a:lnTo>
                    <a:pt x="6228445" y="2661"/>
                  </a:lnTo>
                  <a:lnTo>
                    <a:pt x="6280785" y="2128"/>
                  </a:lnTo>
                  <a:lnTo>
                    <a:pt x="6333124" y="1639"/>
                  </a:lnTo>
                  <a:lnTo>
                    <a:pt x="6385464" y="1202"/>
                  </a:lnTo>
                  <a:lnTo>
                    <a:pt x="6437804" y="821"/>
                  </a:lnTo>
                  <a:lnTo>
                    <a:pt x="6490144" y="505"/>
                  </a:lnTo>
                  <a:lnTo>
                    <a:pt x="6542484" y="258"/>
                  </a:lnTo>
                  <a:lnTo>
                    <a:pt x="6594824" y="87"/>
                  </a:lnTo>
                  <a:lnTo>
                    <a:pt x="6647164" y="0"/>
                  </a:lnTo>
                  <a:lnTo>
                    <a:pt x="6699504" y="1"/>
                  </a:lnTo>
                  <a:lnTo>
                    <a:pt x="6751843" y="112"/>
                  </a:lnTo>
                  <a:lnTo>
                    <a:pt x="6804183" y="341"/>
                  </a:lnTo>
                  <a:lnTo>
                    <a:pt x="6856523" y="675"/>
                  </a:lnTo>
                  <a:lnTo>
                    <a:pt x="6908863" y="1102"/>
                  </a:lnTo>
                  <a:lnTo>
                    <a:pt x="6961203" y="1608"/>
                  </a:lnTo>
                  <a:lnTo>
                    <a:pt x="7013543" y="2182"/>
                  </a:lnTo>
                  <a:lnTo>
                    <a:pt x="7065883" y="2809"/>
                  </a:lnTo>
                  <a:lnTo>
                    <a:pt x="7118223" y="3477"/>
                  </a:lnTo>
                  <a:lnTo>
                    <a:pt x="7170562" y="4174"/>
                  </a:lnTo>
                  <a:lnTo>
                    <a:pt x="7222902" y="4886"/>
                  </a:lnTo>
                  <a:lnTo>
                    <a:pt x="7275242" y="5600"/>
                  </a:lnTo>
                  <a:lnTo>
                    <a:pt x="7327582" y="6305"/>
                  </a:lnTo>
                  <a:lnTo>
                    <a:pt x="7379922" y="6986"/>
                  </a:lnTo>
                  <a:lnTo>
                    <a:pt x="7432262" y="7632"/>
                  </a:lnTo>
                  <a:lnTo>
                    <a:pt x="7484602" y="8228"/>
                  </a:lnTo>
                  <a:lnTo>
                    <a:pt x="7536942" y="8764"/>
                  </a:lnTo>
                  <a:lnTo>
                    <a:pt x="7589281" y="9282"/>
                  </a:lnTo>
                  <a:lnTo>
                    <a:pt x="7641621" y="9789"/>
                  </a:lnTo>
                  <a:lnTo>
                    <a:pt x="7693961" y="10287"/>
                  </a:lnTo>
                  <a:lnTo>
                    <a:pt x="7746301" y="10776"/>
                  </a:lnTo>
                  <a:lnTo>
                    <a:pt x="7798641" y="11257"/>
                  </a:lnTo>
                  <a:lnTo>
                    <a:pt x="7850981" y="11733"/>
                  </a:lnTo>
                  <a:lnTo>
                    <a:pt x="7903321" y="12203"/>
                  </a:lnTo>
                  <a:lnTo>
                    <a:pt x="7955661" y="12669"/>
                  </a:lnTo>
                  <a:lnTo>
                    <a:pt x="8008000" y="13132"/>
                  </a:lnTo>
                  <a:lnTo>
                    <a:pt x="8060340" y="13593"/>
                  </a:lnTo>
                  <a:lnTo>
                    <a:pt x="8112680" y="14053"/>
                  </a:lnTo>
                  <a:lnTo>
                    <a:pt x="8165020" y="14514"/>
                  </a:lnTo>
                  <a:lnTo>
                    <a:pt x="8217360" y="14977"/>
                  </a:lnTo>
                  <a:lnTo>
                    <a:pt x="8269700" y="15441"/>
                  </a:lnTo>
                  <a:lnTo>
                    <a:pt x="8322040" y="15910"/>
                  </a:lnTo>
                  <a:lnTo>
                    <a:pt x="8374380" y="16384"/>
                  </a:lnTo>
                </a:path>
              </a:pathLst>
            </a:custGeom>
            <a:ln w="19049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281127" y="1250061"/>
            <a:ext cx="173990" cy="20878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95"/>
              </a:spcBef>
            </a:pP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120</a:t>
            </a:r>
            <a:endParaRPr sz="7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7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5"/>
              </a:spcBef>
            </a:pP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100</a:t>
            </a:r>
            <a:endParaRPr sz="7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700">
              <a:latin typeface="Arial MT"/>
              <a:cs typeface="Arial MT"/>
            </a:endParaRPr>
          </a:p>
          <a:p>
            <a:pPr algn="r" marR="5715">
              <a:lnSpc>
                <a:spcPct val="100000"/>
              </a:lnSpc>
            </a:pP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80</a:t>
            </a:r>
            <a:endParaRPr sz="7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700">
              <a:latin typeface="Arial MT"/>
              <a:cs typeface="Arial MT"/>
            </a:endParaRPr>
          </a:p>
          <a:p>
            <a:pPr algn="r" marR="5715">
              <a:lnSpc>
                <a:spcPct val="100000"/>
              </a:lnSpc>
            </a:pP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60</a:t>
            </a:r>
            <a:endParaRPr sz="7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700">
              <a:latin typeface="Arial MT"/>
              <a:cs typeface="Arial MT"/>
            </a:endParaRPr>
          </a:p>
          <a:p>
            <a:pPr algn="r" marR="5715">
              <a:lnSpc>
                <a:spcPct val="100000"/>
              </a:lnSpc>
            </a:pP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40</a:t>
            </a:r>
            <a:endParaRPr sz="7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700">
              <a:latin typeface="Arial MT"/>
              <a:cs typeface="Arial MT"/>
            </a:endParaRPr>
          </a:p>
          <a:p>
            <a:pPr algn="r" marR="5715">
              <a:lnSpc>
                <a:spcPct val="100000"/>
              </a:lnSpc>
              <a:spcBef>
                <a:spcPts val="5"/>
              </a:spcBef>
            </a:pP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20</a:t>
            </a:r>
            <a:endParaRPr sz="7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7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</a:pPr>
            <a:r>
              <a:rPr dirty="0" sz="700" spc="-50">
                <a:solidFill>
                  <a:srgbClr val="585858"/>
                </a:solidFill>
                <a:latin typeface="Arial MT"/>
                <a:cs typeface="Arial MT"/>
              </a:rPr>
              <a:t>0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826109" y="3311778"/>
            <a:ext cx="2228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0">
                <a:solidFill>
                  <a:srgbClr val="585858"/>
                </a:solidFill>
                <a:latin typeface="Arial MT"/>
                <a:cs typeface="Arial MT"/>
              </a:rPr>
              <a:t>2012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663700" y="3311778"/>
            <a:ext cx="2228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0">
                <a:solidFill>
                  <a:srgbClr val="585858"/>
                </a:solidFill>
                <a:latin typeface="Arial MT"/>
                <a:cs typeface="Arial MT"/>
              </a:rPr>
              <a:t>2013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5852286" y="3311778"/>
            <a:ext cx="2228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0">
                <a:solidFill>
                  <a:srgbClr val="585858"/>
                </a:solidFill>
                <a:latin typeface="Arial MT"/>
                <a:cs typeface="Arial MT"/>
              </a:rPr>
              <a:t>2018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8365363" y="3311778"/>
            <a:ext cx="2228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0">
                <a:solidFill>
                  <a:srgbClr val="585858"/>
                </a:solidFill>
                <a:latin typeface="Arial MT"/>
                <a:cs typeface="Arial MT"/>
              </a:rPr>
              <a:t>2021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9202928" y="3311778"/>
            <a:ext cx="2228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0">
                <a:solidFill>
                  <a:srgbClr val="585858"/>
                </a:solidFill>
                <a:latin typeface="Arial MT"/>
                <a:cs typeface="Arial MT"/>
              </a:rPr>
              <a:t>2022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4" name="object 24" descr=""/>
          <p:cNvSpPr/>
          <p:nvPr/>
        </p:nvSpPr>
        <p:spPr>
          <a:xfrm>
            <a:off x="2356866" y="3614165"/>
            <a:ext cx="243840" cy="0"/>
          </a:xfrm>
          <a:custGeom>
            <a:avLst/>
            <a:gdLst/>
            <a:ahLst/>
            <a:cxnLst/>
            <a:rect l="l" t="t" r="r" b="b"/>
            <a:pathLst>
              <a:path w="243839" h="0">
                <a:moveTo>
                  <a:pt x="0" y="0"/>
                </a:moveTo>
                <a:lnTo>
                  <a:pt x="243839" y="0"/>
                </a:lnTo>
              </a:path>
            </a:pathLst>
          </a:custGeom>
          <a:ln w="19050">
            <a:solidFill>
              <a:srgbClr val="EC7C3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 txBox="1"/>
          <p:nvPr/>
        </p:nvSpPr>
        <p:spPr>
          <a:xfrm>
            <a:off x="2501645" y="3311778"/>
            <a:ext cx="1256665" cy="3625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49630" algn="l"/>
              </a:tabLst>
            </a:pPr>
            <a:r>
              <a:rPr dirty="0" sz="700" spc="-20">
                <a:solidFill>
                  <a:srgbClr val="585858"/>
                </a:solidFill>
                <a:latin typeface="Arial MT"/>
                <a:cs typeface="Arial MT"/>
              </a:rPr>
              <a:t>2014</a:t>
            </a:r>
            <a:r>
              <a:rPr dirty="0" sz="700">
                <a:solidFill>
                  <a:srgbClr val="585858"/>
                </a:solidFill>
                <a:latin typeface="Arial MT"/>
                <a:cs typeface="Arial MT"/>
              </a:rPr>
              <a:t>	</a:t>
            </a:r>
            <a:r>
              <a:rPr dirty="0" sz="700" spc="-20">
                <a:solidFill>
                  <a:srgbClr val="585858"/>
                </a:solidFill>
                <a:latin typeface="Arial MT"/>
                <a:cs typeface="Arial MT"/>
              </a:rPr>
              <a:t>2015</a:t>
            </a:r>
            <a:endParaRPr sz="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700">
              <a:latin typeface="Arial MT"/>
              <a:cs typeface="Arial MT"/>
            </a:endParaRPr>
          </a:p>
          <a:p>
            <a:pPr marL="125095">
              <a:lnSpc>
                <a:spcPct val="100000"/>
              </a:lnSpc>
            </a:pP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Capital</a:t>
            </a:r>
            <a:r>
              <a:rPr dirty="0" sz="700" spc="-3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importation</a:t>
            </a:r>
            <a:r>
              <a:rPr dirty="0" sz="700" spc="-2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0D0D0D"/>
                </a:solidFill>
                <a:latin typeface="Arial MT"/>
                <a:cs typeface="Arial MT"/>
              </a:rPr>
              <a:t>($'billion)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6" name="object 26" descr=""/>
          <p:cNvSpPr/>
          <p:nvPr/>
        </p:nvSpPr>
        <p:spPr>
          <a:xfrm>
            <a:off x="4028694" y="3614165"/>
            <a:ext cx="243840" cy="0"/>
          </a:xfrm>
          <a:custGeom>
            <a:avLst/>
            <a:gdLst/>
            <a:ahLst/>
            <a:cxnLst/>
            <a:rect l="l" t="t" r="r" b="b"/>
            <a:pathLst>
              <a:path w="243839" h="0">
                <a:moveTo>
                  <a:pt x="0" y="0"/>
                </a:moveTo>
                <a:lnTo>
                  <a:pt x="243839" y="0"/>
                </a:lnTo>
              </a:path>
            </a:pathLst>
          </a:custGeom>
          <a:ln w="1905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 txBox="1"/>
          <p:nvPr/>
        </p:nvSpPr>
        <p:spPr>
          <a:xfrm>
            <a:off x="4176776" y="3311778"/>
            <a:ext cx="1428750" cy="3625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50265" algn="l"/>
              </a:tabLst>
            </a:pPr>
            <a:r>
              <a:rPr dirty="0" sz="700" spc="-20">
                <a:solidFill>
                  <a:srgbClr val="585858"/>
                </a:solidFill>
                <a:latin typeface="Arial MT"/>
                <a:cs typeface="Arial MT"/>
              </a:rPr>
              <a:t>2016</a:t>
            </a:r>
            <a:r>
              <a:rPr dirty="0" sz="700">
                <a:solidFill>
                  <a:srgbClr val="585858"/>
                </a:solidFill>
                <a:latin typeface="Arial MT"/>
                <a:cs typeface="Arial MT"/>
              </a:rPr>
              <a:t>	</a:t>
            </a:r>
            <a:r>
              <a:rPr dirty="0" sz="700" spc="-20">
                <a:solidFill>
                  <a:srgbClr val="585858"/>
                </a:solidFill>
                <a:latin typeface="Arial MT"/>
                <a:cs typeface="Arial MT"/>
              </a:rPr>
              <a:t>2017</a:t>
            </a:r>
            <a:endParaRPr sz="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700">
              <a:latin typeface="Arial MT"/>
              <a:cs typeface="Arial MT"/>
            </a:endParaRPr>
          </a:p>
          <a:p>
            <a:pPr marL="121920">
              <a:lnSpc>
                <a:spcPct val="100000"/>
              </a:lnSpc>
            </a:pP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Debt</a:t>
            </a:r>
            <a:r>
              <a:rPr dirty="0" sz="700" spc="-2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service</a:t>
            </a:r>
            <a:r>
              <a:rPr dirty="0" sz="700" spc="-2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as</a:t>
            </a:r>
            <a:r>
              <a:rPr dirty="0" sz="700" spc="-2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a</a:t>
            </a:r>
            <a:r>
              <a:rPr dirty="0" sz="700" spc="-1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(%)</a:t>
            </a:r>
            <a:r>
              <a:rPr dirty="0" sz="700" spc="-1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of</a:t>
            </a:r>
            <a:r>
              <a:rPr dirty="0" sz="700" spc="-10">
                <a:solidFill>
                  <a:srgbClr val="0D0D0D"/>
                </a:solidFill>
                <a:latin typeface="Arial MT"/>
                <a:cs typeface="Arial MT"/>
              </a:rPr>
              <a:t> revenue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8" name="object 28" descr=""/>
          <p:cNvSpPr/>
          <p:nvPr/>
        </p:nvSpPr>
        <p:spPr>
          <a:xfrm>
            <a:off x="5875782" y="3614165"/>
            <a:ext cx="243840" cy="0"/>
          </a:xfrm>
          <a:custGeom>
            <a:avLst/>
            <a:gdLst/>
            <a:ahLst/>
            <a:cxnLst/>
            <a:rect l="l" t="t" r="r" b="b"/>
            <a:pathLst>
              <a:path w="243839" h="0">
                <a:moveTo>
                  <a:pt x="0" y="0"/>
                </a:moveTo>
                <a:lnTo>
                  <a:pt x="243839" y="0"/>
                </a:lnTo>
              </a:path>
            </a:pathLst>
          </a:custGeom>
          <a:ln w="19050">
            <a:solidFill>
              <a:srgbClr val="FFC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 txBox="1"/>
          <p:nvPr/>
        </p:nvSpPr>
        <p:spPr>
          <a:xfrm>
            <a:off x="6134227" y="3311778"/>
            <a:ext cx="1656080" cy="3625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R="44450">
              <a:lnSpc>
                <a:spcPct val="100000"/>
              </a:lnSpc>
              <a:spcBef>
                <a:spcPts val="95"/>
              </a:spcBef>
              <a:tabLst>
                <a:tab pos="837565" algn="l"/>
              </a:tabLst>
            </a:pPr>
            <a:r>
              <a:rPr dirty="0" sz="700" spc="-20">
                <a:solidFill>
                  <a:srgbClr val="585858"/>
                </a:solidFill>
                <a:latin typeface="Arial MT"/>
                <a:cs typeface="Arial MT"/>
              </a:rPr>
              <a:t>2019</a:t>
            </a:r>
            <a:r>
              <a:rPr dirty="0" sz="700">
                <a:solidFill>
                  <a:srgbClr val="585858"/>
                </a:solidFill>
                <a:latin typeface="Arial MT"/>
                <a:cs typeface="Arial MT"/>
              </a:rPr>
              <a:t>	</a:t>
            </a:r>
            <a:r>
              <a:rPr dirty="0" sz="700" spc="-20">
                <a:solidFill>
                  <a:srgbClr val="585858"/>
                </a:solidFill>
                <a:latin typeface="Arial MT"/>
                <a:cs typeface="Arial MT"/>
              </a:rPr>
              <a:t>2020</a:t>
            </a:r>
            <a:endParaRPr sz="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7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</a:pP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Fiscal</a:t>
            </a:r>
            <a:r>
              <a:rPr dirty="0" sz="700" spc="-1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deficit</a:t>
            </a:r>
            <a:r>
              <a:rPr dirty="0" sz="700" spc="-2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as</a:t>
            </a:r>
            <a:r>
              <a:rPr dirty="0" sz="700" spc="-2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a</a:t>
            </a:r>
            <a:r>
              <a:rPr dirty="0" sz="700" spc="-1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percentage</a:t>
            </a:r>
            <a:r>
              <a:rPr dirty="0" sz="700" spc="-1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of</a:t>
            </a:r>
            <a:r>
              <a:rPr dirty="0" sz="700" spc="-1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GDP</a:t>
            </a:r>
            <a:r>
              <a:rPr dirty="0" sz="700" spc="-1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700" spc="-25">
                <a:solidFill>
                  <a:srgbClr val="0D0D0D"/>
                </a:solidFill>
                <a:latin typeface="Arial MT"/>
                <a:cs typeface="Arial MT"/>
              </a:rPr>
              <a:t>(%)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33" name="object 3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Impact</a:t>
            </a:r>
            <a:r>
              <a:rPr dirty="0" spc="35"/>
              <a:t> </a:t>
            </a:r>
            <a:r>
              <a:rPr dirty="0"/>
              <a:t>of</a:t>
            </a:r>
            <a:r>
              <a:rPr dirty="0" spc="50"/>
              <a:t> </a:t>
            </a:r>
            <a:r>
              <a:rPr dirty="0"/>
              <a:t>Global</a:t>
            </a:r>
            <a:r>
              <a:rPr dirty="0" spc="65"/>
              <a:t> </a:t>
            </a:r>
            <a:r>
              <a:rPr dirty="0"/>
              <a:t>Economic</a:t>
            </a:r>
            <a:r>
              <a:rPr dirty="0" spc="30"/>
              <a:t> </a:t>
            </a:r>
            <a:r>
              <a:rPr dirty="0"/>
              <a:t>Trends</a:t>
            </a:r>
            <a:r>
              <a:rPr dirty="0" spc="45"/>
              <a:t> </a:t>
            </a:r>
            <a:r>
              <a:rPr dirty="0"/>
              <a:t>on</a:t>
            </a:r>
            <a:r>
              <a:rPr dirty="0" spc="40"/>
              <a:t> </a:t>
            </a:r>
            <a:r>
              <a:rPr dirty="0"/>
              <a:t>Nigeria’s</a:t>
            </a:r>
            <a:r>
              <a:rPr dirty="0" spc="60"/>
              <a:t> </a:t>
            </a:r>
            <a:r>
              <a:rPr dirty="0"/>
              <a:t>Foreign</a:t>
            </a:r>
            <a:r>
              <a:rPr dirty="0" spc="45"/>
              <a:t> </a:t>
            </a:r>
            <a:r>
              <a:rPr dirty="0"/>
              <a:t>Exchange</a:t>
            </a:r>
            <a:r>
              <a:rPr dirty="0" spc="60"/>
              <a:t> </a:t>
            </a:r>
            <a:r>
              <a:rPr dirty="0" spc="-10"/>
              <a:t>Market</a:t>
            </a:r>
          </a:p>
        </p:txBody>
      </p:sp>
      <p:sp>
        <p:nvSpPr>
          <p:cNvPr id="34" name="object 3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October</a:t>
            </a:r>
            <a:r>
              <a:rPr dirty="0" spc="80"/>
              <a:t> </a:t>
            </a:r>
            <a:r>
              <a:rPr dirty="0" spc="-20"/>
              <a:t>2023</a:t>
            </a:r>
          </a:p>
        </p:txBody>
      </p:sp>
      <p:sp>
        <p:nvSpPr>
          <p:cNvPr id="35" name="object 3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815"/>
              </a:lnSpc>
            </a:pPr>
            <a:fld id="{81D60167-4931-47E6-BA6A-407CBD079E47}" type="slidenum">
              <a:rPr dirty="0" spc="-25"/>
              <a:t>26</a:t>
            </a:fld>
          </a:p>
        </p:txBody>
      </p:sp>
      <p:sp>
        <p:nvSpPr>
          <p:cNvPr id="30" name="object 30" descr=""/>
          <p:cNvSpPr txBox="1"/>
          <p:nvPr/>
        </p:nvSpPr>
        <p:spPr>
          <a:xfrm>
            <a:off x="4441316" y="3731767"/>
            <a:ext cx="1565275" cy="1282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50" i="1">
                <a:latin typeface="Arial"/>
                <a:cs typeface="Arial"/>
              </a:rPr>
              <a:t>Source:</a:t>
            </a:r>
            <a:r>
              <a:rPr dirty="0" sz="650" spc="20" i="1">
                <a:latin typeface="Arial"/>
                <a:cs typeface="Arial"/>
              </a:rPr>
              <a:t> </a:t>
            </a:r>
            <a:r>
              <a:rPr dirty="0" sz="650" i="1">
                <a:latin typeface="Arial"/>
                <a:cs typeface="Arial"/>
              </a:rPr>
              <a:t>NBS,</a:t>
            </a:r>
            <a:r>
              <a:rPr dirty="0" sz="650" spc="50" i="1">
                <a:latin typeface="Arial"/>
                <a:cs typeface="Arial"/>
              </a:rPr>
              <a:t> </a:t>
            </a:r>
            <a:r>
              <a:rPr dirty="0" sz="650" i="1">
                <a:latin typeface="Arial"/>
                <a:cs typeface="Arial"/>
              </a:rPr>
              <a:t>World</a:t>
            </a:r>
            <a:r>
              <a:rPr dirty="0" sz="650" spc="30" i="1">
                <a:latin typeface="Arial"/>
                <a:cs typeface="Arial"/>
              </a:rPr>
              <a:t> </a:t>
            </a:r>
            <a:r>
              <a:rPr dirty="0" sz="650" i="1">
                <a:latin typeface="Arial"/>
                <a:cs typeface="Arial"/>
              </a:rPr>
              <a:t>Bank,</a:t>
            </a:r>
            <a:r>
              <a:rPr dirty="0" sz="650" spc="50" i="1">
                <a:latin typeface="Arial"/>
                <a:cs typeface="Arial"/>
              </a:rPr>
              <a:t> </a:t>
            </a:r>
            <a:r>
              <a:rPr dirty="0" sz="650" i="1">
                <a:latin typeface="Arial"/>
                <a:cs typeface="Arial"/>
              </a:rPr>
              <a:t>PwC</a:t>
            </a:r>
            <a:r>
              <a:rPr dirty="0" sz="650" spc="10" i="1">
                <a:latin typeface="Arial"/>
                <a:cs typeface="Arial"/>
              </a:rPr>
              <a:t> </a:t>
            </a:r>
            <a:r>
              <a:rPr dirty="0" sz="650" spc="-10" i="1">
                <a:latin typeface="Arial"/>
                <a:cs typeface="Arial"/>
              </a:rPr>
              <a:t>Analysis</a:t>
            </a:r>
            <a:endParaRPr sz="650">
              <a:latin typeface="Arial"/>
              <a:cs typeface="Arial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231838" y="4350816"/>
            <a:ext cx="9685020" cy="797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20345" marR="201930" indent="-142240">
              <a:lnSpc>
                <a:spcPct val="100000"/>
              </a:lnSpc>
              <a:spcBef>
                <a:spcPts val="95"/>
              </a:spcBef>
              <a:buSzPct val="140000"/>
              <a:buFont typeface="Arial MT"/>
              <a:buChar char="•"/>
              <a:tabLst>
                <a:tab pos="221615" algn="l"/>
              </a:tabLst>
            </a:pPr>
            <a:r>
              <a:rPr dirty="0" sz="1000" b="1">
                <a:latin typeface="Arial"/>
                <a:cs typeface="Arial"/>
              </a:rPr>
              <a:t>Nigeria</a:t>
            </a:r>
            <a:r>
              <a:rPr dirty="0" sz="1000" spc="-6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debt</a:t>
            </a:r>
            <a:r>
              <a:rPr dirty="0" sz="1000" spc="-20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service</a:t>
            </a:r>
            <a:r>
              <a:rPr dirty="0" sz="1000" spc="-5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to</a:t>
            </a:r>
            <a:r>
              <a:rPr dirty="0" sz="1000" spc="-2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revenue</a:t>
            </a:r>
            <a:r>
              <a:rPr dirty="0" sz="1000" spc="-6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ratio</a:t>
            </a:r>
            <a:r>
              <a:rPr dirty="0" sz="1000" spc="-1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increased</a:t>
            </a:r>
            <a:r>
              <a:rPr dirty="0" sz="1000" spc="-4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to</a:t>
            </a:r>
            <a:r>
              <a:rPr dirty="0" sz="1000" spc="-2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96%</a:t>
            </a:r>
            <a:r>
              <a:rPr dirty="0" sz="1000" spc="-3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in</a:t>
            </a:r>
            <a:r>
              <a:rPr dirty="0" sz="1000" spc="-2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2022</a:t>
            </a:r>
            <a:r>
              <a:rPr dirty="0" sz="1000" spc="-5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raising</a:t>
            </a:r>
            <a:r>
              <a:rPr dirty="0" sz="1000" spc="-30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concerns</a:t>
            </a:r>
            <a:r>
              <a:rPr dirty="0" sz="1000" spc="-6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about</a:t>
            </a:r>
            <a:r>
              <a:rPr dirty="0" sz="1000" spc="-3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its</a:t>
            </a:r>
            <a:r>
              <a:rPr dirty="0" sz="1000" spc="5" b="1"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widening</a:t>
            </a:r>
            <a:r>
              <a:rPr dirty="0" sz="1000" spc="1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fiscal</a:t>
            </a:r>
            <a:r>
              <a:rPr dirty="0" sz="1000" spc="-3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deficit,</a:t>
            </a:r>
            <a:r>
              <a:rPr dirty="0" sz="1000" spc="-1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high</a:t>
            </a:r>
            <a:r>
              <a:rPr dirty="0" sz="1000" spc="-1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debt</a:t>
            </a:r>
            <a:r>
              <a:rPr dirty="0" sz="1000" spc="-2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servicing</a:t>
            </a:r>
            <a:r>
              <a:rPr dirty="0" sz="1000" spc="-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to</a:t>
            </a:r>
            <a:r>
              <a:rPr dirty="0" sz="1000" spc="-1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revenue</a:t>
            </a:r>
            <a:r>
              <a:rPr dirty="0" sz="1000" spc="-1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and</a:t>
            </a:r>
            <a:r>
              <a:rPr dirty="0" sz="1000" spc="-2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rising</a:t>
            </a:r>
            <a:r>
              <a:rPr dirty="0" sz="1000" spc="-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debt</a:t>
            </a:r>
            <a:r>
              <a:rPr dirty="0" sz="1000" spc="-25">
                <a:solidFill>
                  <a:srgbClr val="1F2023"/>
                </a:solidFill>
                <a:latin typeface="Arial MT"/>
                <a:cs typeface="Arial MT"/>
              </a:rPr>
              <a:t> to </a:t>
            </a:r>
            <a:r>
              <a:rPr dirty="0" sz="1000" spc="-25">
                <a:solidFill>
                  <a:srgbClr val="1F2023"/>
                </a:solidFill>
                <a:latin typeface="Arial MT"/>
                <a:cs typeface="Arial MT"/>
              </a:rPr>
              <a:t>	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GDP</a:t>
            </a:r>
            <a:r>
              <a:rPr dirty="0" sz="1000" spc="-2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ratios</a:t>
            </a:r>
            <a:r>
              <a:rPr dirty="0" sz="1000" b="1">
                <a:latin typeface="Arial"/>
                <a:cs typeface="Arial"/>
              </a:rPr>
              <a:t>.</a:t>
            </a:r>
            <a:r>
              <a:rPr dirty="0" sz="1000" spc="24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This</a:t>
            </a:r>
            <a:r>
              <a:rPr dirty="0" sz="1000" spc="-5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led</a:t>
            </a:r>
            <a:r>
              <a:rPr dirty="0" sz="1000" spc="-3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to l</a:t>
            </a:r>
            <a:r>
              <a:rPr dirty="0" sz="1000">
                <a:latin typeface="Arial MT"/>
                <a:cs typeface="Arial MT"/>
              </a:rPr>
              <a:t>ow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credit</a:t>
            </a:r>
            <a:r>
              <a:rPr dirty="0" sz="1000" spc="-4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rating</a:t>
            </a:r>
            <a:r>
              <a:rPr dirty="0" sz="1000" spc="-4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(Moody,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Fitch)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which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implies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access</a:t>
            </a:r>
            <a:r>
              <a:rPr dirty="0" sz="1000" spc="-5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to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international</a:t>
            </a:r>
            <a:r>
              <a:rPr dirty="0" sz="1000" spc="-5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funding</a:t>
            </a:r>
            <a:r>
              <a:rPr dirty="0" sz="1000" spc="-7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will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be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costly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and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investors</a:t>
            </a:r>
            <a:r>
              <a:rPr dirty="0" sz="1000" spc="-5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are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likely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to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reallocate</a:t>
            </a:r>
            <a:r>
              <a:rPr dirty="0" sz="1000" spc="-5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funds</a:t>
            </a:r>
            <a:r>
              <a:rPr dirty="0" sz="1000" spc="-6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to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other 	attractive </a:t>
            </a:r>
            <a:r>
              <a:rPr dirty="0" sz="1000">
                <a:latin typeface="Arial MT"/>
                <a:cs typeface="Arial MT"/>
              </a:rPr>
              <a:t>and </a:t>
            </a:r>
            <a:r>
              <a:rPr dirty="0" sz="1000" spc="-10">
                <a:latin typeface="Arial MT"/>
                <a:cs typeface="Arial MT"/>
              </a:rPr>
              <a:t>stable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markets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 MT"/>
              <a:buChar char="•"/>
            </a:pPr>
            <a:endParaRPr sz="1000">
              <a:latin typeface="Arial MT"/>
              <a:cs typeface="Arial MT"/>
            </a:endParaRPr>
          </a:p>
          <a:p>
            <a:pPr marL="220979" indent="-142240">
              <a:lnSpc>
                <a:spcPct val="100000"/>
              </a:lnSpc>
              <a:buSzPct val="140000"/>
              <a:buChar char="•"/>
              <a:tabLst>
                <a:tab pos="220979" algn="l"/>
              </a:tabLst>
            </a:pPr>
            <a:r>
              <a:rPr dirty="0" sz="1000">
                <a:latin typeface="Arial MT"/>
                <a:cs typeface="Arial MT"/>
              </a:rPr>
              <a:t>This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is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evident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in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decline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in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capital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importation</a:t>
            </a:r>
            <a:r>
              <a:rPr dirty="0" sz="1000" spc="-5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from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b="1">
                <a:latin typeface="Arial"/>
                <a:cs typeface="Arial"/>
              </a:rPr>
              <a:t>$24</a:t>
            </a:r>
            <a:r>
              <a:rPr dirty="0" sz="1000" spc="-25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billion</a:t>
            </a:r>
            <a:r>
              <a:rPr dirty="0" sz="1000" spc="-4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in</a:t>
            </a:r>
            <a:r>
              <a:rPr dirty="0" sz="1000" spc="-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2018</a:t>
            </a:r>
            <a:r>
              <a:rPr dirty="0" sz="1000" spc="-4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to</a:t>
            </a:r>
            <a:r>
              <a:rPr dirty="0" sz="1000" spc="-1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$5.3</a:t>
            </a:r>
            <a:r>
              <a:rPr dirty="0" sz="1000" spc="-40" b="1">
                <a:latin typeface="Arial"/>
                <a:cs typeface="Arial"/>
              </a:rPr>
              <a:t> </a:t>
            </a:r>
            <a:r>
              <a:rPr dirty="0" sz="1000" spc="-10" b="1">
                <a:latin typeface="Arial"/>
                <a:cs typeface="Arial"/>
              </a:rPr>
              <a:t>billion</a:t>
            </a:r>
            <a:r>
              <a:rPr dirty="0" sz="1000" spc="-4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in</a:t>
            </a:r>
            <a:r>
              <a:rPr dirty="0" sz="1000" spc="-10" b="1">
                <a:latin typeface="Arial"/>
                <a:cs typeface="Arial"/>
              </a:rPr>
              <a:t> </a:t>
            </a:r>
            <a:r>
              <a:rPr dirty="0" sz="1000" spc="-20" b="1">
                <a:latin typeface="Arial"/>
                <a:cs typeface="Arial"/>
              </a:rPr>
              <a:t>2022</a:t>
            </a:r>
            <a:endParaRPr sz="1000">
              <a:latin typeface="Arial"/>
              <a:cs typeface="Arial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49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Rising</a:t>
            </a:r>
            <a:r>
              <a:rPr dirty="0" spc="-35"/>
              <a:t> </a:t>
            </a:r>
            <a:r>
              <a:rPr dirty="0"/>
              <a:t>debt</a:t>
            </a:r>
            <a:r>
              <a:rPr dirty="0" spc="-20"/>
              <a:t> </a:t>
            </a:r>
            <a:r>
              <a:rPr dirty="0"/>
              <a:t>service</a:t>
            </a:r>
            <a:r>
              <a:rPr dirty="0" spc="-10"/>
              <a:t> </a:t>
            </a:r>
            <a:r>
              <a:rPr dirty="0"/>
              <a:t>to</a:t>
            </a:r>
            <a:r>
              <a:rPr dirty="0" spc="-50"/>
              <a:t> </a:t>
            </a:r>
            <a:r>
              <a:rPr dirty="0"/>
              <a:t>revenue</a:t>
            </a:r>
            <a:r>
              <a:rPr dirty="0" spc="-25"/>
              <a:t> </a:t>
            </a:r>
            <a:r>
              <a:rPr dirty="0"/>
              <a:t>ratio</a:t>
            </a:r>
            <a:r>
              <a:rPr dirty="0" spc="-40"/>
              <a:t> </a:t>
            </a:r>
            <a:r>
              <a:rPr dirty="0"/>
              <a:t>has</a:t>
            </a:r>
            <a:r>
              <a:rPr dirty="0" spc="-25"/>
              <a:t> </a:t>
            </a:r>
            <a:r>
              <a:rPr dirty="0"/>
              <a:t>led</a:t>
            </a:r>
            <a:r>
              <a:rPr dirty="0" spc="-40"/>
              <a:t> </a:t>
            </a:r>
            <a:r>
              <a:rPr dirty="0"/>
              <a:t>to</a:t>
            </a:r>
            <a:r>
              <a:rPr dirty="0" spc="-45"/>
              <a:t> </a:t>
            </a:r>
            <a:r>
              <a:rPr dirty="0"/>
              <a:t>the</a:t>
            </a:r>
            <a:r>
              <a:rPr dirty="0" spc="-40"/>
              <a:t> </a:t>
            </a:r>
            <a:r>
              <a:rPr dirty="0"/>
              <a:t>reallocation</a:t>
            </a:r>
            <a:r>
              <a:rPr dirty="0" spc="-5"/>
              <a:t> </a:t>
            </a:r>
            <a:r>
              <a:rPr dirty="0"/>
              <a:t>of</a:t>
            </a:r>
            <a:r>
              <a:rPr dirty="0" spc="-45"/>
              <a:t> </a:t>
            </a:r>
            <a:r>
              <a:rPr dirty="0"/>
              <a:t>capital</a:t>
            </a:r>
            <a:r>
              <a:rPr dirty="0" spc="-20"/>
              <a:t> </a:t>
            </a:r>
            <a:r>
              <a:rPr dirty="0"/>
              <a:t>away</a:t>
            </a:r>
            <a:r>
              <a:rPr dirty="0" spc="-25"/>
              <a:t> </a:t>
            </a:r>
            <a:r>
              <a:rPr dirty="0"/>
              <a:t>from</a:t>
            </a:r>
            <a:r>
              <a:rPr dirty="0" spc="-40"/>
              <a:t> </a:t>
            </a:r>
            <a:r>
              <a:rPr dirty="0"/>
              <a:t>the</a:t>
            </a:r>
            <a:r>
              <a:rPr dirty="0" spc="-40"/>
              <a:t> </a:t>
            </a:r>
            <a:r>
              <a:rPr dirty="0" spc="-10"/>
              <a:t>economy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49161" y="3930370"/>
            <a:ext cx="9830435" cy="1247140"/>
            <a:chOff x="149161" y="3930370"/>
            <a:chExt cx="9830435" cy="1247140"/>
          </a:xfrm>
        </p:grpSpPr>
        <p:sp>
          <p:nvSpPr>
            <p:cNvPr id="3" name="object 3" descr=""/>
            <p:cNvSpPr/>
            <p:nvPr/>
          </p:nvSpPr>
          <p:spPr>
            <a:xfrm>
              <a:off x="153923" y="3938015"/>
              <a:ext cx="9814560" cy="1234440"/>
            </a:xfrm>
            <a:custGeom>
              <a:avLst/>
              <a:gdLst/>
              <a:ahLst/>
              <a:cxnLst/>
              <a:rect l="l" t="t" r="r" b="b"/>
              <a:pathLst>
                <a:path w="9814560" h="1234439">
                  <a:moveTo>
                    <a:pt x="0" y="1234440"/>
                  </a:moveTo>
                  <a:lnTo>
                    <a:pt x="9814433" y="1234440"/>
                  </a:lnTo>
                  <a:lnTo>
                    <a:pt x="9814433" y="0"/>
                  </a:lnTo>
                  <a:lnTo>
                    <a:pt x="0" y="0"/>
                  </a:lnTo>
                  <a:lnTo>
                    <a:pt x="0" y="1234440"/>
                  </a:lnTo>
                  <a:close/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64591" y="3930370"/>
              <a:ext cx="9814560" cy="266700"/>
            </a:xfrm>
            <a:custGeom>
              <a:avLst/>
              <a:gdLst/>
              <a:ahLst/>
              <a:cxnLst/>
              <a:rect l="l" t="t" r="r" b="b"/>
              <a:pathLst>
                <a:path w="9814560" h="266700">
                  <a:moveTo>
                    <a:pt x="9814433" y="0"/>
                  </a:moveTo>
                  <a:lnTo>
                    <a:pt x="0" y="0"/>
                  </a:lnTo>
                  <a:lnTo>
                    <a:pt x="0" y="266471"/>
                  </a:lnTo>
                  <a:lnTo>
                    <a:pt x="9814433" y="266471"/>
                  </a:lnTo>
                  <a:lnTo>
                    <a:pt x="9814433" y="0"/>
                  </a:lnTo>
                  <a:close/>
                </a:path>
              </a:pathLst>
            </a:custGeom>
            <a:solidFill>
              <a:srgbClr val="5F5F5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158686" y="3976242"/>
            <a:ext cx="9805035" cy="11855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06045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Insights</a:t>
            </a:r>
            <a:endParaRPr sz="1000">
              <a:latin typeface="Arial MT"/>
              <a:cs typeface="Arial MT"/>
            </a:endParaRPr>
          </a:p>
          <a:p>
            <a:pPr marL="269240" marR="234315" indent="-172720">
              <a:lnSpc>
                <a:spcPct val="100000"/>
              </a:lnSpc>
              <a:spcBef>
                <a:spcPts val="735"/>
              </a:spcBef>
              <a:buFont typeface="Arial MT"/>
              <a:buChar char="•"/>
              <a:tabLst>
                <a:tab pos="269240" algn="l"/>
              </a:tabLst>
            </a:pPr>
            <a:r>
              <a:rPr dirty="0" sz="1000" b="1">
                <a:solidFill>
                  <a:srgbClr val="0D0D0D"/>
                </a:solidFill>
                <a:latin typeface="Arial"/>
                <a:cs typeface="Arial"/>
              </a:rPr>
              <a:t>Around</a:t>
            </a:r>
            <a:r>
              <a:rPr dirty="0" sz="1000" spc="25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D0D0D"/>
                </a:solidFill>
                <a:latin typeface="Arial"/>
                <a:cs typeface="Arial"/>
              </a:rPr>
              <a:t>3,000</a:t>
            </a:r>
            <a:r>
              <a:rPr dirty="0" sz="1000" spc="-35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D0D0D"/>
                </a:solidFill>
                <a:latin typeface="Arial"/>
                <a:cs typeface="Arial"/>
              </a:rPr>
              <a:t>trade</a:t>
            </a:r>
            <a:r>
              <a:rPr dirty="0" sz="1000" spc="-15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D0D0D"/>
                </a:solidFill>
                <a:latin typeface="Arial"/>
                <a:cs typeface="Arial"/>
              </a:rPr>
              <a:t>restrictions</a:t>
            </a:r>
            <a:r>
              <a:rPr dirty="0" sz="1000" spc="-20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D0D0D"/>
                </a:solidFill>
                <a:latin typeface="Arial"/>
                <a:cs typeface="Arial"/>
              </a:rPr>
              <a:t>were</a:t>
            </a:r>
            <a:r>
              <a:rPr dirty="0" sz="1000" spc="-45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D0D0D"/>
                </a:solidFill>
                <a:latin typeface="Arial"/>
                <a:cs typeface="Arial"/>
              </a:rPr>
              <a:t>imposed</a:t>
            </a:r>
            <a:r>
              <a:rPr dirty="0" sz="1000" spc="-15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D0D0D"/>
                </a:solidFill>
                <a:latin typeface="Arial"/>
                <a:cs typeface="Arial"/>
              </a:rPr>
              <a:t>last</a:t>
            </a:r>
            <a:r>
              <a:rPr dirty="0" sz="1000" spc="-15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0D0D0D"/>
                </a:solidFill>
                <a:latin typeface="Arial"/>
                <a:cs typeface="Arial"/>
              </a:rPr>
              <a:t>year—</a:t>
            </a:r>
            <a:r>
              <a:rPr dirty="0" sz="1000" b="1">
                <a:solidFill>
                  <a:srgbClr val="0D0D0D"/>
                </a:solidFill>
                <a:latin typeface="Arial"/>
                <a:cs typeface="Arial"/>
              </a:rPr>
              <a:t>nearly</a:t>
            </a:r>
            <a:r>
              <a:rPr dirty="0" sz="1000" spc="-25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D0D0D"/>
                </a:solidFill>
                <a:latin typeface="Arial"/>
                <a:cs typeface="Arial"/>
              </a:rPr>
              <a:t>3</a:t>
            </a:r>
            <a:r>
              <a:rPr dirty="0" sz="1000" spc="-20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D0D0D"/>
                </a:solidFill>
                <a:latin typeface="Arial"/>
                <a:cs typeface="Arial"/>
              </a:rPr>
              <a:t>times</a:t>
            </a:r>
            <a:r>
              <a:rPr dirty="0" sz="1000" spc="-20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D0D0D"/>
                </a:solidFill>
                <a:latin typeface="Arial"/>
                <a:cs typeface="Arial"/>
              </a:rPr>
              <a:t>the</a:t>
            </a:r>
            <a:r>
              <a:rPr dirty="0" sz="1000" spc="-20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D0D0D"/>
                </a:solidFill>
                <a:latin typeface="Arial"/>
                <a:cs typeface="Arial"/>
              </a:rPr>
              <a:t>number</a:t>
            </a:r>
            <a:r>
              <a:rPr dirty="0" sz="1000" spc="-25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D0D0D"/>
                </a:solidFill>
                <a:latin typeface="Arial"/>
                <a:cs typeface="Arial"/>
              </a:rPr>
              <a:t>imposed</a:t>
            </a:r>
            <a:r>
              <a:rPr dirty="0" sz="1000" spc="-25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D0D0D"/>
                </a:solidFill>
                <a:latin typeface="Arial"/>
                <a:cs typeface="Arial"/>
              </a:rPr>
              <a:t>in</a:t>
            </a:r>
            <a:r>
              <a:rPr dirty="0" sz="1000" spc="-20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D0D0D"/>
                </a:solidFill>
                <a:latin typeface="Arial"/>
                <a:cs typeface="Arial"/>
              </a:rPr>
              <a:t>2019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.</a:t>
            </a:r>
            <a:r>
              <a:rPr dirty="0" sz="1000" spc="-3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The</a:t>
            </a:r>
            <a:r>
              <a:rPr dirty="0" sz="1000" spc="-3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pandemic</a:t>
            </a:r>
            <a:r>
              <a:rPr dirty="0" sz="1000" spc="-3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and</a:t>
            </a:r>
            <a:r>
              <a:rPr dirty="0" sz="1000" spc="-2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0D0D0D"/>
                </a:solidFill>
                <a:latin typeface="Arial MT"/>
                <a:cs typeface="Arial MT"/>
              </a:rPr>
              <a:t>Russia-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Ukraine</a:t>
            </a:r>
            <a:r>
              <a:rPr dirty="0" sz="1000" spc="-3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war</a:t>
            </a:r>
            <a:r>
              <a:rPr dirty="0" sz="1000" spc="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has</a:t>
            </a:r>
            <a:r>
              <a:rPr dirty="0" sz="1000" spc="-2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led</a:t>
            </a:r>
            <a:r>
              <a:rPr dirty="0" sz="1000" spc="-1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to</a:t>
            </a:r>
            <a:r>
              <a:rPr dirty="0" sz="1000" spc="-2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the</a:t>
            </a:r>
            <a:r>
              <a:rPr dirty="0" sz="1000" spc="-20">
                <a:solidFill>
                  <a:srgbClr val="0D0D0D"/>
                </a:solidFill>
                <a:latin typeface="Arial MT"/>
                <a:cs typeface="Arial MT"/>
              </a:rPr>
              <a:t> rise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in</a:t>
            </a:r>
            <a:r>
              <a:rPr dirty="0" sz="1000" spc="-2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trade</a:t>
            </a:r>
            <a:r>
              <a:rPr dirty="0" sz="1000" spc="-2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restriction</a:t>
            </a:r>
            <a:r>
              <a:rPr dirty="0" sz="1000" spc="-2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because</a:t>
            </a:r>
            <a:r>
              <a:rPr dirty="0" sz="1000" spc="-4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of</a:t>
            </a:r>
            <a:r>
              <a:rPr dirty="0" sz="1000" spc="-4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the</a:t>
            </a:r>
            <a:r>
              <a:rPr dirty="0" sz="1000" spc="-2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supply</a:t>
            </a:r>
            <a:r>
              <a:rPr dirty="0" sz="1000" spc="-3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chain</a:t>
            </a:r>
            <a:r>
              <a:rPr dirty="0" sz="1000" spc="-2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disruptions</a:t>
            </a:r>
            <a:r>
              <a:rPr dirty="0" sz="1000" spc="-2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and</a:t>
            </a:r>
            <a:r>
              <a:rPr dirty="0" sz="1000" spc="-2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national</a:t>
            </a:r>
            <a:r>
              <a:rPr dirty="0" sz="1000" spc="-3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security</a:t>
            </a:r>
            <a:r>
              <a:rPr dirty="0" sz="1000" spc="-3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concerns</a:t>
            </a:r>
            <a:r>
              <a:rPr dirty="0" sz="1000" spc="-3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it</a:t>
            </a:r>
            <a:r>
              <a:rPr dirty="0" sz="1000" spc="-2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0D0D0D"/>
                </a:solidFill>
                <a:latin typeface="Arial MT"/>
                <a:cs typeface="Arial MT"/>
              </a:rPr>
              <a:t>caused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0D0D0D"/>
              </a:buClr>
              <a:buFont typeface="Arial MT"/>
              <a:buChar char="•"/>
            </a:pPr>
            <a:endParaRPr sz="1000">
              <a:latin typeface="Arial MT"/>
              <a:cs typeface="Arial MT"/>
            </a:endParaRPr>
          </a:p>
          <a:p>
            <a:pPr marL="269240" marR="205740" indent="-172720">
              <a:lnSpc>
                <a:spcPct val="100000"/>
              </a:lnSpc>
              <a:buChar char="•"/>
              <a:tabLst>
                <a:tab pos="269240" algn="l"/>
              </a:tabLst>
            </a:pP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For</a:t>
            </a:r>
            <a:r>
              <a:rPr dirty="0" sz="1000" spc="-2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example,</a:t>
            </a:r>
            <a:r>
              <a:rPr dirty="0" sz="1000" spc="-4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Nigeria currently</a:t>
            </a:r>
            <a:r>
              <a:rPr dirty="0" sz="1000" spc="-2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produces</a:t>
            </a:r>
            <a:r>
              <a:rPr dirty="0" sz="1000" spc="-2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only </a:t>
            </a:r>
            <a:r>
              <a:rPr dirty="0" sz="1000" b="1">
                <a:solidFill>
                  <a:srgbClr val="0D0D0D"/>
                </a:solidFill>
                <a:latin typeface="Arial"/>
                <a:cs typeface="Arial"/>
              </a:rPr>
              <a:t>10%</a:t>
            </a:r>
            <a:r>
              <a:rPr dirty="0" sz="1000" spc="-15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D0D0D"/>
                </a:solidFill>
                <a:latin typeface="Arial"/>
                <a:cs typeface="Arial"/>
              </a:rPr>
              <a:t>of</a:t>
            </a:r>
            <a:r>
              <a:rPr dirty="0" sz="1000" spc="-15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D0D0D"/>
                </a:solidFill>
                <a:latin typeface="Arial"/>
                <a:cs typeface="Arial"/>
              </a:rPr>
              <a:t>the</a:t>
            </a:r>
            <a:r>
              <a:rPr dirty="0" sz="1000" spc="-20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D0D0D"/>
                </a:solidFill>
                <a:latin typeface="Arial"/>
                <a:cs typeface="Arial"/>
              </a:rPr>
              <a:t>wheat</a:t>
            </a:r>
            <a:r>
              <a:rPr dirty="0" sz="1000" spc="-40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D0D0D"/>
                </a:solidFill>
                <a:latin typeface="Arial"/>
                <a:cs typeface="Arial"/>
              </a:rPr>
              <a:t>it</a:t>
            </a:r>
            <a:r>
              <a:rPr dirty="0" sz="1000" spc="-10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D0D0D"/>
                </a:solidFill>
                <a:latin typeface="Arial"/>
                <a:cs typeface="Arial"/>
              </a:rPr>
              <a:t>consumes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,</a:t>
            </a:r>
            <a:r>
              <a:rPr dirty="0" sz="1000" spc="-3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making</a:t>
            </a:r>
            <a:r>
              <a:rPr dirty="0" sz="1000" spc="-4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it</a:t>
            </a:r>
            <a:r>
              <a:rPr dirty="0" sz="1000" spc="-2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highly dependent</a:t>
            </a:r>
            <a:r>
              <a:rPr dirty="0" sz="1000" spc="-4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on</a:t>
            </a:r>
            <a:r>
              <a:rPr dirty="0" sz="1000" spc="-2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imports</a:t>
            </a:r>
            <a:r>
              <a:rPr dirty="0" sz="1000" spc="-2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(import</a:t>
            </a:r>
            <a:r>
              <a:rPr dirty="0" sz="1000" spc="-2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stood</a:t>
            </a:r>
            <a:r>
              <a:rPr dirty="0" sz="1000" spc="-3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at </a:t>
            </a:r>
            <a:r>
              <a:rPr dirty="0" sz="1000" b="1">
                <a:solidFill>
                  <a:srgbClr val="0D0D0D"/>
                </a:solidFill>
                <a:latin typeface="Arial"/>
                <a:cs typeface="Arial"/>
              </a:rPr>
              <a:t>$2.1</a:t>
            </a:r>
            <a:r>
              <a:rPr dirty="0" sz="1000" spc="-35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D0D0D"/>
                </a:solidFill>
                <a:latin typeface="Arial"/>
                <a:cs typeface="Arial"/>
              </a:rPr>
              <a:t>billion</a:t>
            </a:r>
            <a:r>
              <a:rPr dirty="0" sz="1000" spc="-15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D0D0D"/>
                </a:solidFill>
                <a:latin typeface="Arial"/>
                <a:cs typeface="Arial"/>
              </a:rPr>
              <a:t>in</a:t>
            </a:r>
            <a:r>
              <a:rPr dirty="0" sz="1000" spc="-15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D0D0D"/>
                </a:solidFill>
                <a:latin typeface="Arial"/>
                <a:cs typeface="Arial"/>
              </a:rPr>
              <a:t>2022,</a:t>
            </a:r>
            <a:r>
              <a:rPr dirty="0" sz="1000" spc="-25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D0D0D"/>
                </a:solidFill>
                <a:latin typeface="Arial"/>
                <a:cs typeface="Arial"/>
              </a:rPr>
              <a:t>4%</a:t>
            </a:r>
            <a:r>
              <a:rPr dirty="0" sz="1000" spc="-15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D0D0D"/>
                </a:solidFill>
                <a:latin typeface="Arial"/>
                <a:cs typeface="Arial"/>
              </a:rPr>
              <a:t>of</a:t>
            </a:r>
            <a:r>
              <a:rPr dirty="0" sz="1000" spc="-15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0D0D0D"/>
                </a:solidFill>
                <a:latin typeface="Arial"/>
                <a:cs typeface="Arial"/>
              </a:rPr>
              <a:t>total </a:t>
            </a:r>
            <a:r>
              <a:rPr dirty="0" sz="1000" b="1">
                <a:solidFill>
                  <a:srgbClr val="0D0D0D"/>
                </a:solidFill>
                <a:latin typeface="Arial"/>
                <a:cs typeface="Arial"/>
              </a:rPr>
              <a:t>import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).</a:t>
            </a:r>
            <a:r>
              <a:rPr dirty="0" sz="1000" spc="-2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Therefore,</a:t>
            </a:r>
            <a:r>
              <a:rPr dirty="0" sz="1000" spc="-4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Russia’s</a:t>
            </a:r>
            <a:r>
              <a:rPr dirty="0" sz="1000" spc="-2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exit</a:t>
            </a:r>
            <a:r>
              <a:rPr dirty="0" sz="1000" spc="-2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from</a:t>
            </a:r>
            <a:r>
              <a:rPr dirty="0" sz="1000" spc="-3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the</a:t>
            </a:r>
            <a:r>
              <a:rPr dirty="0" sz="1000" spc="-3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Black</a:t>
            </a:r>
            <a:r>
              <a:rPr dirty="0" sz="1000" spc="-1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Sea</a:t>
            </a:r>
            <a:r>
              <a:rPr dirty="0" sz="1000" spc="-3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grain</a:t>
            </a:r>
            <a:r>
              <a:rPr dirty="0" sz="1000" spc="-2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deal</a:t>
            </a:r>
            <a:r>
              <a:rPr dirty="0" sz="1000" spc="-2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is</a:t>
            </a:r>
            <a:r>
              <a:rPr dirty="0" sz="1000" spc="-1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affecting</a:t>
            </a:r>
            <a:r>
              <a:rPr dirty="0" sz="1000" spc="-6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Nigeria’s</a:t>
            </a:r>
            <a:r>
              <a:rPr dirty="0" sz="1000" spc="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effort</a:t>
            </a:r>
            <a:r>
              <a:rPr dirty="0" sz="1000" spc="-4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to</a:t>
            </a:r>
            <a:r>
              <a:rPr dirty="0" sz="1000" spc="-4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become</a:t>
            </a:r>
            <a:r>
              <a:rPr dirty="0" sz="1000" spc="-4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self-reliant</a:t>
            </a:r>
            <a:r>
              <a:rPr dirty="0" sz="1000" spc="-2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in</a:t>
            </a:r>
            <a:r>
              <a:rPr dirty="0" sz="1000" spc="-1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industries</a:t>
            </a:r>
            <a:r>
              <a:rPr dirty="0" sz="1000" spc="-1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that</a:t>
            </a:r>
            <a:r>
              <a:rPr dirty="0" sz="1000" spc="-4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rely on</a:t>
            </a:r>
            <a:r>
              <a:rPr dirty="0" sz="1000" spc="-4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wheat</a:t>
            </a:r>
            <a:r>
              <a:rPr dirty="0" sz="1000" spc="-1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as</a:t>
            </a:r>
            <a:r>
              <a:rPr dirty="0" sz="1000" spc="-3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a</a:t>
            </a:r>
            <a:r>
              <a:rPr dirty="0" sz="1000" spc="-2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key</a:t>
            </a:r>
            <a:r>
              <a:rPr dirty="0" sz="1000" spc="-4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input</a:t>
            </a:r>
            <a:r>
              <a:rPr dirty="0" sz="1000" spc="-2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in</a:t>
            </a:r>
            <a:r>
              <a:rPr dirty="0" sz="1000" spc="-10">
                <a:solidFill>
                  <a:srgbClr val="0D0D0D"/>
                </a:solidFill>
                <a:latin typeface="Arial MT"/>
                <a:cs typeface="Arial MT"/>
              </a:rPr>
              <a:t> local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production.</a:t>
            </a:r>
            <a:r>
              <a:rPr dirty="0" sz="1000" spc="-3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The</a:t>
            </a:r>
            <a:r>
              <a:rPr dirty="0" sz="1000" spc="-3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country</a:t>
            </a:r>
            <a:r>
              <a:rPr dirty="0" sz="1000" spc="-2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was</a:t>
            </a:r>
            <a:r>
              <a:rPr dirty="0" sz="1000" spc="-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already</a:t>
            </a:r>
            <a:r>
              <a:rPr dirty="0" sz="1000" spc="-3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facing</a:t>
            </a:r>
            <a:r>
              <a:rPr dirty="0" sz="1000" spc="22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challenges</a:t>
            </a:r>
            <a:r>
              <a:rPr dirty="0" sz="1000" spc="-1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in</a:t>
            </a:r>
            <a:r>
              <a:rPr dirty="0" sz="1000" spc="-2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growing</a:t>
            </a:r>
            <a:r>
              <a:rPr dirty="0" sz="1000" spc="-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wheat</a:t>
            </a:r>
            <a:r>
              <a:rPr dirty="0" sz="1000" spc="-1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because</a:t>
            </a:r>
            <a:r>
              <a:rPr dirty="0" sz="1000" spc="-4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of</a:t>
            </a:r>
            <a:r>
              <a:rPr dirty="0" sz="1000" spc="-2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climate</a:t>
            </a:r>
            <a:r>
              <a:rPr dirty="0" sz="1000" spc="-4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change</a:t>
            </a:r>
            <a:r>
              <a:rPr dirty="0" sz="1000" spc="-3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and</a:t>
            </a:r>
            <a:r>
              <a:rPr dirty="0" sz="1000" spc="-3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0D0D0D"/>
                </a:solidFill>
                <a:latin typeface="Arial MT"/>
                <a:cs typeface="Arial MT"/>
              </a:rPr>
              <a:t>insecurity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572833" y="1504569"/>
            <a:ext cx="9199245" cy="1736089"/>
            <a:chOff x="572833" y="1504569"/>
            <a:chExt cx="9199245" cy="1736089"/>
          </a:xfrm>
        </p:grpSpPr>
        <p:sp>
          <p:nvSpPr>
            <p:cNvPr id="7" name="object 7" descr=""/>
            <p:cNvSpPr/>
            <p:nvPr/>
          </p:nvSpPr>
          <p:spPr>
            <a:xfrm>
              <a:off x="577595" y="3235451"/>
              <a:ext cx="9189720" cy="0"/>
            </a:xfrm>
            <a:custGeom>
              <a:avLst/>
              <a:gdLst/>
              <a:ahLst/>
              <a:cxnLst/>
              <a:rect l="l" t="t" r="r" b="b"/>
              <a:pathLst>
                <a:path w="9189720" h="0">
                  <a:moveTo>
                    <a:pt x="0" y="0"/>
                  </a:moveTo>
                  <a:lnTo>
                    <a:pt x="9189720" y="0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906018" y="1514094"/>
              <a:ext cx="8533130" cy="1550035"/>
            </a:xfrm>
            <a:custGeom>
              <a:avLst/>
              <a:gdLst/>
              <a:ahLst/>
              <a:cxnLst/>
              <a:rect l="l" t="t" r="r" b="b"/>
              <a:pathLst>
                <a:path w="8533130" h="1550035">
                  <a:moveTo>
                    <a:pt x="0" y="1485137"/>
                  </a:moveTo>
                  <a:lnTo>
                    <a:pt x="50492" y="1486946"/>
                  </a:lnTo>
                  <a:lnTo>
                    <a:pt x="100985" y="1488741"/>
                  </a:lnTo>
                  <a:lnTo>
                    <a:pt x="151479" y="1490526"/>
                  </a:lnTo>
                  <a:lnTo>
                    <a:pt x="201973" y="1492306"/>
                  </a:lnTo>
                  <a:lnTo>
                    <a:pt x="252467" y="1494084"/>
                  </a:lnTo>
                  <a:lnTo>
                    <a:pt x="302960" y="1495865"/>
                  </a:lnTo>
                  <a:lnTo>
                    <a:pt x="353451" y="1497653"/>
                  </a:lnTo>
                  <a:lnTo>
                    <a:pt x="403940" y="1499452"/>
                  </a:lnTo>
                  <a:lnTo>
                    <a:pt x="454427" y="1501266"/>
                  </a:lnTo>
                  <a:lnTo>
                    <a:pt x="504910" y="1503100"/>
                  </a:lnTo>
                  <a:lnTo>
                    <a:pt x="555390" y="1504957"/>
                  </a:lnTo>
                  <a:lnTo>
                    <a:pt x="605865" y="1506843"/>
                  </a:lnTo>
                  <a:lnTo>
                    <a:pt x="656335" y="1508759"/>
                  </a:lnTo>
                  <a:lnTo>
                    <a:pt x="706833" y="1510818"/>
                  </a:lnTo>
                  <a:lnTo>
                    <a:pt x="757330" y="1513036"/>
                  </a:lnTo>
                  <a:lnTo>
                    <a:pt x="807827" y="1515373"/>
                  </a:lnTo>
                  <a:lnTo>
                    <a:pt x="858324" y="1517786"/>
                  </a:lnTo>
                  <a:lnTo>
                    <a:pt x="908821" y="1520232"/>
                  </a:lnTo>
                  <a:lnTo>
                    <a:pt x="959318" y="1522670"/>
                  </a:lnTo>
                  <a:lnTo>
                    <a:pt x="1009816" y="1525057"/>
                  </a:lnTo>
                  <a:lnTo>
                    <a:pt x="1060313" y="1527350"/>
                  </a:lnTo>
                  <a:lnTo>
                    <a:pt x="1110810" y="1529508"/>
                  </a:lnTo>
                  <a:lnTo>
                    <a:pt x="1161307" y="1531488"/>
                  </a:lnTo>
                  <a:lnTo>
                    <a:pt x="1211804" y="1533248"/>
                  </a:lnTo>
                  <a:lnTo>
                    <a:pt x="1262301" y="1534745"/>
                  </a:lnTo>
                  <a:lnTo>
                    <a:pt x="1312799" y="1535937"/>
                  </a:lnTo>
                  <a:lnTo>
                    <a:pt x="1363269" y="1537265"/>
                  </a:lnTo>
                  <a:lnTo>
                    <a:pt x="1413743" y="1539116"/>
                  </a:lnTo>
                  <a:lnTo>
                    <a:pt x="1464221" y="1541285"/>
                  </a:lnTo>
                  <a:lnTo>
                    <a:pt x="1514702" y="1543566"/>
                  </a:lnTo>
                  <a:lnTo>
                    <a:pt x="1565187" y="1545751"/>
                  </a:lnTo>
                  <a:lnTo>
                    <a:pt x="1615674" y="1547635"/>
                  </a:lnTo>
                  <a:lnTo>
                    <a:pt x="1666164" y="1549011"/>
                  </a:lnTo>
                  <a:lnTo>
                    <a:pt x="1716656" y="1549673"/>
                  </a:lnTo>
                  <a:lnTo>
                    <a:pt x="1767150" y="1549415"/>
                  </a:lnTo>
                  <a:lnTo>
                    <a:pt x="1817645" y="1548029"/>
                  </a:lnTo>
                  <a:lnTo>
                    <a:pt x="1868141" y="1545311"/>
                  </a:lnTo>
                  <a:lnTo>
                    <a:pt x="1918637" y="1541053"/>
                  </a:lnTo>
                  <a:lnTo>
                    <a:pt x="1969134" y="1535048"/>
                  </a:lnTo>
                  <a:lnTo>
                    <a:pt x="2016023" y="1527223"/>
                  </a:lnTo>
                  <a:lnTo>
                    <a:pt x="2062908" y="1516930"/>
                  </a:lnTo>
                  <a:lnTo>
                    <a:pt x="2109790" y="1504594"/>
                  </a:lnTo>
                  <a:lnTo>
                    <a:pt x="2156670" y="1490638"/>
                  </a:lnTo>
                  <a:lnTo>
                    <a:pt x="2203549" y="1475489"/>
                  </a:lnTo>
                  <a:lnTo>
                    <a:pt x="2250426" y="1459571"/>
                  </a:lnTo>
                  <a:lnTo>
                    <a:pt x="2297303" y="1443307"/>
                  </a:lnTo>
                  <a:lnTo>
                    <a:pt x="2344179" y="1427123"/>
                  </a:lnTo>
                  <a:lnTo>
                    <a:pt x="2391056" y="1411443"/>
                  </a:lnTo>
                  <a:lnTo>
                    <a:pt x="2437935" y="1396693"/>
                  </a:lnTo>
                  <a:lnTo>
                    <a:pt x="2484815" y="1383295"/>
                  </a:lnTo>
                  <a:lnTo>
                    <a:pt x="2531697" y="1371676"/>
                  </a:lnTo>
                  <a:lnTo>
                    <a:pt x="2578582" y="1362260"/>
                  </a:lnTo>
                  <a:lnTo>
                    <a:pt x="2625471" y="1355470"/>
                  </a:lnTo>
                  <a:lnTo>
                    <a:pt x="2675968" y="1351424"/>
                  </a:lnTo>
                  <a:lnTo>
                    <a:pt x="2726465" y="1350416"/>
                  </a:lnTo>
                  <a:lnTo>
                    <a:pt x="2776962" y="1351907"/>
                  </a:lnTo>
                  <a:lnTo>
                    <a:pt x="2827459" y="1355360"/>
                  </a:lnTo>
                  <a:lnTo>
                    <a:pt x="2877956" y="1360236"/>
                  </a:lnTo>
                  <a:lnTo>
                    <a:pt x="2928453" y="1365998"/>
                  </a:lnTo>
                  <a:lnTo>
                    <a:pt x="2978951" y="1372109"/>
                  </a:lnTo>
                  <a:lnTo>
                    <a:pt x="3029448" y="1378029"/>
                  </a:lnTo>
                  <a:lnTo>
                    <a:pt x="3079945" y="1383221"/>
                  </a:lnTo>
                  <a:lnTo>
                    <a:pt x="3130442" y="1387147"/>
                  </a:lnTo>
                  <a:lnTo>
                    <a:pt x="3180939" y="1389269"/>
                  </a:lnTo>
                  <a:lnTo>
                    <a:pt x="3231436" y="1389050"/>
                  </a:lnTo>
                  <a:lnTo>
                    <a:pt x="3281933" y="1385950"/>
                  </a:lnTo>
                  <a:lnTo>
                    <a:pt x="3332404" y="1379706"/>
                  </a:lnTo>
                  <a:lnTo>
                    <a:pt x="3382878" y="1370738"/>
                  </a:lnTo>
                  <a:lnTo>
                    <a:pt x="3433356" y="1359537"/>
                  </a:lnTo>
                  <a:lnTo>
                    <a:pt x="3483837" y="1346593"/>
                  </a:lnTo>
                  <a:lnTo>
                    <a:pt x="3534322" y="1332397"/>
                  </a:lnTo>
                  <a:lnTo>
                    <a:pt x="3584809" y="1317440"/>
                  </a:lnTo>
                  <a:lnTo>
                    <a:pt x="3635299" y="1302213"/>
                  </a:lnTo>
                  <a:lnTo>
                    <a:pt x="3685791" y="1287207"/>
                  </a:lnTo>
                  <a:lnTo>
                    <a:pt x="3736285" y="1272912"/>
                  </a:lnTo>
                  <a:lnTo>
                    <a:pt x="3786780" y="1259819"/>
                  </a:lnTo>
                  <a:lnTo>
                    <a:pt x="3837276" y="1248419"/>
                  </a:lnTo>
                  <a:lnTo>
                    <a:pt x="3887772" y="1239203"/>
                  </a:lnTo>
                  <a:lnTo>
                    <a:pt x="3938270" y="1232661"/>
                  </a:lnTo>
                  <a:lnTo>
                    <a:pt x="3988765" y="1228572"/>
                  </a:lnTo>
                  <a:lnTo>
                    <a:pt x="4039256" y="1226290"/>
                  </a:lnTo>
                  <a:lnTo>
                    <a:pt x="4089744" y="1225586"/>
                  </a:lnTo>
                  <a:lnTo>
                    <a:pt x="4140229" y="1226228"/>
                  </a:lnTo>
                  <a:lnTo>
                    <a:pt x="4190713" y="1227988"/>
                  </a:lnTo>
                  <a:lnTo>
                    <a:pt x="4241196" y="1230634"/>
                  </a:lnTo>
                  <a:lnTo>
                    <a:pt x="4291679" y="1233936"/>
                  </a:lnTo>
                  <a:lnTo>
                    <a:pt x="4342162" y="1237664"/>
                  </a:lnTo>
                  <a:lnTo>
                    <a:pt x="4392646" y="1241588"/>
                  </a:lnTo>
                  <a:lnTo>
                    <a:pt x="4443131" y="1245477"/>
                  </a:lnTo>
                  <a:lnTo>
                    <a:pt x="4493619" y="1249101"/>
                  </a:lnTo>
                  <a:lnTo>
                    <a:pt x="4544110" y="1252229"/>
                  </a:lnTo>
                  <a:lnTo>
                    <a:pt x="4594606" y="1254632"/>
                  </a:lnTo>
                  <a:lnTo>
                    <a:pt x="4645103" y="1257542"/>
                  </a:lnTo>
                  <a:lnTo>
                    <a:pt x="4695599" y="1262036"/>
                  </a:lnTo>
                  <a:lnTo>
                    <a:pt x="4746095" y="1267650"/>
                  </a:lnTo>
                  <a:lnTo>
                    <a:pt x="4796590" y="1273921"/>
                  </a:lnTo>
                  <a:lnTo>
                    <a:pt x="4847084" y="1280385"/>
                  </a:lnTo>
                  <a:lnTo>
                    <a:pt x="4897576" y="1286579"/>
                  </a:lnTo>
                  <a:lnTo>
                    <a:pt x="4948066" y="1292041"/>
                  </a:lnTo>
                  <a:lnTo>
                    <a:pt x="4998553" y="1296305"/>
                  </a:lnTo>
                  <a:lnTo>
                    <a:pt x="5049038" y="1298910"/>
                  </a:lnTo>
                  <a:lnTo>
                    <a:pt x="5099519" y="1299391"/>
                  </a:lnTo>
                  <a:lnTo>
                    <a:pt x="5149997" y="1297286"/>
                  </a:lnTo>
                  <a:lnTo>
                    <a:pt x="5200471" y="1292130"/>
                  </a:lnTo>
                  <a:lnTo>
                    <a:pt x="5250942" y="1283461"/>
                  </a:lnTo>
                  <a:lnTo>
                    <a:pt x="5294706" y="1272010"/>
                  </a:lnTo>
                  <a:lnTo>
                    <a:pt x="5338470" y="1256433"/>
                  </a:lnTo>
                  <a:lnTo>
                    <a:pt x="5382234" y="1237393"/>
                  </a:lnTo>
                  <a:lnTo>
                    <a:pt x="5425998" y="1215550"/>
                  </a:lnTo>
                  <a:lnTo>
                    <a:pt x="5469762" y="1191565"/>
                  </a:lnTo>
                  <a:lnTo>
                    <a:pt x="5513527" y="1166099"/>
                  </a:lnTo>
                  <a:lnTo>
                    <a:pt x="5557291" y="1139813"/>
                  </a:lnTo>
                  <a:lnTo>
                    <a:pt x="5601055" y="1113367"/>
                  </a:lnTo>
                  <a:lnTo>
                    <a:pt x="5644819" y="1087423"/>
                  </a:lnTo>
                  <a:lnTo>
                    <a:pt x="5688583" y="1062641"/>
                  </a:lnTo>
                  <a:lnTo>
                    <a:pt x="5732348" y="1039683"/>
                  </a:lnTo>
                  <a:lnTo>
                    <a:pt x="5776112" y="1019208"/>
                  </a:lnTo>
                  <a:lnTo>
                    <a:pt x="5819876" y="1001878"/>
                  </a:lnTo>
                  <a:lnTo>
                    <a:pt x="5863640" y="988354"/>
                  </a:lnTo>
                  <a:lnTo>
                    <a:pt x="5907405" y="979296"/>
                  </a:lnTo>
                  <a:lnTo>
                    <a:pt x="5954293" y="975420"/>
                  </a:lnTo>
                  <a:lnTo>
                    <a:pt x="6001178" y="977279"/>
                  </a:lnTo>
                  <a:lnTo>
                    <a:pt x="6048060" y="983881"/>
                  </a:lnTo>
                  <a:lnTo>
                    <a:pt x="6094940" y="994230"/>
                  </a:lnTo>
                  <a:lnTo>
                    <a:pt x="6141819" y="1007333"/>
                  </a:lnTo>
                  <a:lnTo>
                    <a:pt x="6188696" y="1022197"/>
                  </a:lnTo>
                  <a:lnTo>
                    <a:pt x="6235573" y="1037828"/>
                  </a:lnTo>
                  <a:lnTo>
                    <a:pt x="6282449" y="1053230"/>
                  </a:lnTo>
                  <a:lnTo>
                    <a:pt x="6329326" y="1067412"/>
                  </a:lnTo>
                  <a:lnTo>
                    <a:pt x="6376205" y="1079378"/>
                  </a:lnTo>
                  <a:lnTo>
                    <a:pt x="6423085" y="1088136"/>
                  </a:lnTo>
                  <a:lnTo>
                    <a:pt x="6469967" y="1092690"/>
                  </a:lnTo>
                  <a:lnTo>
                    <a:pt x="6516852" y="1092048"/>
                  </a:lnTo>
                  <a:lnTo>
                    <a:pt x="6563740" y="1085214"/>
                  </a:lnTo>
                  <a:lnTo>
                    <a:pt x="6607505" y="1073733"/>
                  </a:lnTo>
                  <a:lnTo>
                    <a:pt x="6651269" y="1058668"/>
                  </a:lnTo>
                  <a:lnTo>
                    <a:pt x="6695032" y="1040361"/>
                  </a:lnTo>
                  <a:lnTo>
                    <a:pt x="6738795" y="1019154"/>
                  </a:lnTo>
                  <a:lnTo>
                    <a:pt x="6782557" y="995388"/>
                  </a:lnTo>
                  <a:lnTo>
                    <a:pt x="6826318" y="969405"/>
                  </a:lnTo>
                  <a:lnTo>
                    <a:pt x="6870077" y="941546"/>
                  </a:lnTo>
                  <a:lnTo>
                    <a:pt x="6913835" y="912153"/>
                  </a:lnTo>
                  <a:lnTo>
                    <a:pt x="6957591" y="881568"/>
                  </a:lnTo>
                  <a:lnTo>
                    <a:pt x="7001345" y="850133"/>
                  </a:lnTo>
                  <a:lnTo>
                    <a:pt x="7045097" y="818188"/>
                  </a:lnTo>
                  <a:lnTo>
                    <a:pt x="7088846" y="786076"/>
                  </a:lnTo>
                  <a:lnTo>
                    <a:pt x="7132592" y="754137"/>
                  </a:lnTo>
                  <a:lnTo>
                    <a:pt x="7176336" y="722715"/>
                  </a:lnTo>
                  <a:lnTo>
                    <a:pt x="7220077" y="692150"/>
                  </a:lnTo>
                  <a:lnTo>
                    <a:pt x="7258692" y="664750"/>
                  </a:lnTo>
                  <a:lnTo>
                    <a:pt x="7297307" y="635711"/>
                  </a:lnTo>
                  <a:lnTo>
                    <a:pt x="7335923" y="605299"/>
                  </a:lnTo>
                  <a:lnTo>
                    <a:pt x="7374538" y="573780"/>
                  </a:lnTo>
                  <a:lnTo>
                    <a:pt x="7413154" y="541421"/>
                  </a:lnTo>
                  <a:lnTo>
                    <a:pt x="7451769" y="508490"/>
                  </a:lnTo>
                  <a:lnTo>
                    <a:pt x="7490385" y="475251"/>
                  </a:lnTo>
                  <a:lnTo>
                    <a:pt x="7529000" y="441973"/>
                  </a:lnTo>
                  <a:lnTo>
                    <a:pt x="7567616" y="408921"/>
                  </a:lnTo>
                  <a:lnTo>
                    <a:pt x="7606231" y="376362"/>
                  </a:lnTo>
                  <a:lnTo>
                    <a:pt x="7644847" y="344564"/>
                  </a:lnTo>
                  <a:lnTo>
                    <a:pt x="7683462" y="313791"/>
                  </a:lnTo>
                  <a:lnTo>
                    <a:pt x="7722078" y="284312"/>
                  </a:lnTo>
                  <a:lnTo>
                    <a:pt x="7760693" y="256392"/>
                  </a:lnTo>
                  <a:lnTo>
                    <a:pt x="7799309" y="230299"/>
                  </a:lnTo>
                  <a:lnTo>
                    <a:pt x="7837924" y="206298"/>
                  </a:lnTo>
                  <a:lnTo>
                    <a:pt x="7876539" y="184657"/>
                  </a:lnTo>
                  <a:lnTo>
                    <a:pt x="7923404" y="161535"/>
                  </a:lnTo>
                  <a:lnTo>
                    <a:pt x="7970273" y="141352"/>
                  </a:lnTo>
                  <a:lnTo>
                    <a:pt x="8017145" y="123756"/>
                  </a:lnTo>
                  <a:lnTo>
                    <a:pt x="8064020" y="108394"/>
                  </a:lnTo>
                  <a:lnTo>
                    <a:pt x="8110897" y="94913"/>
                  </a:lnTo>
                  <a:lnTo>
                    <a:pt x="8157777" y="82960"/>
                  </a:lnTo>
                  <a:lnTo>
                    <a:pt x="8204660" y="72183"/>
                  </a:lnTo>
                  <a:lnTo>
                    <a:pt x="8251544" y="62228"/>
                  </a:lnTo>
                  <a:lnTo>
                    <a:pt x="8298430" y="52742"/>
                  </a:lnTo>
                  <a:lnTo>
                    <a:pt x="8345318" y="43373"/>
                  </a:lnTo>
                  <a:lnTo>
                    <a:pt x="8392206" y="33767"/>
                  </a:lnTo>
                  <a:lnTo>
                    <a:pt x="8439095" y="23571"/>
                  </a:lnTo>
                  <a:lnTo>
                    <a:pt x="8485985" y="12433"/>
                  </a:lnTo>
                  <a:lnTo>
                    <a:pt x="8532876" y="0"/>
                  </a:lnTo>
                </a:path>
              </a:pathLst>
            </a:custGeom>
            <a:ln w="190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906018" y="2702697"/>
              <a:ext cx="8533130" cy="516890"/>
            </a:xfrm>
            <a:custGeom>
              <a:avLst/>
              <a:gdLst/>
              <a:ahLst/>
              <a:cxnLst/>
              <a:rect l="l" t="t" r="r" b="b"/>
              <a:pathLst>
                <a:path w="8533130" h="516889">
                  <a:moveTo>
                    <a:pt x="0" y="484621"/>
                  </a:moveTo>
                  <a:lnTo>
                    <a:pt x="52283" y="487049"/>
                  </a:lnTo>
                  <a:lnTo>
                    <a:pt x="107555" y="489616"/>
                  </a:lnTo>
                  <a:lnTo>
                    <a:pt x="164917" y="492279"/>
                  </a:lnTo>
                  <a:lnTo>
                    <a:pt x="223474" y="494999"/>
                  </a:lnTo>
                  <a:lnTo>
                    <a:pt x="282330" y="497732"/>
                  </a:lnTo>
                  <a:lnTo>
                    <a:pt x="340587" y="500437"/>
                  </a:lnTo>
                  <a:lnTo>
                    <a:pt x="397349" y="503073"/>
                  </a:lnTo>
                  <a:lnTo>
                    <a:pt x="451720" y="505598"/>
                  </a:lnTo>
                  <a:lnTo>
                    <a:pt x="502804" y="507970"/>
                  </a:lnTo>
                  <a:lnTo>
                    <a:pt x="549704" y="510148"/>
                  </a:lnTo>
                  <a:lnTo>
                    <a:pt x="591524" y="512091"/>
                  </a:lnTo>
                  <a:lnTo>
                    <a:pt x="627366" y="513755"/>
                  </a:lnTo>
                  <a:lnTo>
                    <a:pt x="656335" y="515101"/>
                  </a:lnTo>
                </a:path>
                <a:path w="8533130" h="516889">
                  <a:moveTo>
                    <a:pt x="2625471" y="516752"/>
                  </a:moveTo>
                  <a:lnTo>
                    <a:pt x="2654467" y="516304"/>
                  </a:lnTo>
                  <a:lnTo>
                    <a:pt x="2690331" y="515735"/>
                  </a:lnTo>
                  <a:lnTo>
                    <a:pt x="2732168" y="515061"/>
                  </a:lnTo>
                  <a:lnTo>
                    <a:pt x="2779082" y="514302"/>
                  </a:lnTo>
                  <a:lnTo>
                    <a:pt x="2830176" y="513476"/>
                  </a:lnTo>
                  <a:lnTo>
                    <a:pt x="2884555" y="512600"/>
                  </a:lnTo>
                  <a:lnTo>
                    <a:pt x="2941324" y="511692"/>
                  </a:lnTo>
                  <a:lnTo>
                    <a:pt x="2999585" y="510770"/>
                  </a:lnTo>
                  <a:lnTo>
                    <a:pt x="3058444" y="509854"/>
                  </a:lnTo>
                  <a:lnTo>
                    <a:pt x="3117004" y="508959"/>
                  </a:lnTo>
                  <a:lnTo>
                    <a:pt x="3174369" y="508106"/>
                  </a:lnTo>
                  <a:lnTo>
                    <a:pt x="3229645" y="507311"/>
                  </a:lnTo>
                  <a:lnTo>
                    <a:pt x="3281933" y="506592"/>
                  </a:lnTo>
                  <a:lnTo>
                    <a:pt x="3332404" y="505948"/>
                  </a:lnTo>
                  <a:lnTo>
                    <a:pt x="3382878" y="505355"/>
                  </a:lnTo>
                  <a:lnTo>
                    <a:pt x="3433356" y="504803"/>
                  </a:lnTo>
                  <a:lnTo>
                    <a:pt x="3483837" y="504279"/>
                  </a:lnTo>
                  <a:lnTo>
                    <a:pt x="3534322" y="503772"/>
                  </a:lnTo>
                  <a:lnTo>
                    <a:pt x="3584809" y="503272"/>
                  </a:lnTo>
                  <a:lnTo>
                    <a:pt x="3635299" y="502766"/>
                  </a:lnTo>
                  <a:lnTo>
                    <a:pt x="3685791" y="502243"/>
                  </a:lnTo>
                  <a:lnTo>
                    <a:pt x="3736285" y="501691"/>
                  </a:lnTo>
                  <a:lnTo>
                    <a:pt x="3786780" y="501100"/>
                  </a:lnTo>
                  <a:lnTo>
                    <a:pt x="3837276" y="500457"/>
                  </a:lnTo>
                  <a:lnTo>
                    <a:pt x="3887772" y="499752"/>
                  </a:lnTo>
                  <a:lnTo>
                    <a:pt x="3938270" y="498972"/>
                  </a:lnTo>
                  <a:lnTo>
                    <a:pt x="3988765" y="498121"/>
                  </a:lnTo>
                  <a:lnTo>
                    <a:pt x="4039256" y="497214"/>
                  </a:lnTo>
                  <a:lnTo>
                    <a:pt x="4089744" y="496256"/>
                  </a:lnTo>
                  <a:lnTo>
                    <a:pt x="4140229" y="495255"/>
                  </a:lnTo>
                  <a:lnTo>
                    <a:pt x="4190713" y="494217"/>
                  </a:lnTo>
                  <a:lnTo>
                    <a:pt x="4241196" y="493150"/>
                  </a:lnTo>
                  <a:lnTo>
                    <a:pt x="4291679" y="492058"/>
                  </a:lnTo>
                  <a:lnTo>
                    <a:pt x="4342162" y="490950"/>
                  </a:lnTo>
                  <a:lnTo>
                    <a:pt x="4392646" y="489831"/>
                  </a:lnTo>
                  <a:lnTo>
                    <a:pt x="4443131" y="488708"/>
                  </a:lnTo>
                  <a:lnTo>
                    <a:pt x="4493619" y="487588"/>
                  </a:lnTo>
                  <a:lnTo>
                    <a:pt x="4544110" y="486478"/>
                  </a:lnTo>
                  <a:lnTo>
                    <a:pt x="4594606" y="485383"/>
                  </a:lnTo>
                  <a:lnTo>
                    <a:pt x="4645103" y="484630"/>
                  </a:lnTo>
                  <a:lnTo>
                    <a:pt x="4695599" y="484377"/>
                  </a:lnTo>
                  <a:lnTo>
                    <a:pt x="4746095" y="484473"/>
                  </a:lnTo>
                  <a:lnTo>
                    <a:pt x="4796590" y="484765"/>
                  </a:lnTo>
                  <a:lnTo>
                    <a:pt x="4847084" y="485101"/>
                  </a:lnTo>
                  <a:lnTo>
                    <a:pt x="4897576" y="485327"/>
                  </a:lnTo>
                  <a:lnTo>
                    <a:pt x="4948066" y="485291"/>
                  </a:lnTo>
                  <a:lnTo>
                    <a:pt x="4998553" y="484841"/>
                  </a:lnTo>
                  <a:lnTo>
                    <a:pt x="5049038" y="483824"/>
                  </a:lnTo>
                  <a:lnTo>
                    <a:pt x="5099519" y="482087"/>
                  </a:lnTo>
                  <a:lnTo>
                    <a:pt x="5149997" y="479478"/>
                  </a:lnTo>
                  <a:lnTo>
                    <a:pt x="5200471" y="475844"/>
                  </a:lnTo>
                  <a:lnTo>
                    <a:pt x="5250942" y="471032"/>
                  </a:lnTo>
                  <a:lnTo>
                    <a:pt x="5301439" y="464582"/>
                  </a:lnTo>
                  <a:lnTo>
                    <a:pt x="5351936" y="456305"/>
                  </a:lnTo>
                  <a:lnTo>
                    <a:pt x="5402433" y="446551"/>
                  </a:lnTo>
                  <a:lnTo>
                    <a:pt x="5452930" y="435665"/>
                  </a:lnTo>
                  <a:lnTo>
                    <a:pt x="5503427" y="423997"/>
                  </a:lnTo>
                  <a:lnTo>
                    <a:pt x="5553924" y="411893"/>
                  </a:lnTo>
                  <a:lnTo>
                    <a:pt x="5604422" y="399701"/>
                  </a:lnTo>
                  <a:lnTo>
                    <a:pt x="5654919" y="387768"/>
                  </a:lnTo>
                  <a:lnTo>
                    <a:pt x="5705416" y="376442"/>
                  </a:lnTo>
                  <a:lnTo>
                    <a:pt x="5755913" y="366071"/>
                  </a:lnTo>
                  <a:lnTo>
                    <a:pt x="5806410" y="357002"/>
                  </a:lnTo>
                  <a:lnTo>
                    <a:pt x="5856907" y="349582"/>
                  </a:lnTo>
                  <a:lnTo>
                    <a:pt x="5907405" y="344159"/>
                  </a:lnTo>
                  <a:lnTo>
                    <a:pt x="5957900" y="341267"/>
                  </a:lnTo>
                  <a:lnTo>
                    <a:pt x="6008391" y="340923"/>
                  </a:lnTo>
                  <a:lnTo>
                    <a:pt x="6058879" y="342614"/>
                  </a:lnTo>
                  <a:lnTo>
                    <a:pt x="6109364" y="345826"/>
                  </a:lnTo>
                  <a:lnTo>
                    <a:pt x="6159848" y="350046"/>
                  </a:lnTo>
                  <a:lnTo>
                    <a:pt x="6210331" y="354762"/>
                  </a:lnTo>
                  <a:lnTo>
                    <a:pt x="6260814" y="359459"/>
                  </a:lnTo>
                  <a:lnTo>
                    <a:pt x="6311297" y="363625"/>
                  </a:lnTo>
                  <a:lnTo>
                    <a:pt x="6361781" y="366745"/>
                  </a:lnTo>
                  <a:lnTo>
                    <a:pt x="6412266" y="368307"/>
                  </a:lnTo>
                  <a:lnTo>
                    <a:pt x="6462754" y="367798"/>
                  </a:lnTo>
                  <a:lnTo>
                    <a:pt x="6513245" y="364703"/>
                  </a:lnTo>
                  <a:lnTo>
                    <a:pt x="6563740" y="358510"/>
                  </a:lnTo>
                  <a:lnTo>
                    <a:pt x="6610631" y="349809"/>
                  </a:lnTo>
                  <a:lnTo>
                    <a:pt x="6657521" y="338634"/>
                  </a:lnTo>
                  <a:lnTo>
                    <a:pt x="6704410" y="325334"/>
                  </a:lnTo>
                  <a:lnTo>
                    <a:pt x="6751298" y="310256"/>
                  </a:lnTo>
                  <a:lnTo>
                    <a:pt x="6798186" y="293750"/>
                  </a:lnTo>
                  <a:lnTo>
                    <a:pt x="6845072" y="276164"/>
                  </a:lnTo>
                  <a:lnTo>
                    <a:pt x="6891956" y="257847"/>
                  </a:lnTo>
                  <a:lnTo>
                    <a:pt x="6938839" y="239147"/>
                  </a:lnTo>
                  <a:lnTo>
                    <a:pt x="6985719" y="220412"/>
                  </a:lnTo>
                  <a:lnTo>
                    <a:pt x="7032596" y="201991"/>
                  </a:lnTo>
                  <a:lnTo>
                    <a:pt x="7079471" y="184233"/>
                  </a:lnTo>
                  <a:lnTo>
                    <a:pt x="7126343" y="167486"/>
                  </a:lnTo>
                  <a:lnTo>
                    <a:pt x="7173212" y="152099"/>
                  </a:lnTo>
                  <a:lnTo>
                    <a:pt x="7220077" y="138419"/>
                  </a:lnTo>
                  <a:lnTo>
                    <a:pt x="7270574" y="124750"/>
                  </a:lnTo>
                  <a:lnTo>
                    <a:pt x="7321071" y="111144"/>
                  </a:lnTo>
                  <a:lnTo>
                    <a:pt x="7371568" y="97731"/>
                  </a:lnTo>
                  <a:lnTo>
                    <a:pt x="7422065" y="84643"/>
                  </a:lnTo>
                  <a:lnTo>
                    <a:pt x="7472562" y="72011"/>
                  </a:lnTo>
                  <a:lnTo>
                    <a:pt x="7523059" y="59965"/>
                  </a:lnTo>
                  <a:lnTo>
                    <a:pt x="7573557" y="48635"/>
                  </a:lnTo>
                  <a:lnTo>
                    <a:pt x="7624054" y="38154"/>
                  </a:lnTo>
                  <a:lnTo>
                    <a:pt x="7674551" y="28651"/>
                  </a:lnTo>
                  <a:lnTo>
                    <a:pt x="7725048" y="20257"/>
                  </a:lnTo>
                  <a:lnTo>
                    <a:pt x="7775545" y="13103"/>
                  </a:lnTo>
                  <a:lnTo>
                    <a:pt x="7826042" y="7319"/>
                  </a:lnTo>
                  <a:lnTo>
                    <a:pt x="7876539" y="3037"/>
                  </a:lnTo>
                  <a:lnTo>
                    <a:pt x="7927010" y="575"/>
                  </a:lnTo>
                  <a:lnTo>
                    <a:pt x="7977484" y="0"/>
                  </a:lnTo>
                  <a:lnTo>
                    <a:pt x="8027962" y="1065"/>
                  </a:lnTo>
                  <a:lnTo>
                    <a:pt x="8078443" y="3525"/>
                  </a:lnTo>
                  <a:lnTo>
                    <a:pt x="8128928" y="7135"/>
                  </a:lnTo>
                  <a:lnTo>
                    <a:pt x="8179415" y="11647"/>
                  </a:lnTo>
                  <a:lnTo>
                    <a:pt x="8229905" y="16817"/>
                  </a:lnTo>
                  <a:lnTo>
                    <a:pt x="8280397" y="22399"/>
                  </a:lnTo>
                  <a:lnTo>
                    <a:pt x="8330891" y="28145"/>
                  </a:lnTo>
                  <a:lnTo>
                    <a:pt x="8381386" y="33811"/>
                  </a:lnTo>
                  <a:lnTo>
                    <a:pt x="8431882" y="39151"/>
                  </a:lnTo>
                  <a:lnTo>
                    <a:pt x="8482378" y="43919"/>
                  </a:lnTo>
                  <a:lnTo>
                    <a:pt x="8532876" y="47868"/>
                  </a:lnTo>
                </a:path>
              </a:pathLst>
            </a:custGeom>
            <a:ln w="1905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906018" y="3033522"/>
              <a:ext cx="8533130" cy="196850"/>
            </a:xfrm>
            <a:custGeom>
              <a:avLst/>
              <a:gdLst/>
              <a:ahLst/>
              <a:cxnLst/>
              <a:rect l="l" t="t" r="r" b="b"/>
              <a:pathLst>
                <a:path w="8533130" h="196850">
                  <a:moveTo>
                    <a:pt x="0" y="196595"/>
                  </a:moveTo>
                  <a:lnTo>
                    <a:pt x="50492" y="195773"/>
                  </a:lnTo>
                  <a:lnTo>
                    <a:pt x="100985" y="194899"/>
                  </a:lnTo>
                  <a:lnTo>
                    <a:pt x="151479" y="193989"/>
                  </a:lnTo>
                  <a:lnTo>
                    <a:pt x="201973" y="193059"/>
                  </a:lnTo>
                  <a:lnTo>
                    <a:pt x="252467" y="192126"/>
                  </a:lnTo>
                  <a:lnTo>
                    <a:pt x="302960" y="191205"/>
                  </a:lnTo>
                  <a:lnTo>
                    <a:pt x="353451" y="190311"/>
                  </a:lnTo>
                  <a:lnTo>
                    <a:pt x="403940" y="189462"/>
                  </a:lnTo>
                  <a:lnTo>
                    <a:pt x="454427" y="188673"/>
                  </a:lnTo>
                  <a:lnTo>
                    <a:pt x="504910" y="187960"/>
                  </a:lnTo>
                  <a:lnTo>
                    <a:pt x="555390" y="187339"/>
                  </a:lnTo>
                  <a:lnTo>
                    <a:pt x="605865" y="186825"/>
                  </a:lnTo>
                  <a:lnTo>
                    <a:pt x="656335" y="186435"/>
                  </a:lnTo>
                  <a:lnTo>
                    <a:pt x="706833" y="186187"/>
                  </a:lnTo>
                  <a:lnTo>
                    <a:pt x="757330" y="186071"/>
                  </a:lnTo>
                  <a:lnTo>
                    <a:pt x="807827" y="186071"/>
                  </a:lnTo>
                  <a:lnTo>
                    <a:pt x="858324" y="186165"/>
                  </a:lnTo>
                  <a:lnTo>
                    <a:pt x="908821" y="186335"/>
                  </a:lnTo>
                  <a:lnTo>
                    <a:pt x="959318" y="186561"/>
                  </a:lnTo>
                  <a:lnTo>
                    <a:pt x="1009816" y="186824"/>
                  </a:lnTo>
                  <a:lnTo>
                    <a:pt x="1060313" y="187105"/>
                  </a:lnTo>
                  <a:lnTo>
                    <a:pt x="1110810" y="187383"/>
                  </a:lnTo>
                  <a:lnTo>
                    <a:pt x="1161307" y="187640"/>
                  </a:lnTo>
                  <a:lnTo>
                    <a:pt x="1211804" y="187855"/>
                  </a:lnTo>
                  <a:lnTo>
                    <a:pt x="1262301" y="188011"/>
                  </a:lnTo>
                  <a:lnTo>
                    <a:pt x="1312799" y="188086"/>
                  </a:lnTo>
                  <a:lnTo>
                    <a:pt x="1363269" y="188099"/>
                  </a:lnTo>
                  <a:lnTo>
                    <a:pt x="1413743" y="188080"/>
                  </a:lnTo>
                  <a:lnTo>
                    <a:pt x="1464221" y="188036"/>
                  </a:lnTo>
                  <a:lnTo>
                    <a:pt x="1514702" y="187971"/>
                  </a:lnTo>
                  <a:lnTo>
                    <a:pt x="1565187" y="187891"/>
                  </a:lnTo>
                  <a:lnTo>
                    <a:pt x="1615674" y="187800"/>
                  </a:lnTo>
                  <a:lnTo>
                    <a:pt x="1666164" y="187705"/>
                  </a:lnTo>
                  <a:lnTo>
                    <a:pt x="1716656" y="187611"/>
                  </a:lnTo>
                  <a:lnTo>
                    <a:pt x="1767150" y="187522"/>
                  </a:lnTo>
                  <a:lnTo>
                    <a:pt x="1817645" y="187443"/>
                  </a:lnTo>
                  <a:lnTo>
                    <a:pt x="1868141" y="187381"/>
                  </a:lnTo>
                  <a:lnTo>
                    <a:pt x="1918637" y="187339"/>
                  </a:lnTo>
                  <a:lnTo>
                    <a:pt x="1969134" y="187325"/>
                  </a:lnTo>
                  <a:lnTo>
                    <a:pt x="2019630" y="187352"/>
                  </a:lnTo>
                  <a:lnTo>
                    <a:pt x="2070121" y="187426"/>
                  </a:lnTo>
                  <a:lnTo>
                    <a:pt x="2120609" y="187537"/>
                  </a:lnTo>
                  <a:lnTo>
                    <a:pt x="2171094" y="187671"/>
                  </a:lnTo>
                  <a:lnTo>
                    <a:pt x="2221578" y="187819"/>
                  </a:lnTo>
                  <a:lnTo>
                    <a:pt x="2272061" y="187968"/>
                  </a:lnTo>
                  <a:lnTo>
                    <a:pt x="2322544" y="188106"/>
                  </a:lnTo>
                  <a:lnTo>
                    <a:pt x="2373027" y="188224"/>
                  </a:lnTo>
                  <a:lnTo>
                    <a:pt x="2423511" y="188308"/>
                  </a:lnTo>
                  <a:lnTo>
                    <a:pt x="2473996" y="188348"/>
                  </a:lnTo>
                  <a:lnTo>
                    <a:pt x="2524484" y="188332"/>
                  </a:lnTo>
                  <a:lnTo>
                    <a:pt x="2574975" y="188248"/>
                  </a:lnTo>
                  <a:lnTo>
                    <a:pt x="2625471" y="188086"/>
                  </a:lnTo>
                  <a:lnTo>
                    <a:pt x="2675968" y="187869"/>
                  </a:lnTo>
                  <a:lnTo>
                    <a:pt x="2726465" y="187577"/>
                  </a:lnTo>
                  <a:lnTo>
                    <a:pt x="2776962" y="187219"/>
                  </a:lnTo>
                  <a:lnTo>
                    <a:pt x="2827459" y="186805"/>
                  </a:lnTo>
                  <a:lnTo>
                    <a:pt x="2877956" y="186346"/>
                  </a:lnTo>
                  <a:lnTo>
                    <a:pt x="2928453" y="185851"/>
                  </a:lnTo>
                  <a:lnTo>
                    <a:pt x="2978951" y="185332"/>
                  </a:lnTo>
                  <a:lnTo>
                    <a:pt x="3029448" y="184797"/>
                  </a:lnTo>
                  <a:lnTo>
                    <a:pt x="3079945" y="184256"/>
                  </a:lnTo>
                  <a:lnTo>
                    <a:pt x="3130442" y="183721"/>
                  </a:lnTo>
                  <a:lnTo>
                    <a:pt x="3180939" y="183200"/>
                  </a:lnTo>
                  <a:lnTo>
                    <a:pt x="3231436" y="182705"/>
                  </a:lnTo>
                  <a:lnTo>
                    <a:pt x="3281933" y="182244"/>
                  </a:lnTo>
                  <a:lnTo>
                    <a:pt x="3332404" y="181732"/>
                  </a:lnTo>
                  <a:lnTo>
                    <a:pt x="3382878" y="181147"/>
                  </a:lnTo>
                  <a:lnTo>
                    <a:pt x="3433356" y="180512"/>
                  </a:lnTo>
                  <a:lnTo>
                    <a:pt x="3483837" y="179848"/>
                  </a:lnTo>
                  <a:lnTo>
                    <a:pt x="3534322" y="179179"/>
                  </a:lnTo>
                  <a:lnTo>
                    <a:pt x="3584809" y="178526"/>
                  </a:lnTo>
                  <a:lnTo>
                    <a:pt x="3635299" y="177911"/>
                  </a:lnTo>
                  <a:lnTo>
                    <a:pt x="3685791" y="177357"/>
                  </a:lnTo>
                  <a:lnTo>
                    <a:pt x="3736285" y="176886"/>
                  </a:lnTo>
                  <a:lnTo>
                    <a:pt x="3786780" y="176521"/>
                  </a:lnTo>
                  <a:lnTo>
                    <a:pt x="3837276" y="176282"/>
                  </a:lnTo>
                  <a:lnTo>
                    <a:pt x="3887772" y="176193"/>
                  </a:lnTo>
                  <a:lnTo>
                    <a:pt x="3938270" y="176275"/>
                  </a:lnTo>
                  <a:lnTo>
                    <a:pt x="3988765" y="176532"/>
                  </a:lnTo>
                  <a:lnTo>
                    <a:pt x="4039256" y="176988"/>
                  </a:lnTo>
                  <a:lnTo>
                    <a:pt x="4089744" y="177613"/>
                  </a:lnTo>
                  <a:lnTo>
                    <a:pt x="4140229" y="178376"/>
                  </a:lnTo>
                  <a:lnTo>
                    <a:pt x="4190713" y="179247"/>
                  </a:lnTo>
                  <a:lnTo>
                    <a:pt x="4241196" y="180195"/>
                  </a:lnTo>
                  <a:lnTo>
                    <a:pt x="4291679" y="181190"/>
                  </a:lnTo>
                  <a:lnTo>
                    <a:pt x="4342162" y="182202"/>
                  </a:lnTo>
                  <a:lnTo>
                    <a:pt x="4392646" y="183199"/>
                  </a:lnTo>
                  <a:lnTo>
                    <a:pt x="4443131" y="184152"/>
                  </a:lnTo>
                  <a:lnTo>
                    <a:pt x="4493619" y="185029"/>
                  </a:lnTo>
                  <a:lnTo>
                    <a:pt x="4544110" y="185800"/>
                  </a:lnTo>
                  <a:lnTo>
                    <a:pt x="4594606" y="186435"/>
                  </a:lnTo>
                  <a:lnTo>
                    <a:pt x="4645103" y="187008"/>
                  </a:lnTo>
                  <a:lnTo>
                    <a:pt x="4695599" y="187599"/>
                  </a:lnTo>
                  <a:lnTo>
                    <a:pt x="4746095" y="188193"/>
                  </a:lnTo>
                  <a:lnTo>
                    <a:pt x="4796590" y="188774"/>
                  </a:lnTo>
                  <a:lnTo>
                    <a:pt x="4847084" y="189324"/>
                  </a:lnTo>
                  <a:lnTo>
                    <a:pt x="4897576" y="189827"/>
                  </a:lnTo>
                  <a:lnTo>
                    <a:pt x="4948066" y="190265"/>
                  </a:lnTo>
                  <a:lnTo>
                    <a:pt x="4998553" y="190624"/>
                  </a:lnTo>
                  <a:lnTo>
                    <a:pt x="5049038" y="190885"/>
                  </a:lnTo>
                  <a:lnTo>
                    <a:pt x="5099519" y="191033"/>
                  </a:lnTo>
                  <a:lnTo>
                    <a:pt x="5149997" y="191050"/>
                  </a:lnTo>
                  <a:lnTo>
                    <a:pt x="5200471" y="190920"/>
                  </a:lnTo>
                  <a:lnTo>
                    <a:pt x="5250942" y="190626"/>
                  </a:lnTo>
                  <a:lnTo>
                    <a:pt x="5301439" y="190123"/>
                  </a:lnTo>
                  <a:lnTo>
                    <a:pt x="5351936" y="189349"/>
                  </a:lnTo>
                  <a:lnTo>
                    <a:pt x="5402433" y="188354"/>
                  </a:lnTo>
                  <a:lnTo>
                    <a:pt x="5452930" y="187188"/>
                  </a:lnTo>
                  <a:lnTo>
                    <a:pt x="5503427" y="185900"/>
                  </a:lnTo>
                  <a:lnTo>
                    <a:pt x="5553924" y="184540"/>
                  </a:lnTo>
                  <a:lnTo>
                    <a:pt x="5604422" y="183157"/>
                  </a:lnTo>
                  <a:lnTo>
                    <a:pt x="5654919" y="181801"/>
                  </a:lnTo>
                  <a:lnTo>
                    <a:pt x="5705416" y="180522"/>
                  </a:lnTo>
                  <a:lnTo>
                    <a:pt x="5755913" y="179369"/>
                  </a:lnTo>
                  <a:lnTo>
                    <a:pt x="5806410" y="178392"/>
                  </a:lnTo>
                  <a:lnTo>
                    <a:pt x="5856907" y="177641"/>
                  </a:lnTo>
                  <a:lnTo>
                    <a:pt x="5907405" y="177164"/>
                  </a:lnTo>
                  <a:lnTo>
                    <a:pt x="5957900" y="176959"/>
                  </a:lnTo>
                  <a:lnTo>
                    <a:pt x="6008391" y="177015"/>
                  </a:lnTo>
                  <a:lnTo>
                    <a:pt x="6058879" y="177289"/>
                  </a:lnTo>
                  <a:lnTo>
                    <a:pt x="6109364" y="177737"/>
                  </a:lnTo>
                  <a:lnTo>
                    <a:pt x="6159848" y="178314"/>
                  </a:lnTo>
                  <a:lnTo>
                    <a:pt x="6210331" y="178975"/>
                  </a:lnTo>
                  <a:lnTo>
                    <a:pt x="6260814" y="179677"/>
                  </a:lnTo>
                  <a:lnTo>
                    <a:pt x="6311297" y="180374"/>
                  </a:lnTo>
                  <a:lnTo>
                    <a:pt x="6361781" y="181023"/>
                  </a:lnTo>
                  <a:lnTo>
                    <a:pt x="6412266" y="181579"/>
                  </a:lnTo>
                  <a:lnTo>
                    <a:pt x="6462754" y="181997"/>
                  </a:lnTo>
                  <a:lnTo>
                    <a:pt x="6513245" y="182234"/>
                  </a:lnTo>
                  <a:lnTo>
                    <a:pt x="6563740" y="182244"/>
                  </a:lnTo>
                  <a:lnTo>
                    <a:pt x="6614238" y="182037"/>
                  </a:lnTo>
                  <a:lnTo>
                    <a:pt x="6664734" y="181714"/>
                  </a:lnTo>
                  <a:lnTo>
                    <a:pt x="6715230" y="181287"/>
                  </a:lnTo>
                  <a:lnTo>
                    <a:pt x="6765725" y="180767"/>
                  </a:lnTo>
                  <a:lnTo>
                    <a:pt x="6816219" y="180165"/>
                  </a:lnTo>
                  <a:lnTo>
                    <a:pt x="6866711" y="179492"/>
                  </a:lnTo>
                  <a:lnTo>
                    <a:pt x="6917201" y="178760"/>
                  </a:lnTo>
                  <a:lnTo>
                    <a:pt x="6967688" y="177979"/>
                  </a:lnTo>
                  <a:lnTo>
                    <a:pt x="7018173" y="177161"/>
                  </a:lnTo>
                  <a:lnTo>
                    <a:pt x="7068654" y="176316"/>
                  </a:lnTo>
                  <a:lnTo>
                    <a:pt x="7119132" y="175457"/>
                  </a:lnTo>
                  <a:lnTo>
                    <a:pt x="7169606" y="174593"/>
                  </a:lnTo>
                  <a:lnTo>
                    <a:pt x="7220077" y="173735"/>
                  </a:lnTo>
                  <a:lnTo>
                    <a:pt x="7270574" y="173257"/>
                  </a:lnTo>
                  <a:lnTo>
                    <a:pt x="7321071" y="173392"/>
                  </a:lnTo>
                  <a:lnTo>
                    <a:pt x="7371568" y="173948"/>
                  </a:lnTo>
                  <a:lnTo>
                    <a:pt x="7422065" y="174732"/>
                  </a:lnTo>
                  <a:lnTo>
                    <a:pt x="7472562" y="175550"/>
                  </a:lnTo>
                  <a:lnTo>
                    <a:pt x="7523059" y="176209"/>
                  </a:lnTo>
                  <a:lnTo>
                    <a:pt x="7573557" y="176516"/>
                  </a:lnTo>
                  <a:lnTo>
                    <a:pt x="7624054" y="176278"/>
                  </a:lnTo>
                  <a:lnTo>
                    <a:pt x="7674551" y="175301"/>
                  </a:lnTo>
                  <a:lnTo>
                    <a:pt x="7725048" y="173393"/>
                  </a:lnTo>
                  <a:lnTo>
                    <a:pt x="7775545" y="170360"/>
                  </a:lnTo>
                  <a:lnTo>
                    <a:pt x="7826042" y="166009"/>
                  </a:lnTo>
                  <a:lnTo>
                    <a:pt x="7876539" y="160146"/>
                  </a:lnTo>
                  <a:lnTo>
                    <a:pt x="7927010" y="152630"/>
                  </a:lnTo>
                  <a:lnTo>
                    <a:pt x="7977484" y="143578"/>
                  </a:lnTo>
                  <a:lnTo>
                    <a:pt x="8027962" y="133191"/>
                  </a:lnTo>
                  <a:lnTo>
                    <a:pt x="8078443" y="121669"/>
                  </a:lnTo>
                  <a:lnTo>
                    <a:pt x="8128928" y="109213"/>
                  </a:lnTo>
                  <a:lnTo>
                    <a:pt x="8179415" y="96024"/>
                  </a:lnTo>
                  <a:lnTo>
                    <a:pt x="8229905" y="82302"/>
                  </a:lnTo>
                  <a:lnTo>
                    <a:pt x="8280397" y="68247"/>
                  </a:lnTo>
                  <a:lnTo>
                    <a:pt x="8330891" y="54060"/>
                  </a:lnTo>
                  <a:lnTo>
                    <a:pt x="8381386" y="39941"/>
                  </a:lnTo>
                  <a:lnTo>
                    <a:pt x="8431882" y="26091"/>
                  </a:lnTo>
                  <a:lnTo>
                    <a:pt x="8482378" y="12710"/>
                  </a:lnTo>
                  <a:lnTo>
                    <a:pt x="8532876" y="0"/>
                  </a:lnTo>
                </a:path>
              </a:pathLst>
            </a:custGeom>
            <a:ln w="19050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236220" y="1036446"/>
            <a:ext cx="267970" cy="22656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5"/>
              </a:spcBef>
            </a:pPr>
            <a:r>
              <a:rPr dirty="0" sz="800" spc="-20">
                <a:solidFill>
                  <a:srgbClr val="585858"/>
                </a:solidFill>
                <a:latin typeface="Arial MT"/>
                <a:cs typeface="Arial MT"/>
              </a:rPr>
              <a:t>2,500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8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</a:pPr>
            <a:r>
              <a:rPr dirty="0" sz="800" spc="-20">
                <a:solidFill>
                  <a:srgbClr val="585858"/>
                </a:solidFill>
                <a:latin typeface="Arial MT"/>
                <a:cs typeface="Arial MT"/>
              </a:rPr>
              <a:t>2,000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35"/>
              </a:spcBef>
            </a:pPr>
            <a:endParaRPr sz="8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</a:pPr>
            <a:r>
              <a:rPr dirty="0" sz="800" spc="-20">
                <a:solidFill>
                  <a:srgbClr val="585858"/>
                </a:solidFill>
                <a:latin typeface="Arial MT"/>
                <a:cs typeface="Arial MT"/>
              </a:rPr>
              <a:t>1,500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35"/>
              </a:spcBef>
            </a:pPr>
            <a:endParaRPr sz="8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</a:pPr>
            <a:r>
              <a:rPr dirty="0" sz="800" spc="-20">
                <a:solidFill>
                  <a:srgbClr val="585858"/>
                </a:solidFill>
                <a:latin typeface="Arial MT"/>
                <a:cs typeface="Arial MT"/>
              </a:rPr>
              <a:t>1,000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35"/>
              </a:spcBef>
            </a:pPr>
            <a:endParaRPr sz="800">
              <a:latin typeface="Arial MT"/>
              <a:cs typeface="Arial MT"/>
            </a:endParaRPr>
          </a:p>
          <a:p>
            <a:pPr algn="r" marR="5715">
              <a:lnSpc>
                <a:spcPct val="100000"/>
              </a:lnSpc>
            </a:pPr>
            <a:r>
              <a:rPr dirty="0" sz="800" spc="-25">
                <a:solidFill>
                  <a:srgbClr val="585858"/>
                </a:solidFill>
                <a:latin typeface="Arial MT"/>
                <a:cs typeface="Arial MT"/>
              </a:rPr>
              <a:t>500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35"/>
              </a:spcBef>
            </a:pPr>
            <a:endParaRPr sz="8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</a:pPr>
            <a:r>
              <a:rPr dirty="0" sz="800" spc="-50">
                <a:solidFill>
                  <a:srgbClr val="585858"/>
                </a:solidFill>
                <a:latin typeface="Arial MT"/>
                <a:cs typeface="Arial MT"/>
              </a:rPr>
              <a:t>0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793394" y="3274821"/>
            <a:ext cx="23876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-20">
                <a:solidFill>
                  <a:srgbClr val="585858"/>
                </a:solidFill>
                <a:latin typeface="Arial MT"/>
                <a:cs typeface="Arial MT"/>
              </a:rPr>
              <a:t>2009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449958" y="3274821"/>
            <a:ext cx="23876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-20">
                <a:solidFill>
                  <a:srgbClr val="585858"/>
                </a:solidFill>
                <a:latin typeface="Arial MT"/>
                <a:cs typeface="Arial MT"/>
              </a:rPr>
              <a:t>2010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106167" y="3274821"/>
            <a:ext cx="23876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-20">
                <a:solidFill>
                  <a:srgbClr val="585858"/>
                </a:solidFill>
                <a:latin typeface="Arial MT"/>
                <a:cs typeface="Arial MT"/>
              </a:rPr>
              <a:t>2011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762757" y="3274821"/>
            <a:ext cx="23876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-20">
                <a:solidFill>
                  <a:srgbClr val="585858"/>
                </a:solidFill>
                <a:latin typeface="Arial MT"/>
                <a:cs typeface="Arial MT"/>
              </a:rPr>
              <a:t>2012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3419221" y="3274821"/>
            <a:ext cx="23876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-20">
                <a:solidFill>
                  <a:srgbClr val="585858"/>
                </a:solidFill>
                <a:latin typeface="Arial MT"/>
                <a:cs typeface="Arial MT"/>
              </a:rPr>
              <a:t>2013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4075810" y="3274821"/>
            <a:ext cx="23876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-20">
                <a:solidFill>
                  <a:srgbClr val="585858"/>
                </a:solidFill>
                <a:latin typeface="Arial MT"/>
                <a:cs typeface="Arial MT"/>
              </a:rPr>
              <a:t>2014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4732273" y="3274821"/>
            <a:ext cx="23876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-20">
                <a:solidFill>
                  <a:srgbClr val="585858"/>
                </a:solidFill>
                <a:latin typeface="Arial MT"/>
                <a:cs typeface="Arial MT"/>
              </a:rPr>
              <a:t>2015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5388864" y="3274821"/>
            <a:ext cx="23876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-20">
                <a:solidFill>
                  <a:srgbClr val="585858"/>
                </a:solidFill>
                <a:latin typeface="Arial MT"/>
                <a:cs typeface="Arial MT"/>
              </a:rPr>
              <a:t>2016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6045453" y="3274821"/>
            <a:ext cx="23876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-20">
                <a:solidFill>
                  <a:srgbClr val="585858"/>
                </a:solidFill>
                <a:latin typeface="Arial MT"/>
                <a:cs typeface="Arial MT"/>
              </a:rPr>
              <a:t>2017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6701663" y="3274821"/>
            <a:ext cx="23876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-20">
                <a:solidFill>
                  <a:srgbClr val="585858"/>
                </a:solidFill>
                <a:latin typeface="Arial MT"/>
                <a:cs typeface="Arial MT"/>
              </a:rPr>
              <a:t>2018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7358126" y="3274821"/>
            <a:ext cx="23876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-20">
                <a:solidFill>
                  <a:srgbClr val="585858"/>
                </a:solidFill>
                <a:latin typeface="Arial MT"/>
                <a:cs typeface="Arial MT"/>
              </a:rPr>
              <a:t>2019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8014716" y="3274821"/>
            <a:ext cx="23876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-20">
                <a:solidFill>
                  <a:srgbClr val="585858"/>
                </a:solidFill>
                <a:latin typeface="Arial MT"/>
                <a:cs typeface="Arial MT"/>
              </a:rPr>
              <a:t>2020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8671306" y="3274821"/>
            <a:ext cx="23876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-20">
                <a:solidFill>
                  <a:srgbClr val="585858"/>
                </a:solidFill>
                <a:latin typeface="Arial MT"/>
                <a:cs typeface="Arial MT"/>
              </a:rPr>
              <a:t>2021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9327768" y="3274821"/>
            <a:ext cx="23876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-20">
                <a:solidFill>
                  <a:srgbClr val="585858"/>
                </a:solidFill>
                <a:latin typeface="Arial MT"/>
                <a:cs typeface="Arial MT"/>
              </a:rPr>
              <a:t>2022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3906392" y="3578733"/>
            <a:ext cx="1770380" cy="19050"/>
            <a:chOff x="3906392" y="3578733"/>
            <a:chExt cx="1770380" cy="19050"/>
          </a:xfrm>
        </p:grpSpPr>
        <p:sp>
          <p:nvSpPr>
            <p:cNvPr id="27" name="object 27" descr=""/>
            <p:cNvSpPr/>
            <p:nvPr/>
          </p:nvSpPr>
          <p:spPr>
            <a:xfrm>
              <a:off x="3915917" y="3588258"/>
              <a:ext cx="243840" cy="0"/>
            </a:xfrm>
            <a:custGeom>
              <a:avLst/>
              <a:gdLst/>
              <a:ahLst/>
              <a:cxnLst/>
              <a:rect l="l" t="t" r="r" b="b"/>
              <a:pathLst>
                <a:path w="243839" h="0">
                  <a:moveTo>
                    <a:pt x="0" y="0"/>
                  </a:moveTo>
                  <a:lnTo>
                    <a:pt x="243840" y="0"/>
                  </a:lnTo>
                </a:path>
              </a:pathLst>
            </a:custGeom>
            <a:ln w="190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4624577" y="3588258"/>
              <a:ext cx="243840" cy="0"/>
            </a:xfrm>
            <a:custGeom>
              <a:avLst/>
              <a:gdLst/>
              <a:ahLst/>
              <a:cxnLst/>
              <a:rect l="l" t="t" r="r" b="b"/>
              <a:pathLst>
                <a:path w="243839" h="0">
                  <a:moveTo>
                    <a:pt x="0" y="0"/>
                  </a:moveTo>
                  <a:lnTo>
                    <a:pt x="243839" y="0"/>
                  </a:lnTo>
                </a:path>
              </a:pathLst>
            </a:custGeom>
            <a:ln w="1905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5423153" y="3588258"/>
              <a:ext cx="243840" cy="0"/>
            </a:xfrm>
            <a:custGeom>
              <a:avLst/>
              <a:gdLst/>
              <a:ahLst/>
              <a:cxnLst/>
              <a:rect l="l" t="t" r="r" b="b"/>
              <a:pathLst>
                <a:path w="243839" h="0">
                  <a:moveTo>
                    <a:pt x="0" y="0"/>
                  </a:moveTo>
                  <a:lnTo>
                    <a:pt x="243840" y="0"/>
                  </a:lnTo>
                </a:path>
              </a:pathLst>
            </a:custGeom>
            <a:ln w="19050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 txBox="1"/>
          <p:nvPr/>
        </p:nvSpPr>
        <p:spPr>
          <a:xfrm>
            <a:off x="3579367" y="3505580"/>
            <a:ext cx="2811145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05790">
              <a:lnSpc>
                <a:spcPct val="100000"/>
              </a:lnSpc>
              <a:spcBef>
                <a:spcPts val="100"/>
              </a:spcBef>
              <a:tabLst>
                <a:tab pos="1315085" algn="l"/>
                <a:tab pos="2114550" algn="l"/>
              </a:tabLst>
            </a:pPr>
            <a:r>
              <a:rPr dirty="0" sz="800" spc="-10">
                <a:solidFill>
                  <a:srgbClr val="585858"/>
                </a:solidFill>
                <a:latin typeface="Arial MT"/>
                <a:cs typeface="Arial MT"/>
              </a:rPr>
              <a:t>Goods</a:t>
            </a:r>
            <a:r>
              <a:rPr dirty="0" sz="800">
                <a:solidFill>
                  <a:srgbClr val="585858"/>
                </a:solidFill>
                <a:latin typeface="Arial MT"/>
                <a:cs typeface="Arial MT"/>
              </a:rPr>
              <a:t>	</a:t>
            </a:r>
            <a:r>
              <a:rPr dirty="0" sz="800" spc="-10">
                <a:solidFill>
                  <a:srgbClr val="585858"/>
                </a:solidFill>
                <a:latin typeface="Arial MT"/>
                <a:cs typeface="Arial MT"/>
              </a:rPr>
              <a:t>Services</a:t>
            </a:r>
            <a:r>
              <a:rPr dirty="0" sz="800">
                <a:solidFill>
                  <a:srgbClr val="585858"/>
                </a:solidFill>
                <a:latin typeface="Arial MT"/>
                <a:cs typeface="Arial MT"/>
              </a:rPr>
              <a:t>	</a:t>
            </a:r>
            <a:r>
              <a:rPr dirty="0" sz="800" spc="-10">
                <a:solidFill>
                  <a:srgbClr val="585858"/>
                </a:solidFill>
                <a:latin typeface="Arial MT"/>
                <a:cs typeface="Arial MT"/>
              </a:rPr>
              <a:t>Investment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700" i="1">
                <a:solidFill>
                  <a:srgbClr val="0D0D0D"/>
                </a:solidFill>
                <a:latin typeface="Arial"/>
                <a:cs typeface="Arial"/>
              </a:rPr>
              <a:t>Sources:</a:t>
            </a:r>
            <a:r>
              <a:rPr dirty="0" sz="700" spc="-10" i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0D0D0D"/>
                </a:solidFill>
                <a:latin typeface="Arial"/>
                <a:cs typeface="Arial"/>
              </a:rPr>
              <a:t>Global</a:t>
            </a:r>
            <a:r>
              <a:rPr dirty="0" sz="700" spc="-25" i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0D0D0D"/>
                </a:solidFill>
                <a:latin typeface="Arial"/>
                <a:cs typeface="Arial"/>
              </a:rPr>
              <a:t>Trade</a:t>
            </a:r>
            <a:r>
              <a:rPr dirty="0" sz="700" spc="-10" i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0D0D0D"/>
                </a:solidFill>
                <a:latin typeface="Arial"/>
                <a:cs typeface="Arial"/>
              </a:rPr>
              <a:t>Alert;</a:t>
            </a:r>
            <a:r>
              <a:rPr dirty="0" sz="700" spc="-20" i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0D0D0D"/>
                </a:solidFill>
                <a:latin typeface="Arial"/>
                <a:cs typeface="Arial"/>
              </a:rPr>
              <a:t>IMF</a:t>
            </a:r>
            <a:r>
              <a:rPr dirty="0" sz="700" spc="-10" i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0D0D0D"/>
                </a:solidFill>
                <a:latin typeface="Arial"/>
                <a:cs typeface="Arial"/>
              </a:rPr>
              <a:t>World</a:t>
            </a:r>
            <a:r>
              <a:rPr dirty="0" sz="700" spc="-30" i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0D0D0D"/>
                </a:solidFill>
                <a:latin typeface="Arial"/>
                <a:cs typeface="Arial"/>
              </a:rPr>
              <a:t>Economic</a:t>
            </a:r>
            <a:r>
              <a:rPr dirty="0" sz="700" spc="-20" i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0D0D0D"/>
                </a:solidFill>
                <a:latin typeface="Arial"/>
                <a:cs typeface="Arial"/>
              </a:rPr>
              <a:t>Outlook</a:t>
            </a:r>
            <a:r>
              <a:rPr dirty="0" sz="700" spc="-5" i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0D0D0D"/>
                </a:solidFill>
                <a:latin typeface="Arial"/>
                <a:cs typeface="Arial"/>
              </a:rPr>
              <a:t>(April</a:t>
            </a:r>
            <a:r>
              <a:rPr dirty="0" sz="700" spc="-25" i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700" spc="-10" i="1">
                <a:solidFill>
                  <a:srgbClr val="0D0D0D"/>
                </a:solidFill>
                <a:latin typeface="Arial"/>
                <a:cs typeface="Arial"/>
              </a:rPr>
              <a:t>2023)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31" name="object 31" descr=""/>
          <p:cNvGrpSpPr/>
          <p:nvPr/>
        </p:nvGrpSpPr>
        <p:grpSpPr>
          <a:xfrm>
            <a:off x="149161" y="675131"/>
            <a:ext cx="9829165" cy="3059430"/>
            <a:chOff x="149161" y="675131"/>
            <a:chExt cx="9829165" cy="3059430"/>
          </a:xfrm>
        </p:grpSpPr>
        <p:sp>
          <p:nvSpPr>
            <p:cNvPr id="32" name="object 32" descr=""/>
            <p:cNvSpPr/>
            <p:nvPr/>
          </p:nvSpPr>
          <p:spPr>
            <a:xfrm>
              <a:off x="153923" y="734567"/>
              <a:ext cx="9819640" cy="2994660"/>
            </a:xfrm>
            <a:custGeom>
              <a:avLst/>
              <a:gdLst/>
              <a:ahLst/>
              <a:cxnLst/>
              <a:rect l="l" t="t" r="r" b="b"/>
              <a:pathLst>
                <a:path w="9819640" h="2994660">
                  <a:moveTo>
                    <a:pt x="0" y="2994660"/>
                  </a:moveTo>
                  <a:lnTo>
                    <a:pt x="9819132" y="2994660"/>
                  </a:lnTo>
                  <a:lnTo>
                    <a:pt x="9819132" y="0"/>
                  </a:lnTo>
                  <a:lnTo>
                    <a:pt x="0" y="0"/>
                  </a:lnTo>
                  <a:lnTo>
                    <a:pt x="0" y="2994660"/>
                  </a:lnTo>
                  <a:close/>
                </a:path>
              </a:pathLst>
            </a:custGeom>
            <a:ln w="9525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2538984" y="675131"/>
              <a:ext cx="4773295" cy="376555"/>
            </a:xfrm>
            <a:custGeom>
              <a:avLst/>
              <a:gdLst/>
              <a:ahLst/>
              <a:cxnLst/>
              <a:rect l="l" t="t" r="r" b="b"/>
              <a:pathLst>
                <a:path w="4773295" h="376555">
                  <a:moveTo>
                    <a:pt x="4773168" y="0"/>
                  </a:moveTo>
                  <a:lnTo>
                    <a:pt x="0" y="0"/>
                  </a:lnTo>
                  <a:lnTo>
                    <a:pt x="0" y="376427"/>
                  </a:lnTo>
                  <a:lnTo>
                    <a:pt x="4773168" y="376427"/>
                  </a:lnTo>
                  <a:lnTo>
                    <a:pt x="47731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 descr=""/>
          <p:cNvSpPr txBox="1"/>
          <p:nvPr/>
        </p:nvSpPr>
        <p:spPr>
          <a:xfrm>
            <a:off x="3266185" y="674369"/>
            <a:ext cx="3702050" cy="3829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 marR="29845">
              <a:lnSpc>
                <a:spcPct val="100000"/>
              </a:lnSpc>
              <a:spcBef>
                <a:spcPts val="110"/>
              </a:spcBef>
            </a:pPr>
            <a:r>
              <a:rPr dirty="0" sz="1150" b="1">
                <a:solidFill>
                  <a:srgbClr val="0D0D0D"/>
                </a:solidFill>
                <a:latin typeface="Arial"/>
                <a:cs typeface="Arial"/>
              </a:rPr>
              <a:t>Trade</a:t>
            </a:r>
            <a:r>
              <a:rPr dirty="0" sz="1150" spc="40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0D0D0D"/>
                </a:solidFill>
                <a:latin typeface="Arial"/>
                <a:cs typeface="Arial"/>
              </a:rPr>
              <a:t>Tension</a:t>
            </a:r>
            <a:r>
              <a:rPr dirty="0" sz="1150" spc="55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0D0D0D"/>
                </a:solidFill>
                <a:latin typeface="Arial"/>
                <a:cs typeface="Arial"/>
              </a:rPr>
              <a:t>Increasing</a:t>
            </a:r>
            <a:endParaRPr sz="1150">
              <a:latin typeface="Arial"/>
              <a:cs typeface="Arial"/>
            </a:endParaRPr>
          </a:p>
          <a:p>
            <a:pPr algn="ctr" marR="5080">
              <a:lnSpc>
                <a:spcPct val="100000"/>
              </a:lnSpc>
              <a:spcBef>
                <a:spcPts val="40"/>
              </a:spcBef>
            </a:pPr>
            <a:r>
              <a:rPr dirty="0" sz="1150">
                <a:solidFill>
                  <a:srgbClr val="0D0D0D"/>
                </a:solidFill>
                <a:latin typeface="Arial MT"/>
                <a:cs typeface="Arial MT"/>
              </a:rPr>
              <a:t>(Number</a:t>
            </a:r>
            <a:r>
              <a:rPr dirty="0" sz="1150" spc="4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0D0D0D"/>
                </a:solidFill>
                <a:latin typeface="Arial MT"/>
                <a:cs typeface="Arial MT"/>
              </a:rPr>
              <a:t>of</a:t>
            </a:r>
            <a:r>
              <a:rPr dirty="0" sz="1150" spc="3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0D0D0D"/>
                </a:solidFill>
                <a:latin typeface="Arial MT"/>
                <a:cs typeface="Arial MT"/>
              </a:rPr>
              <a:t>harmful</a:t>
            </a:r>
            <a:r>
              <a:rPr dirty="0" sz="1150" spc="3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0D0D0D"/>
                </a:solidFill>
                <a:latin typeface="Arial MT"/>
                <a:cs typeface="Arial MT"/>
              </a:rPr>
              <a:t>trade</a:t>
            </a:r>
            <a:r>
              <a:rPr dirty="0" sz="1150" spc="4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0D0D0D"/>
                </a:solidFill>
                <a:latin typeface="Arial MT"/>
                <a:cs typeface="Arial MT"/>
              </a:rPr>
              <a:t>restriction</a:t>
            </a:r>
            <a:r>
              <a:rPr dirty="0" sz="1150" spc="5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0D0D0D"/>
                </a:solidFill>
                <a:latin typeface="Arial MT"/>
                <a:cs typeface="Arial MT"/>
              </a:rPr>
              <a:t>measures</a:t>
            </a:r>
            <a:r>
              <a:rPr dirty="0" sz="1150" spc="5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0D0D0D"/>
                </a:solidFill>
                <a:latin typeface="Arial MT"/>
                <a:cs typeface="Arial MT"/>
              </a:rPr>
              <a:t>imposed)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36" name="object 3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Impact</a:t>
            </a:r>
            <a:r>
              <a:rPr dirty="0" spc="35"/>
              <a:t> </a:t>
            </a:r>
            <a:r>
              <a:rPr dirty="0"/>
              <a:t>of</a:t>
            </a:r>
            <a:r>
              <a:rPr dirty="0" spc="50"/>
              <a:t> </a:t>
            </a:r>
            <a:r>
              <a:rPr dirty="0"/>
              <a:t>Global</a:t>
            </a:r>
            <a:r>
              <a:rPr dirty="0" spc="65"/>
              <a:t> </a:t>
            </a:r>
            <a:r>
              <a:rPr dirty="0"/>
              <a:t>Economic</a:t>
            </a:r>
            <a:r>
              <a:rPr dirty="0" spc="30"/>
              <a:t> </a:t>
            </a:r>
            <a:r>
              <a:rPr dirty="0"/>
              <a:t>Trends</a:t>
            </a:r>
            <a:r>
              <a:rPr dirty="0" spc="45"/>
              <a:t> </a:t>
            </a:r>
            <a:r>
              <a:rPr dirty="0"/>
              <a:t>on</a:t>
            </a:r>
            <a:r>
              <a:rPr dirty="0" spc="40"/>
              <a:t> </a:t>
            </a:r>
            <a:r>
              <a:rPr dirty="0"/>
              <a:t>Nigeria’s</a:t>
            </a:r>
            <a:r>
              <a:rPr dirty="0" spc="60"/>
              <a:t> </a:t>
            </a:r>
            <a:r>
              <a:rPr dirty="0"/>
              <a:t>Foreign</a:t>
            </a:r>
            <a:r>
              <a:rPr dirty="0" spc="45"/>
              <a:t> </a:t>
            </a:r>
            <a:r>
              <a:rPr dirty="0"/>
              <a:t>Exchange</a:t>
            </a:r>
            <a:r>
              <a:rPr dirty="0" spc="60"/>
              <a:t> </a:t>
            </a:r>
            <a:r>
              <a:rPr dirty="0" spc="-10"/>
              <a:t>Market</a:t>
            </a:r>
          </a:p>
        </p:txBody>
      </p:sp>
      <p:sp>
        <p:nvSpPr>
          <p:cNvPr id="37" name="object 3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October</a:t>
            </a:r>
            <a:r>
              <a:rPr dirty="0" spc="80"/>
              <a:t> </a:t>
            </a:r>
            <a:r>
              <a:rPr dirty="0" spc="-20"/>
              <a:t>2023</a:t>
            </a:r>
          </a:p>
        </p:txBody>
      </p:sp>
      <p:sp>
        <p:nvSpPr>
          <p:cNvPr id="38" name="object 3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815"/>
              </a:lnSpc>
            </a:pPr>
            <a:fld id="{81D60167-4931-47E6-BA6A-407CBD079E47}" type="slidenum">
              <a:rPr dirty="0" spc="-25"/>
              <a:t>26</a:t>
            </a:fld>
          </a:p>
        </p:txBody>
      </p:sp>
      <p:sp>
        <p:nvSpPr>
          <p:cNvPr id="35" name="object 3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49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The</a:t>
            </a:r>
            <a:r>
              <a:rPr dirty="0" spc="-45"/>
              <a:t> </a:t>
            </a:r>
            <a:r>
              <a:rPr dirty="0"/>
              <a:t>prevalence</a:t>
            </a:r>
            <a:r>
              <a:rPr dirty="0" spc="-10"/>
              <a:t> </a:t>
            </a:r>
            <a:r>
              <a:rPr dirty="0"/>
              <a:t>of</a:t>
            </a:r>
            <a:r>
              <a:rPr dirty="0" spc="-50"/>
              <a:t> </a:t>
            </a:r>
            <a:r>
              <a:rPr dirty="0"/>
              <a:t>geoeconomic</a:t>
            </a:r>
            <a:r>
              <a:rPr dirty="0" spc="-30"/>
              <a:t> </a:t>
            </a:r>
            <a:r>
              <a:rPr dirty="0"/>
              <a:t>disintegration</a:t>
            </a:r>
            <a:r>
              <a:rPr dirty="0" spc="-5"/>
              <a:t> </a:t>
            </a:r>
            <a:r>
              <a:rPr dirty="0"/>
              <a:t>is</a:t>
            </a:r>
            <a:r>
              <a:rPr dirty="0" spc="-55"/>
              <a:t> </a:t>
            </a:r>
            <a:r>
              <a:rPr dirty="0"/>
              <a:t>on</a:t>
            </a:r>
            <a:r>
              <a:rPr dirty="0" spc="-50"/>
              <a:t> </a:t>
            </a:r>
            <a:r>
              <a:rPr dirty="0"/>
              <a:t>the</a:t>
            </a:r>
            <a:r>
              <a:rPr dirty="0" spc="-50"/>
              <a:t> </a:t>
            </a:r>
            <a:r>
              <a:rPr dirty="0" spc="-20"/>
              <a:t>rise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693229" y="1416177"/>
            <a:ext cx="8816975" cy="2051685"/>
            <a:chOff x="693229" y="1416177"/>
            <a:chExt cx="8816975" cy="2051685"/>
          </a:xfrm>
        </p:grpSpPr>
        <p:sp>
          <p:nvSpPr>
            <p:cNvPr id="3" name="object 3" descr=""/>
            <p:cNvSpPr/>
            <p:nvPr/>
          </p:nvSpPr>
          <p:spPr>
            <a:xfrm>
              <a:off x="6675120" y="1655064"/>
              <a:ext cx="893444" cy="1416050"/>
            </a:xfrm>
            <a:custGeom>
              <a:avLst/>
              <a:gdLst/>
              <a:ahLst/>
              <a:cxnLst/>
              <a:rect l="l" t="t" r="r" b="b"/>
              <a:pathLst>
                <a:path w="893445" h="1416050">
                  <a:moveTo>
                    <a:pt x="893064" y="0"/>
                  </a:moveTo>
                  <a:lnTo>
                    <a:pt x="0" y="0"/>
                  </a:lnTo>
                  <a:lnTo>
                    <a:pt x="0" y="1415796"/>
                  </a:lnTo>
                  <a:lnTo>
                    <a:pt x="893064" y="1415796"/>
                  </a:lnTo>
                  <a:lnTo>
                    <a:pt x="89306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697991" y="2286000"/>
              <a:ext cx="8807450" cy="1176655"/>
            </a:xfrm>
            <a:custGeom>
              <a:avLst/>
              <a:gdLst/>
              <a:ahLst/>
              <a:cxnLst/>
              <a:rect l="l" t="t" r="r" b="b"/>
              <a:pathLst>
                <a:path w="8807450" h="1176654">
                  <a:moveTo>
                    <a:pt x="0" y="0"/>
                  </a:moveTo>
                  <a:lnTo>
                    <a:pt x="8807196" y="0"/>
                  </a:lnTo>
                </a:path>
                <a:path w="8807450" h="1176654">
                  <a:moveTo>
                    <a:pt x="0" y="851916"/>
                  </a:moveTo>
                  <a:lnTo>
                    <a:pt x="0" y="1014983"/>
                  </a:lnTo>
                </a:path>
                <a:path w="8807450" h="1176654">
                  <a:moveTo>
                    <a:pt x="859536" y="851916"/>
                  </a:moveTo>
                  <a:lnTo>
                    <a:pt x="859536" y="1014983"/>
                  </a:lnTo>
                </a:path>
                <a:path w="8807450" h="1176654">
                  <a:moveTo>
                    <a:pt x="1719071" y="851916"/>
                  </a:moveTo>
                  <a:lnTo>
                    <a:pt x="1719071" y="1014983"/>
                  </a:lnTo>
                </a:path>
                <a:path w="8807450" h="1176654">
                  <a:moveTo>
                    <a:pt x="2577084" y="851916"/>
                  </a:moveTo>
                  <a:lnTo>
                    <a:pt x="2577084" y="1014983"/>
                  </a:lnTo>
                </a:path>
                <a:path w="8807450" h="1176654">
                  <a:moveTo>
                    <a:pt x="3436620" y="851916"/>
                  </a:moveTo>
                  <a:lnTo>
                    <a:pt x="3436620" y="1014983"/>
                  </a:lnTo>
                </a:path>
                <a:path w="8807450" h="1176654">
                  <a:moveTo>
                    <a:pt x="4296156" y="851916"/>
                  </a:moveTo>
                  <a:lnTo>
                    <a:pt x="4296156" y="1014983"/>
                  </a:lnTo>
                </a:path>
                <a:path w="8807450" h="1176654">
                  <a:moveTo>
                    <a:pt x="5155692" y="851916"/>
                  </a:moveTo>
                  <a:lnTo>
                    <a:pt x="5155692" y="1014983"/>
                  </a:lnTo>
                </a:path>
                <a:path w="8807450" h="1176654">
                  <a:moveTo>
                    <a:pt x="6013704" y="851916"/>
                  </a:moveTo>
                  <a:lnTo>
                    <a:pt x="6013704" y="1014983"/>
                  </a:lnTo>
                </a:path>
                <a:path w="8807450" h="1176654">
                  <a:moveTo>
                    <a:pt x="6873239" y="851916"/>
                  </a:moveTo>
                  <a:lnTo>
                    <a:pt x="6873239" y="1014983"/>
                  </a:lnTo>
                </a:path>
                <a:path w="8807450" h="1176654">
                  <a:moveTo>
                    <a:pt x="7732776" y="851916"/>
                  </a:moveTo>
                  <a:lnTo>
                    <a:pt x="7732776" y="1014983"/>
                  </a:lnTo>
                </a:path>
                <a:path w="8807450" h="1176654">
                  <a:moveTo>
                    <a:pt x="8592312" y="851916"/>
                  </a:moveTo>
                  <a:lnTo>
                    <a:pt x="8592312" y="1014983"/>
                  </a:lnTo>
                </a:path>
                <a:path w="8807450" h="1176654">
                  <a:moveTo>
                    <a:pt x="8807196" y="851916"/>
                  </a:moveTo>
                  <a:lnTo>
                    <a:pt x="8807196" y="1014983"/>
                  </a:lnTo>
                </a:path>
                <a:path w="8807450" h="1176654">
                  <a:moveTo>
                    <a:pt x="0" y="1014983"/>
                  </a:moveTo>
                  <a:lnTo>
                    <a:pt x="0" y="1176527"/>
                  </a:lnTo>
                </a:path>
                <a:path w="8807450" h="1176654">
                  <a:moveTo>
                    <a:pt x="859536" y="1014983"/>
                  </a:moveTo>
                  <a:lnTo>
                    <a:pt x="859536" y="1176527"/>
                  </a:lnTo>
                </a:path>
                <a:path w="8807450" h="1176654">
                  <a:moveTo>
                    <a:pt x="1719071" y="1014983"/>
                  </a:moveTo>
                  <a:lnTo>
                    <a:pt x="1719071" y="1176527"/>
                  </a:lnTo>
                </a:path>
                <a:path w="8807450" h="1176654">
                  <a:moveTo>
                    <a:pt x="2577084" y="1014983"/>
                  </a:moveTo>
                  <a:lnTo>
                    <a:pt x="2577084" y="1176527"/>
                  </a:lnTo>
                </a:path>
                <a:path w="8807450" h="1176654">
                  <a:moveTo>
                    <a:pt x="3436620" y="1014983"/>
                  </a:moveTo>
                  <a:lnTo>
                    <a:pt x="3436620" y="1176527"/>
                  </a:lnTo>
                </a:path>
                <a:path w="8807450" h="1176654">
                  <a:moveTo>
                    <a:pt x="4296156" y="1014983"/>
                  </a:moveTo>
                  <a:lnTo>
                    <a:pt x="4296156" y="1176527"/>
                  </a:lnTo>
                </a:path>
                <a:path w="8807450" h="1176654">
                  <a:moveTo>
                    <a:pt x="5155692" y="1014983"/>
                  </a:moveTo>
                  <a:lnTo>
                    <a:pt x="5155692" y="1176527"/>
                  </a:lnTo>
                </a:path>
                <a:path w="8807450" h="1176654">
                  <a:moveTo>
                    <a:pt x="6013704" y="1014983"/>
                  </a:moveTo>
                  <a:lnTo>
                    <a:pt x="6013704" y="1176527"/>
                  </a:lnTo>
                </a:path>
                <a:path w="8807450" h="1176654">
                  <a:moveTo>
                    <a:pt x="6873239" y="1014983"/>
                  </a:moveTo>
                  <a:lnTo>
                    <a:pt x="6873239" y="1176527"/>
                  </a:lnTo>
                </a:path>
                <a:path w="8807450" h="1176654">
                  <a:moveTo>
                    <a:pt x="7732776" y="1014983"/>
                  </a:moveTo>
                  <a:lnTo>
                    <a:pt x="7732776" y="1176527"/>
                  </a:lnTo>
                </a:path>
                <a:path w="8807450" h="1176654">
                  <a:moveTo>
                    <a:pt x="8592312" y="1014983"/>
                  </a:moveTo>
                  <a:lnTo>
                    <a:pt x="8592312" y="1176527"/>
                  </a:lnTo>
                </a:path>
                <a:path w="8807450" h="1176654">
                  <a:moveTo>
                    <a:pt x="8807196" y="1014983"/>
                  </a:moveTo>
                  <a:lnTo>
                    <a:pt x="8807196" y="1176527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05433" y="1469898"/>
              <a:ext cx="8592820" cy="1353820"/>
            </a:xfrm>
            <a:custGeom>
              <a:avLst/>
              <a:gdLst/>
              <a:ahLst/>
              <a:cxnLst/>
              <a:rect l="l" t="t" r="r" b="b"/>
              <a:pathLst>
                <a:path w="8592820" h="1353820">
                  <a:moveTo>
                    <a:pt x="0" y="303275"/>
                  </a:moveTo>
                  <a:lnTo>
                    <a:pt x="214884" y="207263"/>
                  </a:lnTo>
                  <a:lnTo>
                    <a:pt x="429768" y="393191"/>
                  </a:lnTo>
                  <a:lnTo>
                    <a:pt x="644652" y="307848"/>
                  </a:lnTo>
                  <a:lnTo>
                    <a:pt x="859535" y="128015"/>
                  </a:lnTo>
                  <a:lnTo>
                    <a:pt x="1074420" y="48767"/>
                  </a:lnTo>
                  <a:lnTo>
                    <a:pt x="1289304" y="0"/>
                  </a:lnTo>
                  <a:lnTo>
                    <a:pt x="1504188" y="554736"/>
                  </a:lnTo>
                  <a:lnTo>
                    <a:pt x="1719072" y="550163"/>
                  </a:lnTo>
                  <a:lnTo>
                    <a:pt x="1932432" y="547115"/>
                  </a:lnTo>
                  <a:lnTo>
                    <a:pt x="2147316" y="633984"/>
                  </a:lnTo>
                  <a:lnTo>
                    <a:pt x="2362200" y="713231"/>
                  </a:lnTo>
                  <a:lnTo>
                    <a:pt x="2577083" y="888491"/>
                  </a:lnTo>
                  <a:lnTo>
                    <a:pt x="2791967" y="978407"/>
                  </a:lnTo>
                  <a:lnTo>
                    <a:pt x="3006852" y="854963"/>
                  </a:lnTo>
                  <a:lnTo>
                    <a:pt x="3221736" y="626363"/>
                  </a:lnTo>
                  <a:lnTo>
                    <a:pt x="3436619" y="623315"/>
                  </a:lnTo>
                  <a:lnTo>
                    <a:pt x="3651504" y="682751"/>
                  </a:lnTo>
                  <a:lnTo>
                    <a:pt x="3866388" y="507491"/>
                  </a:lnTo>
                  <a:lnTo>
                    <a:pt x="4081271" y="306324"/>
                  </a:lnTo>
                  <a:lnTo>
                    <a:pt x="4296156" y="227075"/>
                  </a:lnTo>
                  <a:lnTo>
                    <a:pt x="4511040" y="635507"/>
                  </a:lnTo>
                  <a:lnTo>
                    <a:pt x="4725924" y="568451"/>
                  </a:lnTo>
                  <a:lnTo>
                    <a:pt x="4940808" y="568451"/>
                  </a:lnTo>
                  <a:lnTo>
                    <a:pt x="5155692" y="580643"/>
                  </a:lnTo>
                  <a:lnTo>
                    <a:pt x="5370576" y="649224"/>
                  </a:lnTo>
                  <a:lnTo>
                    <a:pt x="5585460" y="422148"/>
                  </a:lnTo>
                  <a:lnTo>
                    <a:pt x="5798820" y="981455"/>
                  </a:lnTo>
                  <a:lnTo>
                    <a:pt x="6013704" y="664463"/>
                  </a:lnTo>
                  <a:lnTo>
                    <a:pt x="6228588" y="876300"/>
                  </a:lnTo>
                  <a:lnTo>
                    <a:pt x="6443471" y="870203"/>
                  </a:lnTo>
                  <a:lnTo>
                    <a:pt x="6658356" y="905255"/>
                  </a:lnTo>
                  <a:lnTo>
                    <a:pt x="6873240" y="1353312"/>
                  </a:lnTo>
                  <a:lnTo>
                    <a:pt x="7088124" y="723900"/>
                  </a:lnTo>
                  <a:lnTo>
                    <a:pt x="7303008" y="873251"/>
                  </a:lnTo>
                  <a:lnTo>
                    <a:pt x="7517892" y="766572"/>
                  </a:lnTo>
                  <a:lnTo>
                    <a:pt x="7732776" y="704088"/>
                  </a:lnTo>
                  <a:lnTo>
                    <a:pt x="7947660" y="528827"/>
                  </a:lnTo>
                  <a:lnTo>
                    <a:pt x="8162544" y="932688"/>
                  </a:lnTo>
                  <a:lnTo>
                    <a:pt x="8377428" y="533400"/>
                  </a:lnTo>
                  <a:lnTo>
                    <a:pt x="8592312" y="553212"/>
                  </a:lnTo>
                </a:path>
              </a:pathLst>
            </a:custGeom>
            <a:ln w="1904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805433" y="1425702"/>
              <a:ext cx="8592820" cy="1551940"/>
            </a:xfrm>
            <a:custGeom>
              <a:avLst/>
              <a:gdLst/>
              <a:ahLst/>
              <a:cxnLst/>
              <a:rect l="l" t="t" r="r" b="b"/>
              <a:pathLst>
                <a:path w="8592820" h="1551939">
                  <a:moveTo>
                    <a:pt x="0" y="897636"/>
                  </a:moveTo>
                  <a:lnTo>
                    <a:pt x="214884" y="861060"/>
                  </a:lnTo>
                  <a:lnTo>
                    <a:pt x="429768" y="809244"/>
                  </a:lnTo>
                  <a:lnTo>
                    <a:pt x="644652" y="774192"/>
                  </a:lnTo>
                  <a:lnTo>
                    <a:pt x="859535" y="835151"/>
                  </a:lnTo>
                  <a:lnTo>
                    <a:pt x="1074420" y="830580"/>
                  </a:lnTo>
                  <a:lnTo>
                    <a:pt x="1289304" y="766572"/>
                  </a:lnTo>
                  <a:lnTo>
                    <a:pt x="1504188" y="768096"/>
                  </a:lnTo>
                  <a:lnTo>
                    <a:pt x="1719072" y="786384"/>
                  </a:lnTo>
                  <a:lnTo>
                    <a:pt x="1932432" y="859536"/>
                  </a:lnTo>
                  <a:lnTo>
                    <a:pt x="2147316" y="896112"/>
                  </a:lnTo>
                  <a:lnTo>
                    <a:pt x="2362200" y="882396"/>
                  </a:lnTo>
                  <a:lnTo>
                    <a:pt x="2577083" y="891539"/>
                  </a:lnTo>
                  <a:lnTo>
                    <a:pt x="2791967" y="812292"/>
                  </a:lnTo>
                  <a:lnTo>
                    <a:pt x="3006852" y="879348"/>
                  </a:lnTo>
                  <a:lnTo>
                    <a:pt x="3221736" y="861060"/>
                  </a:lnTo>
                  <a:lnTo>
                    <a:pt x="3436619" y="714756"/>
                  </a:lnTo>
                  <a:lnTo>
                    <a:pt x="3651504" y="751332"/>
                  </a:lnTo>
                  <a:lnTo>
                    <a:pt x="3866388" y="702563"/>
                  </a:lnTo>
                  <a:lnTo>
                    <a:pt x="4081271" y="699515"/>
                  </a:lnTo>
                  <a:lnTo>
                    <a:pt x="4296156" y="745236"/>
                  </a:lnTo>
                  <a:lnTo>
                    <a:pt x="4511040" y="778763"/>
                  </a:lnTo>
                  <a:lnTo>
                    <a:pt x="4725924" y="795527"/>
                  </a:lnTo>
                  <a:lnTo>
                    <a:pt x="4940808" y="832103"/>
                  </a:lnTo>
                  <a:lnTo>
                    <a:pt x="5155692" y="899160"/>
                  </a:lnTo>
                  <a:lnTo>
                    <a:pt x="5370576" y="931163"/>
                  </a:lnTo>
                  <a:lnTo>
                    <a:pt x="5585460" y="888492"/>
                  </a:lnTo>
                  <a:lnTo>
                    <a:pt x="5798820" y="906780"/>
                  </a:lnTo>
                  <a:lnTo>
                    <a:pt x="6013704" y="1051560"/>
                  </a:lnTo>
                  <a:lnTo>
                    <a:pt x="6228588" y="1551432"/>
                  </a:lnTo>
                  <a:lnTo>
                    <a:pt x="6443471" y="1039368"/>
                  </a:lnTo>
                  <a:lnTo>
                    <a:pt x="6658356" y="891539"/>
                  </a:lnTo>
                  <a:lnTo>
                    <a:pt x="6873240" y="690372"/>
                  </a:lnTo>
                  <a:lnTo>
                    <a:pt x="7088124" y="0"/>
                  </a:lnTo>
                  <a:lnTo>
                    <a:pt x="7303008" y="696468"/>
                  </a:lnTo>
                  <a:lnTo>
                    <a:pt x="7517892" y="717803"/>
                  </a:lnTo>
                  <a:lnTo>
                    <a:pt x="7732776" y="766572"/>
                  </a:lnTo>
                  <a:lnTo>
                    <a:pt x="7947660" y="803148"/>
                  </a:lnTo>
                  <a:lnTo>
                    <a:pt x="8162544" y="728472"/>
                  </a:lnTo>
                  <a:lnTo>
                    <a:pt x="8377428" y="973836"/>
                  </a:lnTo>
                  <a:lnTo>
                    <a:pt x="8592312" y="914400"/>
                  </a:lnTo>
                </a:path>
              </a:pathLst>
            </a:custGeom>
            <a:ln w="1905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/>
          <p:nvPr/>
        </p:nvSpPr>
        <p:spPr>
          <a:xfrm>
            <a:off x="256031" y="3939540"/>
            <a:ext cx="9500870" cy="1355090"/>
          </a:xfrm>
          <a:custGeom>
            <a:avLst/>
            <a:gdLst/>
            <a:ahLst/>
            <a:cxnLst/>
            <a:rect l="l" t="t" r="r" b="b"/>
            <a:pathLst>
              <a:path w="9500870" h="1355089">
                <a:moveTo>
                  <a:pt x="0" y="1354836"/>
                </a:moveTo>
                <a:lnTo>
                  <a:pt x="9500489" y="1354836"/>
                </a:lnTo>
                <a:lnTo>
                  <a:pt x="9500489" y="0"/>
                </a:lnTo>
                <a:lnTo>
                  <a:pt x="0" y="0"/>
                </a:lnTo>
                <a:lnTo>
                  <a:pt x="0" y="1354836"/>
                </a:lnTo>
                <a:close/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266700" y="3934993"/>
            <a:ext cx="9502140" cy="172085"/>
          </a:xfrm>
          <a:prstGeom prst="rect">
            <a:avLst/>
          </a:prstGeom>
          <a:solidFill>
            <a:srgbClr val="5F5F5F"/>
          </a:solidFill>
        </p:spPr>
        <p:txBody>
          <a:bodyPr wrap="square" lIns="0" tIns="12065" rIns="0" bIns="0" rtlCol="0" vert="horz">
            <a:spAutoFit/>
          </a:bodyPr>
          <a:lstStyle/>
          <a:p>
            <a:pPr marL="10922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Insights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60794" y="4165472"/>
            <a:ext cx="9491345" cy="939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9079" marR="132715" indent="-172720">
              <a:lnSpc>
                <a:spcPct val="100000"/>
              </a:lnSpc>
              <a:spcBef>
                <a:spcPts val="95"/>
              </a:spcBef>
              <a:buChar char="•"/>
              <a:tabLst>
                <a:tab pos="259079" algn="l"/>
              </a:tabLst>
            </a:pPr>
            <a:r>
              <a:rPr dirty="0" sz="1000">
                <a:latin typeface="Arial MT"/>
                <a:cs typeface="Arial MT"/>
              </a:rPr>
              <a:t>After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two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quarters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of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decline,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global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trade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improved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in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Q1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2023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by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about </a:t>
            </a:r>
            <a:r>
              <a:rPr dirty="0" sz="1000" b="1">
                <a:latin typeface="Arial"/>
                <a:cs typeface="Arial"/>
              </a:rPr>
              <a:t>2%</a:t>
            </a:r>
            <a:r>
              <a:rPr dirty="0" sz="1000" spc="-3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compared</a:t>
            </a:r>
            <a:r>
              <a:rPr dirty="0" sz="1000" spc="-2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to</a:t>
            </a:r>
            <a:r>
              <a:rPr dirty="0" sz="1000" spc="-1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Q1</a:t>
            </a:r>
            <a:r>
              <a:rPr dirty="0" sz="1000" spc="-3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2022</a:t>
            </a:r>
            <a:r>
              <a:rPr dirty="0" sz="1000">
                <a:latin typeface="Arial MT"/>
                <a:cs typeface="Arial MT"/>
              </a:rPr>
              <a:t>.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This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was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due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to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b="1">
                <a:latin typeface="Arial"/>
                <a:cs typeface="Arial"/>
              </a:rPr>
              <a:t>China's</a:t>
            </a:r>
            <a:r>
              <a:rPr dirty="0" sz="1000" spc="-2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economic</a:t>
            </a:r>
            <a:r>
              <a:rPr dirty="0" sz="1000" spc="-3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resurgence</a:t>
            </a:r>
            <a:r>
              <a:rPr dirty="0" sz="1000" spc="-15" b="1">
                <a:latin typeface="Arial"/>
                <a:cs typeface="Arial"/>
              </a:rPr>
              <a:t> </a:t>
            </a:r>
            <a:r>
              <a:rPr dirty="0" sz="1000">
                <a:latin typeface="Arial MT"/>
                <a:cs typeface="Arial MT"/>
              </a:rPr>
              <a:t>after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lifting </a:t>
            </a:r>
            <a:r>
              <a:rPr dirty="0" sz="1000">
                <a:latin typeface="Arial MT"/>
                <a:cs typeface="Arial MT"/>
              </a:rPr>
              <a:t>lockdown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measures.</a:t>
            </a:r>
            <a:r>
              <a:rPr dirty="0" sz="1000" spc="-6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However, UNCTAD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predicts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b="1">
                <a:latin typeface="Arial"/>
                <a:cs typeface="Arial"/>
              </a:rPr>
              <a:t>weak</a:t>
            </a:r>
            <a:r>
              <a:rPr dirty="0" sz="1000" spc="-4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growth</a:t>
            </a:r>
            <a:r>
              <a:rPr dirty="0" sz="1000" spc="-3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in</a:t>
            </a:r>
            <a:r>
              <a:rPr dirty="0" sz="1000" spc="-2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Q2</a:t>
            </a:r>
            <a:r>
              <a:rPr dirty="0" sz="1000" spc="-2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2023</a:t>
            </a:r>
            <a:r>
              <a:rPr dirty="0" sz="1000" spc="-60" b="1">
                <a:latin typeface="Arial"/>
                <a:cs typeface="Arial"/>
              </a:rPr>
              <a:t> </a:t>
            </a:r>
            <a:r>
              <a:rPr dirty="0" sz="1000">
                <a:latin typeface="Arial MT"/>
                <a:cs typeface="Arial MT"/>
              </a:rPr>
              <a:t>due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to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persistent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inflation,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financial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vulnerabilities,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Ukraine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conflict,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and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geopolitical </a:t>
            </a:r>
            <a:r>
              <a:rPr dirty="0" sz="1000">
                <a:latin typeface="Arial MT"/>
                <a:cs typeface="Arial MT"/>
              </a:rPr>
              <a:t>tensions,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all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negatively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impacting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global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trade.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Overall,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outlook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for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global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trade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in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latter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half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of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2023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is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pessimistic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due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to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these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prevailing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negative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factors</a:t>
            </a:r>
            <a:endParaRPr sz="1000">
              <a:latin typeface="Arial MT"/>
              <a:cs typeface="Arial MT"/>
            </a:endParaRPr>
          </a:p>
          <a:p>
            <a:pPr marL="259079" marR="72390" indent="-172720">
              <a:lnSpc>
                <a:spcPct val="100000"/>
              </a:lnSpc>
              <a:buChar char="•"/>
              <a:tabLst>
                <a:tab pos="259079" algn="l"/>
              </a:tabLst>
            </a:pPr>
            <a:r>
              <a:rPr dirty="0" sz="1000">
                <a:latin typeface="Arial MT"/>
                <a:cs typeface="Arial MT"/>
              </a:rPr>
              <a:t>In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line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with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4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above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trade</a:t>
            </a:r>
            <a:r>
              <a:rPr dirty="0" sz="1000" spc="-4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projections,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China’s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July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exports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dropped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by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double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digits.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According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to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Country’s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customs</a:t>
            </a:r>
            <a:r>
              <a:rPr dirty="0" sz="1000" spc="-5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data,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exports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fell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to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$281.8</a:t>
            </a:r>
            <a:r>
              <a:rPr dirty="0" sz="1000" spc="-4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billion.</a:t>
            </a:r>
            <a:r>
              <a:rPr dirty="0" sz="1000" spc="50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Demand</a:t>
            </a:r>
            <a:r>
              <a:rPr dirty="0" sz="1000" spc="-4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for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Chinese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exports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cooled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after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Federal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Reserve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and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Central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Banks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in Europe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and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Asia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started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raising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interest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rates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last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year</a:t>
            </a:r>
            <a:r>
              <a:rPr dirty="0" sz="1000" spc="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to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cool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inflation that</a:t>
            </a:r>
            <a:r>
              <a:rPr dirty="0" sz="1000" spc="-25">
                <a:latin typeface="Arial MT"/>
                <a:cs typeface="Arial MT"/>
              </a:rPr>
              <a:t> was </a:t>
            </a:r>
            <a:r>
              <a:rPr dirty="0" sz="1000">
                <a:latin typeface="Arial MT"/>
                <a:cs typeface="Arial MT"/>
              </a:rPr>
              <a:t>at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multi-</a:t>
            </a:r>
            <a:r>
              <a:rPr dirty="0" sz="1000">
                <a:latin typeface="Arial MT"/>
                <a:cs typeface="Arial MT"/>
              </a:rPr>
              <a:t>decade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highs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9570211" y="3066414"/>
            <a:ext cx="15430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0">
                <a:solidFill>
                  <a:srgbClr val="0D0D0D"/>
                </a:solidFill>
                <a:latin typeface="Arial MT"/>
                <a:cs typeface="Arial MT"/>
              </a:rPr>
              <a:t>-</a:t>
            </a:r>
            <a:r>
              <a:rPr dirty="0" sz="700" spc="-25">
                <a:solidFill>
                  <a:srgbClr val="0D0D0D"/>
                </a:solidFill>
                <a:latin typeface="Arial MT"/>
                <a:cs typeface="Arial MT"/>
              </a:rPr>
              <a:t>20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9570211" y="2867659"/>
            <a:ext cx="15430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0">
                <a:solidFill>
                  <a:srgbClr val="0D0D0D"/>
                </a:solidFill>
                <a:latin typeface="Arial MT"/>
                <a:cs typeface="Arial MT"/>
              </a:rPr>
              <a:t>-</a:t>
            </a:r>
            <a:r>
              <a:rPr dirty="0" sz="700" spc="-25">
                <a:solidFill>
                  <a:srgbClr val="0D0D0D"/>
                </a:solidFill>
                <a:latin typeface="Arial MT"/>
                <a:cs typeface="Arial MT"/>
              </a:rPr>
              <a:t>15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9570211" y="2668904"/>
            <a:ext cx="15430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0">
                <a:solidFill>
                  <a:srgbClr val="0D0D0D"/>
                </a:solidFill>
                <a:latin typeface="Arial MT"/>
                <a:cs typeface="Arial MT"/>
              </a:rPr>
              <a:t>-</a:t>
            </a:r>
            <a:r>
              <a:rPr dirty="0" sz="700" spc="-25">
                <a:solidFill>
                  <a:srgbClr val="0D0D0D"/>
                </a:solidFill>
                <a:latin typeface="Arial MT"/>
                <a:cs typeface="Arial MT"/>
              </a:rPr>
              <a:t>10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9570211" y="2469895"/>
            <a:ext cx="10350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0D0D0D"/>
                </a:solidFill>
                <a:latin typeface="Arial MT"/>
                <a:cs typeface="Arial MT"/>
              </a:rPr>
              <a:t>-</a:t>
            </a:r>
            <a:r>
              <a:rPr dirty="0" sz="700" spc="-60">
                <a:solidFill>
                  <a:srgbClr val="0D0D0D"/>
                </a:solidFill>
                <a:latin typeface="Arial MT"/>
                <a:cs typeface="Arial MT"/>
              </a:rPr>
              <a:t>5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9570211" y="2271141"/>
            <a:ext cx="7493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solidFill>
                  <a:srgbClr val="0D0D0D"/>
                </a:solidFill>
                <a:latin typeface="Arial MT"/>
                <a:cs typeface="Arial MT"/>
              </a:rPr>
              <a:t>0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9570211" y="2072386"/>
            <a:ext cx="7493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solidFill>
                  <a:srgbClr val="0D0D0D"/>
                </a:solidFill>
                <a:latin typeface="Arial MT"/>
                <a:cs typeface="Arial MT"/>
              </a:rPr>
              <a:t>5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9570211" y="1873376"/>
            <a:ext cx="123189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>
                <a:solidFill>
                  <a:srgbClr val="0D0D0D"/>
                </a:solidFill>
                <a:latin typeface="Arial MT"/>
                <a:cs typeface="Arial MT"/>
              </a:rPr>
              <a:t>10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9570211" y="1674622"/>
            <a:ext cx="123189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>
                <a:solidFill>
                  <a:srgbClr val="0D0D0D"/>
                </a:solidFill>
                <a:latin typeface="Arial MT"/>
                <a:cs typeface="Arial MT"/>
              </a:rPr>
              <a:t>15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9570211" y="1475993"/>
            <a:ext cx="123189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>
                <a:solidFill>
                  <a:srgbClr val="0D0D0D"/>
                </a:solidFill>
                <a:latin typeface="Arial MT"/>
                <a:cs typeface="Arial MT"/>
              </a:rPr>
              <a:t>20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9570211" y="1276858"/>
            <a:ext cx="123189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>
                <a:solidFill>
                  <a:srgbClr val="0D0D0D"/>
                </a:solidFill>
                <a:latin typeface="Arial MT"/>
                <a:cs typeface="Arial MT"/>
              </a:rPr>
              <a:t>25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9570211" y="1078229"/>
            <a:ext cx="123189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>
                <a:solidFill>
                  <a:srgbClr val="0D0D0D"/>
                </a:solidFill>
                <a:latin typeface="Arial MT"/>
                <a:cs typeface="Arial MT"/>
              </a:rPr>
              <a:t>30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356717" y="3066414"/>
            <a:ext cx="27749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0">
                <a:solidFill>
                  <a:srgbClr val="0D0D0D"/>
                </a:solidFill>
                <a:latin typeface="Arial MT"/>
                <a:cs typeface="Arial MT"/>
              </a:rPr>
              <a:t>-</a:t>
            </a:r>
            <a:r>
              <a:rPr dirty="0" sz="700" spc="-10">
                <a:solidFill>
                  <a:srgbClr val="0D0D0D"/>
                </a:solidFill>
                <a:latin typeface="Arial MT"/>
                <a:cs typeface="Arial MT"/>
              </a:rPr>
              <a:t>3,000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356717" y="2782011"/>
            <a:ext cx="27749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0">
                <a:solidFill>
                  <a:srgbClr val="0D0D0D"/>
                </a:solidFill>
                <a:latin typeface="Arial MT"/>
                <a:cs typeface="Arial MT"/>
              </a:rPr>
              <a:t>-</a:t>
            </a:r>
            <a:r>
              <a:rPr dirty="0" sz="700" spc="-10">
                <a:solidFill>
                  <a:srgbClr val="0D0D0D"/>
                </a:solidFill>
                <a:latin typeface="Arial MT"/>
                <a:cs typeface="Arial MT"/>
              </a:rPr>
              <a:t>2,000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356717" y="2498597"/>
            <a:ext cx="27749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0">
                <a:solidFill>
                  <a:srgbClr val="0D0D0D"/>
                </a:solidFill>
                <a:latin typeface="Arial MT"/>
                <a:cs typeface="Arial MT"/>
              </a:rPr>
              <a:t>-</a:t>
            </a:r>
            <a:r>
              <a:rPr dirty="0" sz="700" spc="-10">
                <a:solidFill>
                  <a:srgbClr val="0D0D0D"/>
                </a:solidFill>
                <a:latin typeface="Arial MT"/>
                <a:cs typeface="Arial MT"/>
              </a:rPr>
              <a:t>1,000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559409" y="2214498"/>
            <a:ext cx="7493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solidFill>
                  <a:srgbClr val="0D0D0D"/>
                </a:solidFill>
                <a:latin typeface="Arial MT"/>
                <a:cs typeface="Arial MT"/>
              </a:rPr>
              <a:t>0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386283" y="1930399"/>
            <a:ext cx="2482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0D0D0D"/>
                </a:solidFill>
                <a:latin typeface="Arial MT"/>
                <a:cs typeface="Arial MT"/>
              </a:rPr>
              <a:t>1,000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386283" y="1646300"/>
            <a:ext cx="2482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0D0D0D"/>
                </a:solidFill>
                <a:latin typeface="Arial MT"/>
                <a:cs typeface="Arial MT"/>
              </a:rPr>
              <a:t>2,000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386283" y="1362202"/>
            <a:ext cx="2482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0D0D0D"/>
                </a:solidFill>
                <a:latin typeface="Arial MT"/>
                <a:cs typeface="Arial MT"/>
              </a:rPr>
              <a:t>3,000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386283" y="1078229"/>
            <a:ext cx="2482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0D0D0D"/>
                </a:solidFill>
                <a:latin typeface="Arial MT"/>
                <a:cs typeface="Arial MT"/>
              </a:rPr>
              <a:t>4,000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733450" y="3116097"/>
            <a:ext cx="1647189" cy="350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4640" marR="5080" indent="-282575">
              <a:lnSpc>
                <a:spcPct val="152300"/>
              </a:lnSpc>
              <a:spcBef>
                <a:spcPts val="100"/>
              </a:spcBef>
              <a:tabLst>
                <a:tab pos="1154430" algn="l"/>
              </a:tabLst>
            </a:pP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Q1</a:t>
            </a:r>
            <a:r>
              <a:rPr dirty="0" sz="700" spc="185">
                <a:solidFill>
                  <a:srgbClr val="0D0D0D"/>
                </a:solidFill>
                <a:latin typeface="Arial MT"/>
                <a:cs typeface="Arial MT"/>
              </a:rPr>
              <a:t>  </a:t>
            </a: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Q2</a:t>
            </a:r>
            <a:r>
              <a:rPr dirty="0" sz="700" spc="185">
                <a:solidFill>
                  <a:srgbClr val="0D0D0D"/>
                </a:solidFill>
                <a:latin typeface="Arial MT"/>
                <a:cs typeface="Arial MT"/>
              </a:rPr>
              <a:t>  </a:t>
            </a: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Q3</a:t>
            </a:r>
            <a:r>
              <a:rPr dirty="0" sz="700" spc="185">
                <a:solidFill>
                  <a:srgbClr val="0D0D0D"/>
                </a:solidFill>
                <a:latin typeface="Arial MT"/>
                <a:cs typeface="Arial MT"/>
              </a:rPr>
              <a:t>  </a:t>
            </a: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Q4</a:t>
            </a:r>
            <a:r>
              <a:rPr dirty="0" sz="700" spc="185">
                <a:solidFill>
                  <a:srgbClr val="0D0D0D"/>
                </a:solidFill>
                <a:latin typeface="Arial MT"/>
                <a:cs typeface="Arial MT"/>
              </a:rPr>
              <a:t>  </a:t>
            </a: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Q1</a:t>
            </a:r>
            <a:r>
              <a:rPr dirty="0" sz="700" spc="185">
                <a:solidFill>
                  <a:srgbClr val="0D0D0D"/>
                </a:solidFill>
                <a:latin typeface="Arial MT"/>
                <a:cs typeface="Arial MT"/>
              </a:rPr>
              <a:t>  </a:t>
            </a: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Q2</a:t>
            </a:r>
            <a:r>
              <a:rPr dirty="0" sz="700" spc="185">
                <a:solidFill>
                  <a:srgbClr val="0D0D0D"/>
                </a:solidFill>
                <a:latin typeface="Arial MT"/>
                <a:cs typeface="Arial MT"/>
              </a:rPr>
              <a:t>  </a:t>
            </a: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Q3</a:t>
            </a:r>
            <a:r>
              <a:rPr dirty="0" sz="700" spc="185">
                <a:solidFill>
                  <a:srgbClr val="0D0D0D"/>
                </a:solidFill>
                <a:latin typeface="Arial MT"/>
                <a:cs typeface="Arial MT"/>
              </a:rPr>
              <a:t>  </a:t>
            </a:r>
            <a:r>
              <a:rPr dirty="0" sz="700" spc="-85">
                <a:solidFill>
                  <a:srgbClr val="0D0D0D"/>
                </a:solidFill>
                <a:latin typeface="Arial MT"/>
                <a:cs typeface="Arial MT"/>
              </a:rPr>
              <a:t>Q4</a:t>
            </a:r>
            <a:r>
              <a:rPr dirty="0" sz="700" spc="50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700" spc="-20">
                <a:solidFill>
                  <a:srgbClr val="0D0D0D"/>
                </a:solidFill>
                <a:latin typeface="Arial MT"/>
                <a:cs typeface="Arial MT"/>
              </a:rPr>
              <a:t>2013</a:t>
            </a: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	</a:t>
            </a:r>
            <a:r>
              <a:rPr dirty="0" sz="700" spc="-20">
                <a:solidFill>
                  <a:srgbClr val="0D0D0D"/>
                </a:solidFill>
                <a:latin typeface="Arial MT"/>
                <a:cs typeface="Arial MT"/>
              </a:rPr>
              <a:t>2014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2452242" y="3116097"/>
            <a:ext cx="1647189" cy="350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5275" marR="5080" indent="-282575">
              <a:lnSpc>
                <a:spcPct val="152300"/>
              </a:lnSpc>
              <a:spcBef>
                <a:spcPts val="100"/>
              </a:spcBef>
              <a:tabLst>
                <a:tab pos="1153795" algn="l"/>
              </a:tabLst>
            </a:pP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Q1</a:t>
            </a:r>
            <a:r>
              <a:rPr dirty="0" sz="700" spc="185">
                <a:solidFill>
                  <a:srgbClr val="0D0D0D"/>
                </a:solidFill>
                <a:latin typeface="Arial MT"/>
                <a:cs typeface="Arial MT"/>
              </a:rPr>
              <a:t>  </a:t>
            </a: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Q2</a:t>
            </a:r>
            <a:r>
              <a:rPr dirty="0" sz="700" spc="185">
                <a:solidFill>
                  <a:srgbClr val="0D0D0D"/>
                </a:solidFill>
                <a:latin typeface="Arial MT"/>
                <a:cs typeface="Arial MT"/>
              </a:rPr>
              <a:t>  </a:t>
            </a: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Q3</a:t>
            </a:r>
            <a:r>
              <a:rPr dirty="0" sz="700" spc="180">
                <a:solidFill>
                  <a:srgbClr val="0D0D0D"/>
                </a:solidFill>
                <a:latin typeface="Arial MT"/>
                <a:cs typeface="Arial MT"/>
              </a:rPr>
              <a:t>  </a:t>
            </a: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Q4</a:t>
            </a:r>
            <a:r>
              <a:rPr dirty="0" sz="700" spc="185">
                <a:solidFill>
                  <a:srgbClr val="0D0D0D"/>
                </a:solidFill>
                <a:latin typeface="Arial MT"/>
                <a:cs typeface="Arial MT"/>
              </a:rPr>
              <a:t>  </a:t>
            </a: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Q1</a:t>
            </a:r>
            <a:r>
              <a:rPr dirty="0" sz="700" spc="185">
                <a:solidFill>
                  <a:srgbClr val="0D0D0D"/>
                </a:solidFill>
                <a:latin typeface="Arial MT"/>
                <a:cs typeface="Arial MT"/>
              </a:rPr>
              <a:t>  </a:t>
            </a: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Q2</a:t>
            </a:r>
            <a:r>
              <a:rPr dirty="0" sz="700" spc="185">
                <a:solidFill>
                  <a:srgbClr val="0D0D0D"/>
                </a:solidFill>
                <a:latin typeface="Arial MT"/>
                <a:cs typeface="Arial MT"/>
              </a:rPr>
              <a:t>  </a:t>
            </a: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Q3</a:t>
            </a:r>
            <a:r>
              <a:rPr dirty="0" sz="700" spc="185">
                <a:solidFill>
                  <a:srgbClr val="0D0D0D"/>
                </a:solidFill>
                <a:latin typeface="Arial MT"/>
                <a:cs typeface="Arial MT"/>
              </a:rPr>
              <a:t>  </a:t>
            </a:r>
            <a:r>
              <a:rPr dirty="0" sz="700" spc="-85">
                <a:solidFill>
                  <a:srgbClr val="0D0D0D"/>
                </a:solidFill>
                <a:latin typeface="Arial MT"/>
                <a:cs typeface="Arial MT"/>
              </a:rPr>
              <a:t>Q4</a:t>
            </a:r>
            <a:r>
              <a:rPr dirty="0" sz="700" spc="50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700" spc="-20">
                <a:solidFill>
                  <a:srgbClr val="0D0D0D"/>
                </a:solidFill>
                <a:latin typeface="Arial MT"/>
                <a:cs typeface="Arial MT"/>
              </a:rPr>
              <a:t>2015</a:t>
            </a: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	</a:t>
            </a:r>
            <a:r>
              <a:rPr dirty="0" sz="700" spc="-20">
                <a:solidFill>
                  <a:srgbClr val="0D0D0D"/>
                </a:solidFill>
                <a:latin typeface="Arial MT"/>
                <a:cs typeface="Arial MT"/>
              </a:rPr>
              <a:t>2016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4170934" y="3116097"/>
            <a:ext cx="1647825" cy="350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5275" marR="5080" indent="-282575">
              <a:lnSpc>
                <a:spcPct val="152300"/>
              </a:lnSpc>
              <a:spcBef>
                <a:spcPts val="100"/>
              </a:spcBef>
              <a:tabLst>
                <a:tab pos="1154430" algn="l"/>
              </a:tabLst>
            </a:pP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Q1</a:t>
            </a:r>
            <a:r>
              <a:rPr dirty="0" sz="700" spc="185">
                <a:solidFill>
                  <a:srgbClr val="0D0D0D"/>
                </a:solidFill>
                <a:latin typeface="Arial MT"/>
                <a:cs typeface="Arial MT"/>
              </a:rPr>
              <a:t>  </a:t>
            </a: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Q2</a:t>
            </a:r>
            <a:r>
              <a:rPr dirty="0" sz="700" spc="185">
                <a:solidFill>
                  <a:srgbClr val="0D0D0D"/>
                </a:solidFill>
                <a:latin typeface="Arial MT"/>
                <a:cs typeface="Arial MT"/>
              </a:rPr>
              <a:t>  </a:t>
            </a: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Q3</a:t>
            </a:r>
            <a:r>
              <a:rPr dirty="0" sz="700" spc="185">
                <a:solidFill>
                  <a:srgbClr val="0D0D0D"/>
                </a:solidFill>
                <a:latin typeface="Arial MT"/>
                <a:cs typeface="Arial MT"/>
              </a:rPr>
              <a:t>  </a:t>
            </a: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Q4</a:t>
            </a:r>
            <a:r>
              <a:rPr dirty="0" sz="700" spc="185">
                <a:solidFill>
                  <a:srgbClr val="0D0D0D"/>
                </a:solidFill>
                <a:latin typeface="Arial MT"/>
                <a:cs typeface="Arial MT"/>
              </a:rPr>
              <a:t>  </a:t>
            </a: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Q1</a:t>
            </a:r>
            <a:r>
              <a:rPr dirty="0" sz="700" spc="185">
                <a:solidFill>
                  <a:srgbClr val="0D0D0D"/>
                </a:solidFill>
                <a:latin typeface="Arial MT"/>
                <a:cs typeface="Arial MT"/>
              </a:rPr>
              <a:t>  </a:t>
            </a: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Q2</a:t>
            </a:r>
            <a:r>
              <a:rPr dirty="0" sz="700" spc="185">
                <a:solidFill>
                  <a:srgbClr val="0D0D0D"/>
                </a:solidFill>
                <a:latin typeface="Arial MT"/>
                <a:cs typeface="Arial MT"/>
              </a:rPr>
              <a:t>  </a:t>
            </a: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Q3</a:t>
            </a:r>
            <a:r>
              <a:rPr dirty="0" sz="700" spc="185">
                <a:solidFill>
                  <a:srgbClr val="0D0D0D"/>
                </a:solidFill>
                <a:latin typeface="Arial MT"/>
                <a:cs typeface="Arial MT"/>
              </a:rPr>
              <a:t>  </a:t>
            </a:r>
            <a:r>
              <a:rPr dirty="0" sz="700" spc="-85">
                <a:solidFill>
                  <a:srgbClr val="0D0D0D"/>
                </a:solidFill>
                <a:latin typeface="Arial MT"/>
                <a:cs typeface="Arial MT"/>
              </a:rPr>
              <a:t>Q4</a:t>
            </a:r>
            <a:r>
              <a:rPr dirty="0" sz="700" spc="50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700" spc="-20">
                <a:solidFill>
                  <a:srgbClr val="0D0D0D"/>
                </a:solidFill>
                <a:latin typeface="Arial MT"/>
                <a:cs typeface="Arial MT"/>
              </a:rPr>
              <a:t>2017</a:t>
            </a: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	</a:t>
            </a:r>
            <a:r>
              <a:rPr dirty="0" sz="700" spc="-20">
                <a:solidFill>
                  <a:srgbClr val="0D0D0D"/>
                </a:solidFill>
                <a:latin typeface="Arial MT"/>
                <a:cs typeface="Arial MT"/>
              </a:rPr>
              <a:t>2018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5889497" y="3116097"/>
            <a:ext cx="2506345" cy="350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5275" marR="5080" indent="-283210">
              <a:lnSpc>
                <a:spcPct val="152300"/>
              </a:lnSpc>
              <a:spcBef>
                <a:spcPts val="100"/>
              </a:spcBef>
              <a:tabLst>
                <a:tab pos="1154430" algn="l"/>
              </a:tabLst>
            </a:pP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Q1</a:t>
            </a:r>
            <a:r>
              <a:rPr dirty="0" sz="700" spc="185">
                <a:solidFill>
                  <a:srgbClr val="0D0D0D"/>
                </a:solidFill>
                <a:latin typeface="Arial MT"/>
                <a:cs typeface="Arial MT"/>
              </a:rPr>
              <a:t>  </a:t>
            </a: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Q2</a:t>
            </a:r>
            <a:r>
              <a:rPr dirty="0" sz="700" spc="185">
                <a:solidFill>
                  <a:srgbClr val="0D0D0D"/>
                </a:solidFill>
                <a:latin typeface="Arial MT"/>
                <a:cs typeface="Arial MT"/>
              </a:rPr>
              <a:t>  </a:t>
            </a: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Q3</a:t>
            </a:r>
            <a:r>
              <a:rPr dirty="0" sz="700" spc="185">
                <a:solidFill>
                  <a:srgbClr val="0D0D0D"/>
                </a:solidFill>
                <a:latin typeface="Arial MT"/>
                <a:cs typeface="Arial MT"/>
              </a:rPr>
              <a:t>  </a:t>
            </a: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Q4</a:t>
            </a:r>
            <a:r>
              <a:rPr dirty="0" sz="700" spc="185">
                <a:solidFill>
                  <a:srgbClr val="0D0D0D"/>
                </a:solidFill>
                <a:latin typeface="Arial MT"/>
                <a:cs typeface="Arial MT"/>
              </a:rPr>
              <a:t>  </a:t>
            </a: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Q1</a:t>
            </a:r>
            <a:r>
              <a:rPr dirty="0" sz="700" spc="185">
                <a:solidFill>
                  <a:srgbClr val="0D0D0D"/>
                </a:solidFill>
                <a:latin typeface="Arial MT"/>
                <a:cs typeface="Arial MT"/>
              </a:rPr>
              <a:t>  </a:t>
            </a: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Q2</a:t>
            </a:r>
            <a:r>
              <a:rPr dirty="0" sz="700" spc="180">
                <a:solidFill>
                  <a:srgbClr val="0D0D0D"/>
                </a:solidFill>
                <a:latin typeface="Arial MT"/>
                <a:cs typeface="Arial MT"/>
              </a:rPr>
              <a:t>  </a:t>
            </a: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Q3</a:t>
            </a:r>
            <a:r>
              <a:rPr dirty="0" sz="700" spc="185">
                <a:solidFill>
                  <a:srgbClr val="0D0D0D"/>
                </a:solidFill>
                <a:latin typeface="Arial MT"/>
                <a:cs typeface="Arial MT"/>
              </a:rPr>
              <a:t>  </a:t>
            </a: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Q4</a:t>
            </a:r>
            <a:r>
              <a:rPr dirty="0" sz="700" spc="190">
                <a:solidFill>
                  <a:srgbClr val="0D0D0D"/>
                </a:solidFill>
                <a:latin typeface="Arial MT"/>
                <a:cs typeface="Arial MT"/>
              </a:rPr>
              <a:t>  </a:t>
            </a: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Q1</a:t>
            </a:r>
            <a:r>
              <a:rPr dirty="0" sz="700" spc="185">
                <a:solidFill>
                  <a:srgbClr val="0D0D0D"/>
                </a:solidFill>
                <a:latin typeface="Arial MT"/>
                <a:cs typeface="Arial MT"/>
              </a:rPr>
              <a:t>  </a:t>
            </a: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Q2</a:t>
            </a:r>
            <a:r>
              <a:rPr dirty="0" sz="700" spc="185">
                <a:solidFill>
                  <a:srgbClr val="0D0D0D"/>
                </a:solidFill>
                <a:latin typeface="Arial MT"/>
                <a:cs typeface="Arial MT"/>
              </a:rPr>
              <a:t>  </a:t>
            </a: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Q3</a:t>
            </a:r>
            <a:r>
              <a:rPr dirty="0" sz="700" spc="185">
                <a:solidFill>
                  <a:srgbClr val="0D0D0D"/>
                </a:solidFill>
                <a:latin typeface="Arial MT"/>
                <a:cs typeface="Arial MT"/>
              </a:rPr>
              <a:t>  </a:t>
            </a:r>
            <a:r>
              <a:rPr dirty="0" sz="700" spc="-120">
                <a:solidFill>
                  <a:srgbClr val="0D0D0D"/>
                </a:solidFill>
                <a:latin typeface="Arial MT"/>
                <a:cs typeface="Arial MT"/>
              </a:rPr>
              <a:t>Q4</a:t>
            </a:r>
            <a:r>
              <a:rPr dirty="0" sz="700" spc="50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700" spc="-20">
                <a:solidFill>
                  <a:srgbClr val="0D0D0D"/>
                </a:solidFill>
                <a:latin typeface="Arial MT"/>
                <a:cs typeface="Arial MT"/>
              </a:rPr>
              <a:t>2019</a:t>
            </a: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	</a:t>
            </a:r>
            <a:r>
              <a:rPr dirty="0" sz="700" spc="-20">
                <a:solidFill>
                  <a:srgbClr val="0D0D0D"/>
                </a:solidFill>
                <a:latin typeface="Arial MT"/>
                <a:cs typeface="Arial MT"/>
              </a:rPr>
              <a:t>2020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7890764" y="3334892"/>
            <a:ext cx="2228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0">
                <a:solidFill>
                  <a:srgbClr val="0D0D0D"/>
                </a:solidFill>
                <a:latin typeface="Arial MT"/>
                <a:cs typeface="Arial MT"/>
              </a:rPr>
              <a:t>2021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8467470" y="3116097"/>
            <a:ext cx="1042669" cy="350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5275" marR="5080" indent="-283210">
              <a:lnSpc>
                <a:spcPct val="152300"/>
              </a:lnSpc>
              <a:spcBef>
                <a:spcPts val="100"/>
              </a:spcBef>
              <a:tabLst>
                <a:tab pos="832485" algn="l"/>
              </a:tabLst>
            </a:pP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Q1</a:t>
            </a:r>
            <a:r>
              <a:rPr dirty="0" sz="700" spc="185">
                <a:solidFill>
                  <a:srgbClr val="0D0D0D"/>
                </a:solidFill>
                <a:latin typeface="Arial MT"/>
                <a:cs typeface="Arial MT"/>
              </a:rPr>
              <a:t>  </a:t>
            </a: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Q2</a:t>
            </a:r>
            <a:r>
              <a:rPr dirty="0" sz="700" spc="185">
                <a:solidFill>
                  <a:srgbClr val="0D0D0D"/>
                </a:solidFill>
                <a:latin typeface="Arial MT"/>
                <a:cs typeface="Arial MT"/>
              </a:rPr>
              <a:t>  </a:t>
            </a: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Q3</a:t>
            </a:r>
            <a:r>
              <a:rPr dirty="0" sz="700" spc="185">
                <a:solidFill>
                  <a:srgbClr val="0D0D0D"/>
                </a:solidFill>
                <a:latin typeface="Arial MT"/>
                <a:cs typeface="Arial MT"/>
              </a:rPr>
              <a:t>  </a:t>
            </a: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Q4</a:t>
            </a:r>
            <a:r>
              <a:rPr dirty="0" sz="700" spc="185">
                <a:solidFill>
                  <a:srgbClr val="0D0D0D"/>
                </a:solidFill>
                <a:latin typeface="Arial MT"/>
                <a:cs typeface="Arial MT"/>
              </a:rPr>
              <a:t>  </a:t>
            </a:r>
            <a:r>
              <a:rPr dirty="0" sz="700" spc="-25">
                <a:solidFill>
                  <a:srgbClr val="0D0D0D"/>
                </a:solidFill>
                <a:latin typeface="Arial MT"/>
                <a:cs typeface="Arial MT"/>
              </a:rPr>
              <a:t>Q1</a:t>
            </a:r>
            <a:r>
              <a:rPr dirty="0" sz="700" spc="50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700" spc="-20">
                <a:solidFill>
                  <a:srgbClr val="0D0D0D"/>
                </a:solidFill>
                <a:latin typeface="Arial MT"/>
                <a:cs typeface="Arial MT"/>
              </a:rPr>
              <a:t>2022</a:t>
            </a: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	</a:t>
            </a:r>
            <a:r>
              <a:rPr dirty="0" sz="700" spc="-20">
                <a:solidFill>
                  <a:srgbClr val="0D0D0D"/>
                </a:solidFill>
                <a:latin typeface="Arial MT"/>
                <a:cs typeface="Arial MT"/>
              </a:rPr>
              <a:t>2023</a:t>
            </a:r>
            <a:endParaRPr sz="700">
              <a:latin typeface="Arial MT"/>
              <a:cs typeface="Arial MT"/>
            </a:endParaRPr>
          </a:p>
        </p:txBody>
      </p:sp>
      <p:grpSp>
        <p:nvGrpSpPr>
          <p:cNvPr id="35" name="object 35" descr=""/>
          <p:cNvGrpSpPr/>
          <p:nvPr/>
        </p:nvGrpSpPr>
        <p:grpSpPr>
          <a:xfrm>
            <a:off x="284924" y="787908"/>
            <a:ext cx="9516110" cy="2972435"/>
            <a:chOff x="284924" y="787908"/>
            <a:chExt cx="9516110" cy="2972435"/>
          </a:xfrm>
        </p:grpSpPr>
        <p:sp>
          <p:nvSpPr>
            <p:cNvPr id="36" name="object 36" descr=""/>
            <p:cNvSpPr/>
            <p:nvPr/>
          </p:nvSpPr>
          <p:spPr>
            <a:xfrm>
              <a:off x="3080766" y="3664458"/>
              <a:ext cx="243840" cy="0"/>
            </a:xfrm>
            <a:custGeom>
              <a:avLst/>
              <a:gdLst/>
              <a:ahLst/>
              <a:cxnLst/>
              <a:rect l="l" t="t" r="r" b="b"/>
              <a:pathLst>
                <a:path w="243839" h="0">
                  <a:moveTo>
                    <a:pt x="0" y="0"/>
                  </a:moveTo>
                  <a:lnTo>
                    <a:pt x="243839" y="0"/>
                  </a:lnTo>
                </a:path>
              </a:pathLst>
            </a:custGeom>
            <a:ln w="190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5054346" y="3664458"/>
              <a:ext cx="243840" cy="0"/>
            </a:xfrm>
            <a:custGeom>
              <a:avLst/>
              <a:gdLst/>
              <a:ahLst/>
              <a:cxnLst/>
              <a:rect l="l" t="t" r="r" b="b"/>
              <a:pathLst>
                <a:path w="243839" h="0">
                  <a:moveTo>
                    <a:pt x="0" y="0"/>
                  </a:moveTo>
                  <a:lnTo>
                    <a:pt x="243839" y="0"/>
                  </a:lnTo>
                </a:path>
              </a:pathLst>
            </a:custGeom>
            <a:ln w="1905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286511" y="897636"/>
              <a:ext cx="9512935" cy="2860675"/>
            </a:xfrm>
            <a:custGeom>
              <a:avLst/>
              <a:gdLst/>
              <a:ahLst/>
              <a:cxnLst/>
              <a:rect l="l" t="t" r="r" b="b"/>
              <a:pathLst>
                <a:path w="9512935" h="2860675">
                  <a:moveTo>
                    <a:pt x="0" y="2860548"/>
                  </a:moveTo>
                  <a:lnTo>
                    <a:pt x="9512808" y="2860548"/>
                  </a:lnTo>
                  <a:lnTo>
                    <a:pt x="9512808" y="0"/>
                  </a:lnTo>
                  <a:lnTo>
                    <a:pt x="0" y="0"/>
                  </a:lnTo>
                  <a:lnTo>
                    <a:pt x="0" y="286054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2715767" y="787908"/>
              <a:ext cx="4729480" cy="192405"/>
            </a:xfrm>
            <a:custGeom>
              <a:avLst/>
              <a:gdLst/>
              <a:ahLst/>
              <a:cxnLst/>
              <a:rect l="l" t="t" r="r" b="b"/>
              <a:pathLst>
                <a:path w="4729480" h="192405">
                  <a:moveTo>
                    <a:pt x="4728972" y="0"/>
                  </a:moveTo>
                  <a:lnTo>
                    <a:pt x="0" y="0"/>
                  </a:lnTo>
                  <a:lnTo>
                    <a:pt x="0" y="192024"/>
                  </a:lnTo>
                  <a:lnTo>
                    <a:pt x="4728972" y="192024"/>
                  </a:lnTo>
                  <a:lnTo>
                    <a:pt x="47289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 descr=""/>
          <p:cNvSpPr txBox="1"/>
          <p:nvPr/>
        </p:nvSpPr>
        <p:spPr>
          <a:xfrm>
            <a:off x="3344926" y="784351"/>
            <a:ext cx="3482975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b="1">
                <a:latin typeface="Arial"/>
                <a:cs typeface="Arial"/>
              </a:rPr>
              <a:t>Nigeria’s</a:t>
            </a:r>
            <a:r>
              <a:rPr dirty="0" sz="1150" spc="-3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Trade</a:t>
            </a:r>
            <a:r>
              <a:rPr dirty="0" sz="1150" spc="1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Balance</a:t>
            </a:r>
            <a:r>
              <a:rPr dirty="0" sz="1150" spc="30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vs</a:t>
            </a:r>
            <a:r>
              <a:rPr dirty="0" sz="1150" spc="34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Global Trade</a:t>
            </a:r>
            <a:r>
              <a:rPr dirty="0" sz="1150" spc="20" b="1">
                <a:latin typeface="Arial"/>
                <a:cs typeface="Arial"/>
              </a:rPr>
              <a:t> </a:t>
            </a:r>
            <a:r>
              <a:rPr dirty="0" sz="1150" spc="-10" b="1">
                <a:latin typeface="Arial"/>
                <a:cs typeface="Arial"/>
              </a:rPr>
              <a:t>Growth</a:t>
            </a:r>
            <a:endParaRPr sz="1150">
              <a:latin typeface="Arial"/>
              <a:cs typeface="Arial"/>
            </a:endParaRPr>
          </a:p>
        </p:txBody>
      </p:sp>
      <p:pic>
        <p:nvPicPr>
          <p:cNvPr id="41" name="object 4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36307" y="1453896"/>
            <a:ext cx="76200" cy="165480"/>
          </a:xfrm>
          <a:prstGeom prst="rect">
            <a:avLst/>
          </a:prstGeom>
        </p:spPr>
      </p:pic>
      <p:sp>
        <p:nvSpPr>
          <p:cNvPr id="42" name="object 42" descr=""/>
          <p:cNvSpPr txBox="1"/>
          <p:nvPr/>
        </p:nvSpPr>
        <p:spPr>
          <a:xfrm>
            <a:off x="3337686" y="3593084"/>
            <a:ext cx="3215005" cy="3371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986280" algn="l"/>
              </a:tabLst>
            </a:pP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Nigeria</a:t>
            </a:r>
            <a:r>
              <a:rPr dirty="0" sz="700" spc="-1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trade</a:t>
            </a:r>
            <a:r>
              <a:rPr dirty="0" sz="700" spc="-2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balance</a:t>
            </a:r>
            <a:r>
              <a:rPr dirty="0" sz="700" spc="-1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(N'billion)</a:t>
            </a:r>
            <a:r>
              <a:rPr dirty="0" sz="700" spc="6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700" spc="-20">
                <a:latin typeface="Arial MT"/>
                <a:cs typeface="Arial MT"/>
              </a:rPr>
              <a:t>(LHA)</a:t>
            </a:r>
            <a:r>
              <a:rPr dirty="0" sz="700">
                <a:latin typeface="Arial MT"/>
                <a:cs typeface="Arial MT"/>
              </a:rPr>
              <a:t>	</a:t>
            </a: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Global</a:t>
            </a:r>
            <a:r>
              <a:rPr dirty="0" sz="700" spc="-2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trade</a:t>
            </a:r>
            <a:r>
              <a:rPr dirty="0" sz="700" spc="-1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growth</a:t>
            </a:r>
            <a:r>
              <a:rPr dirty="0" sz="700" spc="-3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(%)</a:t>
            </a:r>
            <a:r>
              <a:rPr dirty="0" sz="700" spc="2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700" spc="-20">
                <a:latin typeface="Arial MT"/>
                <a:cs typeface="Arial MT"/>
              </a:rPr>
              <a:t>(RHA)</a:t>
            </a:r>
            <a:endParaRPr sz="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700">
              <a:latin typeface="Arial MT"/>
              <a:cs typeface="Arial MT"/>
            </a:endParaRPr>
          </a:p>
          <a:p>
            <a:pPr marL="581660">
              <a:lnSpc>
                <a:spcPct val="100000"/>
              </a:lnSpc>
            </a:pPr>
            <a:r>
              <a:rPr dirty="0" sz="650" i="1">
                <a:latin typeface="Arial"/>
                <a:cs typeface="Arial"/>
              </a:rPr>
              <a:t>Source:</a:t>
            </a:r>
            <a:r>
              <a:rPr dirty="0" sz="650" spc="15" i="1">
                <a:latin typeface="Arial"/>
                <a:cs typeface="Arial"/>
              </a:rPr>
              <a:t> </a:t>
            </a:r>
            <a:r>
              <a:rPr dirty="0" sz="650" i="1">
                <a:latin typeface="Arial"/>
                <a:cs typeface="Arial"/>
              </a:rPr>
              <a:t>NBS,</a:t>
            </a:r>
            <a:r>
              <a:rPr dirty="0" sz="650" spc="45" i="1">
                <a:latin typeface="Arial"/>
                <a:cs typeface="Arial"/>
              </a:rPr>
              <a:t> </a:t>
            </a:r>
            <a:r>
              <a:rPr dirty="0" sz="650" i="1">
                <a:latin typeface="Arial"/>
                <a:cs typeface="Arial"/>
              </a:rPr>
              <a:t>World</a:t>
            </a:r>
            <a:r>
              <a:rPr dirty="0" sz="650" spc="20" i="1">
                <a:latin typeface="Arial"/>
                <a:cs typeface="Arial"/>
              </a:rPr>
              <a:t> </a:t>
            </a:r>
            <a:r>
              <a:rPr dirty="0" sz="650" i="1">
                <a:latin typeface="Arial"/>
                <a:cs typeface="Arial"/>
              </a:rPr>
              <a:t>Bank,</a:t>
            </a:r>
            <a:r>
              <a:rPr dirty="0" sz="650" spc="40" i="1">
                <a:latin typeface="Arial"/>
                <a:cs typeface="Arial"/>
              </a:rPr>
              <a:t> </a:t>
            </a:r>
            <a:r>
              <a:rPr dirty="0" sz="650" i="1">
                <a:latin typeface="Arial"/>
                <a:cs typeface="Arial"/>
              </a:rPr>
              <a:t>PwC</a:t>
            </a:r>
            <a:r>
              <a:rPr dirty="0" sz="650" spc="5" i="1">
                <a:latin typeface="Arial"/>
                <a:cs typeface="Arial"/>
              </a:rPr>
              <a:t> </a:t>
            </a:r>
            <a:r>
              <a:rPr dirty="0" sz="650" spc="-10" i="1">
                <a:latin typeface="Arial"/>
                <a:cs typeface="Arial"/>
              </a:rPr>
              <a:t>Analysis</a:t>
            </a:r>
            <a:endParaRPr sz="650">
              <a:latin typeface="Arial"/>
              <a:cs typeface="Arial"/>
            </a:endParaRPr>
          </a:p>
        </p:txBody>
      </p:sp>
      <p:sp>
        <p:nvSpPr>
          <p:cNvPr id="45" name="object 4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Impact</a:t>
            </a:r>
            <a:r>
              <a:rPr dirty="0" spc="35"/>
              <a:t> </a:t>
            </a:r>
            <a:r>
              <a:rPr dirty="0"/>
              <a:t>of</a:t>
            </a:r>
            <a:r>
              <a:rPr dirty="0" spc="50"/>
              <a:t> </a:t>
            </a:r>
            <a:r>
              <a:rPr dirty="0"/>
              <a:t>Global</a:t>
            </a:r>
            <a:r>
              <a:rPr dirty="0" spc="65"/>
              <a:t> </a:t>
            </a:r>
            <a:r>
              <a:rPr dirty="0"/>
              <a:t>Economic</a:t>
            </a:r>
            <a:r>
              <a:rPr dirty="0" spc="30"/>
              <a:t> </a:t>
            </a:r>
            <a:r>
              <a:rPr dirty="0"/>
              <a:t>Trends</a:t>
            </a:r>
            <a:r>
              <a:rPr dirty="0" spc="45"/>
              <a:t> </a:t>
            </a:r>
            <a:r>
              <a:rPr dirty="0"/>
              <a:t>on</a:t>
            </a:r>
            <a:r>
              <a:rPr dirty="0" spc="40"/>
              <a:t> </a:t>
            </a:r>
            <a:r>
              <a:rPr dirty="0"/>
              <a:t>Nigeria’s</a:t>
            </a:r>
            <a:r>
              <a:rPr dirty="0" spc="60"/>
              <a:t> </a:t>
            </a:r>
            <a:r>
              <a:rPr dirty="0"/>
              <a:t>Foreign</a:t>
            </a:r>
            <a:r>
              <a:rPr dirty="0" spc="45"/>
              <a:t> </a:t>
            </a:r>
            <a:r>
              <a:rPr dirty="0"/>
              <a:t>Exchange</a:t>
            </a:r>
            <a:r>
              <a:rPr dirty="0" spc="60"/>
              <a:t> </a:t>
            </a:r>
            <a:r>
              <a:rPr dirty="0" spc="-10"/>
              <a:t>Market</a:t>
            </a:r>
          </a:p>
        </p:txBody>
      </p:sp>
      <p:sp>
        <p:nvSpPr>
          <p:cNvPr id="46" name="object 4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October</a:t>
            </a:r>
            <a:r>
              <a:rPr dirty="0" spc="80"/>
              <a:t> </a:t>
            </a:r>
            <a:r>
              <a:rPr dirty="0" spc="-20"/>
              <a:t>2023</a:t>
            </a:r>
          </a:p>
        </p:txBody>
      </p:sp>
      <p:sp>
        <p:nvSpPr>
          <p:cNvPr id="47" name="object 4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815"/>
              </a:lnSpc>
            </a:pPr>
            <a:fld id="{81D60167-4931-47E6-BA6A-407CBD079E47}" type="slidenum">
              <a:rPr dirty="0" spc="-25"/>
              <a:t>26</a:t>
            </a:fld>
          </a:p>
        </p:txBody>
      </p:sp>
      <p:sp>
        <p:nvSpPr>
          <p:cNvPr id="43" name="object 43" descr=""/>
          <p:cNvSpPr txBox="1"/>
          <p:nvPr/>
        </p:nvSpPr>
        <p:spPr>
          <a:xfrm>
            <a:off x="6060440" y="1107440"/>
            <a:ext cx="1886585" cy="4330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 indent="635">
              <a:lnSpc>
                <a:spcPct val="102600"/>
              </a:lnSpc>
              <a:spcBef>
                <a:spcPts val="100"/>
              </a:spcBef>
            </a:pPr>
            <a:r>
              <a:rPr dirty="0" sz="650">
                <a:latin typeface="Arial MT"/>
                <a:cs typeface="Arial MT"/>
              </a:rPr>
              <a:t>The</a:t>
            </a:r>
            <a:r>
              <a:rPr dirty="0" sz="650" spc="25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pandemic</a:t>
            </a:r>
            <a:r>
              <a:rPr dirty="0" sz="650" spc="45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induced</a:t>
            </a:r>
            <a:r>
              <a:rPr dirty="0" sz="650" spc="35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lockdown</a:t>
            </a:r>
            <a:r>
              <a:rPr dirty="0" sz="650" spc="10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led</a:t>
            </a:r>
            <a:r>
              <a:rPr dirty="0" sz="650" spc="65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to</a:t>
            </a:r>
            <a:r>
              <a:rPr dirty="0" sz="650" spc="30">
                <a:latin typeface="Arial MT"/>
                <a:cs typeface="Arial MT"/>
              </a:rPr>
              <a:t> </a:t>
            </a:r>
            <a:r>
              <a:rPr dirty="0" sz="650" spc="-25">
                <a:latin typeface="Arial MT"/>
                <a:cs typeface="Arial MT"/>
              </a:rPr>
              <a:t>the</a:t>
            </a:r>
            <a:r>
              <a:rPr dirty="0" sz="650" spc="50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contraction</a:t>
            </a:r>
            <a:r>
              <a:rPr dirty="0" sz="650" spc="55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in</a:t>
            </a:r>
            <a:r>
              <a:rPr dirty="0" sz="650" spc="4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global</a:t>
            </a:r>
            <a:r>
              <a:rPr dirty="0" sz="650" spc="95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trade.</a:t>
            </a:r>
            <a:r>
              <a:rPr dirty="0" sz="650" spc="5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Nigeria</a:t>
            </a:r>
            <a:r>
              <a:rPr dirty="0" sz="650" spc="55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recorded</a:t>
            </a:r>
            <a:r>
              <a:rPr dirty="0" sz="650" spc="55">
                <a:latin typeface="Arial MT"/>
                <a:cs typeface="Arial MT"/>
              </a:rPr>
              <a:t> </a:t>
            </a:r>
            <a:r>
              <a:rPr dirty="0" sz="650" spc="-50">
                <a:latin typeface="Arial MT"/>
                <a:cs typeface="Arial MT"/>
              </a:rPr>
              <a:t>a</a:t>
            </a:r>
            <a:r>
              <a:rPr dirty="0" sz="650" spc="50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deficit</a:t>
            </a:r>
            <a:r>
              <a:rPr dirty="0" sz="650" spc="15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trade</a:t>
            </a:r>
            <a:r>
              <a:rPr dirty="0" sz="650" spc="35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balance</a:t>
            </a:r>
            <a:r>
              <a:rPr dirty="0" sz="650" spc="85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of</a:t>
            </a:r>
            <a:r>
              <a:rPr dirty="0" sz="650" spc="3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N178billion</a:t>
            </a:r>
            <a:r>
              <a:rPr dirty="0" sz="650" spc="9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in</a:t>
            </a:r>
            <a:r>
              <a:rPr dirty="0" sz="650" spc="25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the</a:t>
            </a:r>
            <a:r>
              <a:rPr dirty="0" sz="650" spc="35">
                <a:latin typeface="Arial MT"/>
                <a:cs typeface="Arial MT"/>
              </a:rPr>
              <a:t> </a:t>
            </a:r>
            <a:r>
              <a:rPr dirty="0" sz="650" spc="-20">
                <a:latin typeface="Arial MT"/>
                <a:cs typeface="Arial MT"/>
              </a:rPr>
              <a:t>same</a:t>
            </a:r>
            <a:r>
              <a:rPr dirty="0" sz="650" spc="50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period</a:t>
            </a:r>
            <a:r>
              <a:rPr dirty="0" sz="650" spc="5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attributed</a:t>
            </a:r>
            <a:r>
              <a:rPr dirty="0" sz="650" spc="4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to</a:t>
            </a:r>
            <a:r>
              <a:rPr dirty="0" sz="650" spc="4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the</a:t>
            </a:r>
            <a:r>
              <a:rPr dirty="0" sz="650" spc="5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contraction</a:t>
            </a:r>
            <a:r>
              <a:rPr dirty="0" sz="650" spc="55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in</a:t>
            </a:r>
            <a:r>
              <a:rPr dirty="0" sz="650" spc="4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global</a:t>
            </a:r>
            <a:r>
              <a:rPr dirty="0" sz="650" spc="90">
                <a:latin typeface="Arial MT"/>
                <a:cs typeface="Arial MT"/>
              </a:rPr>
              <a:t> </a:t>
            </a:r>
            <a:r>
              <a:rPr dirty="0" sz="650" spc="-20">
                <a:latin typeface="Arial MT"/>
                <a:cs typeface="Arial MT"/>
              </a:rPr>
              <a:t>trade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49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Decline</a:t>
            </a:r>
            <a:r>
              <a:rPr dirty="0" spc="-30"/>
              <a:t> </a:t>
            </a:r>
            <a:r>
              <a:rPr dirty="0"/>
              <a:t>in</a:t>
            </a:r>
            <a:r>
              <a:rPr dirty="0" spc="-50"/>
              <a:t> </a:t>
            </a:r>
            <a:r>
              <a:rPr dirty="0"/>
              <a:t>global</a:t>
            </a:r>
            <a:r>
              <a:rPr dirty="0" spc="-30"/>
              <a:t> </a:t>
            </a:r>
            <a:r>
              <a:rPr dirty="0"/>
              <a:t>trade</a:t>
            </a:r>
            <a:r>
              <a:rPr dirty="0" spc="-35"/>
              <a:t> </a:t>
            </a:r>
            <a:r>
              <a:rPr dirty="0"/>
              <a:t>growth</a:t>
            </a:r>
            <a:r>
              <a:rPr dirty="0" spc="-60"/>
              <a:t> </a:t>
            </a:r>
            <a:r>
              <a:rPr dirty="0"/>
              <a:t>may</a:t>
            </a:r>
            <a:r>
              <a:rPr dirty="0" spc="-35"/>
              <a:t> </a:t>
            </a:r>
            <a:r>
              <a:rPr dirty="0"/>
              <a:t>adversely</a:t>
            </a:r>
            <a:r>
              <a:rPr dirty="0" spc="-20"/>
              <a:t> </a:t>
            </a:r>
            <a:r>
              <a:rPr dirty="0"/>
              <a:t>affect</a:t>
            </a:r>
            <a:r>
              <a:rPr dirty="0" spc="-15"/>
              <a:t> </a:t>
            </a:r>
            <a:r>
              <a:rPr dirty="0"/>
              <a:t>Nigeria’s</a:t>
            </a:r>
            <a:r>
              <a:rPr dirty="0" spc="-40"/>
              <a:t> </a:t>
            </a:r>
            <a:r>
              <a:rPr dirty="0"/>
              <a:t>trade</a:t>
            </a:r>
            <a:r>
              <a:rPr dirty="0" spc="-35"/>
              <a:t> </a:t>
            </a:r>
            <a:r>
              <a:rPr dirty="0"/>
              <a:t>balance</a:t>
            </a:r>
            <a:r>
              <a:rPr dirty="0" spc="-30"/>
              <a:t> </a:t>
            </a:r>
            <a:r>
              <a:rPr dirty="0"/>
              <a:t>and</a:t>
            </a:r>
            <a:r>
              <a:rPr dirty="0" spc="-35"/>
              <a:t> </a:t>
            </a:r>
            <a:r>
              <a:rPr dirty="0"/>
              <a:t>FX</a:t>
            </a:r>
            <a:r>
              <a:rPr dirty="0" spc="-45"/>
              <a:t> </a:t>
            </a:r>
            <a:r>
              <a:rPr dirty="0" spc="-10"/>
              <a:t>inflows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294068" y="728472"/>
            <a:ext cx="9514840" cy="3035935"/>
            <a:chOff x="294068" y="728472"/>
            <a:chExt cx="9514840" cy="3035935"/>
          </a:xfrm>
        </p:grpSpPr>
        <p:sp>
          <p:nvSpPr>
            <p:cNvPr id="3" name="object 3" descr=""/>
            <p:cNvSpPr/>
            <p:nvPr/>
          </p:nvSpPr>
          <p:spPr>
            <a:xfrm>
              <a:off x="1783080" y="1271016"/>
              <a:ext cx="929640" cy="1866900"/>
            </a:xfrm>
            <a:custGeom>
              <a:avLst/>
              <a:gdLst/>
              <a:ahLst/>
              <a:cxnLst/>
              <a:rect l="l" t="t" r="r" b="b"/>
              <a:pathLst>
                <a:path w="929639" h="1866900">
                  <a:moveTo>
                    <a:pt x="929640" y="0"/>
                  </a:moveTo>
                  <a:lnTo>
                    <a:pt x="0" y="0"/>
                  </a:lnTo>
                  <a:lnTo>
                    <a:pt x="0" y="1866899"/>
                  </a:lnTo>
                  <a:lnTo>
                    <a:pt x="929640" y="1866899"/>
                  </a:lnTo>
                  <a:lnTo>
                    <a:pt x="92964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295656" y="815340"/>
              <a:ext cx="9511665" cy="2947670"/>
            </a:xfrm>
            <a:custGeom>
              <a:avLst/>
              <a:gdLst/>
              <a:ahLst/>
              <a:cxnLst/>
              <a:rect l="l" t="t" r="r" b="b"/>
              <a:pathLst>
                <a:path w="9511665" h="2947670">
                  <a:moveTo>
                    <a:pt x="0" y="2947416"/>
                  </a:moveTo>
                  <a:lnTo>
                    <a:pt x="9511284" y="2947416"/>
                  </a:lnTo>
                  <a:lnTo>
                    <a:pt x="9511284" y="0"/>
                  </a:lnTo>
                  <a:lnTo>
                    <a:pt x="0" y="0"/>
                  </a:lnTo>
                  <a:lnTo>
                    <a:pt x="0" y="294741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2712720" y="728472"/>
              <a:ext cx="4468495" cy="254635"/>
            </a:xfrm>
            <a:custGeom>
              <a:avLst/>
              <a:gdLst/>
              <a:ahLst/>
              <a:cxnLst/>
              <a:rect l="l" t="t" r="r" b="b"/>
              <a:pathLst>
                <a:path w="4468495" h="254634">
                  <a:moveTo>
                    <a:pt x="4468367" y="0"/>
                  </a:moveTo>
                  <a:lnTo>
                    <a:pt x="0" y="0"/>
                  </a:lnTo>
                  <a:lnTo>
                    <a:pt x="0" y="254508"/>
                  </a:lnTo>
                  <a:lnTo>
                    <a:pt x="4468367" y="254508"/>
                  </a:lnTo>
                  <a:lnTo>
                    <a:pt x="44683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7691627" y="946404"/>
              <a:ext cx="1051560" cy="2192020"/>
            </a:xfrm>
            <a:custGeom>
              <a:avLst/>
              <a:gdLst/>
              <a:ahLst/>
              <a:cxnLst/>
              <a:rect l="l" t="t" r="r" b="b"/>
              <a:pathLst>
                <a:path w="1051559" h="2192020">
                  <a:moveTo>
                    <a:pt x="1051559" y="0"/>
                  </a:moveTo>
                  <a:lnTo>
                    <a:pt x="0" y="0"/>
                  </a:lnTo>
                  <a:lnTo>
                    <a:pt x="0" y="2191512"/>
                  </a:lnTo>
                  <a:lnTo>
                    <a:pt x="1051559" y="2191512"/>
                  </a:lnTo>
                  <a:lnTo>
                    <a:pt x="1051559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22731" y="3240023"/>
              <a:ext cx="9046845" cy="0"/>
            </a:xfrm>
            <a:custGeom>
              <a:avLst/>
              <a:gdLst/>
              <a:ahLst/>
              <a:cxnLst/>
              <a:rect l="l" t="t" r="r" b="b"/>
              <a:pathLst>
                <a:path w="9046845" h="0">
                  <a:moveTo>
                    <a:pt x="0" y="0"/>
                  </a:moveTo>
                  <a:lnTo>
                    <a:pt x="9046464" y="0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788670" y="1586724"/>
              <a:ext cx="8514715" cy="518159"/>
            </a:xfrm>
            <a:custGeom>
              <a:avLst/>
              <a:gdLst/>
              <a:ahLst/>
              <a:cxnLst/>
              <a:rect l="l" t="t" r="r" b="b"/>
              <a:pathLst>
                <a:path w="8514715" h="518160">
                  <a:moveTo>
                    <a:pt x="0" y="518046"/>
                  </a:moveTo>
                  <a:lnTo>
                    <a:pt x="48376" y="511326"/>
                  </a:lnTo>
                  <a:lnTo>
                    <a:pt x="96754" y="504607"/>
                  </a:lnTo>
                  <a:lnTo>
                    <a:pt x="145131" y="497887"/>
                  </a:lnTo>
                  <a:lnTo>
                    <a:pt x="193509" y="491168"/>
                  </a:lnTo>
                  <a:lnTo>
                    <a:pt x="241886" y="484448"/>
                  </a:lnTo>
                  <a:lnTo>
                    <a:pt x="290262" y="477729"/>
                  </a:lnTo>
                  <a:lnTo>
                    <a:pt x="338638" y="471009"/>
                  </a:lnTo>
                  <a:lnTo>
                    <a:pt x="387013" y="464290"/>
                  </a:lnTo>
                  <a:lnTo>
                    <a:pt x="435387" y="457571"/>
                  </a:lnTo>
                  <a:lnTo>
                    <a:pt x="483759" y="450851"/>
                  </a:lnTo>
                  <a:lnTo>
                    <a:pt x="532130" y="444132"/>
                  </a:lnTo>
                  <a:lnTo>
                    <a:pt x="580517" y="436957"/>
                  </a:lnTo>
                  <a:lnTo>
                    <a:pt x="628904" y="429054"/>
                  </a:lnTo>
                  <a:lnTo>
                    <a:pt x="677291" y="420696"/>
                  </a:lnTo>
                  <a:lnTo>
                    <a:pt x="725678" y="412156"/>
                  </a:lnTo>
                  <a:lnTo>
                    <a:pt x="774065" y="403707"/>
                  </a:lnTo>
                  <a:lnTo>
                    <a:pt x="822452" y="395622"/>
                  </a:lnTo>
                  <a:lnTo>
                    <a:pt x="870839" y="388175"/>
                  </a:lnTo>
                  <a:lnTo>
                    <a:pt x="919226" y="381637"/>
                  </a:lnTo>
                  <a:lnTo>
                    <a:pt x="967613" y="376283"/>
                  </a:lnTo>
                  <a:lnTo>
                    <a:pt x="1016000" y="372386"/>
                  </a:lnTo>
                  <a:lnTo>
                    <a:pt x="1064387" y="370218"/>
                  </a:lnTo>
                  <a:lnTo>
                    <a:pt x="1112742" y="370459"/>
                  </a:lnTo>
                  <a:lnTo>
                    <a:pt x="1161103" y="373282"/>
                  </a:lnTo>
                  <a:lnTo>
                    <a:pt x="1209469" y="378096"/>
                  </a:lnTo>
                  <a:lnTo>
                    <a:pt x="1257840" y="384307"/>
                  </a:lnTo>
                  <a:lnTo>
                    <a:pt x="1306215" y="391325"/>
                  </a:lnTo>
                  <a:lnTo>
                    <a:pt x="1354593" y="398557"/>
                  </a:lnTo>
                  <a:lnTo>
                    <a:pt x="1402975" y="405410"/>
                  </a:lnTo>
                  <a:lnTo>
                    <a:pt x="1451358" y="411294"/>
                  </a:lnTo>
                  <a:lnTo>
                    <a:pt x="1499743" y="415616"/>
                  </a:lnTo>
                  <a:lnTo>
                    <a:pt x="1548130" y="417785"/>
                  </a:lnTo>
                  <a:lnTo>
                    <a:pt x="1596517" y="417208"/>
                  </a:lnTo>
                  <a:lnTo>
                    <a:pt x="1644872" y="413825"/>
                  </a:lnTo>
                  <a:lnTo>
                    <a:pt x="1693233" y="408176"/>
                  </a:lnTo>
                  <a:lnTo>
                    <a:pt x="1741599" y="400672"/>
                  </a:lnTo>
                  <a:lnTo>
                    <a:pt x="1789970" y="391723"/>
                  </a:lnTo>
                  <a:lnTo>
                    <a:pt x="1838345" y="381740"/>
                  </a:lnTo>
                  <a:lnTo>
                    <a:pt x="1886723" y="371132"/>
                  </a:lnTo>
                  <a:lnTo>
                    <a:pt x="1935105" y="360311"/>
                  </a:lnTo>
                  <a:lnTo>
                    <a:pt x="1983488" y="349687"/>
                  </a:lnTo>
                  <a:lnTo>
                    <a:pt x="2031873" y="339670"/>
                  </a:lnTo>
                  <a:lnTo>
                    <a:pt x="2080260" y="330671"/>
                  </a:lnTo>
                  <a:lnTo>
                    <a:pt x="2128647" y="323101"/>
                  </a:lnTo>
                  <a:lnTo>
                    <a:pt x="2177031" y="316471"/>
                  </a:lnTo>
                  <a:lnTo>
                    <a:pt x="2225409" y="310051"/>
                  </a:lnTo>
                  <a:lnTo>
                    <a:pt x="2273784" y="303888"/>
                  </a:lnTo>
                  <a:lnTo>
                    <a:pt x="2322156" y="298027"/>
                  </a:lnTo>
                  <a:lnTo>
                    <a:pt x="2370527" y="292516"/>
                  </a:lnTo>
                  <a:lnTo>
                    <a:pt x="2418896" y="287401"/>
                  </a:lnTo>
                  <a:lnTo>
                    <a:pt x="2467267" y="282727"/>
                  </a:lnTo>
                  <a:lnTo>
                    <a:pt x="2515639" y="278542"/>
                  </a:lnTo>
                  <a:lnTo>
                    <a:pt x="2564014" y="274891"/>
                  </a:lnTo>
                  <a:lnTo>
                    <a:pt x="2612392" y="271822"/>
                  </a:lnTo>
                  <a:lnTo>
                    <a:pt x="2660777" y="269380"/>
                  </a:lnTo>
                  <a:lnTo>
                    <a:pt x="2714002" y="267713"/>
                  </a:lnTo>
                  <a:lnTo>
                    <a:pt x="2767227" y="267263"/>
                  </a:lnTo>
                  <a:lnTo>
                    <a:pt x="2820450" y="267769"/>
                  </a:lnTo>
                  <a:lnTo>
                    <a:pt x="2873671" y="268969"/>
                  </a:lnTo>
                  <a:lnTo>
                    <a:pt x="2926889" y="270602"/>
                  </a:lnTo>
                  <a:lnTo>
                    <a:pt x="2980103" y="272406"/>
                  </a:lnTo>
                  <a:lnTo>
                    <a:pt x="3033313" y="274121"/>
                  </a:lnTo>
                  <a:lnTo>
                    <a:pt x="3086517" y="275484"/>
                  </a:lnTo>
                  <a:lnTo>
                    <a:pt x="3139715" y="276234"/>
                  </a:lnTo>
                  <a:lnTo>
                    <a:pt x="3192907" y="276111"/>
                  </a:lnTo>
                  <a:lnTo>
                    <a:pt x="3246132" y="275141"/>
                  </a:lnTo>
                  <a:lnTo>
                    <a:pt x="3299358" y="273669"/>
                  </a:lnTo>
                  <a:lnTo>
                    <a:pt x="3352584" y="271797"/>
                  </a:lnTo>
                  <a:lnTo>
                    <a:pt x="3405809" y="269625"/>
                  </a:lnTo>
                  <a:lnTo>
                    <a:pt x="3459035" y="267252"/>
                  </a:lnTo>
                  <a:lnTo>
                    <a:pt x="3512261" y="264781"/>
                  </a:lnTo>
                  <a:lnTo>
                    <a:pt x="3565486" y="262312"/>
                  </a:lnTo>
                  <a:lnTo>
                    <a:pt x="3618712" y="259944"/>
                  </a:lnTo>
                  <a:lnTo>
                    <a:pt x="3671938" y="257779"/>
                  </a:lnTo>
                  <a:lnTo>
                    <a:pt x="3725164" y="255918"/>
                  </a:lnTo>
                  <a:lnTo>
                    <a:pt x="3778355" y="254121"/>
                  </a:lnTo>
                  <a:lnTo>
                    <a:pt x="3831553" y="252152"/>
                  </a:lnTo>
                  <a:lnTo>
                    <a:pt x="3884757" y="250114"/>
                  </a:lnTo>
                  <a:lnTo>
                    <a:pt x="3937967" y="248107"/>
                  </a:lnTo>
                  <a:lnTo>
                    <a:pt x="3991181" y="246234"/>
                  </a:lnTo>
                  <a:lnTo>
                    <a:pt x="4044399" y="244597"/>
                  </a:lnTo>
                  <a:lnTo>
                    <a:pt x="4097620" y="243299"/>
                  </a:lnTo>
                  <a:lnTo>
                    <a:pt x="4150843" y="242441"/>
                  </a:lnTo>
                  <a:lnTo>
                    <a:pt x="4204068" y="242126"/>
                  </a:lnTo>
                  <a:lnTo>
                    <a:pt x="4257294" y="242456"/>
                  </a:lnTo>
                  <a:lnTo>
                    <a:pt x="4310516" y="243340"/>
                  </a:lnTo>
                  <a:lnTo>
                    <a:pt x="4363732" y="244683"/>
                  </a:lnTo>
                  <a:lnTo>
                    <a:pt x="4416943" y="246463"/>
                  </a:lnTo>
                  <a:lnTo>
                    <a:pt x="4470152" y="248659"/>
                  </a:lnTo>
                  <a:lnTo>
                    <a:pt x="4523359" y="251250"/>
                  </a:lnTo>
                  <a:lnTo>
                    <a:pt x="4576565" y="254215"/>
                  </a:lnTo>
                  <a:lnTo>
                    <a:pt x="4629774" y="257531"/>
                  </a:lnTo>
                  <a:lnTo>
                    <a:pt x="4682985" y="261179"/>
                  </a:lnTo>
                  <a:lnTo>
                    <a:pt x="4736201" y="265135"/>
                  </a:lnTo>
                  <a:lnTo>
                    <a:pt x="4789424" y="269380"/>
                  </a:lnTo>
                  <a:lnTo>
                    <a:pt x="4837810" y="274406"/>
                  </a:lnTo>
                  <a:lnTo>
                    <a:pt x="4886197" y="281213"/>
                  </a:lnTo>
                  <a:lnTo>
                    <a:pt x="4934582" y="289237"/>
                  </a:lnTo>
                  <a:lnTo>
                    <a:pt x="4982965" y="297919"/>
                  </a:lnTo>
                  <a:lnTo>
                    <a:pt x="5031347" y="306693"/>
                  </a:lnTo>
                  <a:lnTo>
                    <a:pt x="5079725" y="315000"/>
                  </a:lnTo>
                  <a:lnTo>
                    <a:pt x="5128100" y="322276"/>
                  </a:lnTo>
                  <a:lnTo>
                    <a:pt x="5176471" y="327960"/>
                  </a:lnTo>
                  <a:lnTo>
                    <a:pt x="5224837" y="331488"/>
                  </a:lnTo>
                  <a:lnTo>
                    <a:pt x="5273198" y="332300"/>
                  </a:lnTo>
                  <a:lnTo>
                    <a:pt x="5321554" y="329832"/>
                  </a:lnTo>
                  <a:lnTo>
                    <a:pt x="5369941" y="323870"/>
                  </a:lnTo>
                  <a:lnTo>
                    <a:pt x="5418328" y="314830"/>
                  </a:lnTo>
                  <a:lnTo>
                    <a:pt x="5466715" y="303198"/>
                  </a:lnTo>
                  <a:lnTo>
                    <a:pt x="5515102" y="289460"/>
                  </a:lnTo>
                  <a:lnTo>
                    <a:pt x="5563489" y="274101"/>
                  </a:lnTo>
                  <a:lnTo>
                    <a:pt x="5611876" y="257609"/>
                  </a:lnTo>
                  <a:lnTo>
                    <a:pt x="5660263" y="240468"/>
                  </a:lnTo>
                  <a:lnTo>
                    <a:pt x="5708650" y="223165"/>
                  </a:lnTo>
                  <a:lnTo>
                    <a:pt x="5757036" y="206187"/>
                  </a:lnTo>
                  <a:lnTo>
                    <a:pt x="5805423" y="190018"/>
                  </a:lnTo>
                  <a:lnTo>
                    <a:pt x="5853810" y="175146"/>
                  </a:lnTo>
                  <a:lnTo>
                    <a:pt x="5902166" y="160408"/>
                  </a:lnTo>
                  <a:lnTo>
                    <a:pt x="5950527" y="144533"/>
                  </a:lnTo>
                  <a:lnTo>
                    <a:pt x="5998893" y="127946"/>
                  </a:lnTo>
                  <a:lnTo>
                    <a:pt x="6047264" y="111072"/>
                  </a:lnTo>
                  <a:lnTo>
                    <a:pt x="6095639" y="94335"/>
                  </a:lnTo>
                  <a:lnTo>
                    <a:pt x="6144017" y="78160"/>
                  </a:lnTo>
                  <a:lnTo>
                    <a:pt x="6192399" y="62972"/>
                  </a:lnTo>
                  <a:lnTo>
                    <a:pt x="6240782" y="49196"/>
                  </a:lnTo>
                  <a:lnTo>
                    <a:pt x="6289167" y="37257"/>
                  </a:lnTo>
                  <a:lnTo>
                    <a:pt x="6337554" y="27579"/>
                  </a:lnTo>
                  <a:lnTo>
                    <a:pt x="6385940" y="20587"/>
                  </a:lnTo>
                  <a:lnTo>
                    <a:pt x="6434325" y="15024"/>
                  </a:lnTo>
                  <a:lnTo>
                    <a:pt x="6482703" y="9685"/>
                  </a:lnTo>
                  <a:lnTo>
                    <a:pt x="6531078" y="5067"/>
                  </a:lnTo>
                  <a:lnTo>
                    <a:pt x="6579450" y="1672"/>
                  </a:lnTo>
                  <a:lnTo>
                    <a:pt x="6627821" y="0"/>
                  </a:lnTo>
                  <a:lnTo>
                    <a:pt x="6676190" y="549"/>
                  </a:lnTo>
                  <a:lnTo>
                    <a:pt x="6724561" y="3819"/>
                  </a:lnTo>
                  <a:lnTo>
                    <a:pt x="6772933" y="10311"/>
                  </a:lnTo>
                  <a:lnTo>
                    <a:pt x="6821308" y="20525"/>
                  </a:lnTo>
                  <a:lnTo>
                    <a:pt x="6869686" y="34959"/>
                  </a:lnTo>
                  <a:lnTo>
                    <a:pt x="6918071" y="54115"/>
                  </a:lnTo>
                  <a:lnTo>
                    <a:pt x="6953554" y="73042"/>
                  </a:lnTo>
                  <a:lnTo>
                    <a:pt x="6989038" y="97377"/>
                  </a:lnTo>
                  <a:lnTo>
                    <a:pt x="7024521" y="126221"/>
                  </a:lnTo>
                  <a:lnTo>
                    <a:pt x="7060003" y="158680"/>
                  </a:lnTo>
                  <a:lnTo>
                    <a:pt x="7095485" y="193857"/>
                  </a:lnTo>
                  <a:lnTo>
                    <a:pt x="7130965" y="230856"/>
                  </a:lnTo>
                  <a:lnTo>
                    <a:pt x="7166444" y="268781"/>
                  </a:lnTo>
                  <a:lnTo>
                    <a:pt x="7201922" y="306736"/>
                  </a:lnTo>
                  <a:lnTo>
                    <a:pt x="7237397" y="343824"/>
                  </a:lnTo>
                  <a:lnTo>
                    <a:pt x="7272871" y="379150"/>
                  </a:lnTo>
                  <a:lnTo>
                    <a:pt x="7308342" y="411817"/>
                  </a:lnTo>
                  <a:lnTo>
                    <a:pt x="7343811" y="440930"/>
                  </a:lnTo>
                  <a:lnTo>
                    <a:pt x="7379277" y="465592"/>
                  </a:lnTo>
                  <a:lnTo>
                    <a:pt x="7414740" y="484907"/>
                  </a:lnTo>
                  <a:lnTo>
                    <a:pt x="7494555" y="505668"/>
                  </a:lnTo>
                  <a:lnTo>
                    <a:pt x="7538910" y="505492"/>
                  </a:lnTo>
                  <a:lnTo>
                    <a:pt x="7583265" y="498688"/>
                  </a:lnTo>
                  <a:lnTo>
                    <a:pt x="7627619" y="486493"/>
                  </a:lnTo>
                  <a:lnTo>
                    <a:pt x="7671974" y="470144"/>
                  </a:lnTo>
                  <a:lnTo>
                    <a:pt x="7716329" y="450879"/>
                  </a:lnTo>
                  <a:lnTo>
                    <a:pt x="7760684" y="429933"/>
                  </a:lnTo>
                  <a:lnTo>
                    <a:pt x="7805038" y="408543"/>
                  </a:lnTo>
                  <a:lnTo>
                    <a:pt x="7849393" y="387948"/>
                  </a:lnTo>
                  <a:lnTo>
                    <a:pt x="7893748" y="369383"/>
                  </a:lnTo>
                  <a:lnTo>
                    <a:pt x="7938103" y="354086"/>
                  </a:lnTo>
                  <a:lnTo>
                    <a:pt x="7982458" y="343294"/>
                  </a:lnTo>
                  <a:lnTo>
                    <a:pt x="8030813" y="335328"/>
                  </a:lnTo>
                  <a:lnTo>
                    <a:pt x="8079174" y="328995"/>
                  </a:lnTo>
                  <a:lnTo>
                    <a:pt x="8127540" y="324035"/>
                  </a:lnTo>
                  <a:lnTo>
                    <a:pt x="8175911" y="320192"/>
                  </a:lnTo>
                  <a:lnTo>
                    <a:pt x="8224286" y="317208"/>
                  </a:lnTo>
                  <a:lnTo>
                    <a:pt x="8272664" y="314824"/>
                  </a:lnTo>
                  <a:lnTo>
                    <a:pt x="8321046" y="312784"/>
                  </a:lnTo>
                  <a:lnTo>
                    <a:pt x="8369429" y="310831"/>
                  </a:lnTo>
                  <a:lnTo>
                    <a:pt x="8417814" y="308705"/>
                  </a:lnTo>
                  <a:lnTo>
                    <a:pt x="8466201" y="306150"/>
                  </a:lnTo>
                  <a:lnTo>
                    <a:pt x="8514588" y="302908"/>
                  </a:lnTo>
                </a:path>
              </a:pathLst>
            </a:custGeom>
            <a:ln w="1905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788670" y="1521344"/>
              <a:ext cx="8514715" cy="1569720"/>
            </a:xfrm>
            <a:custGeom>
              <a:avLst/>
              <a:gdLst/>
              <a:ahLst/>
              <a:cxnLst/>
              <a:rect l="l" t="t" r="r" b="b"/>
              <a:pathLst>
                <a:path w="8514715" h="1569720">
                  <a:moveTo>
                    <a:pt x="0" y="304407"/>
                  </a:moveTo>
                  <a:lnTo>
                    <a:pt x="48376" y="303567"/>
                  </a:lnTo>
                  <a:lnTo>
                    <a:pt x="96754" y="300444"/>
                  </a:lnTo>
                  <a:lnTo>
                    <a:pt x="145131" y="295894"/>
                  </a:lnTo>
                  <a:lnTo>
                    <a:pt x="193509" y="290776"/>
                  </a:lnTo>
                  <a:lnTo>
                    <a:pt x="241886" y="285949"/>
                  </a:lnTo>
                  <a:lnTo>
                    <a:pt x="290262" y="282270"/>
                  </a:lnTo>
                  <a:lnTo>
                    <a:pt x="338638" y="280597"/>
                  </a:lnTo>
                  <a:lnTo>
                    <a:pt x="387013" y="281790"/>
                  </a:lnTo>
                  <a:lnTo>
                    <a:pt x="435387" y="286705"/>
                  </a:lnTo>
                  <a:lnTo>
                    <a:pt x="483759" y="296202"/>
                  </a:lnTo>
                  <a:lnTo>
                    <a:pt x="532130" y="311138"/>
                  </a:lnTo>
                  <a:lnTo>
                    <a:pt x="573072" y="327983"/>
                  </a:lnTo>
                  <a:lnTo>
                    <a:pt x="614015" y="347978"/>
                  </a:lnTo>
                  <a:lnTo>
                    <a:pt x="654958" y="370855"/>
                  </a:lnTo>
                  <a:lnTo>
                    <a:pt x="695901" y="396345"/>
                  </a:lnTo>
                  <a:lnTo>
                    <a:pt x="736844" y="424181"/>
                  </a:lnTo>
                  <a:lnTo>
                    <a:pt x="777787" y="454093"/>
                  </a:lnTo>
                  <a:lnTo>
                    <a:pt x="818729" y="485815"/>
                  </a:lnTo>
                  <a:lnTo>
                    <a:pt x="859672" y="519078"/>
                  </a:lnTo>
                  <a:lnTo>
                    <a:pt x="900615" y="553613"/>
                  </a:lnTo>
                  <a:lnTo>
                    <a:pt x="941558" y="589154"/>
                  </a:lnTo>
                  <a:lnTo>
                    <a:pt x="982501" y="625431"/>
                  </a:lnTo>
                  <a:lnTo>
                    <a:pt x="1023444" y="662177"/>
                  </a:lnTo>
                  <a:lnTo>
                    <a:pt x="1064387" y="699123"/>
                  </a:lnTo>
                  <a:lnTo>
                    <a:pt x="1092381" y="726955"/>
                  </a:lnTo>
                  <a:lnTo>
                    <a:pt x="1120378" y="759371"/>
                  </a:lnTo>
                  <a:lnTo>
                    <a:pt x="1148376" y="795607"/>
                  </a:lnTo>
                  <a:lnTo>
                    <a:pt x="1176376" y="834899"/>
                  </a:lnTo>
                  <a:lnTo>
                    <a:pt x="1204378" y="876485"/>
                  </a:lnTo>
                  <a:lnTo>
                    <a:pt x="1232381" y="919601"/>
                  </a:lnTo>
                  <a:lnTo>
                    <a:pt x="1260386" y="963483"/>
                  </a:lnTo>
                  <a:lnTo>
                    <a:pt x="1288392" y="1007369"/>
                  </a:lnTo>
                  <a:lnTo>
                    <a:pt x="1316400" y="1050495"/>
                  </a:lnTo>
                  <a:lnTo>
                    <a:pt x="1344408" y="1092097"/>
                  </a:lnTo>
                  <a:lnTo>
                    <a:pt x="1372418" y="1131413"/>
                  </a:lnTo>
                  <a:lnTo>
                    <a:pt x="1400428" y="1167679"/>
                  </a:lnTo>
                  <a:lnTo>
                    <a:pt x="1428439" y="1200131"/>
                  </a:lnTo>
                  <a:lnTo>
                    <a:pt x="1456451" y="1228007"/>
                  </a:lnTo>
                  <a:lnTo>
                    <a:pt x="1512476" y="1266976"/>
                  </a:lnTo>
                  <a:lnTo>
                    <a:pt x="1568503" y="1278477"/>
                  </a:lnTo>
                  <a:lnTo>
                    <a:pt x="1596517" y="1272020"/>
                  </a:lnTo>
                  <a:lnTo>
                    <a:pt x="1640842" y="1240540"/>
                  </a:lnTo>
                  <a:lnTo>
                    <a:pt x="1685172" y="1183892"/>
                  </a:lnTo>
                  <a:lnTo>
                    <a:pt x="1707339" y="1147624"/>
                  </a:lnTo>
                  <a:lnTo>
                    <a:pt x="1729507" y="1106856"/>
                  </a:lnTo>
                  <a:lnTo>
                    <a:pt x="1751676" y="1062186"/>
                  </a:lnTo>
                  <a:lnTo>
                    <a:pt x="1773846" y="1014210"/>
                  </a:lnTo>
                  <a:lnTo>
                    <a:pt x="1796017" y="963526"/>
                  </a:lnTo>
                  <a:lnTo>
                    <a:pt x="1818188" y="910731"/>
                  </a:lnTo>
                  <a:lnTo>
                    <a:pt x="1840361" y="856423"/>
                  </a:lnTo>
                  <a:lnTo>
                    <a:pt x="1862534" y="801199"/>
                  </a:lnTo>
                  <a:lnTo>
                    <a:pt x="1884708" y="745656"/>
                  </a:lnTo>
                  <a:lnTo>
                    <a:pt x="1906882" y="690391"/>
                  </a:lnTo>
                  <a:lnTo>
                    <a:pt x="1929057" y="636003"/>
                  </a:lnTo>
                  <a:lnTo>
                    <a:pt x="1951232" y="583087"/>
                  </a:lnTo>
                  <a:lnTo>
                    <a:pt x="1973408" y="532242"/>
                  </a:lnTo>
                  <a:lnTo>
                    <a:pt x="1995584" y="484064"/>
                  </a:lnTo>
                  <a:lnTo>
                    <a:pt x="2017761" y="439151"/>
                  </a:lnTo>
                  <a:lnTo>
                    <a:pt x="2039938" y="398101"/>
                  </a:lnTo>
                  <a:lnTo>
                    <a:pt x="2062115" y="361510"/>
                  </a:lnTo>
                  <a:lnTo>
                    <a:pt x="2084292" y="329976"/>
                  </a:lnTo>
                  <a:lnTo>
                    <a:pt x="2128647" y="284468"/>
                  </a:lnTo>
                  <a:lnTo>
                    <a:pt x="2164129" y="263717"/>
                  </a:lnTo>
                  <a:lnTo>
                    <a:pt x="2235085" y="250774"/>
                  </a:lnTo>
                  <a:lnTo>
                    <a:pt x="2270559" y="256280"/>
                  </a:lnTo>
                  <a:lnTo>
                    <a:pt x="2341505" y="285490"/>
                  </a:lnTo>
                  <a:lnTo>
                    <a:pt x="2376976" y="306892"/>
                  </a:lnTo>
                  <a:lnTo>
                    <a:pt x="2412447" y="331292"/>
                  </a:lnTo>
                  <a:lnTo>
                    <a:pt x="2447918" y="357537"/>
                  </a:lnTo>
                  <a:lnTo>
                    <a:pt x="2483390" y="384478"/>
                  </a:lnTo>
                  <a:lnTo>
                    <a:pt x="2518864" y="410962"/>
                  </a:lnTo>
                  <a:lnTo>
                    <a:pt x="2554338" y="435839"/>
                  </a:lnTo>
                  <a:lnTo>
                    <a:pt x="2589815" y="457959"/>
                  </a:lnTo>
                  <a:lnTo>
                    <a:pt x="2625294" y="476169"/>
                  </a:lnTo>
                  <a:lnTo>
                    <a:pt x="2709163" y="502918"/>
                  </a:lnTo>
                  <a:lnTo>
                    <a:pt x="2757550" y="515774"/>
                  </a:lnTo>
                  <a:lnTo>
                    <a:pt x="2805935" y="527847"/>
                  </a:lnTo>
                  <a:lnTo>
                    <a:pt x="2854318" y="539101"/>
                  </a:lnTo>
                  <a:lnTo>
                    <a:pt x="2902700" y="549495"/>
                  </a:lnTo>
                  <a:lnTo>
                    <a:pt x="2951078" y="558993"/>
                  </a:lnTo>
                  <a:lnTo>
                    <a:pt x="2999453" y="567555"/>
                  </a:lnTo>
                  <a:lnTo>
                    <a:pt x="3047824" y="575143"/>
                  </a:lnTo>
                  <a:lnTo>
                    <a:pt x="3096190" y="581719"/>
                  </a:lnTo>
                  <a:lnTo>
                    <a:pt x="3144551" y="587244"/>
                  </a:lnTo>
                  <a:lnTo>
                    <a:pt x="3192907" y="591681"/>
                  </a:lnTo>
                  <a:lnTo>
                    <a:pt x="3241294" y="594757"/>
                  </a:lnTo>
                  <a:lnTo>
                    <a:pt x="3289680" y="596295"/>
                  </a:lnTo>
                  <a:lnTo>
                    <a:pt x="3338067" y="596503"/>
                  </a:lnTo>
                  <a:lnTo>
                    <a:pt x="3386454" y="595585"/>
                  </a:lnTo>
                  <a:lnTo>
                    <a:pt x="3434841" y="593751"/>
                  </a:lnTo>
                  <a:lnTo>
                    <a:pt x="3483229" y="591205"/>
                  </a:lnTo>
                  <a:lnTo>
                    <a:pt x="3531616" y="588155"/>
                  </a:lnTo>
                  <a:lnTo>
                    <a:pt x="3580003" y="584807"/>
                  </a:lnTo>
                  <a:lnTo>
                    <a:pt x="3628390" y="581368"/>
                  </a:lnTo>
                  <a:lnTo>
                    <a:pt x="3676777" y="578045"/>
                  </a:lnTo>
                  <a:lnTo>
                    <a:pt x="3725164" y="575044"/>
                  </a:lnTo>
                  <a:lnTo>
                    <a:pt x="3773519" y="571893"/>
                  </a:lnTo>
                  <a:lnTo>
                    <a:pt x="3821880" y="568089"/>
                  </a:lnTo>
                  <a:lnTo>
                    <a:pt x="3870246" y="563791"/>
                  </a:lnTo>
                  <a:lnTo>
                    <a:pt x="3918617" y="559159"/>
                  </a:lnTo>
                  <a:lnTo>
                    <a:pt x="3966992" y="554350"/>
                  </a:lnTo>
                  <a:lnTo>
                    <a:pt x="4015370" y="549525"/>
                  </a:lnTo>
                  <a:lnTo>
                    <a:pt x="4063752" y="544842"/>
                  </a:lnTo>
                  <a:lnTo>
                    <a:pt x="4112135" y="540461"/>
                  </a:lnTo>
                  <a:lnTo>
                    <a:pt x="4160520" y="536541"/>
                  </a:lnTo>
                  <a:lnTo>
                    <a:pt x="4208907" y="533241"/>
                  </a:lnTo>
                  <a:lnTo>
                    <a:pt x="4257294" y="530721"/>
                  </a:lnTo>
                  <a:lnTo>
                    <a:pt x="4310516" y="528624"/>
                  </a:lnTo>
                  <a:lnTo>
                    <a:pt x="4363732" y="526916"/>
                  </a:lnTo>
                  <a:lnTo>
                    <a:pt x="4416943" y="525611"/>
                  </a:lnTo>
                  <a:lnTo>
                    <a:pt x="4470152" y="524726"/>
                  </a:lnTo>
                  <a:lnTo>
                    <a:pt x="4523359" y="524275"/>
                  </a:lnTo>
                  <a:lnTo>
                    <a:pt x="4576565" y="524274"/>
                  </a:lnTo>
                  <a:lnTo>
                    <a:pt x="4629774" y="524738"/>
                  </a:lnTo>
                  <a:lnTo>
                    <a:pt x="4682985" y="525681"/>
                  </a:lnTo>
                  <a:lnTo>
                    <a:pt x="4736201" y="527120"/>
                  </a:lnTo>
                  <a:lnTo>
                    <a:pt x="4789424" y="529070"/>
                  </a:lnTo>
                  <a:lnTo>
                    <a:pt x="4837810" y="532027"/>
                  </a:lnTo>
                  <a:lnTo>
                    <a:pt x="4886197" y="536524"/>
                  </a:lnTo>
                  <a:lnTo>
                    <a:pt x="4934582" y="542130"/>
                  </a:lnTo>
                  <a:lnTo>
                    <a:pt x="4982965" y="548414"/>
                  </a:lnTo>
                  <a:lnTo>
                    <a:pt x="5031347" y="554945"/>
                  </a:lnTo>
                  <a:lnTo>
                    <a:pt x="5079725" y="561292"/>
                  </a:lnTo>
                  <a:lnTo>
                    <a:pt x="5128100" y="567023"/>
                  </a:lnTo>
                  <a:lnTo>
                    <a:pt x="5176471" y="571707"/>
                  </a:lnTo>
                  <a:lnTo>
                    <a:pt x="5224837" y="574914"/>
                  </a:lnTo>
                  <a:lnTo>
                    <a:pt x="5273198" y="576212"/>
                  </a:lnTo>
                  <a:lnTo>
                    <a:pt x="5321554" y="575171"/>
                  </a:lnTo>
                  <a:lnTo>
                    <a:pt x="5369941" y="571253"/>
                  </a:lnTo>
                  <a:lnTo>
                    <a:pt x="5418328" y="564599"/>
                  </a:lnTo>
                  <a:lnTo>
                    <a:pt x="5466715" y="555790"/>
                  </a:lnTo>
                  <a:lnTo>
                    <a:pt x="5515102" y="545410"/>
                  </a:lnTo>
                  <a:lnTo>
                    <a:pt x="5563489" y="534039"/>
                  </a:lnTo>
                  <a:lnTo>
                    <a:pt x="5611876" y="522261"/>
                  </a:lnTo>
                  <a:lnTo>
                    <a:pt x="5660263" y="510658"/>
                  </a:lnTo>
                  <a:lnTo>
                    <a:pt x="5708650" y="499811"/>
                  </a:lnTo>
                  <a:lnTo>
                    <a:pt x="5757036" y="490304"/>
                  </a:lnTo>
                  <a:lnTo>
                    <a:pt x="5805423" y="482717"/>
                  </a:lnTo>
                  <a:lnTo>
                    <a:pt x="5853810" y="477635"/>
                  </a:lnTo>
                  <a:lnTo>
                    <a:pt x="5902166" y="474496"/>
                  </a:lnTo>
                  <a:lnTo>
                    <a:pt x="5950527" y="472399"/>
                  </a:lnTo>
                  <a:lnTo>
                    <a:pt x="5998893" y="471309"/>
                  </a:lnTo>
                  <a:lnTo>
                    <a:pt x="6047264" y="471191"/>
                  </a:lnTo>
                  <a:lnTo>
                    <a:pt x="6095639" y="472011"/>
                  </a:lnTo>
                  <a:lnTo>
                    <a:pt x="6144017" y="473732"/>
                  </a:lnTo>
                  <a:lnTo>
                    <a:pt x="6192399" y="476322"/>
                  </a:lnTo>
                  <a:lnTo>
                    <a:pt x="6240782" y="479743"/>
                  </a:lnTo>
                  <a:lnTo>
                    <a:pt x="6289167" y="483962"/>
                  </a:lnTo>
                  <a:lnTo>
                    <a:pt x="6337554" y="488943"/>
                  </a:lnTo>
                  <a:lnTo>
                    <a:pt x="6385940" y="494653"/>
                  </a:lnTo>
                  <a:lnTo>
                    <a:pt x="6430293" y="498215"/>
                  </a:lnTo>
                  <a:lnTo>
                    <a:pt x="6474641" y="498640"/>
                  </a:lnTo>
                  <a:lnTo>
                    <a:pt x="6518985" y="497205"/>
                  </a:lnTo>
                  <a:lnTo>
                    <a:pt x="6563327" y="495184"/>
                  </a:lnTo>
                  <a:lnTo>
                    <a:pt x="6607666" y="493855"/>
                  </a:lnTo>
                  <a:lnTo>
                    <a:pt x="6652006" y="494494"/>
                  </a:lnTo>
                  <a:lnTo>
                    <a:pt x="6696345" y="498376"/>
                  </a:lnTo>
                  <a:lnTo>
                    <a:pt x="6740684" y="506779"/>
                  </a:lnTo>
                  <a:lnTo>
                    <a:pt x="6785026" y="520977"/>
                  </a:lnTo>
                  <a:lnTo>
                    <a:pt x="6829370" y="542248"/>
                  </a:lnTo>
                  <a:lnTo>
                    <a:pt x="6873718" y="571868"/>
                  </a:lnTo>
                  <a:lnTo>
                    <a:pt x="6918071" y="611112"/>
                  </a:lnTo>
                  <a:lnTo>
                    <a:pt x="6959013" y="663693"/>
                  </a:lnTo>
                  <a:lnTo>
                    <a:pt x="6979485" y="697776"/>
                  </a:lnTo>
                  <a:lnTo>
                    <a:pt x="6999956" y="736300"/>
                  </a:lnTo>
                  <a:lnTo>
                    <a:pt x="7020427" y="778699"/>
                  </a:lnTo>
                  <a:lnTo>
                    <a:pt x="7040897" y="824407"/>
                  </a:lnTo>
                  <a:lnTo>
                    <a:pt x="7061368" y="872860"/>
                  </a:lnTo>
                  <a:lnTo>
                    <a:pt x="7081838" y="923490"/>
                  </a:lnTo>
                  <a:lnTo>
                    <a:pt x="7102308" y="975733"/>
                  </a:lnTo>
                  <a:lnTo>
                    <a:pt x="7122778" y="1029023"/>
                  </a:lnTo>
                  <a:lnTo>
                    <a:pt x="7143247" y="1082794"/>
                  </a:lnTo>
                  <a:lnTo>
                    <a:pt x="7163715" y="1136481"/>
                  </a:lnTo>
                  <a:lnTo>
                    <a:pt x="7184183" y="1189517"/>
                  </a:lnTo>
                  <a:lnTo>
                    <a:pt x="7204651" y="1241338"/>
                  </a:lnTo>
                  <a:lnTo>
                    <a:pt x="7225117" y="1291378"/>
                  </a:lnTo>
                  <a:lnTo>
                    <a:pt x="7245584" y="1339070"/>
                  </a:lnTo>
                  <a:lnTo>
                    <a:pt x="7266049" y="1383850"/>
                  </a:lnTo>
                  <a:lnTo>
                    <a:pt x="7286514" y="1425152"/>
                  </a:lnTo>
                  <a:lnTo>
                    <a:pt x="7306978" y="1462410"/>
                  </a:lnTo>
                  <a:lnTo>
                    <a:pt x="7327441" y="1495058"/>
                  </a:lnTo>
                  <a:lnTo>
                    <a:pt x="7368365" y="1544262"/>
                  </a:lnTo>
                  <a:lnTo>
                    <a:pt x="7409285" y="1568241"/>
                  </a:lnTo>
                  <a:lnTo>
                    <a:pt x="7429743" y="1569357"/>
                  </a:lnTo>
                  <a:lnTo>
                    <a:pt x="7450201" y="1562469"/>
                  </a:lnTo>
                  <a:lnTo>
                    <a:pt x="7481510" y="1533931"/>
                  </a:lnTo>
                  <a:lnTo>
                    <a:pt x="7512819" y="1483992"/>
                  </a:lnTo>
                  <a:lnTo>
                    <a:pt x="7544128" y="1415400"/>
                  </a:lnTo>
                  <a:lnTo>
                    <a:pt x="7559783" y="1374968"/>
                  </a:lnTo>
                  <a:lnTo>
                    <a:pt x="7575437" y="1330903"/>
                  </a:lnTo>
                  <a:lnTo>
                    <a:pt x="7591092" y="1283548"/>
                  </a:lnTo>
                  <a:lnTo>
                    <a:pt x="7606747" y="1233248"/>
                  </a:lnTo>
                  <a:lnTo>
                    <a:pt x="7622401" y="1180346"/>
                  </a:lnTo>
                  <a:lnTo>
                    <a:pt x="7638056" y="1125185"/>
                  </a:lnTo>
                  <a:lnTo>
                    <a:pt x="7653711" y="1068108"/>
                  </a:lnTo>
                  <a:lnTo>
                    <a:pt x="7669365" y="1009460"/>
                  </a:lnTo>
                  <a:lnTo>
                    <a:pt x="7685020" y="949583"/>
                  </a:lnTo>
                  <a:lnTo>
                    <a:pt x="7700674" y="888822"/>
                  </a:lnTo>
                  <a:lnTo>
                    <a:pt x="7716329" y="827520"/>
                  </a:lnTo>
                  <a:lnTo>
                    <a:pt x="7731984" y="766019"/>
                  </a:lnTo>
                  <a:lnTo>
                    <a:pt x="7747638" y="704665"/>
                  </a:lnTo>
                  <a:lnTo>
                    <a:pt x="7763293" y="643800"/>
                  </a:lnTo>
                  <a:lnTo>
                    <a:pt x="7778947" y="583767"/>
                  </a:lnTo>
                  <a:lnTo>
                    <a:pt x="7794602" y="524911"/>
                  </a:lnTo>
                  <a:lnTo>
                    <a:pt x="7810257" y="467574"/>
                  </a:lnTo>
                  <a:lnTo>
                    <a:pt x="7825911" y="412101"/>
                  </a:lnTo>
                  <a:lnTo>
                    <a:pt x="7841566" y="358835"/>
                  </a:lnTo>
                  <a:lnTo>
                    <a:pt x="7857221" y="308119"/>
                  </a:lnTo>
                  <a:lnTo>
                    <a:pt x="7872875" y="260296"/>
                  </a:lnTo>
                  <a:lnTo>
                    <a:pt x="7888530" y="215711"/>
                  </a:lnTo>
                  <a:lnTo>
                    <a:pt x="7904184" y="174707"/>
                  </a:lnTo>
                  <a:lnTo>
                    <a:pt x="7919839" y="137627"/>
                  </a:lnTo>
                  <a:lnTo>
                    <a:pt x="7951148" y="76614"/>
                  </a:lnTo>
                  <a:lnTo>
                    <a:pt x="7982458" y="35421"/>
                  </a:lnTo>
                  <a:lnTo>
                    <a:pt x="8035649" y="2962"/>
                  </a:lnTo>
                  <a:lnTo>
                    <a:pt x="8062247" y="0"/>
                  </a:lnTo>
                  <a:lnTo>
                    <a:pt x="8088847" y="4871"/>
                  </a:lnTo>
                  <a:lnTo>
                    <a:pt x="8142051" y="35081"/>
                  </a:lnTo>
                  <a:lnTo>
                    <a:pt x="8195261" y="87529"/>
                  </a:lnTo>
                  <a:lnTo>
                    <a:pt x="8221867" y="120197"/>
                  </a:lnTo>
                  <a:lnTo>
                    <a:pt x="8248475" y="156150"/>
                  </a:lnTo>
                  <a:lnTo>
                    <a:pt x="8275083" y="194630"/>
                  </a:lnTo>
                  <a:lnTo>
                    <a:pt x="8301693" y="234879"/>
                  </a:lnTo>
                  <a:lnTo>
                    <a:pt x="8328303" y="276138"/>
                  </a:lnTo>
                  <a:lnTo>
                    <a:pt x="8354914" y="317651"/>
                  </a:lnTo>
                  <a:lnTo>
                    <a:pt x="8381525" y="358657"/>
                  </a:lnTo>
                  <a:lnTo>
                    <a:pt x="8408137" y="398401"/>
                  </a:lnTo>
                  <a:lnTo>
                    <a:pt x="8434749" y="436123"/>
                  </a:lnTo>
                  <a:lnTo>
                    <a:pt x="8461362" y="471065"/>
                  </a:lnTo>
                  <a:lnTo>
                    <a:pt x="8487975" y="502469"/>
                  </a:lnTo>
                  <a:lnTo>
                    <a:pt x="8514588" y="529578"/>
                  </a:lnTo>
                </a:path>
              </a:pathLst>
            </a:custGeom>
            <a:ln w="190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9634855" y="3167887"/>
            <a:ext cx="10350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0D0D0D"/>
                </a:solidFill>
                <a:latin typeface="Arial MT"/>
                <a:cs typeface="Arial MT"/>
              </a:rPr>
              <a:t>-</a:t>
            </a:r>
            <a:r>
              <a:rPr dirty="0" sz="700" spc="-60">
                <a:solidFill>
                  <a:srgbClr val="0D0D0D"/>
                </a:solidFill>
                <a:latin typeface="Arial MT"/>
                <a:cs typeface="Arial MT"/>
              </a:rPr>
              <a:t>4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9634855" y="2831414"/>
            <a:ext cx="10350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0D0D0D"/>
                </a:solidFill>
                <a:latin typeface="Arial MT"/>
                <a:cs typeface="Arial MT"/>
              </a:rPr>
              <a:t>-</a:t>
            </a:r>
            <a:r>
              <a:rPr dirty="0" sz="700" spc="-60">
                <a:solidFill>
                  <a:srgbClr val="0D0D0D"/>
                </a:solidFill>
                <a:latin typeface="Arial MT"/>
                <a:cs typeface="Arial MT"/>
              </a:rPr>
              <a:t>2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9634855" y="2495803"/>
            <a:ext cx="7493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solidFill>
                  <a:srgbClr val="0D0D0D"/>
                </a:solidFill>
                <a:latin typeface="Arial MT"/>
                <a:cs typeface="Arial MT"/>
              </a:rPr>
              <a:t>0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9634855" y="2159888"/>
            <a:ext cx="7493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solidFill>
                  <a:srgbClr val="0D0D0D"/>
                </a:solidFill>
                <a:latin typeface="Arial MT"/>
                <a:cs typeface="Arial MT"/>
              </a:rPr>
              <a:t>2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9634855" y="1823973"/>
            <a:ext cx="7493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solidFill>
                  <a:srgbClr val="0D0D0D"/>
                </a:solidFill>
                <a:latin typeface="Arial MT"/>
                <a:cs typeface="Arial MT"/>
              </a:rPr>
              <a:t>4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9634855" y="1488186"/>
            <a:ext cx="7493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solidFill>
                  <a:srgbClr val="0D0D0D"/>
                </a:solidFill>
                <a:latin typeface="Arial MT"/>
                <a:cs typeface="Arial MT"/>
              </a:rPr>
              <a:t>6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9634855" y="1151890"/>
            <a:ext cx="7493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solidFill>
                  <a:srgbClr val="0D0D0D"/>
                </a:solidFill>
                <a:latin typeface="Arial MT"/>
                <a:cs typeface="Arial MT"/>
              </a:rPr>
              <a:t>8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384454" y="3167887"/>
            <a:ext cx="7493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solidFill>
                  <a:srgbClr val="0D0D0D"/>
                </a:solidFill>
                <a:latin typeface="Arial MT"/>
                <a:cs typeface="Arial MT"/>
              </a:rPr>
              <a:t>0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384454" y="2831414"/>
            <a:ext cx="7493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solidFill>
                  <a:srgbClr val="0D0D0D"/>
                </a:solidFill>
                <a:latin typeface="Arial MT"/>
                <a:cs typeface="Arial MT"/>
              </a:rPr>
              <a:t>5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335076" y="2495803"/>
            <a:ext cx="123189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>
                <a:solidFill>
                  <a:srgbClr val="0D0D0D"/>
                </a:solidFill>
                <a:latin typeface="Arial MT"/>
                <a:cs typeface="Arial MT"/>
              </a:rPr>
              <a:t>10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335076" y="2159888"/>
            <a:ext cx="123189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>
                <a:solidFill>
                  <a:srgbClr val="0D0D0D"/>
                </a:solidFill>
                <a:latin typeface="Arial MT"/>
                <a:cs typeface="Arial MT"/>
              </a:rPr>
              <a:t>15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335076" y="1823973"/>
            <a:ext cx="123189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>
                <a:solidFill>
                  <a:srgbClr val="0D0D0D"/>
                </a:solidFill>
                <a:latin typeface="Arial MT"/>
                <a:cs typeface="Arial MT"/>
              </a:rPr>
              <a:t>20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335076" y="1488186"/>
            <a:ext cx="123189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>
                <a:solidFill>
                  <a:srgbClr val="0D0D0D"/>
                </a:solidFill>
                <a:latin typeface="Arial MT"/>
                <a:cs typeface="Arial MT"/>
              </a:rPr>
              <a:t>25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335076" y="1151890"/>
            <a:ext cx="123189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>
                <a:solidFill>
                  <a:srgbClr val="0D0D0D"/>
                </a:solidFill>
                <a:latin typeface="Arial MT"/>
                <a:cs typeface="Arial MT"/>
              </a:rPr>
              <a:t>30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677672" y="3273678"/>
            <a:ext cx="2228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0">
                <a:solidFill>
                  <a:srgbClr val="0D0D0D"/>
                </a:solidFill>
                <a:latin typeface="Arial MT"/>
                <a:cs typeface="Arial MT"/>
              </a:rPr>
              <a:t>2006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1209852" y="3273678"/>
            <a:ext cx="2228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0">
                <a:solidFill>
                  <a:srgbClr val="0D0D0D"/>
                </a:solidFill>
                <a:latin typeface="Arial MT"/>
                <a:cs typeface="Arial MT"/>
              </a:rPr>
              <a:t>2007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1742058" y="3273678"/>
            <a:ext cx="2228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0">
                <a:solidFill>
                  <a:srgbClr val="0D0D0D"/>
                </a:solidFill>
                <a:latin typeface="Arial MT"/>
                <a:cs typeface="Arial MT"/>
              </a:rPr>
              <a:t>2008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2274189" y="3273678"/>
            <a:ext cx="2228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0">
                <a:solidFill>
                  <a:srgbClr val="0D0D0D"/>
                </a:solidFill>
                <a:latin typeface="Arial MT"/>
                <a:cs typeface="Arial MT"/>
              </a:rPr>
              <a:t>2009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2806445" y="3273678"/>
            <a:ext cx="2228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0">
                <a:solidFill>
                  <a:srgbClr val="0D0D0D"/>
                </a:solidFill>
                <a:latin typeface="Arial MT"/>
                <a:cs typeface="Arial MT"/>
              </a:rPr>
              <a:t>2010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3338576" y="3273678"/>
            <a:ext cx="2228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0">
                <a:solidFill>
                  <a:srgbClr val="0D0D0D"/>
                </a:solidFill>
                <a:latin typeface="Arial MT"/>
                <a:cs typeface="Arial MT"/>
              </a:rPr>
              <a:t>2011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3871086" y="3273678"/>
            <a:ext cx="2228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0">
                <a:solidFill>
                  <a:srgbClr val="0D0D0D"/>
                </a:solidFill>
                <a:latin typeface="Arial MT"/>
                <a:cs typeface="Arial MT"/>
              </a:rPr>
              <a:t>2012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4403216" y="3273678"/>
            <a:ext cx="2228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0">
                <a:solidFill>
                  <a:srgbClr val="0D0D0D"/>
                </a:solidFill>
                <a:latin typeface="Arial MT"/>
                <a:cs typeface="Arial MT"/>
              </a:rPr>
              <a:t>2013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4935473" y="3273678"/>
            <a:ext cx="2228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0">
                <a:solidFill>
                  <a:srgbClr val="0D0D0D"/>
                </a:solidFill>
                <a:latin typeface="Arial MT"/>
                <a:cs typeface="Arial MT"/>
              </a:rPr>
              <a:t>2014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7064120" y="3273678"/>
            <a:ext cx="2228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0">
                <a:solidFill>
                  <a:srgbClr val="0D0D0D"/>
                </a:solidFill>
                <a:latin typeface="Arial MT"/>
                <a:cs typeface="Arial MT"/>
              </a:rPr>
              <a:t>2018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7596631" y="3273678"/>
            <a:ext cx="2228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0">
                <a:solidFill>
                  <a:srgbClr val="0D0D0D"/>
                </a:solidFill>
                <a:latin typeface="Arial MT"/>
                <a:cs typeface="Arial MT"/>
              </a:rPr>
              <a:t>2019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8128761" y="3273678"/>
            <a:ext cx="2228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0">
                <a:solidFill>
                  <a:srgbClr val="0D0D0D"/>
                </a:solidFill>
                <a:latin typeface="Arial MT"/>
                <a:cs typeface="Arial MT"/>
              </a:rPr>
              <a:t>2020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8661018" y="3273678"/>
            <a:ext cx="2228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0">
                <a:solidFill>
                  <a:srgbClr val="0D0D0D"/>
                </a:solidFill>
                <a:latin typeface="Arial MT"/>
                <a:cs typeface="Arial MT"/>
              </a:rPr>
              <a:t>2021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9193148" y="3273678"/>
            <a:ext cx="2228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0">
                <a:solidFill>
                  <a:srgbClr val="0D0D0D"/>
                </a:solidFill>
                <a:latin typeface="Arial MT"/>
                <a:cs typeface="Arial MT"/>
              </a:rPr>
              <a:t>2022</a:t>
            </a:r>
            <a:endParaRPr sz="700">
              <a:latin typeface="Arial MT"/>
              <a:cs typeface="Arial MT"/>
            </a:endParaRPr>
          </a:p>
        </p:txBody>
      </p:sp>
      <p:grpSp>
        <p:nvGrpSpPr>
          <p:cNvPr id="38" name="object 38" descr=""/>
          <p:cNvGrpSpPr/>
          <p:nvPr/>
        </p:nvGrpSpPr>
        <p:grpSpPr>
          <a:xfrm>
            <a:off x="3167252" y="3609213"/>
            <a:ext cx="2360295" cy="19050"/>
            <a:chOff x="3167252" y="3609213"/>
            <a:chExt cx="2360295" cy="19050"/>
          </a:xfrm>
        </p:grpSpPr>
        <p:sp>
          <p:nvSpPr>
            <p:cNvPr id="39" name="object 39" descr=""/>
            <p:cNvSpPr/>
            <p:nvPr/>
          </p:nvSpPr>
          <p:spPr>
            <a:xfrm>
              <a:off x="3176777" y="3618738"/>
              <a:ext cx="243840" cy="0"/>
            </a:xfrm>
            <a:custGeom>
              <a:avLst/>
              <a:gdLst/>
              <a:ahLst/>
              <a:cxnLst/>
              <a:rect l="l" t="t" r="r" b="b"/>
              <a:pathLst>
                <a:path w="243839" h="0">
                  <a:moveTo>
                    <a:pt x="0" y="0"/>
                  </a:moveTo>
                  <a:lnTo>
                    <a:pt x="243839" y="0"/>
                  </a:lnTo>
                </a:path>
              </a:pathLst>
            </a:custGeom>
            <a:ln w="1905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5273801" y="3618738"/>
              <a:ext cx="243840" cy="0"/>
            </a:xfrm>
            <a:custGeom>
              <a:avLst/>
              <a:gdLst/>
              <a:ahLst/>
              <a:cxnLst/>
              <a:rect l="l" t="t" r="r" b="b"/>
              <a:pathLst>
                <a:path w="243839" h="0">
                  <a:moveTo>
                    <a:pt x="0" y="0"/>
                  </a:moveTo>
                  <a:lnTo>
                    <a:pt x="243839" y="0"/>
                  </a:lnTo>
                </a:path>
              </a:pathLst>
            </a:custGeom>
            <a:ln w="190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 descr=""/>
          <p:cNvSpPr txBox="1"/>
          <p:nvPr/>
        </p:nvSpPr>
        <p:spPr>
          <a:xfrm>
            <a:off x="3433953" y="3553714"/>
            <a:ext cx="160782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baseline="3968" sz="1050">
                <a:solidFill>
                  <a:srgbClr val="0D0D0D"/>
                </a:solidFill>
                <a:latin typeface="Arial MT"/>
                <a:cs typeface="Arial MT"/>
              </a:rPr>
              <a:t>Total</a:t>
            </a:r>
            <a:r>
              <a:rPr dirty="0" baseline="3968" sz="1050" spc="-1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baseline="3968" sz="1050">
                <a:solidFill>
                  <a:srgbClr val="0D0D0D"/>
                </a:solidFill>
                <a:latin typeface="Arial MT"/>
                <a:cs typeface="Arial MT"/>
              </a:rPr>
              <a:t>direct</a:t>
            </a:r>
            <a:r>
              <a:rPr dirty="0" baseline="3968" sz="1050" spc="7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baseline="3968" sz="1050" spc="-15">
                <a:solidFill>
                  <a:srgbClr val="0D0D0D"/>
                </a:solidFill>
                <a:latin typeface="Arial MT"/>
                <a:cs typeface="Arial MT"/>
              </a:rPr>
              <a:t>remittances</a:t>
            </a:r>
            <a:r>
              <a:rPr dirty="0" baseline="3968" sz="1050" spc="7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baseline="3968" sz="1050">
                <a:solidFill>
                  <a:srgbClr val="0D0D0D"/>
                </a:solidFill>
                <a:latin typeface="Arial MT"/>
                <a:cs typeface="Arial MT"/>
              </a:rPr>
              <a:t>($'billion)</a:t>
            </a:r>
            <a:r>
              <a:rPr dirty="0" baseline="3968" sz="1050" spc="30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700" spc="-20">
                <a:latin typeface="Arial MT"/>
                <a:cs typeface="Arial MT"/>
              </a:rPr>
              <a:t>(LHA)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5442203" y="3273678"/>
            <a:ext cx="1566545" cy="4057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569595" algn="l"/>
                <a:tab pos="1102360" algn="l"/>
              </a:tabLst>
            </a:pPr>
            <a:r>
              <a:rPr dirty="0" sz="700" spc="-20">
                <a:solidFill>
                  <a:srgbClr val="0D0D0D"/>
                </a:solidFill>
                <a:latin typeface="Arial MT"/>
                <a:cs typeface="Arial MT"/>
              </a:rPr>
              <a:t>2015</a:t>
            </a: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	</a:t>
            </a:r>
            <a:r>
              <a:rPr dirty="0" sz="700" spc="-20">
                <a:solidFill>
                  <a:srgbClr val="0D0D0D"/>
                </a:solidFill>
                <a:latin typeface="Arial MT"/>
                <a:cs typeface="Arial MT"/>
              </a:rPr>
              <a:t>2016</a:t>
            </a: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	</a:t>
            </a:r>
            <a:r>
              <a:rPr dirty="0" sz="700" spc="-20">
                <a:solidFill>
                  <a:srgbClr val="0D0D0D"/>
                </a:solidFill>
                <a:latin typeface="Arial MT"/>
                <a:cs typeface="Arial MT"/>
              </a:rPr>
              <a:t>2017</a:t>
            </a:r>
            <a:endParaRPr sz="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9"/>
              </a:spcBef>
            </a:pPr>
            <a:endParaRPr sz="700">
              <a:latin typeface="Arial MT"/>
              <a:cs typeface="Arial MT"/>
            </a:endParaRPr>
          </a:p>
          <a:p>
            <a:pPr marL="102235">
              <a:lnSpc>
                <a:spcPct val="100000"/>
              </a:lnSpc>
            </a:pP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Global</a:t>
            </a:r>
            <a:r>
              <a:rPr dirty="0" sz="700" spc="-2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GDP</a:t>
            </a:r>
            <a:r>
              <a:rPr dirty="0" sz="700" spc="-1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growth</a:t>
            </a:r>
            <a:r>
              <a:rPr dirty="0" sz="700" spc="-1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rate</a:t>
            </a:r>
            <a:r>
              <a:rPr dirty="0" sz="700" spc="-2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0D0D0D"/>
                </a:solidFill>
                <a:latin typeface="Arial MT"/>
                <a:cs typeface="Arial MT"/>
              </a:rPr>
              <a:t>(%)</a:t>
            </a:r>
            <a:r>
              <a:rPr dirty="0" sz="700" spc="25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baseline="-11904" sz="1050" spc="-30">
                <a:latin typeface="Arial MT"/>
                <a:cs typeface="Arial MT"/>
              </a:rPr>
              <a:t>(RHA)</a:t>
            </a:r>
            <a:endParaRPr baseline="-11904" sz="1050">
              <a:latin typeface="Arial MT"/>
              <a:cs typeface="Arial MT"/>
            </a:endParaRPr>
          </a:p>
        </p:txBody>
      </p:sp>
      <p:sp>
        <p:nvSpPr>
          <p:cNvPr id="43" name="object 43" descr=""/>
          <p:cNvSpPr/>
          <p:nvPr/>
        </p:nvSpPr>
        <p:spPr>
          <a:xfrm>
            <a:off x="2715767" y="754380"/>
            <a:ext cx="4729480" cy="190500"/>
          </a:xfrm>
          <a:custGeom>
            <a:avLst/>
            <a:gdLst/>
            <a:ahLst/>
            <a:cxnLst/>
            <a:rect l="l" t="t" r="r" b="b"/>
            <a:pathLst>
              <a:path w="4729480" h="190500">
                <a:moveTo>
                  <a:pt x="4728972" y="0"/>
                </a:moveTo>
                <a:lnTo>
                  <a:pt x="0" y="0"/>
                </a:lnTo>
                <a:lnTo>
                  <a:pt x="0" y="190500"/>
                </a:lnTo>
                <a:lnTo>
                  <a:pt x="4728972" y="190500"/>
                </a:lnTo>
                <a:lnTo>
                  <a:pt x="472897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 descr=""/>
          <p:cNvSpPr txBox="1"/>
          <p:nvPr/>
        </p:nvSpPr>
        <p:spPr>
          <a:xfrm>
            <a:off x="2867914" y="749300"/>
            <a:ext cx="4435475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b="1">
                <a:latin typeface="Arial"/>
                <a:cs typeface="Arial"/>
              </a:rPr>
              <a:t>Nigeria’s</a:t>
            </a:r>
            <a:r>
              <a:rPr dirty="0" sz="1150" spc="-2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Total</a:t>
            </a:r>
            <a:r>
              <a:rPr dirty="0" sz="1150" spc="4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Direct</a:t>
            </a:r>
            <a:r>
              <a:rPr dirty="0" sz="1150" spc="-2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Remittances</a:t>
            </a:r>
            <a:r>
              <a:rPr dirty="0" sz="1150" spc="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vs</a:t>
            </a:r>
            <a:r>
              <a:rPr dirty="0" sz="1150" spc="37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Global</a:t>
            </a:r>
            <a:r>
              <a:rPr dirty="0" sz="1150" spc="1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GDP</a:t>
            </a:r>
            <a:r>
              <a:rPr dirty="0" sz="1150" spc="10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Growth</a:t>
            </a:r>
            <a:r>
              <a:rPr dirty="0" sz="1150" spc="-65" b="1">
                <a:latin typeface="Arial"/>
                <a:cs typeface="Arial"/>
              </a:rPr>
              <a:t> </a:t>
            </a:r>
            <a:r>
              <a:rPr dirty="0" sz="1150" spc="-20" b="1">
                <a:latin typeface="Arial"/>
                <a:cs typeface="Arial"/>
              </a:rPr>
              <a:t>Rate</a:t>
            </a:r>
            <a:endParaRPr sz="1150">
              <a:latin typeface="Arial"/>
              <a:cs typeface="Arial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3926204" y="3757929"/>
            <a:ext cx="1569720" cy="1282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50" i="1">
                <a:latin typeface="Arial"/>
                <a:cs typeface="Arial"/>
              </a:rPr>
              <a:t>Source:</a:t>
            </a:r>
            <a:r>
              <a:rPr dirty="0" sz="650" spc="20" i="1">
                <a:latin typeface="Arial"/>
                <a:cs typeface="Arial"/>
              </a:rPr>
              <a:t> </a:t>
            </a:r>
            <a:r>
              <a:rPr dirty="0" sz="650" i="1">
                <a:latin typeface="Arial"/>
                <a:cs typeface="Arial"/>
              </a:rPr>
              <a:t>CBN,</a:t>
            </a:r>
            <a:r>
              <a:rPr dirty="0" sz="650" spc="50" i="1">
                <a:latin typeface="Arial"/>
                <a:cs typeface="Arial"/>
              </a:rPr>
              <a:t> </a:t>
            </a:r>
            <a:r>
              <a:rPr dirty="0" sz="650" i="1">
                <a:latin typeface="Arial"/>
                <a:cs typeface="Arial"/>
              </a:rPr>
              <a:t>World</a:t>
            </a:r>
            <a:r>
              <a:rPr dirty="0" sz="650" spc="25" i="1">
                <a:latin typeface="Arial"/>
                <a:cs typeface="Arial"/>
              </a:rPr>
              <a:t> </a:t>
            </a:r>
            <a:r>
              <a:rPr dirty="0" sz="650" i="1">
                <a:latin typeface="Arial"/>
                <a:cs typeface="Arial"/>
              </a:rPr>
              <a:t>Bank,</a:t>
            </a:r>
            <a:r>
              <a:rPr dirty="0" sz="650" spc="65" i="1">
                <a:latin typeface="Arial"/>
                <a:cs typeface="Arial"/>
              </a:rPr>
              <a:t> </a:t>
            </a:r>
            <a:r>
              <a:rPr dirty="0" sz="650" i="1">
                <a:latin typeface="Arial"/>
                <a:cs typeface="Arial"/>
              </a:rPr>
              <a:t>PwC </a:t>
            </a:r>
            <a:r>
              <a:rPr dirty="0" sz="650" spc="-10" i="1">
                <a:latin typeface="Arial"/>
                <a:cs typeface="Arial"/>
              </a:rPr>
              <a:t>Analysis</a:t>
            </a:r>
            <a:endParaRPr sz="650">
              <a:latin typeface="Arial"/>
              <a:cs typeface="Arial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7811516" y="995248"/>
            <a:ext cx="815340" cy="12846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750">
                <a:latin typeface="Arial MT"/>
                <a:cs typeface="Arial MT"/>
              </a:rPr>
              <a:t>The</a:t>
            </a:r>
            <a:r>
              <a:rPr dirty="0" sz="750" spc="20">
                <a:latin typeface="Arial MT"/>
                <a:cs typeface="Arial MT"/>
              </a:rPr>
              <a:t> </a:t>
            </a:r>
            <a:r>
              <a:rPr dirty="0" sz="750" spc="-10">
                <a:latin typeface="Arial MT"/>
                <a:cs typeface="Arial MT"/>
              </a:rPr>
              <a:t>COVID-</a:t>
            </a:r>
            <a:r>
              <a:rPr dirty="0" sz="750" spc="-25">
                <a:latin typeface="Arial MT"/>
                <a:cs typeface="Arial MT"/>
              </a:rPr>
              <a:t>19</a:t>
            </a:r>
            <a:endParaRPr sz="750">
              <a:latin typeface="Arial MT"/>
              <a:cs typeface="Arial MT"/>
            </a:endParaRPr>
          </a:p>
          <a:p>
            <a:pPr algn="ctr" marL="38100" marR="29209">
              <a:lnSpc>
                <a:spcPct val="100000"/>
              </a:lnSpc>
              <a:spcBef>
                <a:spcPts val="5"/>
              </a:spcBef>
            </a:pPr>
            <a:r>
              <a:rPr dirty="0" sz="750" spc="-10">
                <a:latin typeface="Arial MT"/>
                <a:cs typeface="Arial MT"/>
              </a:rPr>
              <a:t>pandemic</a:t>
            </a:r>
            <a:r>
              <a:rPr dirty="0" sz="750">
                <a:latin typeface="Arial MT"/>
                <a:cs typeface="Arial MT"/>
              </a:rPr>
              <a:t> </a:t>
            </a:r>
            <a:r>
              <a:rPr dirty="0" sz="750" spc="-10">
                <a:latin typeface="Arial MT"/>
                <a:cs typeface="Arial MT"/>
              </a:rPr>
              <a:t>caused </a:t>
            </a:r>
            <a:r>
              <a:rPr dirty="0" sz="750">
                <a:latin typeface="Arial MT"/>
                <a:cs typeface="Arial MT"/>
              </a:rPr>
              <a:t>a</a:t>
            </a:r>
            <a:r>
              <a:rPr dirty="0" sz="750" spc="20">
                <a:latin typeface="Arial MT"/>
                <a:cs typeface="Arial MT"/>
              </a:rPr>
              <a:t> </a:t>
            </a:r>
            <a:r>
              <a:rPr dirty="0" sz="750" spc="-10">
                <a:latin typeface="Arial MT"/>
                <a:cs typeface="Arial MT"/>
              </a:rPr>
              <a:t>contraction</a:t>
            </a:r>
            <a:r>
              <a:rPr dirty="0" sz="750" spc="-20">
                <a:latin typeface="Arial MT"/>
                <a:cs typeface="Arial MT"/>
              </a:rPr>
              <a:t> </a:t>
            </a:r>
            <a:r>
              <a:rPr dirty="0" sz="750" spc="-25">
                <a:latin typeface="Arial MT"/>
                <a:cs typeface="Arial MT"/>
              </a:rPr>
              <a:t>in</a:t>
            </a:r>
            <a:r>
              <a:rPr dirty="0" sz="750">
                <a:latin typeface="Arial MT"/>
                <a:cs typeface="Arial MT"/>
              </a:rPr>
              <a:t> GDP</a:t>
            </a:r>
            <a:r>
              <a:rPr dirty="0" sz="750" spc="-35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growth</a:t>
            </a:r>
            <a:r>
              <a:rPr dirty="0" sz="750" spc="-40">
                <a:latin typeface="Arial MT"/>
                <a:cs typeface="Arial MT"/>
              </a:rPr>
              <a:t> </a:t>
            </a:r>
            <a:r>
              <a:rPr dirty="0" sz="750" spc="-20">
                <a:latin typeface="Arial MT"/>
                <a:cs typeface="Arial MT"/>
              </a:rPr>
              <a:t>rate</a:t>
            </a:r>
            <a:r>
              <a:rPr dirty="0" sz="750" spc="500">
                <a:latin typeface="Arial MT"/>
                <a:cs typeface="Arial MT"/>
              </a:rPr>
              <a:t> </a:t>
            </a:r>
            <a:r>
              <a:rPr dirty="0" sz="750" spc="-25">
                <a:latin typeface="Arial MT"/>
                <a:cs typeface="Arial MT"/>
              </a:rPr>
              <a:t>by</a:t>
            </a:r>
            <a:endParaRPr sz="75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dirty="0" sz="750" b="1">
                <a:latin typeface="Arial"/>
                <a:cs typeface="Arial"/>
              </a:rPr>
              <a:t>-3.1%.</a:t>
            </a:r>
            <a:r>
              <a:rPr dirty="0" sz="750" spc="-40" b="1">
                <a:latin typeface="Arial"/>
                <a:cs typeface="Arial"/>
              </a:rPr>
              <a:t> </a:t>
            </a:r>
            <a:r>
              <a:rPr dirty="0" sz="750" spc="-25">
                <a:latin typeface="Arial MT"/>
                <a:cs typeface="Arial MT"/>
              </a:rPr>
              <a:t>The</a:t>
            </a:r>
            <a:endParaRPr sz="750">
              <a:latin typeface="Arial MT"/>
              <a:cs typeface="Arial MT"/>
            </a:endParaRPr>
          </a:p>
          <a:p>
            <a:pPr algn="ctr" marL="12700" marR="5080">
              <a:lnSpc>
                <a:spcPct val="100000"/>
              </a:lnSpc>
            </a:pPr>
            <a:r>
              <a:rPr dirty="0" sz="750" spc="-10">
                <a:latin typeface="Arial MT"/>
                <a:cs typeface="Arial MT"/>
              </a:rPr>
              <a:t>slowdown</a:t>
            </a:r>
            <a:r>
              <a:rPr dirty="0" sz="750" spc="-5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in </a:t>
            </a:r>
            <a:r>
              <a:rPr dirty="0" sz="750" spc="-10">
                <a:latin typeface="Arial MT"/>
                <a:cs typeface="Arial MT"/>
              </a:rPr>
              <a:t>global activities </a:t>
            </a:r>
            <a:r>
              <a:rPr dirty="0" sz="750">
                <a:latin typeface="Arial MT"/>
                <a:cs typeface="Arial MT"/>
              </a:rPr>
              <a:t>led</a:t>
            </a:r>
            <a:r>
              <a:rPr dirty="0" sz="750" spc="-20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to</a:t>
            </a:r>
            <a:r>
              <a:rPr dirty="0" sz="750" spc="10">
                <a:latin typeface="Arial MT"/>
                <a:cs typeface="Arial MT"/>
              </a:rPr>
              <a:t> </a:t>
            </a:r>
            <a:r>
              <a:rPr dirty="0" sz="750" spc="-25">
                <a:latin typeface="Arial MT"/>
                <a:cs typeface="Arial MT"/>
              </a:rPr>
              <a:t>the</a:t>
            </a:r>
            <a:r>
              <a:rPr dirty="0" sz="750" spc="-10">
                <a:latin typeface="Arial MT"/>
                <a:cs typeface="Arial MT"/>
              </a:rPr>
              <a:t> decline</a:t>
            </a:r>
            <a:r>
              <a:rPr dirty="0" sz="750" spc="10">
                <a:latin typeface="Arial MT"/>
                <a:cs typeface="Arial MT"/>
              </a:rPr>
              <a:t> </a:t>
            </a:r>
            <a:r>
              <a:rPr dirty="0" sz="750" spc="-25">
                <a:latin typeface="Arial MT"/>
                <a:cs typeface="Arial MT"/>
              </a:rPr>
              <a:t>in</a:t>
            </a:r>
            <a:r>
              <a:rPr dirty="0" sz="750" spc="-10">
                <a:latin typeface="Arial MT"/>
                <a:cs typeface="Arial MT"/>
              </a:rPr>
              <a:t> remittance </a:t>
            </a:r>
            <a:r>
              <a:rPr dirty="0" sz="750">
                <a:latin typeface="Arial MT"/>
                <a:cs typeface="Arial MT"/>
              </a:rPr>
              <a:t>flow</a:t>
            </a:r>
            <a:r>
              <a:rPr dirty="0" sz="750" spc="-10">
                <a:latin typeface="Arial MT"/>
                <a:cs typeface="Arial MT"/>
              </a:rPr>
              <a:t> </a:t>
            </a:r>
            <a:r>
              <a:rPr dirty="0" sz="750" spc="-25">
                <a:latin typeface="Arial MT"/>
                <a:cs typeface="Arial MT"/>
              </a:rPr>
              <a:t>to</a:t>
            </a:r>
            <a:r>
              <a:rPr dirty="0" sz="750">
                <a:latin typeface="Arial MT"/>
                <a:cs typeface="Arial MT"/>
              </a:rPr>
              <a:t> Nigeria</a:t>
            </a:r>
            <a:r>
              <a:rPr dirty="0" sz="750" spc="-45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by</a:t>
            </a:r>
            <a:r>
              <a:rPr dirty="0" sz="750" spc="-25">
                <a:latin typeface="Arial MT"/>
                <a:cs typeface="Arial MT"/>
              </a:rPr>
              <a:t> </a:t>
            </a:r>
            <a:r>
              <a:rPr dirty="0" sz="750" spc="-25" b="1">
                <a:latin typeface="Arial"/>
                <a:cs typeface="Arial"/>
              </a:rPr>
              <a:t>28%</a:t>
            </a:r>
            <a:endParaRPr sz="750">
              <a:latin typeface="Arial"/>
              <a:cs typeface="Arial"/>
            </a:endParaRPr>
          </a:p>
        </p:txBody>
      </p:sp>
      <p:sp>
        <p:nvSpPr>
          <p:cNvPr id="47" name="object 47" descr=""/>
          <p:cNvSpPr/>
          <p:nvPr/>
        </p:nvSpPr>
        <p:spPr>
          <a:xfrm>
            <a:off x="275843" y="3912108"/>
            <a:ext cx="9500870" cy="1362710"/>
          </a:xfrm>
          <a:custGeom>
            <a:avLst/>
            <a:gdLst/>
            <a:ahLst/>
            <a:cxnLst/>
            <a:rect l="l" t="t" r="r" b="b"/>
            <a:pathLst>
              <a:path w="9500870" h="1362710">
                <a:moveTo>
                  <a:pt x="0" y="1362456"/>
                </a:moveTo>
                <a:lnTo>
                  <a:pt x="9500489" y="1362456"/>
                </a:lnTo>
                <a:lnTo>
                  <a:pt x="9500489" y="0"/>
                </a:lnTo>
                <a:lnTo>
                  <a:pt x="0" y="0"/>
                </a:lnTo>
                <a:lnTo>
                  <a:pt x="0" y="1362456"/>
                </a:lnTo>
                <a:close/>
              </a:path>
            </a:pathLst>
          </a:custGeom>
          <a:ln w="9524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 descr=""/>
          <p:cNvSpPr txBox="1"/>
          <p:nvPr/>
        </p:nvSpPr>
        <p:spPr>
          <a:xfrm>
            <a:off x="286511" y="3907561"/>
            <a:ext cx="9500870" cy="175260"/>
          </a:xfrm>
          <a:prstGeom prst="rect">
            <a:avLst/>
          </a:prstGeom>
          <a:solidFill>
            <a:srgbClr val="5F5F5F"/>
          </a:solidFill>
        </p:spPr>
        <p:txBody>
          <a:bodyPr wrap="square" lIns="0" tIns="10795" rIns="0" bIns="0" rtlCol="0" vert="horz">
            <a:spAutoFit/>
          </a:bodyPr>
          <a:lstStyle/>
          <a:p>
            <a:pPr marL="83820">
              <a:lnSpc>
                <a:spcPct val="100000"/>
              </a:lnSpc>
              <a:spcBef>
                <a:spcPts val="85"/>
              </a:spcBef>
            </a:pP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Insights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52" name="object 5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Impact</a:t>
            </a:r>
            <a:r>
              <a:rPr dirty="0" spc="35"/>
              <a:t> </a:t>
            </a:r>
            <a:r>
              <a:rPr dirty="0"/>
              <a:t>of</a:t>
            </a:r>
            <a:r>
              <a:rPr dirty="0" spc="50"/>
              <a:t> </a:t>
            </a:r>
            <a:r>
              <a:rPr dirty="0"/>
              <a:t>Global</a:t>
            </a:r>
            <a:r>
              <a:rPr dirty="0" spc="65"/>
              <a:t> </a:t>
            </a:r>
            <a:r>
              <a:rPr dirty="0"/>
              <a:t>Economic</a:t>
            </a:r>
            <a:r>
              <a:rPr dirty="0" spc="30"/>
              <a:t> </a:t>
            </a:r>
            <a:r>
              <a:rPr dirty="0"/>
              <a:t>Trends</a:t>
            </a:r>
            <a:r>
              <a:rPr dirty="0" spc="45"/>
              <a:t> </a:t>
            </a:r>
            <a:r>
              <a:rPr dirty="0"/>
              <a:t>on</a:t>
            </a:r>
            <a:r>
              <a:rPr dirty="0" spc="40"/>
              <a:t> </a:t>
            </a:r>
            <a:r>
              <a:rPr dirty="0"/>
              <a:t>Nigeria’s</a:t>
            </a:r>
            <a:r>
              <a:rPr dirty="0" spc="60"/>
              <a:t> </a:t>
            </a:r>
            <a:r>
              <a:rPr dirty="0"/>
              <a:t>Foreign</a:t>
            </a:r>
            <a:r>
              <a:rPr dirty="0" spc="45"/>
              <a:t> </a:t>
            </a:r>
            <a:r>
              <a:rPr dirty="0"/>
              <a:t>Exchange</a:t>
            </a:r>
            <a:r>
              <a:rPr dirty="0" spc="60"/>
              <a:t> </a:t>
            </a:r>
            <a:r>
              <a:rPr dirty="0" spc="-10"/>
              <a:t>Market</a:t>
            </a:r>
          </a:p>
        </p:txBody>
      </p:sp>
      <p:sp>
        <p:nvSpPr>
          <p:cNvPr id="53" name="object 53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October</a:t>
            </a:r>
            <a:r>
              <a:rPr dirty="0" spc="80"/>
              <a:t> </a:t>
            </a:r>
            <a:r>
              <a:rPr dirty="0" spc="-20"/>
              <a:t>2023</a:t>
            </a:r>
          </a:p>
        </p:txBody>
      </p:sp>
      <p:sp>
        <p:nvSpPr>
          <p:cNvPr id="54" name="object 5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815"/>
              </a:lnSpc>
            </a:pPr>
            <a:fld id="{81D60167-4931-47E6-BA6A-407CBD079E47}" type="slidenum">
              <a:rPr dirty="0" spc="-25"/>
              <a:t>26</a:t>
            </a:fld>
          </a:p>
        </p:txBody>
      </p:sp>
      <p:sp>
        <p:nvSpPr>
          <p:cNvPr id="49" name="object 49" descr=""/>
          <p:cNvSpPr txBox="1"/>
          <p:nvPr/>
        </p:nvSpPr>
        <p:spPr>
          <a:xfrm>
            <a:off x="280606" y="4114038"/>
            <a:ext cx="9491345" cy="1092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7650" indent="-172085">
              <a:lnSpc>
                <a:spcPct val="100000"/>
              </a:lnSpc>
              <a:spcBef>
                <a:spcPts val="95"/>
              </a:spcBef>
              <a:buChar char="•"/>
              <a:tabLst>
                <a:tab pos="247650" algn="l"/>
              </a:tabLst>
            </a:pPr>
            <a:r>
              <a:rPr dirty="0" sz="1000">
                <a:latin typeface="Arial MT"/>
                <a:cs typeface="Arial MT"/>
              </a:rPr>
              <a:t>Remittance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flows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to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low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and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middle-</a:t>
            </a:r>
            <a:r>
              <a:rPr dirty="0" sz="1000">
                <a:latin typeface="Arial MT"/>
                <a:cs typeface="Arial MT"/>
              </a:rPr>
              <a:t>income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countries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is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expected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to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remain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resilient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but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slow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to </a:t>
            </a:r>
            <a:r>
              <a:rPr dirty="0" sz="1000" b="1">
                <a:latin typeface="Arial"/>
                <a:cs typeface="Arial"/>
              </a:rPr>
              <a:t>$656</a:t>
            </a:r>
            <a:r>
              <a:rPr dirty="0" sz="1000" spc="-3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billion</a:t>
            </a:r>
            <a:r>
              <a:rPr dirty="0" sz="1000" spc="-1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(2022:</a:t>
            </a:r>
            <a:r>
              <a:rPr dirty="0" sz="1000" spc="-3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$647</a:t>
            </a:r>
            <a:r>
              <a:rPr dirty="0" sz="1000" spc="-3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billion)</a:t>
            </a:r>
            <a:r>
              <a:rPr dirty="0" sz="1000">
                <a:latin typeface="Arial MT"/>
                <a:cs typeface="Arial MT"/>
              </a:rPr>
              <a:t>,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which represents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growth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of</a:t>
            </a:r>
            <a:endParaRPr sz="1000">
              <a:latin typeface="Arial MT"/>
              <a:cs typeface="Arial MT"/>
            </a:endParaRPr>
          </a:p>
          <a:p>
            <a:pPr marL="247650">
              <a:lnSpc>
                <a:spcPct val="100000"/>
              </a:lnSpc>
            </a:pPr>
            <a:r>
              <a:rPr dirty="0" sz="1000" b="1">
                <a:latin typeface="Arial"/>
                <a:cs typeface="Arial"/>
              </a:rPr>
              <a:t>1.4%</a:t>
            </a:r>
            <a:r>
              <a:rPr dirty="0" sz="1000" spc="-2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by</a:t>
            </a:r>
            <a:r>
              <a:rPr dirty="0" sz="1000" spc="-1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2023</a:t>
            </a:r>
            <a:r>
              <a:rPr dirty="0" sz="1000" spc="-30" b="1">
                <a:latin typeface="Arial"/>
                <a:cs typeface="Arial"/>
              </a:rPr>
              <a:t> </a:t>
            </a:r>
            <a:r>
              <a:rPr dirty="0" sz="1000">
                <a:latin typeface="Arial MT"/>
                <a:cs typeface="Arial MT"/>
              </a:rPr>
              <a:t>compared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to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b="1">
                <a:latin typeface="Arial"/>
                <a:cs typeface="Arial"/>
              </a:rPr>
              <a:t>8%</a:t>
            </a:r>
            <a:r>
              <a:rPr dirty="0" sz="1000" spc="-1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growth</a:t>
            </a:r>
            <a:r>
              <a:rPr dirty="0" sz="1000" spc="-2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in</a:t>
            </a:r>
            <a:r>
              <a:rPr dirty="0" sz="1000" spc="-25" b="1">
                <a:latin typeface="Arial"/>
                <a:cs typeface="Arial"/>
              </a:rPr>
              <a:t> </a:t>
            </a:r>
            <a:r>
              <a:rPr dirty="0" sz="1000" spc="-20" b="1">
                <a:latin typeface="Arial"/>
                <a:cs typeface="Arial"/>
              </a:rPr>
              <a:t>2022</a:t>
            </a:r>
            <a:endParaRPr sz="1000">
              <a:latin typeface="Arial"/>
              <a:cs typeface="Arial"/>
            </a:endParaRPr>
          </a:p>
          <a:p>
            <a:pPr marL="247650" marR="139065" indent="-172720">
              <a:lnSpc>
                <a:spcPct val="100000"/>
              </a:lnSpc>
              <a:buChar char="•"/>
              <a:tabLst>
                <a:tab pos="247650" algn="l"/>
              </a:tabLst>
            </a:pP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The</a:t>
            </a:r>
            <a:r>
              <a:rPr dirty="0" sz="1000" spc="-3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slow</a:t>
            </a:r>
            <a:r>
              <a:rPr dirty="0" sz="1000" spc="-2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growth</a:t>
            </a:r>
            <a:r>
              <a:rPr dirty="0" sz="1000" spc="-1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is</a:t>
            </a:r>
            <a:r>
              <a:rPr dirty="0" sz="1000" spc="-1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due</a:t>
            </a:r>
            <a:r>
              <a:rPr dirty="0" sz="1000" spc="-2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to</a:t>
            </a:r>
            <a:r>
              <a:rPr dirty="0" sz="1000" spc="-3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the</a:t>
            </a:r>
            <a:r>
              <a:rPr dirty="0" sz="1000" spc="-2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softening</a:t>
            </a:r>
            <a:r>
              <a:rPr dirty="0" sz="1000" spc="-4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of</a:t>
            </a:r>
            <a:r>
              <a:rPr dirty="0" sz="1000" spc="-2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economic</a:t>
            </a:r>
            <a:r>
              <a:rPr dirty="0" sz="1000" spc="-3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activity</a:t>
            </a:r>
            <a:r>
              <a:rPr dirty="0" sz="1000" spc="-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in</a:t>
            </a:r>
            <a:r>
              <a:rPr dirty="0" sz="1000" spc="-1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remittance</a:t>
            </a:r>
            <a:r>
              <a:rPr dirty="0" sz="1000" spc="-4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source</a:t>
            </a:r>
            <a:r>
              <a:rPr dirty="0" sz="1000" spc="-3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countries,</a:t>
            </a:r>
            <a:r>
              <a:rPr dirty="0" sz="1000" spc="-3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limiting employment</a:t>
            </a:r>
            <a:r>
              <a:rPr dirty="0" sz="1000" spc="-2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and</a:t>
            </a:r>
            <a:r>
              <a:rPr dirty="0" sz="1000" spc="-3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wage</a:t>
            </a:r>
            <a:r>
              <a:rPr dirty="0" sz="1000" spc="-1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gains</a:t>
            </a:r>
            <a:r>
              <a:rPr dirty="0" sz="1000" spc="-1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for</a:t>
            </a:r>
            <a:r>
              <a:rPr dirty="0" sz="1000" spc="-3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migrants.</a:t>
            </a:r>
            <a:r>
              <a:rPr dirty="0" sz="1000" spc="-3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Remittance</a:t>
            </a:r>
            <a:r>
              <a:rPr dirty="0" sz="1000" spc="-3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flows</a:t>
            </a:r>
            <a:r>
              <a:rPr dirty="0" sz="1000" spc="-1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 spc="-25">
                <a:solidFill>
                  <a:srgbClr val="1F2023"/>
                </a:solidFill>
                <a:latin typeface="Arial MT"/>
                <a:cs typeface="Arial MT"/>
              </a:rPr>
              <a:t>to </a:t>
            </a:r>
            <a:r>
              <a:rPr dirty="0" sz="1000" spc="-10">
                <a:solidFill>
                  <a:srgbClr val="1F2023"/>
                </a:solidFill>
                <a:latin typeface="Arial MT"/>
                <a:cs typeface="Arial MT"/>
              </a:rPr>
              <a:t>Sub-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Saharan</a:t>
            </a:r>
            <a:r>
              <a:rPr dirty="0" sz="1000" spc="-4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Africa</a:t>
            </a:r>
            <a:r>
              <a:rPr dirty="0" sz="1000" spc="-2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in</a:t>
            </a:r>
            <a:r>
              <a:rPr dirty="0" sz="1000" spc="-2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2022</a:t>
            </a:r>
            <a:r>
              <a:rPr dirty="0" sz="1000" spc="-2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was</a:t>
            </a:r>
            <a:r>
              <a:rPr dirty="0" sz="1000" spc="-2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largely</a:t>
            </a:r>
            <a:r>
              <a:rPr dirty="0" sz="1000" spc="-1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driven</a:t>
            </a:r>
            <a:r>
              <a:rPr dirty="0" sz="1000" spc="-1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by</a:t>
            </a:r>
            <a:r>
              <a:rPr dirty="0" sz="1000" spc="-2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strong</a:t>
            </a:r>
            <a:r>
              <a:rPr dirty="0" sz="1000" spc="-4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remittance</a:t>
            </a:r>
            <a:r>
              <a:rPr dirty="0" sz="1000" spc="-5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growth</a:t>
            </a:r>
            <a:r>
              <a:rPr dirty="0" sz="1000" spc="-2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in</a:t>
            </a:r>
            <a:r>
              <a:rPr dirty="0" sz="1000" spc="-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 b="1">
                <a:solidFill>
                  <a:srgbClr val="1F2023"/>
                </a:solidFill>
                <a:latin typeface="Arial"/>
                <a:cs typeface="Arial"/>
              </a:rPr>
              <a:t>Tanzania</a:t>
            </a:r>
            <a:r>
              <a:rPr dirty="0" sz="1000" spc="-35" b="1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F2023"/>
                </a:solidFill>
                <a:latin typeface="Arial"/>
                <a:cs typeface="Arial"/>
              </a:rPr>
              <a:t>(25%),</a:t>
            </a:r>
            <a:r>
              <a:rPr dirty="0" sz="1000" spc="-25" b="1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F2023"/>
                </a:solidFill>
                <a:latin typeface="Arial"/>
                <a:cs typeface="Arial"/>
              </a:rPr>
              <a:t>Rwanda</a:t>
            </a:r>
            <a:r>
              <a:rPr dirty="0" sz="1000" spc="-40" b="1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F2023"/>
                </a:solidFill>
                <a:latin typeface="Arial"/>
                <a:cs typeface="Arial"/>
              </a:rPr>
              <a:t>(21%),</a:t>
            </a:r>
            <a:r>
              <a:rPr dirty="0" sz="1000" spc="-20" b="1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F2023"/>
                </a:solidFill>
                <a:latin typeface="Arial"/>
                <a:cs typeface="Arial"/>
              </a:rPr>
              <a:t>Uganda</a:t>
            </a:r>
            <a:r>
              <a:rPr dirty="0" sz="1000" spc="-25" b="1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F2023"/>
                </a:solidFill>
                <a:latin typeface="Arial"/>
                <a:cs typeface="Arial"/>
              </a:rPr>
              <a:t>(17%),</a:t>
            </a:r>
            <a:r>
              <a:rPr dirty="0" sz="1000" spc="-25" b="1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F2023"/>
                </a:solidFill>
                <a:latin typeface="Arial"/>
                <a:cs typeface="Arial"/>
              </a:rPr>
              <a:t>Ghana</a:t>
            </a:r>
            <a:r>
              <a:rPr dirty="0" sz="1000" spc="-25" b="1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F2023"/>
                </a:solidFill>
                <a:latin typeface="Arial"/>
                <a:cs typeface="Arial"/>
              </a:rPr>
              <a:t>(12%),</a:t>
            </a:r>
            <a:r>
              <a:rPr dirty="0" sz="1000" spc="-25" b="1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F2023"/>
                </a:solidFill>
                <a:latin typeface="Arial"/>
                <a:cs typeface="Arial"/>
              </a:rPr>
              <a:t>and</a:t>
            </a:r>
            <a:r>
              <a:rPr dirty="0" sz="1000" spc="-25" b="1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F2023"/>
                </a:solidFill>
                <a:latin typeface="Arial"/>
                <a:cs typeface="Arial"/>
              </a:rPr>
              <a:t>Kenya</a:t>
            </a:r>
            <a:r>
              <a:rPr dirty="0" sz="1000" spc="-15" b="1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1F2023"/>
                </a:solidFill>
                <a:latin typeface="Arial"/>
                <a:cs typeface="Arial"/>
              </a:rPr>
              <a:t>(8.5%).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Though</a:t>
            </a:r>
            <a:r>
              <a:rPr dirty="0" sz="1000" spc="-4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remittances</a:t>
            </a:r>
            <a:r>
              <a:rPr dirty="0" sz="1000" spc="-3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to</a:t>
            </a:r>
            <a:r>
              <a:rPr dirty="0" sz="1000" spc="-1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Nigeria</a:t>
            </a:r>
            <a:r>
              <a:rPr dirty="0" sz="1000" spc="-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accounted</a:t>
            </a:r>
            <a:r>
              <a:rPr dirty="0" sz="1000" spc="-3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for</a:t>
            </a:r>
            <a:r>
              <a:rPr dirty="0" sz="1000" spc="-1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 b="1">
                <a:solidFill>
                  <a:srgbClr val="1F2023"/>
                </a:solidFill>
                <a:latin typeface="Arial"/>
                <a:cs typeface="Arial"/>
              </a:rPr>
              <a:t>38%</a:t>
            </a:r>
            <a:r>
              <a:rPr dirty="0" sz="1000" spc="-10" b="1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of</a:t>
            </a:r>
            <a:r>
              <a:rPr dirty="0" sz="1000" spc="-1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the</a:t>
            </a:r>
            <a:r>
              <a:rPr dirty="0" sz="1000" spc="-2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total</a:t>
            </a:r>
            <a:r>
              <a:rPr dirty="0" sz="1000" spc="-1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flows</a:t>
            </a:r>
            <a:r>
              <a:rPr dirty="0" sz="1000" spc="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to</a:t>
            </a:r>
            <a:r>
              <a:rPr dirty="0" sz="1000" spc="-2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the</a:t>
            </a:r>
            <a:r>
              <a:rPr dirty="0" sz="1000" spc="-1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region,</a:t>
            </a:r>
            <a:r>
              <a:rPr dirty="0" sz="1000" spc="-1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it</a:t>
            </a:r>
            <a:r>
              <a:rPr dirty="0" sz="1000" spc="-1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increased</a:t>
            </a:r>
            <a:r>
              <a:rPr dirty="0" sz="1000" spc="-1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by</a:t>
            </a:r>
            <a:r>
              <a:rPr dirty="0" sz="1000" spc="-1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only</a:t>
            </a:r>
            <a:r>
              <a:rPr dirty="0" sz="1000" spc="-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3.3%</a:t>
            </a:r>
            <a:r>
              <a:rPr dirty="0" sz="1000" spc="-1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to</a:t>
            </a:r>
            <a:r>
              <a:rPr dirty="0" sz="1000" spc="-2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1F2023"/>
                </a:solidFill>
                <a:latin typeface="Arial MT"/>
                <a:cs typeface="Arial MT"/>
              </a:rPr>
              <a:t>$20.1billion</a:t>
            </a:r>
            <a:endParaRPr sz="1000">
              <a:latin typeface="Arial MT"/>
              <a:cs typeface="Arial MT"/>
            </a:endParaRPr>
          </a:p>
          <a:p>
            <a:pPr marL="247650" marR="421640" indent="-172720">
              <a:lnSpc>
                <a:spcPct val="100000"/>
              </a:lnSpc>
              <a:buFont typeface="Arial MT"/>
              <a:buChar char="•"/>
              <a:tabLst>
                <a:tab pos="247650" algn="l"/>
              </a:tabLst>
            </a:pPr>
            <a:r>
              <a:rPr dirty="0" sz="1000" b="1">
                <a:solidFill>
                  <a:srgbClr val="1F2023"/>
                </a:solidFill>
                <a:latin typeface="Arial"/>
                <a:cs typeface="Arial"/>
              </a:rPr>
              <a:t>In</a:t>
            </a:r>
            <a:r>
              <a:rPr dirty="0" sz="1000" spc="-20" b="1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F2023"/>
                </a:solidFill>
                <a:latin typeface="Arial"/>
                <a:cs typeface="Arial"/>
              </a:rPr>
              <a:t>2023,</a:t>
            </a:r>
            <a:r>
              <a:rPr dirty="0" sz="1000" spc="-35" b="1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F2023"/>
                </a:solidFill>
                <a:latin typeface="Arial"/>
                <a:cs typeface="Arial"/>
              </a:rPr>
              <a:t>growth</a:t>
            </a:r>
            <a:r>
              <a:rPr dirty="0" sz="1000" spc="-30" b="1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F2023"/>
                </a:solidFill>
                <a:latin typeface="Arial"/>
                <a:cs typeface="Arial"/>
              </a:rPr>
              <a:t>in</a:t>
            </a:r>
            <a:r>
              <a:rPr dirty="0" sz="1000" spc="-20" b="1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F2023"/>
                </a:solidFill>
                <a:latin typeface="Arial"/>
                <a:cs typeface="Arial"/>
              </a:rPr>
              <a:t>remittances</a:t>
            </a:r>
            <a:r>
              <a:rPr dirty="0" sz="1000" spc="229" b="1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F2023"/>
                </a:solidFill>
                <a:latin typeface="Arial"/>
                <a:cs typeface="Arial"/>
              </a:rPr>
              <a:t>to</a:t>
            </a:r>
            <a:r>
              <a:rPr dirty="0" sz="1000" spc="-5" b="1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F2023"/>
                </a:solidFill>
                <a:latin typeface="Arial"/>
                <a:cs typeface="Arial"/>
              </a:rPr>
              <a:t>SSA</a:t>
            </a:r>
            <a:r>
              <a:rPr dirty="0" sz="1000" spc="-20" b="1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F2023"/>
                </a:solidFill>
                <a:latin typeface="Arial"/>
                <a:cs typeface="Arial"/>
              </a:rPr>
              <a:t>is</a:t>
            </a:r>
            <a:r>
              <a:rPr dirty="0" sz="1000" spc="-20" b="1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F2023"/>
                </a:solidFill>
                <a:latin typeface="Arial"/>
                <a:cs typeface="Arial"/>
              </a:rPr>
              <a:t>expected</a:t>
            </a:r>
            <a:r>
              <a:rPr dirty="0" sz="1000" spc="-30" b="1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F2023"/>
                </a:solidFill>
                <a:latin typeface="Arial"/>
                <a:cs typeface="Arial"/>
              </a:rPr>
              <a:t>to</a:t>
            </a:r>
            <a:r>
              <a:rPr dirty="0" sz="1000" spc="-10" b="1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F2023"/>
                </a:solidFill>
                <a:latin typeface="Arial"/>
                <a:cs typeface="Arial"/>
              </a:rPr>
              <a:t>ease</a:t>
            </a:r>
            <a:r>
              <a:rPr dirty="0" sz="1000" spc="-20" b="1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F2023"/>
                </a:solidFill>
                <a:latin typeface="Arial"/>
                <a:cs typeface="Arial"/>
              </a:rPr>
              <a:t>to</a:t>
            </a:r>
            <a:r>
              <a:rPr dirty="0" sz="1000" spc="-15" b="1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F2023"/>
                </a:solidFill>
                <a:latin typeface="Arial"/>
                <a:cs typeface="Arial"/>
              </a:rPr>
              <a:t>1.3%.</a:t>
            </a:r>
            <a:r>
              <a:rPr dirty="0" sz="1000" spc="-20" b="1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F2023"/>
                </a:solidFill>
                <a:latin typeface="Arial"/>
                <a:cs typeface="Arial"/>
              </a:rPr>
              <a:t>Sending</a:t>
            </a:r>
            <a:r>
              <a:rPr dirty="0" sz="1000" spc="-15" b="1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F2023"/>
                </a:solidFill>
                <a:latin typeface="Arial"/>
                <a:cs typeface="Arial"/>
              </a:rPr>
              <a:t>$200</a:t>
            </a:r>
            <a:r>
              <a:rPr dirty="0" sz="1000" spc="-35" b="1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F2023"/>
                </a:solidFill>
                <a:latin typeface="Arial"/>
                <a:cs typeface="Arial"/>
              </a:rPr>
              <a:t>to</a:t>
            </a:r>
            <a:r>
              <a:rPr dirty="0" sz="1000" spc="-15" b="1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F2023"/>
                </a:solidFill>
                <a:latin typeface="Arial"/>
                <a:cs typeface="Arial"/>
              </a:rPr>
              <a:t>the</a:t>
            </a:r>
            <a:r>
              <a:rPr dirty="0" sz="1000" spc="-15" b="1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F2023"/>
                </a:solidFill>
                <a:latin typeface="Arial"/>
                <a:cs typeface="Arial"/>
              </a:rPr>
              <a:t>region</a:t>
            </a:r>
            <a:r>
              <a:rPr dirty="0" sz="1000" spc="-15" b="1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F2023"/>
                </a:solidFill>
                <a:latin typeface="Arial"/>
                <a:cs typeface="Arial"/>
              </a:rPr>
              <a:t>cost</a:t>
            </a:r>
            <a:r>
              <a:rPr dirty="0" sz="1000" spc="-15" b="1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F2023"/>
                </a:solidFill>
                <a:latin typeface="Arial"/>
                <a:cs typeface="Arial"/>
              </a:rPr>
              <a:t>on</a:t>
            </a:r>
            <a:r>
              <a:rPr dirty="0" sz="1000" spc="-15" b="1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F2023"/>
                </a:solidFill>
                <a:latin typeface="Arial"/>
                <a:cs typeface="Arial"/>
              </a:rPr>
              <a:t>average</a:t>
            </a:r>
            <a:r>
              <a:rPr dirty="0" sz="1000" spc="-30" b="1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F2023"/>
                </a:solidFill>
                <a:latin typeface="Arial"/>
                <a:cs typeface="Arial"/>
              </a:rPr>
              <a:t>8%</a:t>
            </a:r>
            <a:r>
              <a:rPr dirty="0" sz="1000" spc="-30" b="1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F2023"/>
                </a:solidFill>
                <a:latin typeface="Arial"/>
                <a:cs typeface="Arial"/>
              </a:rPr>
              <a:t>in</a:t>
            </a:r>
            <a:r>
              <a:rPr dirty="0" sz="1000" spc="-15" b="1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F2023"/>
                </a:solidFill>
                <a:latin typeface="Arial"/>
                <a:cs typeface="Arial"/>
              </a:rPr>
              <a:t>the</a:t>
            </a:r>
            <a:r>
              <a:rPr dirty="0" sz="1000" spc="-20" b="1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F2023"/>
                </a:solidFill>
                <a:latin typeface="Arial"/>
                <a:cs typeface="Arial"/>
              </a:rPr>
              <a:t>fourth</a:t>
            </a:r>
            <a:r>
              <a:rPr dirty="0" sz="1000" spc="-5" b="1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F2023"/>
                </a:solidFill>
                <a:latin typeface="Arial"/>
                <a:cs typeface="Arial"/>
              </a:rPr>
              <a:t>quarter</a:t>
            </a:r>
            <a:r>
              <a:rPr dirty="0" sz="1000" spc="-25" b="1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F2023"/>
                </a:solidFill>
                <a:latin typeface="Arial"/>
                <a:cs typeface="Arial"/>
              </a:rPr>
              <a:t>of</a:t>
            </a:r>
            <a:r>
              <a:rPr dirty="0" sz="1000" spc="-10" b="1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F2023"/>
                </a:solidFill>
                <a:latin typeface="Arial"/>
                <a:cs typeface="Arial"/>
              </a:rPr>
              <a:t>2022,</a:t>
            </a:r>
            <a:r>
              <a:rPr dirty="0" sz="1000" spc="-30" b="1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dirty="0" sz="1000" spc="-25" b="1">
                <a:solidFill>
                  <a:srgbClr val="1F2023"/>
                </a:solidFill>
                <a:latin typeface="Arial"/>
                <a:cs typeface="Arial"/>
              </a:rPr>
              <a:t>up </a:t>
            </a:r>
            <a:r>
              <a:rPr dirty="0" sz="1000" b="1">
                <a:solidFill>
                  <a:srgbClr val="1F2023"/>
                </a:solidFill>
                <a:latin typeface="Arial"/>
                <a:cs typeface="Arial"/>
              </a:rPr>
              <a:t>from</a:t>
            </a:r>
            <a:r>
              <a:rPr dirty="0" sz="1000" spc="-30" b="1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F2023"/>
                </a:solidFill>
                <a:latin typeface="Arial"/>
                <a:cs typeface="Arial"/>
              </a:rPr>
              <a:t>7.8%</a:t>
            </a:r>
            <a:r>
              <a:rPr dirty="0" sz="1000" spc="-25" b="1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F2023"/>
                </a:solidFill>
                <a:latin typeface="Arial"/>
                <a:cs typeface="Arial"/>
              </a:rPr>
              <a:t>a</a:t>
            </a:r>
            <a:r>
              <a:rPr dirty="0" sz="1000" spc="-25" b="1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F2023"/>
                </a:solidFill>
                <a:latin typeface="Arial"/>
                <a:cs typeface="Arial"/>
              </a:rPr>
              <a:t>year</a:t>
            </a:r>
            <a:r>
              <a:rPr dirty="0" sz="1000" spc="-25" b="1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F2023"/>
                </a:solidFill>
                <a:latin typeface="Arial"/>
                <a:cs typeface="Arial"/>
              </a:rPr>
              <a:t>ago</a:t>
            </a:r>
            <a:r>
              <a:rPr dirty="0" sz="1000" spc="-20" b="1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F2023"/>
                </a:solidFill>
                <a:latin typeface="Arial"/>
                <a:cs typeface="Arial"/>
              </a:rPr>
              <a:t>(World</a:t>
            </a:r>
            <a:r>
              <a:rPr dirty="0" sz="1000" spc="-10" b="1">
                <a:solidFill>
                  <a:srgbClr val="1F2023"/>
                </a:solidFill>
                <a:latin typeface="Arial"/>
                <a:cs typeface="Arial"/>
              </a:rPr>
              <a:t> Bank)</a:t>
            </a:r>
            <a:endParaRPr sz="1000">
              <a:latin typeface="Arial"/>
              <a:cs typeface="Arial"/>
            </a:endParaRPr>
          </a:p>
        </p:txBody>
      </p:sp>
      <p:sp>
        <p:nvSpPr>
          <p:cNvPr id="50" name="object 50" descr=""/>
          <p:cNvSpPr txBox="1"/>
          <p:nvPr/>
        </p:nvSpPr>
        <p:spPr>
          <a:xfrm>
            <a:off x="1812417" y="1423797"/>
            <a:ext cx="871855" cy="7131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2700" marR="5080" indent="-1905">
              <a:lnSpc>
                <a:spcPct val="100000"/>
              </a:lnSpc>
              <a:spcBef>
                <a:spcPts val="105"/>
              </a:spcBef>
            </a:pPr>
            <a:r>
              <a:rPr dirty="0" sz="750">
                <a:latin typeface="Arial MT"/>
                <a:cs typeface="Arial MT"/>
              </a:rPr>
              <a:t>The financial</a:t>
            </a:r>
            <a:r>
              <a:rPr dirty="0" sz="750" spc="-40">
                <a:latin typeface="Arial MT"/>
                <a:cs typeface="Arial MT"/>
              </a:rPr>
              <a:t> </a:t>
            </a:r>
            <a:r>
              <a:rPr dirty="0" sz="750" spc="-10">
                <a:latin typeface="Arial MT"/>
                <a:cs typeface="Arial MT"/>
              </a:rPr>
              <a:t>crisis </a:t>
            </a:r>
            <a:r>
              <a:rPr dirty="0" sz="750">
                <a:latin typeface="Arial MT"/>
                <a:cs typeface="Arial MT"/>
              </a:rPr>
              <a:t>induced</a:t>
            </a:r>
            <a:r>
              <a:rPr dirty="0" sz="750" spc="-25">
                <a:latin typeface="Arial MT"/>
                <a:cs typeface="Arial MT"/>
              </a:rPr>
              <a:t> </a:t>
            </a:r>
            <a:r>
              <a:rPr dirty="0" sz="750" spc="-10">
                <a:latin typeface="Arial MT"/>
                <a:cs typeface="Arial MT"/>
              </a:rPr>
              <a:t>contraction </a:t>
            </a:r>
            <a:r>
              <a:rPr dirty="0" sz="750">
                <a:latin typeface="Arial MT"/>
                <a:cs typeface="Arial MT"/>
              </a:rPr>
              <a:t>of</a:t>
            </a:r>
            <a:r>
              <a:rPr dirty="0" sz="750" spc="10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-1.3%</a:t>
            </a:r>
            <a:r>
              <a:rPr dirty="0" sz="750" spc="-25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in</a:t>
            </a:r>
            <a:r>
              <a:rPr dirty="0" sz="750" spc="5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2009</a:t>
            </a:r>
            <a:r>
              <a:rPr dirty="0" sz="750" spc="-20">
                <a:latin typeface="Arial MT"/>
                <a:cs typeface="Arial MT"/>
              </a:rPr>
              <a:t> </a:t>
            </a:r>
            <a:r>
              <a:rPr dirty="0" sz="750" spc="-25">
                <a:latin typeface="Arial MT"/>
                <a:cs typeface="Arial MT"/>
              </a:rPr>
              <a:t>led</a:t>
            </a:r>
            <a:r>
              <a:rPr dirty="0" sz="750">
                <a:latin typeface="Arial MT"/>
                <a:cs typeface="Arial MT"/>
              </a:rPr>
              <a:t> to</a:t>
            </a:r>
            <a:r>
              <a:rPr dirty="0" sz="750" spc="5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the</a:t>
            </a:r>
            <a:r>
              <a:rPr dirty="0" sz="750" spc="-10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decline</a:t>
            </a:r>
            <a:r>
              <a:rPr dirty="0" sz="750" spc="-40">
                <a:latin typeface="Arial MT"/>
                <a:cs typeface="Arial MT"/>
              </a:rPr>
              <a:t> </a:t>
            </a:r>
            <a:r>
              <a:rPr dirty="0" sz="750" spc="-25">
                <a:latin typeface="Arial MT"/>
                <a:cs typeface="Arial MT"/>
              </a:rPr>
              <a:t>in</a:t>
            </a:r>
            <a:r>
              <a:rPr dirty="0" sz="750">
                <a:latin typeface="Arial MT"/>
                <a:cs typeface="Arial MT"/>
              </a:rPr>
              <a:t> remittance</a:t>
            </a:r>
            <a:r>
              <a:rPr dirty="0" sz="750" spc="-35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flow</a:t>
            </a:r>
            <a:r>
              <a:rPr dirty="0" sz="750" spc="-15">
                <a:latin typeface="Arial MT"/>
                <a:cs typeface="Arial MT"/>
              </a:rPr>
              <a:t> </a:t>
            </a:r>
            <a:r>
              <a:rPr dirty="0" sz="750" spc="-25">
                <a:latin typeface="Arial MT"/>
                <a:cs typeface="Arial MT"/>
              </a:rPr>
              <a:t>by</a:t>
            </a:r>
            <a:r>
              <a:rPr dirty="0" sz="750">
                <a:latin typeface="Arial MT"/>
                <a:cs typeface="Arial MT"/>
              </a:rPr>
              <a:t> 5%</a:t>
            </a:r>
            <a:r>
              <a:rPr dirty="0" sz="750" spc="-5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in</a:t>
            </a:r>
            <a:r>
              <a:rPr dirty="0" sz="750" spc="5">
                <a:latin typeface="Arial MT"/>
                <a:cs typeface="Arial MT"/>
              </a:rPr>
              <a:t> </a:t>
            </a:r>
            <a:r>
              <a:rPr dirty="0" sz="750" spc="-20">
                <a:latin typeface="Arial MT"/>
                <a:cs typeface="Arial MT"/>
              </a:rPr>
              <a:t>2009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51" name="object 51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49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Weakening</a:t>
            </a:r>
            <a:r>
              <a:rPr dirty="0" spc="-25"/>
              <a:t> </a:t>
            </a:r>
            <a:r>
              <a:rPr dirty="0"/>
              <a:t>global</a:t>
            </a:r>
            <a:r>
              <a:rPr dirty="0" spc="-40"/>
              <a:t> </a:t>
            </a:r>
            <a:r>
              <a:rPr dirty="0"/>
              <a:t>growth</a:t>
            </a:r>
            <a:r>
              <a:rPr dirty="0" spc="-70"/>
              <a:t> </a:t>
            </a:r>
            <a:r>
              <a:rPr dirty="0"/>
              <a:t>may</a:t>
            </a:r>
            <a:r>
              <a:rPr dirty="0" spc="-40"/>
              <a:t> </a:t>
            </a:r>
            <a:r>
              <a:rPr dirty="0"/>
              <a:t>decelerate</a:t>
            </a:r>
            <a:r>
              <a:rPr dirty="0" spc="-25"/>
              <a:t> </a:t>
            </a:r>
            <a:r>
              <a:rPr dirty="0"/>
              <a:t>remittance</a:t>
            </a:r>
            <a:r>
              <a:rPr dirty="0" spc="-35"/>
              <a:t> </a:t>
            </a:r>
            <a:r>
              <a:rPr dirty="0"/>
              <a:t>flows</a:t>
            </a:r>
            <a:r>
              <a:rPr dirty="0" spc="-55"/>
              <a:t> </a:t>
            </a:r>
            <a:r>
              <a:rPr dirty="0"/>
              <a:t>to</a:t>
            </a:r>
            <a:r>
              <a:rPr dirty="0" spc="-60"/>
              <a:t> </a:t>
            </a:r>
            <a:r>
              <a:rPr dirty="0"/>
              <a:t>the</a:t>
            </a:r>
            <a:r>
              <a:rPr dirty="0" spc="-60"/>
              <a:t> </a:t>
            </a:r>
            <a:r>
              <a:rPr dirty="0" spc="-10"/>
              <a:t>country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294068" y="665987"/>
            <a:ext cx="9514840" cy="3092450"/>
            <a:chOff x="294068" y="665987"/>
            <a:chExt cx="9514840" cy="3092450"/>
          </a:xfrm>
        </p:grpSpPr>
        <p:sp>
          <p:nvSpPr>
            <p:cNvPr id="3" name="object 3" descr=""/>
            <p:cNvSpPr/>
            <p:nvPr/>
          </p:nvSpPr>
          <p:spPr>
            <a:xfrm>
              <a:off x="5870447" y="1187195"/>
              <a:ext cx="929640" cy="1866900"/>
            </a:xfrm>
            <a:custGeom>
              <a:avLst/>
              <a:gdLst/>
              <a:ahLst/>
              <a:cxnLst/>
              <a:rect l="l" t="t" r="r" b="b"/>
              <a:pathLst>
                <a:path w="929640" h="1866900">
                  <a:moveTo>
                    <a:pt x="929640" y="0"/>
                  </a:moveTo>
                  <a:lnTo>
                    <a:pt x="0" y="0"/>
                  </a:lnTo>
                  <a:lnTo>
                    <a:pt x="0" y="1866899"/>
                  </a:lnTo>
                  <a:lnTo>
                    <a:pt x="929640" y="1866899"/>
                  </a:lnTo>
                  <a:lnTo>
                    <a:pt x="92964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295656" y="701039"/>
              <a:ext cx="9511665" cy="3055620"/>
            </a:xfrm>
            <a:custGeom>
              <a:avLst/>
              <a:gdLst/>
              <a:ahLst/>
              <a:cxnLst/>
              <a:rect l="l" t="t" r="r" b="b"/>
              <a:pathLst>
                <a:path w="9511665" h="3055620">
                  <a:moveTo>
                    <a:pt x="0" y="3055619"/>
                  </a:moveTo>
                  <a:lnTo>
                    <a:pt x="9511284" y="3055619"/>
                  </a:lnTo>
                  <a:lnTo>
                    <a:pt x="9511284" y="0"/>
                  </a:lnTo>
                  <a:lnTo>
                    <a:pt x="0" y="0"/>
                  </a:lnTo>
                  <a:lnTo>
                    <a:pt x="0" y="3055619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2631948" y="665987"/>
              <a:ext cx="4730750" cy="190500"/>
            </a:xfrm>
            <a:custGeom>
              <a:avLst/>
              <a:gdLst/>
              <a:ahLst/>
              <a:cxnLst/>
              <a:rect l="l" t="t" r="r" b="b"/>
              <a:pathLst>
                <a:path w="4730750" h="190500">
                  <a:moveTo>
                    <a:pt x="4730496" y="0"/>
                  </a:moveTo>
                  <a:lnTo>
                    <a:pt x="0" y="0"/>
                  </a:lnTo>
                  <a:lnTo>
                    <a:pt x="0" y="190500"/>
                  </a:lnTo>
                  <a:lnTo>
                    <a:pt x="4730496" y="190500"/>
                  </a:lnTo>
                  <a:lnTo>
                    <a:pt x="47304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3981958" y="661543"/>
            <a:ext cx="2054860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1150" b="1">
                <a:latin typeface="Arial"/>
                <a:cs typeface="Arial"/>
              </a:rPr>
              <a:t>Forex</a:t>
            </a:r>
            <a:r>
              <a:rPr dirty="0" sz="1150" spc="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Outflows</a:t>
            </a:r>
            <a:r>
              <a:rPr dirty="0" sz="1150" spc="-15" b="1">
                <a:latin typeface="Arial"/>
                <a:cs typeface="Arial"/>
              </a:rPr>
              <a:t> </a:t>
            </a:r>
            <a:r>
              <a:rPr dirty="0" sz="1150" b="1">
                <a:latin typeface="Arial"/>
                <a:cs typeface="Arial"/>
              </a:rPr>
              <a:t>(US$'</a:t>
            </a:r>
            <a:r>
              <a:rPr dirty="0" sz="1150" spc="-5" b="1">
                <a:latin typeface="Arial"/>
                <a:cs typeface="Arial"/>
              </a:rPr>
              <a:t> </a:t>
            </a:r>
            <a:r>
              <a:rPr dirty="0" sz="1150" spc="-10" b="1">
                <a:latin typeface="Arial"/>
                <a:cs typeface="Arial"/>
              </a:rPr>
              <a:t>Million)</a:t>
            </a:r>
            <a:endParaRPr sz="115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926204" y="3757929"/>
            <a:ext cx="1104900" cy="1282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50" i="1">
                <a:latin typeface="Arial"/>
                <a:cs typeface="Arial"/>
              </a:rPr>
              <a:t>Source:</a:t>
            </a:r>
            <a:r>
              <a:rPr dirty="0" sz="650" spc="10" i="1">
                <a:latin typeface="Arial"/>
                <a:cs typeface="Arial"/>
              </a:rPr>
              <a:t> </a:t>
            </a:r>
            <a:r>
              <a:rPr dirty="0" sz="650" i="1">
                <a:latin typeface="Arial"/>
                <a:cs typeface="Arial"/>
              </a:rPr>
              <a:t>CBN,</a:t>
            </a:r>
            <a:r>
              <a:rPr dirty="0" sz="650" spc="235" i="1">
                <a:latin typeface="Arial"/>
                <a:cs typeface="Arial"/>
              </a:rPr>
              <a:t> </a:t>
            </a:r>
            <a:r>
              <a:rPr dirty="0" sz="650" i="1">
                <a:latin typeface="Arial"/>
                <a:cs typeface="Arial"/>
              </a:rPr>
              <a:t>PwC </a:t>
            </a:r>
            <a:r>
              <a:rPr dirty="0" sz="650" spc="-10" i="1">
                <a:latin typeface="Arial"/>
                <a:cs typeface="Arial"/>
              </a:rPr>
              <a:t>Analysis</a:t>
            </a:r>
            <a:endParaRPr sz="650">
              <a:latin typeface="Arial"/>
              <a:cs typeface="Arial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246888" y="3912108"/>
            <a:ext cx="9502140" cy="1179830"/>
          </a:xfrm>
          <a:custGeom>
            <a:avLst/>
            <a:gdLst/>
            <a:ahLst/>
            <a:cxnLst/>
            <a:rect l="l" t="t" r="r" b="b"/>
            <a:pathLst>
              <a:path w="9502140" h="1179829">
                <a:moveTo>
                  <a:pt x="0" y="1179575"/>
                </a:moveTo>
                <a:lnTo>
                  <a:pt x="9502013" y="1179575"/>
                </a:lnTo>
                <a:lnTo>
                  <a:pt x="9502013" y="0"/>
                </a:lnTo>
                <a:lnTo>
                  <a:pt x="0" y="0"/>
                </a:lnTo>
                <a:lnTo>
                  <a:pt x="0" y="1179575"/>
                </a:lnTo>
                <a:close/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257556" y="3906037"/>
            <a:ext cx="9502140" cy="172085"/>
          </a:xfrm>
          <a:prstGeom prst="rect">
            <a:avLst/>
          </a:prstGeom>
          <a:solidFill>
            <a:srgbClr val="5F5F5F"/>
          </a:solidFill>
        </p:spPr>
        <p:txBody>
          <a:bodyPr wrap="square" lIns="0" tIns="12065" rIns="0" bIns="0" rtlCol="0" vert="horz">
            <a:spAutoFit/>
          </a:bodyPr>
          <a:lstStyle/>
          <a:p>
            <a:pPr marL="59055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Insights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51650" y="4259326"/>
            <a:ext cx="9492615" cy="635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26060" marR="237490" indent="-172720">
              <a:lnSpc>
                <a:spcPct val="100000"/>
              </a:lnSpc>
              <a:spcBef>
                <a:spcPts val="95"/>
              </a:spcBef>
              <a:buChar char="•"/>
              <a:tabLst>
                <a:tab pos="226060" algn="l"/>
              </a:tabLst>
            </a:pP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WDAS/RDAS</a:t>
            </a:r>
            <a:r>
              <a:rPr dirty="0" sz="1000" spc="-4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utilisation</a:t>
            </a:r>
            <a:r>
              <a:rPr dirty="0" sz="1000" spc="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and</a:t>
            </a:r>
            <a:r>
              <a:rPr dirty="0" sz="1000" spc="-2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FX</a:t>
            </a:r>
            <a:r>
              <a:rPr dirty="0" sz="1000" spc="-2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Intervention</a:t>
            </a:r>
            <a:r>
              <a:rPr dirty="0" sz="1000" spc="-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accounted</a:t>
            </a:r>
            <a:r>
              <a:rPr dirty="0" sz="1000" spc="-3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for</a:t>
            </a:r>
            <a:r>
              <a:rPr dirty="0" sz="1000" spc="-7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 b="1">
                <a:solidFill>
                  <a:srgbClr val="1F2023"/>
                </a:solidFill>
                <a:latin typeface="Arial"/>
                <a:cs typeface="Arial"/>
              </a:rPr>
              <a:t>70%</a:t>
            </a:r>
            <a:r>
              <a:rPr dirty="0" sz="1000" spc="-25" b="1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F2023"/>
                </a:solidFill>
                <a:latin typeface="Arial"/>
                <a:cs typeface="Arial"/>
              </a:rPr>
              <a:t>of</a:t>
            </a:r>
            <a:r>
              <a:rPr dirty="0" sz="1000" spc="-5" b="1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F2023"/>
                </a:solidFill>
                <a:latin typeface="Arial"/>
                <a:cs typeface="Arial"/>
              </a:rPr>
              <a:t>all</a:t>
            </a:r>
            <a:r>
              <a:rPr dirty="0" sz="1000" spc="-20" b="1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F2023"/>
                </a:solidFill>
                <a:latin typeface="Arial"/>
                <a:cs typeface="Arial"/>
              </a:rPr>
              <a:t>FX</a:t>
            </a:r>
            <a:r>
              <a:rPr dirty="0" sz="1000" spc="-20" b="1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F2023"/>
                </a:solidFill>
                <a:latin typeface="Arial"/>
                <a:cs typeface="Arial"/>
              </a:rPr>
              <a:t>outflows</a:t>
            </a:r>
            <a:r>
              <a:rPr dirty="0" sz="1000" spc="-30" b="1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F2023"/>
                </a:solidFill>
                <a:latin typeface="Arial"/>
                <a:cs typeface="Arial"/>
              </a:rPr>
              <a:t>between</a:t>
            </a:r>
            <a:r>
              <a:rPr dirty="0" sz="1000" spc="-40" b="1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F2023"/>
                </a:solidFill>
                <a:latin typeface="Arial"/>
                <a:cs typeface="Arial"/>
              </a:rPr>
              <a:t>2004</a:t>
            </a:r>
            <a:r>
              <a:rPr dirty="0" sz="1000" spc="-30" b="1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F2023"/>
                </a:solidFill>
                <a:latin typeface="Arial"/>
                <a:cs typeface="Arial"/>
              </a:rPr>
              <a:t>and</a:t>
            </a:r>
            <a:r>
              <a:rPr dirty="0" sz="1000" spc="-15" b="1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F2023"/>
                </a:solidFill>
                <a:latin typeface="Arial"/>
                <a:cs typeface="Arial"/>
              </a:rPr>
              <a:t>2021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.</a:t>
            </a:r>
            <a:r>
              <a:rPr dirty="0" sz="1000" spc="-2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This</a:t>
            </a:r>
            <a:r>
              <a:rPr dirty="0" sz="1000" spc="-2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was</a:t>
            </a:r>
            <a:r>
              <a:rPr dirty="0" sz="1000" spc="-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closely</a:t>
            </a:r>
            <a:r>
              <a:rPr dirty="0" sz="1000" spc="-1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followed</a:t>
            </a:r>
            <a:r>
              <a:rPr dirty="0" sz="1000" spc="-1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by</a:t>
            </a:r>
            <a:r>
              <a:rPr dirty="0" sz="1000" spc="-1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other</a:t>
            </a:r>
            <a:r>
              <a:rPr dirty="0" sz="1000" spc="-2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official</a:t>
            </a:r>
            <a:r>
              <a:rPr dirty="0" sz="1000" spc="-4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1F2023"/>
                </a:solidFill>
                <a:latin typeface="Arial MT"/>
                <a:cs typeface="Arial MT"/>
              </a:rPr>
              <a:t>payments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which</a:t>
            </a:r>
            <a:r>
              <a:rPr dirty="0" sz="1000" spc="-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accounted</a:t>
            </a:r>
            <a:r>
              <a:rPr dirty="0" sz="1000" spc="-2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for</a:t>
            </a:r>
            <a:r>
              <a:rPr dirty="0" sz="1000" spc="-6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 b="1">
                <a:solidFill>
                  <a:srgbClr val="1F2023"/>
                </a:solidFill>
                <a:latin typeface="Arial"/>
                <a:cs typeface="Arial"/>
              </a:rPr>
              <a:t>15%</a:t>
            </a:r>
            <a:r>
              <a:rPr dirty="0" sz="1000" spc="-10" b="1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of</a:t>
            </a:r>
            <a:r>
              <a:rPr dirty="0" sz="1000" spc="-2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the</a:t>
            </a:r>
            <a:r>
              <a:rPr dirty="0" sz="1000" spc="-3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total</a:t>
            </a:r>
            <a:r>
              <a:rPr dirty="0" sz="1000" spc="-2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outflows</a:t>
            </a:r>
            <a:r>
              <a:rPr dirty="0" sz="1000" spc="-1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within</a:t>
            </a:r>
            <a:r>
              <a:rPr dirty="0" sz="1000" spc="1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the</a:t>
            </a:r>
            <a:r>
              <a:rPr dirty="0" sz="1000" spc="-3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same</a:t>
            </a:r>
            <a:r>
              <a:rPr dirty="0" sz="1000" spc="-4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1F2023"/>
                </a:solidFill>
                <a:latin typeface="Arial MT"/>
                <a:cs typeface="Arial MT"/>
              </a:rPr>
              <a:t>period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1F2023"/>
              </a:buClr>
              <a:buFont typeface="Arial MT"/>
              <a:buChar char="•"/>
            </a:pPr>
            <a:endParaRPr sz="1000">
              <a:latin typeface="Arial MT"/>
              <a:cs typeface="Arial MT"/>
            </a:endParaRPr>
          </a:p>
          <a:p>
            <a:pPr marL="226060" indent="-172085">
              <a:lnSpc>
                <a:spcPct val="100000"/>
              </a:lnSpc>
              <a:buChar char="•"/>
              <a:tabLst>
                <a:tab pos="226060" algn="l"/>
              </a:tabLst>
            </a:pP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External</a:t>
            </a:r>
            <a:r>
              <a:rPr dirty="0" sz="1000" spc="-2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debt</a:t>
            </a:r>
            <a:r>
              <a:rPr dirty="0" sz="1000" spc="-2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service has</a:t>
            </a:r>
            <a:r>
              <a:rPr dirty="0" sz="1000" spc="-1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been</a:t>
            </a:r>
            <a:r>
              <a:rPr dirty="0" sz="1000" spc="-2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on</a:t>
            </a:r>
            <a:r>
              <a:rPr dirty="0" sz="1000" spc="-1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a</a:t>
            </a:r>
            <a:r>
              <a:rPr dirty="0" sz="1000" spc="-1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rise</a:t>
            </a:r>
            <a:r>
              <a:rPr dirty="0" sz="1000" spc="-1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as</a:t>
            </a:r>
            <a:r>
              <a:rPr dirty="0" sz="1000" spc="-1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a</a:t>
            </a:r>
            <a:r>
              <a:rPr dirty="0" sz="1000" spc="-1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result</a:t>
            </a:r>
            <a:r>
              <a:rPr dirty="0" sz="1000" spc="-1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of</a:t>
            </a:r>
            <a:r>
              <a:rPr dirty="0" sz="1000" spc="-1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an</a:t>
            </a:r>
            <a:r>
              <a:rPr dirty="0" sz="1000" spc="-2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imbalance</a:t>
            </a:r>
            <a:r>
              <a:rPr dirty="0" sz="1000" spc="-1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in</a:t>
            </a:r>
            <a:r>
              <a:rPr dirty="0" sz="1000" spc="-1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dollar</a:t>
            </a:r>
            <a:r>
              <a:rPr dirty="0" sz="1000" spc="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supply.</a:t>
            </a:r>
            <a:r>
              <a:rPr dirty="0" sz="1000" spc="1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External</a:t>
            </a:r>
            <a:r>
              <a:rPr dirty="0" sz="1000" spc="-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debt</a:t>
            </a:r>
            <a:r>
              <a:rPr dirty="0" sz="1000" spc="-2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grew</a:t>
            </a:r>
            <a:r>
              <a:rPr dirty="0" sz="1000" spc="-10">
                <a:solidFill>
                  <a:srgbClr val="1F2023"/>
                </a:solidFill>
                <a:latin typeface="Arial MT"/>
                <a:cs typeface="Arial MT"/>
              </a:rPr>
              <a:t> from</a:t>
            </a:r>
            <a:r>
              <a:rPr dirty="0" sz="1000" spc="-114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 b="1">
                <a:solidFill>
                  <a:srgbClr val="1F2023"/>
                </a:solidFill>
                <a:latin typeface="Arial"/>
                <a:cs typeface="Arial"/>
              </a:rPr>
              <a:t>1%</a:t>
            </a:r>
            <a:r>
              <a:rPr dirty="0" sz="1000" spc="-20" b="1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F2023"/>
                </a:solidFill>
                <a:latin typeface="Arial"/>
                <a:cs typeface="Arial"/>
              </a:rPr>
              <a:t>in</a:t>
            </a:r>
            <a:r>
              <a:rPr dirty="0" sz="1000" spc="-15" b="1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F2023"/>
                </a:solidFill>
                <a:latin typeface="Arial"/>
                <a:cs typeface="Arial"/>
              </a:rPr>
              <a:t>2015</a:t>
            </a:r>
            <a:r>
              <a:rPr dirty="0" sz="1000" spc="-25" b="1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F2023"/>
                </a:solidFill>
                <a:latin typeface="Arial"/>
                <a:cs typeface="Arial"/>
              </a:rPr>
              <a:t>to 37%</a:t>
            </a:r>
            <a:r>
              <a:rPr dirty="0" sz="1000" spc="-20" b="1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1F2023"/>
                </a:solidFill>
                <a:latin typeface="Arial"/>
                <a:cs typeface="Arial"/>
              </a:rPr>
              <a:t>in</a:t>
            </a:r>
            <a:r>
              <a:rPr dirty="0" sz="1000" spc="-10" b="1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dirty="0" sz="1000" spc="-20" b="1">
                <a:solidFill>
                  <a:srgbClr val="1F2023"/>
                </a:solidFill>
                <a:latin typeface="Arial"/>
                <a:cs typeface="Arial"/>
              </a:rPr>
              <a:t>2021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726757" y="1688210"/>
            <a:ext cx="8862695" cy="1372235"/>
            <a:chOff x="726757" y="1688210"/>
            <a:chExt cx="8862695" cy="1372235"/>
          </a:xfrm>
        </p:grpSpPr>
        <p:sp>
          <p:nvSpPr>
            <p:cNvPr id="12" name="object 12" descr=""/>
            <p:cNvSpPr/>
            <p:nvPr/>
          </p:nvSpPr>
          <p:spPr>
            <a:xfrm>
              <a:off x="731519" y="3044951"/>
              <a:ext cx="8853170" cy="0"/>
            </a:xfrm>
            <a:custGeom>
              <a:avLst/>
              <a:gdLst/>
              <a:ahLst/>
              <a:cxnLst/>
              <a:rect l="l" t="t" r="r" b="b"/>
              <a:pathLst>
                <a:path w="8853170" h="0">
                  <a:moveTo>
                    <a:pt x="0" y="0"/>
                  </a:moveTo>
                  <a:lnTo>
                    <a:pt x="8852916" y="0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977645" y="1697735"/>
              <a:ext cx="8361045" cy="1123950"/>
            </a:xfrm>
            <a:custGeom>
              <a:avLst/>
              <a:gdLst/>
              <a:ahLst/>
              <a:cxnLst/>
              <a:rect l="l" t="t" r="r" b="b"/>
              <a:pathLst>
                <a:path w="8361045" h="1123950">
                  <a:moveTo>
                    <a:pt x="0" y="1123950"/>
                  </a:moveTo>
                  <a:lnTo>
                    <a:pt x="49180" y="1121330"/>
                  </a:lnTo>
                  <a:lnTo>
                    <a:pt x="98363" y="1118845"/>
                  </a:lnTo>
                  <a:lnTo>
                    <a:pt x="147546" y="1116438"/>
                  </a:lnTo>
                  <a:lnTo>
                    <a:pt x="196729" y="1114052"/>
                  </a:lnTo>
                  <a:lnTo>
                    <a:pt x="245910" y="1111630"/>
                  </a:lnTo>
                  <a:lnTo>
                    <a:pt x="295087" y="1109118"/>
                  </a:lnTo>
                  <a:lnTo>
                    <a:pt x="344261" y="1106458"/>
                  </a:lnTo>
                  <a:lnTo>
                    <a:pt x="393429" y="1103593"/>
                  </a:lnTo>
                  <a:lnTo>
                    <a:pt x="442590" y="1100468"/>
                  </a:lnTo>
                  <a:lnTo>
                    <a:pt x="491744" y="1097026"/>
                  </a:lnTo>
                  <a:lnTo>
                    <a:pt x="540931" y="1093517"/>
                  </a:lnTo>
                  <a:lnTo>
                    <a:pt x="590118" y="1090139"/>
                  </a:lnTo>
                  <a:lnTo>
                    <a:pt x="639305" y="1086757"/>
                  </a:lnTo>
                  <a:lnTo>
                    <a:pt x="688492" y="1083234"/>
                  </a:lnTo>
                  <a:lnTo>
                    <a:pt x="737679" y="1079436"/>
                  </a:lnTo>
                  <a:lnTo>
                    <a:pt x="786866" y="1075226"/>
                  </a:lnTo>
                  <a:lnTo>
                    <a:pt x="836053" y="1070469"/>
                  </a:lnTo>
                  <a:lnTo>
                    <a:pt x="885240" y="1065030"/>
                  </a:lnTo>
                  <a:lnTo>
                    <a:pt x="934427" y="1058772"/>
                  </a:lnTo>
                  <a:lnTo>
                    <a:pt x="983615" y="1051559"/>
                  </a:lnTo>
                  <a:lnTo>
                    <a:pt x="1032801" y="1045264"/>
                  </a:lnTo>
                  <a:lnTo>
                    <a:pt x="1081988" y="1041124"/>
                  </a:lnTo>
                  <a:lnTo>
                    <a:pt x="1131172" y="1037943"/>
                  </a:lnTo>
                  <a:lnTo>
                    <a:pt x="1180355" y="1034523"/>
                  </a:lnTo>
                  <a:lnTo>
                    <a:pt x="1229534" y="1029668"/>
                  </a:lnTo>
                  <a:lnTo>
                    <a:pt x="1278710" y="1022180"/>
                  </a:lnTo>
                  <a:lnTo>
                    <a:pt x="1327881" y="1010862"/>
                  </a:lnTo>
                  <a:lnTo>
                    <a:pt x="1377046" y="994517"/>
                  </a:lnTo>
                  <a:lnTo>
                    <a:pt x="1426206" y="971948"/>
                  </a:lnTo>
                  <a:lnTo>
                    <a:pt x="1475359" y="941958"/>
                  </a:lnTo>
                  <a:lnTo>
                    <a:pt x="1506100" y="917312"/>
                  </a:lnTo>
                  <a:lnTo>
                    <a:pt x="1536842" y="886687"/>
                  </a:lnTo>
                  <a:lnTo>
                    <a:pt x="1567584" y="851045"/>
                  </a:lnTo>
                  <a:lnTo>
                    <a:pt x="1598326" y="811349"/>
                  </a:lnTo>
                  <a:lnTo>
                    <a:pt x="1629068" y="768561"/>
                  </a:lnTo>
                  <a:lnTo>
                    <a:pt x="1659810" y="723643"/>
                  </a:lnTo>
                  <a:lnTo>
                    <a:pt x="1690552" y="677558"/>
                  </a:lnTo>
                  <a:lnTo>
                    <a:pt x="1721294" y="631269"/>
                  </a:lnTo>
                  <a:lnTo>
                    <a:pt x="1752036" y="585737"/>
                  </a:lnTo>
                  <a:lnTo>
                    <a:pt x="1782778" y="541925"/>
                  </a:lnTo>
                  <a:lnTo>
                    <a:pt x="1813520" y="500795"/>
                  </a:lnTo>
                  <a:lnTo>
                    <a:pt x="1844262" y="463309"/>
                  </a:lnTo>
                  <a:lnTo>
                    <a:pt x="1875004" y="430431"/>
                  </a:lnTo>
                  <a:lnTo>
                    <a:pt x="1905746" y="403122"/>
                  </a:lnTo>
                  <a:lnTo>
                    <a:pt x="1967229" y="369062"/>
                  </a:lnTo>
                  <a:lnTo>
                    <a:pt x="2005066" y="363374"/>
                  </a:lnTo>
                  <a:lnTo>
                    <a:pt x="2042901" y="367901"/>
                  </a:lnTo>
                  <a:lnTo>
                    <a:pt x="2080737" y="381088"/>
                  </a:lnTo>
                  <a:lnTo>
                    <a:pt x="2118571" y="401382"/>
                  </a:lnTo>
                  <a:lnTo>
                    <a:pt x="2156403" y="427228"/>
                  </a:lnTo>
                  <a:lnTo>
                    <a:pt x="2194234" y="457074"/>
                  </a:lnTo>
                  <a:lnTo>
                    <a:pt x="2232063" y="489365"/>
                  </a:lnTo>
                  <a:lnTo>
                    <a:pt x="2269890" y="522547"/>
                  </a:lnTo>
                  <a:lnTo>
                    <a:pt x="2307713" y="555067"/>
                  </a:lnTo>
                  <a:lnTo>
                    <a:pt x="2345534" y="585371"/>
                  </a:lnTo>
                  <a:lnTo>
                    <a:pt x="2383351" y="611904"/>
                  </a:lnTo>
                  <a:lnTo>
                    <a:pt x="2421164" y="633114"/>
                  </a:lnTo>
                  <a:lnTo>
                    <a:pt x="2458974" y="647446"/>
                  </a:lnTo>
                  <a:lnTo>
                    <a:pt x="2508161" y="659329"/>
                  </a:lnTo>
                  <a:lnTo>
                    <a:pt x="2557348" y="668077"/>
                  </a:lnTo>
                  <a:lnTo>
                    <a:pt x="2606535" y="673804"/>
                  </a:lnTo>
                  <a:lnTo>
                    <a:pt x="2655722" y="676621"/>
                  </a:lnTo>
                  <a:lnTo>
                    <a:pt x="2704909" y="676640"/>
                  </a:lnTo>
                  <a:lnTo>
                    <a:pt x="2754096" y="673972"/>
                  </a:lnTo>
                  <a:lnTo>
                    <a:pt x="2803283" y="668731"/>
                  </a:lnTo>
                  <a:lnTo>
                    <a:pt x="2852470" y="661027"/>
                  </a:lnTo>
                  <a:lnTo>
                    <a:pt x="2901657" y="650974"/>
                  </a:lnTo>
                  <a:lnTo>
                    <a:pt x="2950844" y="638683"/>
                  </a:lnTo>
                  <a:lnTo>
                    <a:pt x="2988679" y="624663"/>
                  </a:lnTo>
                  <a:lnTo>
                    <a:pt x="3026509" y="604178"/>
                  </a:lnTo>
                  <a:lnTo>
                    <a:pt x="3064336" y="578721"/>
                  </a:lnTo>
                  <a:lnTo>
                    <a:pt x="3102161" y="549789"/>
                  </a:lnTo>
                  <a:lnTo>
                    <a:pt x="3139984" y="518879"/>
                  </a:lnTo>
                  <a:lnTo>
                    <a:pt x="3177806" y="487485"/>
                  </a:lnTo>
                  <a:lnTo>
                    <a:pt x="3215627" y="457104"/>
                  </a:lnTo>
                  <a:lnTo>
                    <a:pt x="3253449" y="429232"/>
                  </a:lnTo>
                  <a:lnTo>
                    <a:pt x="3291272" y="405364"/>
                  </a:lnTo>
                  <a:lnTo>
                    <a:pt x="3329097" y="386996"/>
                  </a:lnTo>
                  <a:lnTo>
                    <a:pt x="3366924" y="375626"/>
                  </a:lnTo>
                  <a:lnTo>
                    <a:pt x="3404754" y="372747"/>
                  </a:lnTo>
                  <a:lnTo>
                    <a:pt x="3442589" y="379856"/>
                  </a:lnTo>
                  <a:lnTo>
                    <a:pt x="3504072" y="417263"/>
                  </a:lnTo>
                  <a:lnTo>
                    <a:pt x="3534814" y="446975"/>
                  </a:lnTo>
                  <a:lnTo>
                    <a:pt x="3565556" y="482558"/>
                  </a:lnTo>
                  <a:lnTo>
                    <a:pt x="3596298" y="522912"/>
                  </a:lnTo>
                  <a:lnTo>
                    <a:pt x="3627040" y="566936"/>
                  </a:lnTo>
                  <a:lnTo>
                    <a:pt x="3657782" y="613529"/>
                  </a:lnTo>
                  <a:lnTo>
                    <a:pt x="3688524" y="661590"/>
                  </a:lnTo>
                  <a:lnTo>
                    <a:pt x="3719266" y="710019"/>
                  </a:lnTo>
                  <a:lnTo>
                    <a:pt x="3750008" y="757715"/>
                  </a:lnTo>
                  <a:lnTo>
                    <a:pt x="3780750" y="803577"/>
                  </a:lnTo>
                  <a:lnTo>
                    <a:pt x="3811492" y="846504"/>
                  </a:lnTo>
                  <a:lnTo>
                    <a:pt x="3842234" y="885396"/>
                  </a:lnTo>
                  <a:lnTo>
                    <a:pt x="3872976" y="919151"/>
                  </a:lnTo>
                  <a:lnTo>
                    <a:pt x="3903718" y="946670"/>
                  </a:lnTo>
                  <a:lnTo>
                    <a:pt x="3979172" y="985596"/>
                  </a:lnTo>
                  <a:lnTo>
                    <a:pt x="4023880" y="995728"/>
                  </a:lnTo>
                  <a:lnTo>
                    <a:pt x="4068583" y="998442"/>
                  </a:lnTo>
                  <a:lnTo>
                    <a:pt x="4113284" y="994930"/>
                  </a:lnTo>
                  <a:lnTo>
                    <a:pt x="4157982" y="986385"/>
                  </a:lnTo>
                  <a:lnTo>
                    <a:pt x="4202681" y="974000"/>
                  </a:lnTo>
                  <a:lnTo>
                    <a:pt x="4247379" y="958969"/>
                  </a:lnTo>
                  <a:lnTo>
                    <a:pt x="4292080" y="942484"/>
                  </a:lnTo>
                  <a:lnTo>
                    <a:pt x="4336783" y="925739"/>
                  </a:lnTo>
                  <a:lnTo>
                    <a:pt x="4381491" y="909926"/>
                  </a:lnTo>
                  <a:lnTo>
                    <a:pt x="4426204" y="896238"/>
                  </a:lnTo>
                  <a:lnTo>
                    <a:pt x="4470919" y="884842"/>
                  </a:lnTo>
                  <a:lnTo>
                    <a:pt x="4515635" y="874619"/>
                  </a:lnTo>
                  <a:lnTo>
                    <a:pt x="4560350" y="864733"/>
                  </a:lnTo>
                  <a:lnTo>
                    <a:pt x="4605066" y="854349"/>
                  </a:lnTo>
                  <a:lnTo>
                    <a:pt x="4649781" y="842630"/>
                  </a:lnTo>
                  <a:lnTo>
                    <a:pt x="4694497" y="828741"/>
                  </a:lnTo>
                  <a:lnTo>
                    <a:pt x="4739212" y="811845"/>
                  </a:lnTo>
                  <a:lnTo>
                    <a:pt x="4783928" y="791107"/>
                  </a:lnTo>
                  <a:lnTo>
                    <a:pt x="4828643" y="765692"/>
                  </a:lnTo>
                  <a:lnTo>
                    <a:pt x="4873359" y="734762"/>
                  </a:lnTo>
                  <a:lnTo>
                    <a:pt x="4918075" y="697484"/>
                  </a:lnTo>
                  <a:lnTo>
                    <a:pt x="4969846" y="638146"/>
                  </a:lnTo>
                  <a:lnTo>
                    <a:pt x="4995730" y="600592"/>
                  </a:lnTo>
                  <a:lnTo>
                    <a:pt x="5021612" y="558888"/>
                  </a:lnTo>
                  <a:lnTo>
                    <a:pt x="5047492" y="513865"/>
                  </a:lnTo>
                  <a:lnTo>
                    <a:pt x="5073372" y="466353"/>
                  </a:lnTo>
                  <a:lnTo>
                    <a:pt x="5099251" y="417183"/>
                  </a:lnTo>
                  <a:lnTo>
                    <a:pt x="5125129" y="367184"/>
                  </a:lnTo>
                  <a:lnTo>
                    <a:pt x="5151008" y="317187"/>
                  </a:lnTo>
                  <a:lnTo>
                    <a:pt x="5176885" y="268022"/>
                  </a:lnTo>
                  <a:lnTo>
                    <a:pt x="5202764" y="220521"/>
                  </a:lnTo>
                  <a:lnTo>
                    <a:pt x="5228642" y="175512"/>
                  </a:lnTo>
                  <a:lnTo>
                    <a:pt x="5254521" y="133826"/>
                  </a:lnTo>
                  <a:lnTo>
                    <a:pt x="5280401" y="96294"/>
                  </a:lnTo>
                  <a:lnTo>
                    <a:pt x="5306281" y="63746"/>
                  </a:lnTo>
                  <a:lnTo>
                    <a:pt x="5358047" y="16923"/>
                  </a:lnTo>
                  <a:lnTo>
                    <a:pt x="5409819" y="0"/>
                  </a:lnTo>
                  <a:lnTo>
                    <a:pt x="5435706" y="4983"/>
                  </a:lnTo>
                  <a:lnTo>
                    <a:pt x="5487482" y="41105"/>
                  </a:lnTo>
                  <a:lnTo>
                    <a:pt x="5513370" y="70307"/>
                  </a:lnTo>
                  <a:lnTo>
                    <a:pt x="5539258" y="105644"/>
                  </a:lnTo>
                  <a:lnTo>
                    <a:pt x="5565146" y="146149"/>
                  </a:lnTo>
                  <a:lnTo>
                    <a:pt x="5591034" y="190852"/>
                  </a:lnTo>
                  <a:lnTo>
                    <a:pt x="5616922" y="238786"/>
                  </a:lnTo>
                  <a:lnTo>
                    <a:pt x="5642810" y="288982"/>
                  </a:lnTo>
                  <a:lnTo>
                    <a:pt x="5668698" y="340472"/>
                  </a:lnTo>
                  <a:lnTo>
                    <a:pt x="5694586" y="392287"/>
                  </a:lnTo>
                  <a:lnTo>
                    <a:pt x="5720474" y="443460"/>
                  </a:lnTo>
                  <a:lnTo>
                    <a:pt x="5746362" y="493020"/>
                  </a:lnTo>
                  <a:lnTo>
                    <a:pt x="5772250" y="540001"/>
                  </a:lnTo>
                  <a:lnTo>
                    <a:pt x="5798138" y="583433"/>
                  </a:lnTo>
                  <a:lnTo>
                    <a:pt x="5824026" y="622348"/>
                  </a:lnTo>
                  <a:lnTo>
                    <a:pt x="5849914" y="655778"/>
                  </a:lnTo>
                  <a:lnTo>
                    <a:pt x="5901689" y="702310"/>
                  </a:lnTo>
                  <a:lnTo>
                    <a:pt x="5942650" y="721506"/>
                  </a:lnTo>
                  <a:lnTo>
                    <a:pt x="5983614" y="730926"/>
                  </a:lnTo>
                  <a:lnTo>
                    <a:pt x="6024584" y="731940"/>
                  </a:lnTo>
                  <a:lnTo>
                    <a:pt x="6065557" y="725922"/>
                  </a:lnTo>
                  <a:lnTo>
                    <a:pt x="6106534" y="714244"/>
                  </a:lnTo>
                  <a:lnTo>
                    <a:pt x="6147514" y="698277"/>
                  </a:lnTo>
                  <a:lnTo>
                    <a:pt x="6188496" y="679395"/>
                  </a:lnTo>
                  <a:lnTo>
                    <a:pt x="6229481" y="658970"/>
                  </a:lnTo>
                  <a:lnTo>
                    <a:pt x="6270468" y="638373"/>
                  </a:lnTo>
                  <a:lnTo>
                    <a:pt x="6311456" y="618978"/>
                  </a:lnTo>
                  <a:lnTo>
                    <a:pt x="6352444" y="602156"/>
                  </a:lnTo>
                  <a:lnTo>
                    <a:pt x="6393433" y="589279"/>
                  </a:lnTo>
                  <a:lnTo>
                    <a:pt x="6442621" y="575923"/>
                  </a:lnTo>
                  <a:lnTo>
                    <a:pt x="6491808" y="561233"/>
                  </a:lnTo>
                  <a:lnTo>
                    <a:pt x="6540995" y="545674"/>
                  </a:lnTo>
                  <a:lnTo>
                    <a:pt x="6590182" y="529711"/>
                  </a:lnTo>
                  <a:lnTo>
                    <a:pt x="6639369" y="513810"/>
                  </a:lnTo>
                  <a:lnTo>
                    <a:pt x="6688556" y="498434"/>
                  </a:lnTo>
                  <a:lnTo>
                    <a:pt x="6737743" y="484049"/>
                  </a:lnTo>
                  <a:lnTo>
                    <a:pt x="6786930" y="471119"/>
                  </a:lnTo>
                  <a:lnTo>
                    <a:pt x="6836117" y="460109"/>
                  </a:lnTo>
                  <a:lnTo>
                    <a:pt x="6885305" y="451485"/>
                  </a:lnTo>
                  <a:lnTo>
                    <a:pt x="6934457" y="444317"/>
                  </a:lnTo>
                  <a:lnTo>
                    <a:pt x="6983617" y="437609"/>
                  </a:lnTo>
                  <a:lnTo>
                    <a:pt x="7032782" y="431721"/>
                  </a:lnTo>
                  <a:lnTo>
                    <a:pt x="7081953" y="427013"/>
                  </a:lnTo>
                  <a:lnTo>
                    <a:pt x="7131129" y="423846"/>
                  </a:lnTo>
                  <a:lnTo>
                    <a:pt x="7180308" y="422580"/>
                  </a:lnTo>
                  <a:lnTo>
                    <a:pt x="7229491" y="423576"/>
                  </a:lnTo>
                  <a:lnTo>
                    <a:pt x="7278675" y="427194"/>
                  </a:lnTo>
                  <a:lnTo>
                    <a:pt x="7327862" y="433794"/>
                  </a:lnTo>
                  <a:lnTo>
                    <a:pt x="7377049" y="443738"/>
                  </a:lnTo>
                  <a:lnTo>
                    <a:pt x="7421764" y="456726"/>
                  </a:lnTo>
                  <a:lnTo>
                    <a:pt x="7466480" y="473842"/>
                  </a:lnTo>
                  <a:lnTo>
                    <a:pt x="7511195" y="494311"/>
                  </a:lnTo>
                  <a:lnTo>
                    <a:pt x="7555911" y="517361"/>
                  </a:lnTo>
                  <a:lnTo>
                    <a:pt x="7600626" y="542219"/>
                  </a:lnTo>
                  <a:lnTo>
                    <a:pt x="7645342" y="568112"/>
                  </a:lnTo>
                  <a:lnTo>
                    <a:pt x="7690057" y="594268"/>
                  </a:lnTo>
                  <a:lnTo>
                    <a:pt x="7734773" y="619912"/>
                  </a:lnTo>
                  <a:lnTo>
                    <a:pt x="7779488" y="644273"/>
                  </a:lnTo>
                  <a:lnTo>
                    <a:pt x="7824204" y="666578"/>
                  </a:lnTo>
                  <a:lnTo>
                    <a:pt x="7868920" y="686053"/>
                  </a:lnTo>
                  <a:lnTo>
                    <a:pt x="7918072" y="704750"/>
                  </a:lnTo>
                  <a:lnTo>
                    <a:pt x="7967232" y="721859"/>
                  </a:lnTo>
                  <a:lnTo>
                    <a:pt x="8016397" y="737661"/>
                  </a:lnTo>
                  <a:lnTo>
                    <a:pt x="8065568" y="752435"/>
                  </a:lnTo>
                  <a:lnTo>
                    <a:pt x="8114744" y="766460"/>
                  </a:lnTo>
                  <a:lnTo>
                    <a:pt x="8163923" y="780017"/>
                  </a:lnTo>
                  <a:lnTo>
                    <a:pt x="8213106" y="793385"/>
                  </a:lnTo>
                  <a:lnTo>
                    <a:pt x="8262290" y="806844"/>
                  </a:lnTo>
                  <a:lnTo>
                    <a:pt x="8311477" y="820673"/>
                  </a:lnTo>
                  <a:lnTo>
                    <a:pt x="8360663" y="835151"/>
                  </a:lnTo>
                </a:path>
              </a:pathLst>
            </a:custGeom>
            <a:ln w="190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977645" y="3010661"/>
              <a:ext cx="8361045" cy="32384"/>
            </a:xfrm>
            <a:custGeom>
              <a:avLst/>
              <a:gdLst/>
              <a:ahLst/>
              <a:cxnLst/>
              <a:rect l="l" t="t" r="r" b="b"/>
              <a:pathLst>
                <a:path w="8361045" h="32385">
                  <a:moveTo>
                    <a:pt x="0" y="32004"/>
                  </a:moveTo>
                  <a:lnTo>
                    <a:pt x="490728" y="27431"/>
                  </a:lnTo>
                  <a:lnTo>
                    <a:pt x="982979" y="25907"/>
                  </a:lnTo>
                  <a:lnTo>
                    <a:pt x="1475231" y="16763"/>
                  </a:lnTo>
                  <a:lnTo>
                    <a:pt x="1967484" y="21336"/>
                  </a:lnTo>
                  <a:lnTo>
                    <a:pt x="2458212" y="10668"/>
                  </a:lnTo>
                  <a:lnTo>
                    <a:pt x="2950464" y="12192"/>
                  </a:lnTo>
                  <a:lnTo>
                    <a:pt x="3442716" y="0"/>
                  </a:lnTo>
                  <a:lnTo>
                    <a:pt x="3934967" y="21336"/>
                  </a:lnTo>
                  <a:lnTo>
                    <a:pt x="4425695" y="24383"/>
                  </a:lnTo>
                  <a:lnTo>
                    <a:pt x="4917948" y="25907"/>
                  </a:lnTo>
                  <a:lnTo>
                    <a:pt x="5410200" y="28956"/>
                  </a:lnTo>
                  <a:lnTo>
                    <a:pt x="5902452" y="30480"/>
                  </a:lnTo>
                  <a:lnTo>
                    <a:pt x="6393180" y="25907"/>
                  </a:lnTo>
                  <a:lnTo>
                    <a:pt x="6885432" y="24383"/>
                  </a:lnTo>
                  <a:lnTo>
                    <a:pt x="7377683" y="18287"/>
                  </a:lnTo>
                  <a:lnTo>
                    <a:pt x="7868411" y="15239"/>
                  </a:lnTo>
                  <a:lnTo>
                    <a:pt x="8360663" y="18287"/>
                  </a:lnTo>
                </a:path>
              </a:pathLst>
            </a:custGeom>
            <a:ln w="28575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976883" y="2830717"/>
              <a:ext cx="8362315" cy="208279"/>
            </a:xfrm>
            <a:custGeom>
              <a:avLst/>
              <a:gdLst/>
              <a:ahLst/>
              <a:cxnLst/>
              <a:rect l="l" t="t" r="r" b="b"/>
              <a:pathLst>
                <a:path w="8362315" h="208280">
                  <a:moveTo>
                    <a:pt x="0" y="173467"/>
                  </a:moveTo>
                  <a:lnTo>
                    <a:pt x="49190" y="155722"/>
                  </a:lnTo>
                  <a:lnTo>
                    <a:pt x="98379" y="136450"/>
                  </a:lnTo>
                  <a:lnTo>
                    <a:pt x="147566" y="116304"/>
                  </a:lnTo>
                  <a:lnTo>
                    <a:pt x="196753" y="95934"/>
                  </a:lnTo>
                  <a:lnTo>
                    <a:pt x="245940" y="75995"/>
                  </a:lnTo>
                  <a:lnTo>
                    <a:pt x="295126" y="57137"/>
                  </a:lnTo>
                  <a:lnTo>
                    <a:pt x="344312" y="40014"/>
                  </a:lnTo>
                  <a:lnTo>
                    <a:pt x="393498" y="25278"/>
                  </a:lnTo>
                  <a:lnTo>
                    <a:pt x="442684" y="13580"/>
                  </a:lnTo>
                  <a:lnTo>
                    <a:pt x="491871" y="5573"/>
                  </a:lnTo>
                  <a:lnTo>
                    <a:pt x="541058" y="1253"/>
                  </a:lnTo>
                  <a:lnTo>
                    <a:pt x="590245" y="0"/>
                  </a:lnTo>
                  <a:lnTo>
                    <a:pt x="639432" y="1426"/>
                  </a:lnTo>
                  <a:lnTo>
                    <a:pt x="688619" y="5149"/>
                  </a:lnTo>
                  <a:lnTo>
                    <a:pt x="737806" y="10780"/>
                  </a:lnTo>
                  <a:lnTo>
                    <a:pt x="786993" y="17936"/>
                  </a:lnTo>
                  <a:lnTo>
                    <a:pt x="836180" y="26230"/>
                  </a:lnTo>
                  <a:lnTo>
                    <a:pt x="885367" y="35277"/>
                  </a:lnTo>
                  <a:lnTo>
                    <a:pt x="934554" y="44691"/>
                  </a:lnTo>
                  <a:lnTo>
                    <a:pt x="983741" y="54087"/>
                  </a:lnTo>
                  <a:lnTo>
                    <a:pt x="1032929" y="64737"/>
                  </a:lnTo>
                  <a:lnTo>
                    <a:pt x="1082117" y="77748"/>
                  </a:lnTo>
                  <a:lnTo>
                    <a:pt x="1131306" y="92485"/>
                  </a:lnTo>
                  <a:lnTo>
                    <a:pt x="1180498" y="108315"/>
                  </a:lnTo>
                  <a:lnTo>
                    <a:pt x="1229693" y="124604"/>
                  </a:lnTo>
                  <a:lnTo>
                    <a:pt x="1278892" y="140718"/>
                  </a:lnTo>
                  <a:lnTo>
                    <a:pt x="1328095" y="156022"/>
                  </a:lnTo>
                  <a:lnTo>
                    <a:pt x="1377303" y="169883"/>
                  </a:lnTo>
                  <a:lnTo>
                    <a:pt x="1426518" y="181667"/>
                  </a:lnTo>
                  <a:lnTo>
                    <a:pt x="1475740" y="190739"/>
                  </a:lnTo>
                  <a:lnTo>
                    <a:pt x="1524927" y="197134"/>
                  </a:lnTo>
                  <a:lnTo>
                    <a:pt x="1574114" y="201529"/>
                  </a:lnTo>
                  <a:lnTo>
                    <a:pt x="1623301" y="204255"/>
                  </a:lnTo>
                  <a:lnTo>
                    <a:pt x="1672488" y="205644"/>
                  </a:lnTo>
                  <a:lnTo>
                    <a:pt x="1721675" y="206027"/>
                  </a:lnTo>
                  <a:lnTo>
                    <a:pt x="1770862" y="205735"/>
                  </a:lnTo>
                  <a:lnTo>
                    <a:pt x="1820049" y="205101"/>
                  </a:lnTo>
                  <a:lnTo>
                    <a:pt x="1869236" y="204455"/>
                  </a:lnTo>
                  <a:lnTo>
                    <a:pt x="1918423" y="204130"/>
                  </a:lnTo>
                  <a:lnTo>
                    <a:pt x="1967611" y="204455"/>
                  </a:lnTo>
                  <a:lnTo>
                    <a:pt x="2016798" y="205063"/>
                  </a:lnTo>
                  <a:lnTo>
                    <a:pt x="2065985" y="205462"/>
                  </a:lnTo>
                  <a:lnTo>
                    <a:pt x="2115172" y="205687"/>
                  </a:lnTo>
                  <a:lnTo>
                    <a:pt x="2164359" y="205774"/>
                  </a:lnTo>
                  <a:lnTo>
                    <a:pt x="2213546" y="205757"/>
                  </a:lnTo>
                  <a:lnTo>
                    <a:pt x="2262733" y="205671"/>
                  </a:lnTo>
                  <a:lnTo>
                    <a:pt x="2311920" y="205552"/>
                  </a:lnTo>
                  <a:lnTo>
                    <a:pt x="2361107" y="205435"/>
                  </a:lnTo>
                  <a:lnTo>
                    <a:pt x="2410294" y="205354"/>
                  </a:lnTo>
                  <a:lnTo>
                    <a:pt x="2459481" y="205344"/>
                  </a:lnTo>
                  <a:lnTo>
                    <a:pt x="2508669" y="205413"/>
                  </a:lnTo>
                  <a:lnTo>
                    <a:pt x="2557856" y="205469"/>
                  </a:lnTo>
                  <a:lnTo>
                    <a:pt x="2607043" y="205515"/>
                  </a:lnTo>
                  <a:lnTo>
                    <a:pt x="2656230" y="205552"/>
                  </a:lnTo>
                  <a:lnTo>
                    <a:pt x="2705417" y="205582"/>
                  </a:lnTo>
                  <a:lnTo>
                    <a:pt x="2754604" y="205609"/>
                  </a:lnTo>
                  <a:lnTo>
                    <a:pt x="2803791" y="205635"/>
                  </a:lnTo>
                  <a:lnTo>
                    <a:pt x="2852978" y="205661"/>
                  </a:lnTo>
                  <a:lnTo>
                    <a:pt x="2902165" y="205691"/>
                  </a:lnTo>
                  <a:lnTo>
                    <a:pt x="2951353" y="205725"/>
                  </a:lnTo>
                  <a:lnTo>
                    <a:pt x="3000540" y="205802"/>
                  </a:lnTo>
                  <a:lnTo>
                    <a:pt x="3049727" y="205879"/>
                  </a:lnTo>
                  <a:lnTo>
                    <a:pt x="3098914" y="205957"/>
                  </a:lnTo>
                  <a:lnTo>
                    <a:pt x="3148101" y="206038"/>
                  </a:lnTo>
                  <a:lnTo>
                    <a:pt x="3197288" y="206122"/>
                  </a:lnTo>
                  <a:lnTo>
                    <a:pt x="3246475" y="206210"/>
                  </a:lnTo>
                  <a:lnTo>
                    <a:pt x="3295662" y="206302"/>
                  </a:lnTo>
                  <a:lnTo>
                    <a:pt x="3344849" y="206400"/>
                  </a:lnTo>
                  <a:lnTo>
                    <a:pt x="3394036" y="206504"/>
                  </a:lnTo>
                  <a:lnTo>
                    <a:pt x="3443224" y="206614"/>
                  </a:lnTo>
                  <a:lnTo>
                    <a:pt x="3492411" y="206743"/>
                  </a:lnTo>
                  <a:lnTo>
                    <a:pt x="3541598" y="206895"/>
                  </a:lnTo>
                  <a:lnTo>
                    <a:pt x="3590785" y="207063"/>
                  </a:lnTo>
                  <a:lnTo>
                    <a:pt x="3639972" y="207242"/>
                  </a:lnTo>
                  <a:lnTo>
                    <a:pt x="3689159" y="207424"/>
                  </a:lnTo>
                  <a:lnTo>
                    <a:pt x="3738346" y="207602"/>
                  </a:lnTo>
                  <a:lnTo>
                    <a:pt x="3787533" y="207769"/>
                  </a:lnTo>
                  <a:lnTo>
                    <a:pt x="3836720" y="207919"/>
                  </a:lnTo>
                  <a:lnTo>
                    <a:pt x="3885907" y="208044"/>
                  </a:lnTo>
                  <a:lnTo>
                    <a:pt x="3935094" y="208138"/>
                  </a:lnTo>
                  <a:lnTo>
                    <a:pt x="3984285" y="208203"/>
                  </a:lnTo>
                  <a:lnTo>
                    <a:pt x="4033482" y="208247"/>
                  </a:lnTo>
                  <a:lnTo>
                    <a:pt x="4082683" y="208271"/>
                  </a:lnTo>
                  <a:lnTo>
                    <a:pt x="4131888" y="208276"/>
                  </a:lnTo>
                  <a:lnTo>
                    <a:pt x="4181094" y="208265"/>
                  </a:lnTo>
                  <a:lnTo>
                    <a:pt x="4230299" y="208239"/>
                  </a:lnTo>
                  <a:lnTo>
                    <a:pt x="4279504" y="208199"/>
                  </a:lnTo>
                  <a:lnTo>
                    <a:pt x="4328705" y="208146"/>
                  </a:lnTo>
                  <a:lnTo>
                    <a:pt x="4377902" y="208083"/>
                  </a:lnTo>
                  <a:lnTo>
                    <a:pt x="4427093" y="208011"/>
                  </a:lnTo>
                  <a:lnTo>
                    <a:pt x="4476280" y="207879"/>
                  </a:lnTo>
                  <a:lnTo>
                    <a:pt x="4525467" y="207717"/>
                  </a:lnTo>
                  <a:lnTo>
                    <a:pt x="4574654" y="207531"/>
                  </a:lnTo>
                  <a:lnTo>
                    <a:pt x="4623841" y="207331"/>
                  </a:lnTo>
                  <a:lnTo>
                    <a:pt x="4673028" y="207122"/>
                  </a:lnTo>
                  <a:lnTo>
                    <a:pt x="4722215" y="206914"/>
                  </a:lnTo>
                  <a:lnTo>
                    <a:pt x="4771402" y="206713"/>
                  </a:lnTo>
                  <a:lnTo>
                    <a:pt x="4820589" y="206528"/>
                  </a:lnTo>
                  <a:lnTo>
                    <a:pt x="4869776" y="206365"/>
                  </a:lnTo>
                  <a:lnTo>
                    <a:pt x="4918964" y="206233"/>
                  </a:lnTo>
                  <a:lnTo>
                    <a:pt x="4968151" y="206168"/>
                  </a:lnTo>
                  <a:lnTo>
                    <a:pt x="5017338" y="206123"/>
                  </a:lnTo>
                  <a:lnTo>
                    <a:pt x="5066525" y="206094"/>
                  </a:lnTo>
                  <a:lnTo>
                    <a:pt x="5115712" y="206079"/>
                  </a:lnTo>
                  <a:lnTo>
                    <a:pt x="5164899" y="206075"/>
                  </a:lnTo>
                  <a:lnTo>
                    <a:pt x="5214086" y="206078"/>
                  </a:lnTo>
                  <a:lnTo>
                    <a:pt x="5263273" y="206086"/>
                  </a:lnTo>
                  <a:lnTo>
                    <a:pt x="5312460" y="206095"/>
                  </a:lnTo>
                  <a:lnTo>
                    <a:pt x="5361647" y="206103"/>
                  </a:lnTo>
                  <a:lnTo>
                    <a:pt x="5410835" y="206106"/>
                  </a:lnTo>
                  <a:lnTo>
                    <a:pt x="5460022" y="206158"/>
                  </a:lnTo>
                  <a:lnTo>
                    <a:pt x="5509209" y="206232"/>
                  </a:lnTo>
                  <a:lnTo>
                    <a:pt x="5558396" y="206320"/>
                  </a:lnTo>
                  <a:lnTo>
                    <a:pt x="5607583" y="206413"/>
                  </a:lnTo>
                  <a:lnTo>
                    <a:pt x="5656770" y="206503"/>
                  </a:lnTo>
                  <a:lnTo>
                    <a:pt x="5705957" y="206582"/>
                  </a:lnTo>
                  <a:lnTo>
                    <a:pt x="5755144" y="206641"/>
                  </a:lnTo>
                  <a:lnTo>
                    <a:pt x="5804331" y="206671"/>
                  </a:lnTo>
                  <a:lnTo>
                    <a:pt x="5853518" y="206665"/>
                  </a:lnTo>
                  <a:lnTo>
                    <a:pt x="5902706" y="206614"/>
                  </a:lnTo>
                  <a:lnTo>
                    <a:pt x="5951893" y="206623"/>
                  </a:lnTo>
                  <a:lnTo>
                    <a:pt x="6001080" y="206760"/>
                  </a:lnTo>
                  <a:lnTo>
                    <a:pt x="6050267" y="206962"/>
                  </a:lnTo>
                  <a:lnTo>
                    <a:pt x="6099454" y="207167"/>
                  </a:lnTo>
                  <a:lnTo>
                    <a:pt x="6148641" y="207313"/>
                  </a:lnTo>
                  <a:lnTo>
                    <a:pt x="6197828" y="207337"/>
                  </a:lnTo>
                  <a:lnTo>
                    <a:pt x="6247015" y="207176"/>
                  </a:lnTo>
                  <a:lnTo>
                    <a:pt x="6296202" y="206769"/>
                  </a:lnTo>
                  <a:lnTo>
                    <a:pt x="6345389" y="206052"/>
                  </a:lnTo>
                  <a:lnTo>
                    <a:pt x="6394576" y="204963"/>
                  </a:lnTo>
                  <a:lnTo>
                    <a:pt x="6443764" y="203334"/>
                  </a:lnTo>
                  <a:lnTo>
                    <a:pt x="6492951" y="201136"/>
                  </a:lnTo>
                  <a:lnTo>
                    <a:pt x="6542138" y="198516"/>
                  </a:lnTo>
                  <a:lnTo>
                    <a:pt x="6591325" y="195620"/>
                  </a:lnTo>
                  <a:lnTo>
                    <a:pt x="6640512" y="192597"/>
                  </a:lnTo>
                  <a:lnTo>
                    <a:pt x="6689699" y="189592"/>
                  </a:lnTo>
                  <a:lnTo>
                    <a:pt x="6738886" y="186754"/>
                  </a:lnTo>
                  <a:lnTo>
                    <a:pt x="6788073" y="184229"/>
                  </a:lnTo>
                  <a:lnTo>
                    <a:pt x="6837260" y="182164"/>
                  </a:lnTo>
                  <a:lnTo>
                    <a:pt x="6886448" y="180706"/>
                  </a:lnTo>
                  <a:lnTo>
                    <a:pt x="6935669" y="179882"/>
                  </a:lnTo>
                  <a:lnTo>
                    <a:pt x="6984884" y="179553"/>
                  </a:lnTo>
                  <a:lnTo>
                    <a:pt x="7034092" y="179620"/>
                  </a:lnTo>
                  <a:lnTo>
                    <a:pt x="7083295" y="179985"/>
                  </a:lnTo>
                  <a:lnTo>
                    <a:pt x="7132494" y="180548"/>
                  </a:lnTo>
                  <a:lnTo>
                    <a:pt x="7181689" y="181209"/>
                  </a:lnTo>
                  <a:lnTo>
                    <a:pt x="7230881" y="181871"/>
                  </a:lnTo>
                  <a:lnTo>
                    <a:pt x="7280070" y="182433"/>
                  </a:lnTo>
                  <a:lnTo>
                    <a:pt x="7329258" y="182798"/>
                  </a:lnTo>
                  <a:lnTo>
                    <a:pt x="7378446" y="182865"/>
                  </a:lnTo>
                  <a:lnTo>
                    <a:pt x="7427633" y="182723"/>
                  </a:lnTo>
                  <a:lnTo>
                    <a:pt x="7476820" y="182523"/>
                  </a:lnTo>
                  <a:lnTo>
                    <a:pt x="7526007" y="182258"/>
                  </a:lnTo>
                  <a:lnTo>
                    <a:pt x="7575194" y="181924"/>
                  </a:lnTo>
                  <a:lnTo>
                    <a:pt x="7624381" y="181516"/>
                  </a:lnTo>
                  <a:lnTo>
                    <a:pt x="7673568" y="181027"/>
                  </a:lnTo>
                  <a:lnTo>
                    <a:pt x="7722755" y="180453"/>
                  </a:lnTo>
                  <a:lnTo>
                    <a:pt x="7771942" y="179789"/>
                  </a:lnTo>
                  <a:lnTo>
                    <a:pt x="7821129" y="179028"/>
                  </a:lnTo>
                  <a:lnTo>
                    <a:pt x="7870317" y="178166"/>
                  </a:lnTo>
                  <a:lnTo>
                    <a:pt x="7919504" y="177203"/>
                  </a:lnTo>
                  <a:lnTo>
                    <a:pt x="7968691" y="176084"/>
                  </a:lnTo>
                  <a:lnTo>
                    <a:pt x="8017878" y="174838"/>
                  </a:lnTo>
                  <a:lnTo>
                    <a:pt x="8067065" y="173491"/>
                  </a:lnTo>
                  <a:lnTo>
                    <a:pt x="8116252" y="172070"/>
                  </a:lnTo>
                  <a:lnTo>
                    <a:pt x="8165439" y="170604"/>
                  </a:lnTo>
                  <a:lnTo>
                    <a:pt x="8214626" y="169120"/>
                  </a:lnTo>
                  <a:lnTo>
                    <a:pt x="8263813" y="167645"/>
                  </a:lnTo>
                  <a:lnTo>
                    <a:pt x="8313000" y="166206"/>
                  </a:lnTo>
                  <a:lnTo>
                    <a:pt x="8362188" y="164831"/>
                  </a:lnTo>
                </a:path>
              </a:pathLst>
            </a:custGeom>
            <a:ln w="12700">
              <a:solidFill>
                <a:srgbClr val="7C7C7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977645" y="3042665"/>
              <a:ext cx="8361045" cy="3175"/>
            </a:xfrm>
            <a:custGeom>
              <a:avLst/>
              <a:gdLst/>
              <a:ahLst/>
              <a:cxnLst/>
              <a:rect l="l" t="t" r="r" b="b"/>
              <a:pathLst>
                <a:path w="8361045" h="3175">
                  <a:moveTo>
                    <a:pt x="0" y="0"/>
                  </a:moveTo>
                  <a:lnTo>
                    <a:pt x="490728" y="0"/>
                  </a:lnTo>
                  <a:lnTo>
                    <a:pt x="982979" y="0"/>
                  </a:lnTo>
                </a:path>
                <a:path w="8361045" h="3175">
                  <a:moveTo>
                    <a:pt x="2950464" y="1523"/>
                  </a:moveTo>
                  <a:lnTo>
                    <a:pt x="3442716" y="1523"/>
                  </a:lnTo>
                  <a:lnTo>
                    <a:pt x="3934967" y="1523"/>
                  </a:lnTo>
                  <a:lnTo>
                    <a:pt x="4425695" y="0"/>
                  </a:lnTo>
                  <a:lnTo>
                    <a:pt x="4917948" y="1523"/>
                  </a:lnTo>
                  <a:lnTo>
                    <a:pt x="5410200" y="0"/>
                  </a:lnTo>
                  <a:lnTo>
                    <a:pt x="5902452" y="1523"/>
                  </a:lnTo>
                  <a:lnTo>
                    <a:pt x="6393180" y="3047"/>
                  </a:lnTo>
                  <a:lnTo>
                    <a:pt x="6885432" y="1523"/>
                  </a:lnTo>
                  <a:lnTo>
                    <a:pt x="7377683" y="3047"/>
                  </a:lnTo>
                  <a:lnTo>
                    <a:pt x="7868411" y="1523"/>
                  </a:lnTo>
                  <a:lnTo>
                    <a:pt x="8360663" y="1523"/>
                  </a:lnTo>
                </a:path>
              </a:pathLst>
            </a:custGeom>
            <a:ln w="28575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976883" y="2686811"/>
              <a:ext cx="8362315" cy="273050"/>
            </a:xfrm>
            <a:custGeom>
              <a:avLst/>
              <a:gdLst/>
              <a:ahLst/>
              <a:cxnLst/>
              <a:rect l="l" t="t" r="r" b="b"/>
              <a:pathLst>
                <a:path w="8362315" h="273050">
                  <a:moveTo>
                    <a:pt x="0" y="269748"/>
                  </a:moveTo>
                  <a:lnTo>
                    <a:pt x="492252" y="256031"/>
                  </a:lnTo>
                  <a:lnTo>
                    <a:pt x="984504" y="254507"/>
                  </a:lnTo>
                  <a:lnTo>
                    <a:pt x="1475232" y="234695"/>
                  </a:lnTo>
                  <a:lnTo>
                    <a:pt x="1967484" y="256031"/>
                  </a:lnTo>
                  <a:lnTo>
                    <a:pt x="2459736" y="249936"/>
                  </a:lnTo>
                  <a:lnTo>
                    <a:pt x="2951988" y="219456"/>
                  </a:lnTo>
                  <a:lnTo>
                    <a:pt x="3442716" y="224027"/>
                  </a:lnTo>
                  <a:lnTo>
                    <a:pt x="3934967" y="217931"/>
                  </a:lnTo>
                  <a:lnTo>
                    <a:pt x="4427220" y="234695"/>
                  </a:lnTo>
                  <a:lnTo>
                    <a:pt x="4919471" y="228600"/>
                  </a:lnTo>
                  <a:lnTo>
                    <a:pt x="5410200" y="272795"/>
                  </a:lnTo>
                  <a:lnTo>
                    <a:pt x="5902451" y="256031"/>
                  </a:lnTo>
                  <a:lnTo>
                    <a:pt x="6394704" y="230124"/>
                  </a:lnTo>
                  <a:lnTo>
                    <a:pt x="6886956" y="120395"/>
                  </a:lnTo>
                  <a:lnTo>
                    <a:pt x="7377684" y="0"/>
                  </a:lnTo>
                  <a:lnTo>
                    <a:pt x="7869936" y="202692"/>
                  </a:lnTo>
                  <a:lnTo>
                    <a:pt x="8362188" y="271271"/>
                  </a:lnTo>
                </a:path>
              </a:pathLst>
            </a:custGeom>
            <a:ln w="127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5403341" y="3044189"/>
              <a:ext cx="3935095" cy="1905"/>
            </a:xfrm>
            <a:custGeom>
              <a:avLst/>
              <a:gdLst/>
              <a:ahLst/>
              <a:cxnLst/>
              <a:rect l="l" t="t" r="r" b="b"/>
              <a:pathLst>
                <a:path w="3935095" h="1905">
                  <a:moveTo>
                    <a:pt x="0" y="1524"/>
                  </a:moveTo>
                  <a:lnTo>
                    <a:pt x="492252" y="1524"/>
                  </a:lnTo>
                  <a:lnTo>
                    <a:pt x="984504" y="1524"/>
                  </a:lnTo>
                  <a:lnTo>
                    <a:pt x="1476756" y="1524"/>
                  </a:lnTo>
                  <a:lnTo>
                    <a:pt x="1967484" y="1524"/>
                  </a:lnTo>
                  <a:lnTo>
                    <a:pt x="2459736" y="0"/>
                  </a:lnTo>
                  <a:lnTo>
                    <a:pt x="2951988" y="1524"/>
                  </a:lnTo>
                  <a:lnTo>
                    <a:pt x="3442716" y="0"/>
                  </a:lnTo>
                  <a:lnTo>
                    <a:pt x="3934967" y="0"/>
                  </a:lnTo>
                </a:path>
              </a:pathLst>
            </a:custGeom>
            <a:ln w="28575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5895593" y="3035045"/>
              <a:ext cx="3442970" cy="10795"/>
            </a:xfrm>
            <a:custGeom>
              <a:avLst/>
              <a:gdLst/>
              <a:ahLst/>
              <a:cxnLst/>
              <a:rect l="l" t="t" r="r" b="b"/>
              <a:pathLst>
                <a:path w="3442970" h="10794">
                  <a:moveTo>
                    <a:pt x="0" y="10668"/>
                  </a:moveTo>
                  <a:lnTo>
                    <a:pt x="492251" y="7620"/>
                  </a:lnTo>
                  <a:lnTo>
                    <a:pt x="984503" y="7620"/>
                  </a:lnTo>
                  <a:lnTo>
                    <a:pt x="1475231" y="7620"/>
                  </a:lnTo>
                  <a:lnTo>
                    <a:pt x="1967483" y="0"/>
                  </a:lnTo>
                  <a:lnTo>
                    <a:pt x="2459735" y="9143"/>
                  </a:lnTo>
                  <a:lnTo>
                    <a:pt x="2950463" y="6096"/>
                  </a:lnTo>
                  <a:lnTo>
                    <a:pt x="3442715" y="9143"/>
                  </a:lnTo>
                </a:path>
              </a:pathLst>
            </a:custGeom>
            <a:ln w="28574">
              <a:solidFill>
                <a:srgbClr val="25447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5895593" y="2879597"/>
              <a:ext cx="3442970" cy="166370"/>
            </a:xfrm>
            <a:custGeom>
              <a:avLst/>
              <a:gdLst/>
              <a:ahLst/>
              <a:cxnLst/>
              <a:rect l="l" t="t" r="r" b="b"/>
              <a:pathLst>
                <a:path w="3442970" h="166369">
                  <a:moveTo>
                    <a:pt x="0" y="166115"/>
                  </a:moveTo>
                  <a:lnTo>
                    <a:pt x="492251" y="152400"/>
                  </a:lnTo>
                  <a:lnTo>
                    <a:pt x="984503" y="115824"/>
                  </a:lnTo>
                  <a:lnTo>
                    <a:pt x="1475231" y="102107"/>
                  </a:lnTo>
                  <a:lnTo>
                    <a:pt x="1967483" y="36575"/>
                  </a:lnTo>
                  <a:lnTo>
                    <a:pt x="2459735" y="44195"/>
                  </a:lnTo>
                  <a:lnTo>
                    <a:pt x="2950463" y="57912"/>
                  </a:lnTo>
                  <a:lnTo>
                    <a:pt x="3442715" y="0"/>
                  </a:lnTo>
                </a:path>
              </a:pathLst>
            </a:custGeom>
            <a:ln w="28575">
              <a:solidFill>
                <a:srgbClr val="9E470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977645" y="2920745"/>
              <a:ext cx="8361045" cy="116205"/>
            </a:xfrm>
            <a:custGeom>
              <a:avLst/>
              <a:gdLst/>
              <a:ahLst/>
              <a:cxnLst/>
              <a:rect l="l" t="t" r="r" b="b"/>
              <a:pathLst>
                <a:path w="8361045" h="116205">
                  <a:moveTo>
                    <a:pt x="0" y="112776"/>
                  </a:moveTo>
                  <a:lnTo>
                    <a:pt x="490728" y="111252"/>
                  </a:lnTo>
                  <a:lnTo>
                    <a:pt x="982979" y="115824"/>
                  </a:lnTo>
                  <a:lnTo>
                    <a:pt x="1475231" y="85343"/>
                  </a:lnTo>
                  <a:lnTo>
                    <a:pt x="1967484" y="99060"/>
                  </a:lnTo>
                  <a:lnTo>
                    <a:pt x="2458212" y="108204"/>
                  </a:lnTo>
                  <a:lnTo>
                    <a:pt x="2950464" y="97536"/>
                  </a:lnTo>
                  <a:lnTo>
                    <a:pt x="3442716" y="85343"/>
                  </a:lnTo>
                  <a:lnTo>
                    <a:pt x="3934967" y="82296"/>
                  </a:lnTo>
                  <a:lnTo>
                    <a:pt x="4425695" y="92964"/>
                  </a:lnTo>
                  <a:lnTo>
                    <a:pt x="4917948" y="91440"/>
                  </a:lnTo>
                  <a:lnTo>
                    <a:pt x="5410200" y="53340"/>
                  </a:lnTo>
                  <a:lnTo>
                    <a:pt x="5902452" y="68580"/>
                  </a:lnTo>
                  <a:lnTo>
                    <a:pt x="6393180" y="50292"/>
                  </a:lnTo>
                  <a:lnTo>
                    <a:pt x="6885432" y="16764"/>
                  </a:lnTo>
                  <a:lnTo>
                    <a:pt x="7377683" y="25908"/>
                  </a:lnTo>
                  <a:lnTo>
                    <a:pt x="7868411" y="60960"/>
                  </a:lnTo>
                  <a:lnTo>
                    <a:pt x="8360663" y="0"/>
                  </a:lnTo>
                </a:path>
              </a:pathLst>
            </a:custGeom>
            <a:ln w="28574">
              <a:solidFill>
                <a:srgbClr val="A44F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382828" y="1327530"/>
            <a:ext cx="284480" cy="1778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585858"/>
                </a:solidFill>
                <a:latin typeface="Arial MT"/>
                <a:cs typeface="Arial MT"/>
              </a:rPr>
              <a:t>70,000</a:t>
            </a:r>
            <a:endParaRPr sz="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7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5"/>
              </a:spcBef>
            </a:pPr>
            <a:r>
              <a:rPr dirty="0" sz="700" spc="-10">
                <a:solidFill>
                  <a:srgbClr val="585858"/>
                </a:solidFill>
                <a:latin typeface="Arial MT"/>
                <a:cs typeface="Arial MT"/>
              </a:rPr>
              <a:t>60,000</a:t>
            </a:r>
            <a:endParaRPr sz="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7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5"/>
              </a:spcBef>
            </a:pPr>
            <a:r>
              <a:rPr dirty="0" sz="700" spc="-10">
                <a:solidFill>
                  <a:srgbClr val="585858"/>
                </a:solidFill>
                <a:latin typeface="Arial MT"/>
                <a:cs typeface="Arial MT"/>
              </a:rPr>
              <a:t>50,000</a:t>
            </a:r>
            <a:endParaRPr sz="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7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5"/>
              </a:spcBef>
            </a:pPr>
            <a:r>
              <a:rPr dirty="0" sz="700" spc="-10">
                <a:solidFill>
                  <a:srgbClr val="585858"/>
                </a:solidFill>
                <a:latin typeface="Arial MT"/>
                <a:cs typeface="Arial MT"/>
              </a:rPr>
              <a:t>40,000</a:t>
            </a:r>
            <a:endParaRPr sz="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7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</a:pPr>
            <a:r>
              <a:rPr dirty="0" sz="700" spc="-10">
                <a:solidFill>
                  <a:srgbClr val="585858"/>
                </a:solidFill>
                <a:latin typeface="Arial MT"/>
                <a:cs typeface="Arial MT"/>
              </a:rPr>
              <a:t>30,000</a:t>
            </a:r>
            <a:endParaRPr sz="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7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</a:pPr>
            <a:r>
              <a:rPr dirty="0" sz="700" spc="-10">
                <a:solidFill>
                  <a:srgbClr val="585858"/>
                </a:solidFill>
                <a:latin typeface="Arial MT"/>
                <a:cs typeface="Arial MT"/>
              </a:rPr>
              <a:t>20,000</a:t>
            </a:r>
            <a:endParaRPr sz="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7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</a:pPr>
            <a:r>
              <a:rPr dirty="0" sz="700" spc="-10">
                <a:solidFill>
                  <a:srgbClr val="585858"/>
                </a:solidFill>
                <a:latin typeface="Arial MT"/>
                <a:cs typeface="Arial MT"/>
              </a:rPr>
              <a:t>10,000</a:t>
            </a:r>
            <a:endParaRPr sz="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7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</a:pPr>
            <a:r>
              <a:rPr dirty="0" sz="700" spc="-50">
                <a:solidFill>
                  <a:srgbClr val="585858"/>
                </a:solidFill>
                <a:latin typeface="Arial MT"/>
                <a:cs typeface="Arial MT"/>
              </a:rPr>
              <a:t>0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878433" y="3079495"/>
            <a:ext cx="2101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700" spc="-20" b="1">
                <a:solidFill>
                  <a:srgbClr val="585858"/>
                </a:solidFill>
                <a:latin typeface="Arial"/>
                <a:cs typeface="Arial"/>
              </a:rPr>
              <a:t>2004</a:t>
            </a:r>
            <a:endParaRPr sz="700">
              <a:latin typeface="Arial"/>
              <a:cs typeface="Arial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370330" y="3079495"/>
            <a:ext cx="2101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700" spc="-20" b="1">
                <a:solidFill>
                  <a:srgbClr val="585858"/>
                </a:solidFill>
                <a:latin typeface="Arial"/>
                <a:cs typeface="Arial"/>
              </a:rPr>
              <a:t>2005</a:t>
            </a:r>
            <a:endParaRPr sz="700">
              <a:latin typeface="Arial"/>
              <a:cs typeface="Arial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1862327" y="3079495"/>
            <a:ext cx="2101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700" spc="-20" b="1">
                <a:solidFill>
                  <a:srgbClr val="585858"/>
                </a:solidFill>
                <a:latin typeface="Arial"/>
                <a:cs typeface="Arial"/>
              </a:rPr>
              <a:t>2006</a:t>
            </a:r>
            <a:endParaRPr sz="700">
              <a:latin typeface="Arial"/>
              <a:cs typeface="Arial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2354326" y="3079495"/>
            <a:ext cx="2101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700" spc="-20" b="1">
                <a:solidFill>
                  <a:srgbClr val="585858"/>
                </a:solidFill>
                <a:latin typeface="Arial"/>
                <a:cs typeface="Arial"/>
              </a:rPr>
              <a:t>2007</a:t>
            </a:r>
            <a:endParaRPr sz="700">
              <a:latin typeface="Arial"/>
              <a:cs typeface="Arial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2846197" y="3079495"/>
            <a:ext cx="2101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700" spc="-20" b="1">
                <a:solidFill>
                  <a:srgbClr val="585858"/>
                </a:solidFill>
                <a:latin typeface="Arial"/>
                <a:cs typeface="Arial"/>
              </a:rPr>
              <a:t>2008</a:t>
            </a:r>
            <a:endParaRPr sz="700">
              <a:latin typeface="Arial"/>
              <a:cs typeface="Arial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3338195" y="3079495"/>
            <a:ext cx="2101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700" spc="-20" b="1">
                <a:solidFill>
                  <a:srgbClr val="585858"/>
                </a:solidFill>
                <a:latin typeface="Arial"/>
                <a:cs typeface="Arial"/>
              </a:rPr>
              <a:t>2009</a:t>
            </a:r>
            <a:endParaRPr sz="700">
              <a:latin typeface="Arial"/>
              <a:cs typeface="Arial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3830065" y="3079495"/>
            <a:ext cx="2101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700" spc="-20" b="1">
                <a:solidFill>
                  <a:srgbClr val="585858"/>
                </a:solidFill>
                <a:latin typeface="Arial"/>
                <a:cs typeface="Arial"/>
              </a:rPr>
              <a:t>2010</a:t>
            </a:r>
            <a:endParaRPr sz="700">
              <a:latin typeface="Arial"/>
              <a:cs typeface="Arial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4322064" y="3079495"/>
            <a:ext cx="2101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700" spc="-20" b="1">
                <a:solidFill>
                  <a:srgbClr val="585858"/>
                </a:solidFill>
                <a:latin typeface="Arial"/>
                <a:cs typeface="Arial"/>
              </a:rPr>
              <a:t>2011</a:t>
            </a:r>
            <a:endParaRPr sz="700">
              <a:latin typeface="Arial"/>
              <a:cs typeface="Arial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4813680" y="3079495"/>
            <a:ext cx="70167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491490" algn="l"/>
              </a:tabLst>
            </a:pPr>
            <a:r>
              <a:rPr dirty="0" sz="700" spc="-20" b="1">
                <a:solidFill>
                  <a:srgbClr val="585858"/>
                </a:solidFill>
                <a:latin typeface="Arial"/>
                <a:cs typeface="Arial"/>
              </a:rPr>
              <a:t>2012</a:t>
            </a:r>
            <a:r>
              <a:rPr dirty="0" sz="700" b="1">
                <a:solidFill>
                  <a:srgbClr val="585858"/>
                </a:solidFill>
                <a:latin typeface="Arial"/>
                <a:cs typeface="Arial"/>
              </a:rPr>
              <a:t>	</a:t>
            </a:r>
            <a:r>
              <a:rPr dirty="0" sz="700" spc="-20" b="1">
                <a:solidFill>
                  <a:srgbClr val="585858"/>
                </a:solidFill>
                <a:latin typeface="Arial"/>
                <a:cs typeface="Arial"/>
              </a:rPr>
              <a:t>2013</a:t>
            </a:r>
            <a:endParaRPr sz="700">
              <a:latin typeface="Arial"/>
              <a:cs typeface="Arial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5797550" y="3079495"/>
            <a:ext cx="2101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700" spc="-20" b="1">
                <a:solidFill>
                  <a:srgbClr val="585858"/>
                </a:solidFill>
                <a:latin typeface="Arial"/>
                <a:cs typeface="Arial"/>
              </a:rPr>
              <a:t>2014</a:t>
            </a:r>
            <a:endParaRPr sz="700">
              <a:latin typeface="Arial"/>
              <a:cs typeface="Arial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6289547" y="3079495"/>
            <a:ext cx="2101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700" spc="-20" b="1">
                <a:solidFill>
                  <a:srgbClr val="585858"/>
                </a:solidFill>
                <a:latin typeface="Arial"/>
                <a:cs typeface="Arial"/>
              </a:rPr>
              <a:t>2015</a:t>
            </a:r>
            <a:endParaRPr sz="700">
              <a:latin typeface="Arial"/>
              <a:cs typeface="Arial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6781545" y="3079495"/>
            <a:ext cx="2101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700" spc="-20" b="1">
                <a:solidFill>
                  <a:srgbClr val="585858"/>
                </a:solidFill>
                <a:latin typeface="Arial"/>
                <a:cs typeface="Arial"/>
              </a:rPr>
              <a:t>2016</a:t>
            </a:r>
            <a:endParaRPr sz="700">
              <a:latin typeface="Arial"/>
              <a:cs typeface="Arial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7273417" y="3079495"/>
            <a:ext cx="2101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700" spc="-20" b="1">
                <a:solidFill>
                  <a:srgbClr val="585858"/>
                </a:solidFill>
                <a:latin typeface="Arial"/>
                <a:cs typeface="Arial"/>
              </a:rPr>
              <a:t>2017</a:t>
            </a:r>
            <a:endParaRPr sz="700">
              <a:latin typeface="Arial"/>
              <a:cs typeface="Arial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7765415" y="3079495"/>
            <a:ext cx="2101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700" spc="-20" b="1">
                <a:solidFill>
                  <a:srgbClr val="585858"/>
                </a:solidFill>
                <a:latin typeface="Arial"/>
                <a:cs typeface="Arial"/>
              </a:rPr>
              <a:t>2018</a:t>
            </a:r>
            <a:endParaRPr sz="700">
              <a:latin typeface="Arial"/>
              <a:cs typeface="Arial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8257285" y="3079495"/>
            <a:ext cx="2101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700" spc="-20" b="1">
                <a:solidFill>
                  <a:srgbClr val="585858"/>
                </a:solidFill>
                <a:latin typeface="Arial"/>
                <a:cs typeface="Arial"/>
              </a:rPr>
              <a:t>2019</a:t>
            </a:r>
            <a:endParaRPr sz="700">
              <a:latin typeface="Arial"/>
              <a:cs typeface="Arial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8749283" y="3079495"/>
            <a:ext cx="2101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700" spc="-20" b="1">
                <a:solidFill>
                  <a:srgbClr val="585858"/>
                </a:solidFill>
                <a:latin typeface="Arial"/>
                <a:cs typeface="Arial"/>
              </a:rPr>
              <a:t>2020</a:t>
            </a:r>
            <a:endParaRPr sz="700">
              <a:latin typeface="Arial"/>
              <a:cs typeface="Arial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9241281" y="3079495"/>
            <a:ext cx="2101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700" spc="-20" b="1">
                <a:solidFill>
                  <a:srgbClr val="585858"/>
                </a:solidFill>
                <a:latin typeface="Arial"/>
                <a:cs typeface="Arial"/>
              </a:rPr>
              <a:t>2021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40" name="object 40" descr=""/>
          <p:cNvGrpSpPr/>
          <p:nvPr/>
        </p:nvGrpSpPr>
        <p:grpSpPr>
          <a:xfrm>
            <a:off x="1217866" y="3464242"/>
            <a:ext cx="6313805" cy="245110"/>
            <a:chOff x="1217866" y="3464242"/>
            <a:chExt cx="6313805" cy="245110"/>
          </a:xfrm>
        </p:grpSpPr>
        <p:sp>
          <p:nvSpPr>
            <p:cNvPr id="41" name="object 41" descr=""/>
            <p:cNvSpPr/>
            <p:nvPr/>
          </p:nvSpPr>
          <p:spPr>
            <a:xfrm>
              <a:off x="1232153" y="3478529"/>
              <a:ext cx="243840" cy="0"/>
            </a:xfrm>
            <a:custGeom>
              <a:avLst/>
              <a:gdLst/>
              <a:ahLst/>
              <a:cxnLst/>
              <a:rect l="l" t="t" r="r" b="b"/>
              <a:pathLst>
                <a:path w="243840" h="0">
                  <a:moveTo>
                    <a:pt x="0" y="0"/>
                  </a:moveTo>
                  <a:lnTo>
                    <a:pt x="243840" y="0"/>
                  </a:lnTo>
                </a:path>
              </a:pathLst>
            </a:custGeom>
            <a:ln w="190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4252721" y="3478529"/>
              <a:ext cx="243840" cy="0"/>
            </a:xfrm>
            <a:custGeom>
              <a:avLst/>
              <a:gdLst/>
              <a:ahLst/>
              <a:cxnLst/>
              <a:rect l="l" t="t" r="r" b="b"/>
              <a:pathLst>
                <a:path w="243839" h="0">
                  <a:moveTo>
                    <a:pt x="0" y="0"/>
                  </a:moveTo>
                  <a:lnTo>
                    <a:pt x="243839" y="0"/>
                  </a:lnTo>
                </a:path>
              </a:pathLst>
            </a:custGeom>
            <a:ln w="28575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7272527" y="3477767"/>
              <a:ext cx="243840" cy="0"/>
            </a:xfrm>
            <a:custGeom>
              <a:avLst/>
              <a:gdLst/>
              <a:ahLst/>
              <a:cxnLst/>
              <a:rect l="l" t="t" r="r" b="b"/>
              <a:pathLst>
                <a:path w="243840" h="0">
                  <a:moveTo>
                    <a:pt x="0" y="0"/>
                  </a:moveTo>
                  <a:lnTo>
                    <a:pt x="243840" y="0"/>
                  </a:lnTo>
                </a:path>
              </a:pathLst>
            </a:custGeom>
            <a:ln w="12700">
              <a:solidFill>
                <a:srgbClr val="7C7C7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1232153" y="3586733"/>
              <a:ext cx="243840" cy="0"/>
            </a:xfrm>
            <a:custGeom>
              <a:avLst/>
              <a:gdLst/>
              <a:ahLst/>
              <a:cxnLst/>
              <a:rect l="l" t="t" r="r" b="b"/>
              <a:pathLst>
                <a:path w="243840" h="0">
                  <a:moveTo>
                    <a:pt x="0" y="0"/>
                  </a:moveTo>
                  <a:lnTo>
                    <a:pt x="243840" y="0"/>
                  </a:lnTo>
                </a:path>
              </a:pathLst>
            </a:custGeom>
            <a:ln w="28575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4251959" y="3587495"/>
              <a:ext cx="243840" cy="0"/>
            </a:xfrm>
            <a:custGeom>
              <a:avLst/>
              <a:gdLst/>
              <a:ahLst/>
              <a:cxnLst/>
              <a:rect l="l" t="t" r="r" b="b"/>
              <a:pathLst>
                <a:path w="243839" h="0">
                  <a:moveTo>
                    <a:pt x="0" y="0"/>
                  </a:moveTo>
                  <a:lnTo>
                    <a:pt x="243839" y="0"/>
                  </a:lnTo>
                </a:path>
              </a:pathLst>
            </a:custGeom>
            <a:ln w="127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7273289" y="3586733"/>
              <a:ext cx="243840" cy="0"/>
            </a:xfrm>
            <a:custGeom>
              <a:avLst/>
              <a:gdLst/>
              <a:ahLst/>
              <a:cxnLst/>
              <a:rect l="l" t="t" r="r" b="b"/>
              <a:pathLst>
                <a:path w="243840" h="0">
                  <a:moveTo>
                    <a:pt x="0" y="0"/>
                  </a:moveTo>
                  <a:lnTo>
                    <a:pt x="243839" y="0"/>
                  </a:lnTo>
                </a:path>
              </a:pathLst>
            </a:custGeom>
            <a:ln w="28575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1232153" y="3694937"/>
              <a:ext cx="243840" cy="0"/>
            </a:xfrm>
            <a:custGeom>
              <a:avLst/>
              <a:gdLst/>
              <a:ahLst/>
              <a:cxnLst/>
              <a:rect l="l" t="t" r="r" b="b"/>
              <a:pathLst>
                <a:path w="243840" h="0">
                  <a:moveTo>
                    <a:pt x="0" y="0"/>
                  </a:moveTo>
                  <a:lnTo>
                    <a:pt x="243840" y="0"/>
                  </a:lnTo>
                </a:path>
              </a:pathLst>
            </a:custGeom>
            <a:ln w="28575">
              <a:solidFill>
                <a:srgbClr val="25447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 descr=""/>
          <p:cNvSpPr txBox="1"/>
          <p:nvPr/>
        </p:nvSpPr>
        <p:spPr>
          <a:xfrm>
            <a:off x="1501775" y="3406902"/>
            <a:ext cx="1588135" cy="349250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R="5080">
              <a:lnSpc>
                <a:spcPct val="101800"/>
              </a:lnSpc>
              <a:spcBef>
                <a:spcPts val="80"/>
              </a:spcBef>
            </a:pPr>
            <a:r>
              <a:rPr dirty="0" sz="700">
                <a:solidFill>
                  <a:srgbClr val="585858"/>
                </a:solidFill>
                <a:latin typeface="Arial MT"/>
                <a:cs typeface="Arial MT"/>
              </a:rPr>
              <a:t>WDAS/RDAS</a:t>
            </a:r>
            <a:r>
              <a:rPr dirty="0" sz="700" spc="-1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585858"/>
                </a:solidFill>
                <a:latin typeface="Arial MT"/>
                <a:cs typeface="Arial MT"/>
              </a:rPr>
              <a:t>Utilisation/FX</a:t>
            </a:r>
            <a:r>
              <a:rPr dirty="0" sz="700" spc="-15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585858"/>
                </a:solidFill>
                <a:latin typeface="Arial MT"/>
                <a:cs typeface="Arial MT"/>
              </a:rPr>
              <a:t>Intervention</a:t>
            </a:r>
            <a:r>
              <a:rPr dirty="0" sz="700" spc="50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585858"/>
                </a:solidFill>
                <a:latin typeface="Arial MT"/>
                <a:cs typeface="Arial MT"/>
              </a:rPr>
              <a:t>National</a:t>
            </a: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585858"/>
                </a:solidFill>
                <a:latin typeface="Arial MT"/>
                <a:cs typeface="Arial MT"/>
              </a:rPr>
              <a:t>Indpt</a:t>
            </a: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585858"/>
                </a:solidFill>
                <a:latin typeface="Arial MT"/>
                <a:cs typeface="Arial MT"/>
              </a:rPr>
              <a:t>Priority</a:t>
            </a: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585858"/>
                </a:solidFill>
                <a:latin typeface="Arial MT"/>
                <a:cs typeface="Arial MT"/>
              </a:rPr>
              <a:t>Projects</a:t>
            </a: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585858"/>
                </a:solidFill>
                <a:latin typeface="Arial MT"/>
                <a:cs typeface="Arial MT"/>
              </a:rPr>
              <a:t>(NIPP)</a:t>
            </a:r>
            <a:r>
              <a:rPr dirty="0" sz="700" spc="50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585858"/>
                </a:solidFill>
                <a:latin typeface="Arial MT"/>
                <a:cs typeface="Arial MT"/>
              </a:rPr>
              <a:t>Funds</a:t>
            </a: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585858"/>
                </a:solidFill>
                <a:latin typeface="Arial MT"/>
                <a:cs typeface="Arial MT"/>
              </a:rPr>
              <a:t>Returned</a:t>
            </a:r>
            <a:r>
              <a:rPr dirty="0" sz="700" spc="-15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585858"/>
                </a:solidFill>
                <a:latin typeface="Arial MT"/>
                <a:cs typeface="Arial MT"/>
              </a:rPr>
              <a:t>to</a:t>
            </a:r>
            <a:r>
              <a:rPr dirty="0" sz="700" spc="-2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585858"/>
                </a:solidFill>
                <a:latin typeface="Arial MT"/>
                <a:cs typeface="Arial MT"/>
              </a:rPr>
              <a:t>Remitters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49" name="object 49" descr=""/>
          <p:cNvSpPr/>
          <p:nvPr/>
        </p:nvSpPr>
        <p:spPr>
          <a:xfrm>
            <a:off x="4252721" y="3694938"/>
            <a:ext cx="243840" cy="0"/>
          </a:xfrm>
          <a:custGeom>
            <a:avLst/>
            <a:gdLst/>
            <a:ahLst/>
            <a:cxnLst/>
            <a:rect l="l" t="t" r="r" b="b"/>
            <a:pathLst>
              <a:path w="243839" h="0">
                <a:moveTo>
                  <a:pt x="0" y="0"/>
                </a:moveTo>
                <a:lnTo>
                  <a:pt x="243839" y="0"/>
                </a:lnTo>
              </a:path>
            </a:pathLst>
          </a:custGeom>
          <a:ln w="28575">
            <a:solidFill>
              <a:srgbClr val="9E470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 descr=""/>
          <p:cNvSpPr txBox="1"/>
          <p:nvPr/>
        </p:nvSpPr>
        <p:spPr>
          <a:xfrm>
            <a:off x="4522978" y="3406902"/>
            <a:ext cx="1000760" cy="3492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700">
                <a:solidFill>
                  <a:srgbClr val="585858"/>
                </a:solidFill>
                <a:latin typeface="Arial MT"/>
                <a:cs typeface="Arial MT"/>
              </a:rPr>
              <a:t>Drawings</a:t>
            </a:r>
            <a:r>
              <a:rPr dirty="0" sz="700" spc="-15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585858"/>
                </a:solidFill>
                <a:latin typeface="Arial MT"/>
                <a:cs typeface="Arial MT"/>
              </a:rPr>
              <a:t>on</a:t>
            </a:r>
            <a:r>
              <a:rPr dirty="0" sz="700" spc="-5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L/C</a:t>
            </a:r>
            <a:endParaRPr sz="700">
              <a:latin typeface="Arial MT"/>
              <a:cs typeface="Arial MT"/>
            </a:endParaRPr>
          </a:p>
          <a:p>
            <a:pPr marR="5080">
              <a:lnSpc>
                <a:spcPts val="860"/>
              </a:lnSpc>
              <a:spcBef>
                <a:spcPts val="25"/>
              </a:spcBef>
            </a:pPr>
            <a:r>
              <a:rPr dirty="0" sz="700">
                <a:solidFill>
                  <a:srgbClr val="585858"/>
                </a:solidFill>
                <a:latin typeface="Arial MT"/>
                <a:cs typeface="Arial MT"/>
              </a:rPr>
              <a:t>Other</a:t>
            </a:r>
            <a:r>
              <a:rPr dirty="0" sz="700" spc="-35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585858"/>
                </a:solidFill>
                <a:latin typeface="Arial MT"/>
                <a:cs typeface="Arial MT"/>
              </a:rPr>
              <a:t>Official</a:t>
            </a:r>
            <a:r>
              <a:rPr dirty="0" sz="700" spc="-2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585858"/>
                </a:solidFill>
                <a:latin typeface="Arial MT"/>
                <a:cs typeface="Arial MT"/>
              </a:rPr>
              <a:t>Payments</a:t>
            </a:r>
            <a:r>
              <a:rPr dirty="0" sz="700" spc="50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585858"/>
                </a:solidFill>
                <a:latin typeface="Arial MT"/>
                <a:cs typeface="Arial MT"/>
              </a:rPr>
              <a:t>3RD</a:t>
            </a:r>
            <a:r>
              <a:rPr dirty="0" sz="700" spc="-15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585858"/>
                </a:solidFill>
                <a:latin typeface="Arial MT"/>
                <a:cs typeface="Arial MT"/>
              </a:rPr>
              <a:t>Party</a:t>
            </a:r>
            <a:r>
              <a:rPr dirty="0" sz="700" spc="-15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585858"/>
                </a:solidFill>
                <a:latin typeface="Arial MT"/>
                <a:cs typeface="Arial MT"/>
              </a:rPr>
              <a:t>MDA</a:t>
            </a:r>
            <a:r>
              <a:rPr dirty="0" sz="700" spc="-10">
                <a:solidFill>
                  <a:srgbClr val="585858"/>
                </a:solidFill>
                <a:latin typeface="Arial MT"/>
                <a:cs typeface="Arial MT"/>
              </a:rPr>
              <a:t> Transfer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51" name="object 51" descr=""/>
          <p:cNvSpPr/>
          <p:nvPr/>
        </p:nvSpPr>
        <p:spPr>
          <a:xfrm>
            <a:off x="7273290" y="3694938"/>
            <a:ext cx="243840" cy="0"/>
          </a:xfrm>
          <a:custGeom>
            <a:avLst/>
            <a:gdLst/>
            <a:ahLst/>
            <a:cxnLst/>
            <a:rect l="l" t="t" r="r" b="b"/>
            <a:pathLst>
              <a:path w="243840" h="0">
                <a:moveTo>
                  <a:pt x="0" y="0"/>
                </a:moveTo>
                <a:lnTo>
                  <a:pt x="243839" y="0"/>
                </a:lnTo>
              </a:path>
            </a:pathLst>
          </a:custGeom>
          <a:ln w="28575">
            <a:solidFill>
              <a:srgbClr val="A44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 descr=""/>
          <p:cNvSpPr txBox="1"/>
          <p:nvPr/>
        </p:nvSpPr>
        <p:spPr>
          <a:xfrm>
            <a:off x="7543800" y="3406902"/>
            <a:ext cx="1217930" cy="349250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R="350520">
              <a:lnSpc>
                <a:spcPct val="101699"/>
              </a:lnSpc>
              <a:spcBef>
                <a:spcPts val="80"/>
              </a:spcBef>
            </a:pPr>
            <a:r>
              <a:rPr dirty="0" sz="700">
                <a:solidFill>
                  <a:srgbClr val="585858"/>
                </a:solidFill>
                <a:latin typeface="Arial MT"/>
                <a:cs typeface="Arial MT"/>
              </a:rPr>
              <a:t>External</a:t>
            </a: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585858"/>
                </a:solidFill>
                <a:latin typeface="Arial MT"/>
                <a:cs typeface="Arial MT"/>
              </a:rPr>
              <a:t>Debt</a:t>
            </a:r>
            <a:r>
              <a:rPr dirty="0" sz="700" spc="-10">
                <a:solidFill>
                  <a:srgbClr val="585858"/>
                </a:solidFill>
                <a:latin typeface="Arial MT"/>
                <a:cs typeface="Arial MT"/>
              </a:rPr>
              <a:t> Service</a:t>
            </a:r>
            <a:r>
              <a:rPr dirty="0" sz="700" spc="50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585858"/>
                </a:solidFill>
                <a:latin typeface="Arial MT"/>
                <a:cs typeface="Arial MT"/>
              </a:rPr>
              <a:t>Bank</a:t>
            </a:r>
            <a:r>
              <a:rPr dirty="0" sz="700" spc="-2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585858"/>
                </a:solidFill>
                <a:latin typeface="Arial MT"/>
                <a:cs typeface="Arial MT"/>
              </a:rPr>
              <a:t>Charges</a:t>
            </a:r>
            <a:endParaRPr sz="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r>
              <a:rPr dirty="0" sz="700">
                <a:solidFill>
                  <a:srgbClr val="585858"/>
                </a:solidFill>
                <a:latin typeface="Arial MT"/>
                <a:cs typeface="Arial MT"/>
              </a:rPr>
              <a:t>Through</a:t>
            </a:r>
            <a:r>
              <a:rPr dirty="0" sz="700" spc="15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585858"/>
                </a:solidFill>
                <a:latin typeface="Arial MT"/>
                <a:cs typeface="Arial MT"/>
              </a:rPr>
              <a:t>Autonomous</a:t>
            </a:r>
            <a:r>
              <a:rPr dirty="0" sz="700" spc="5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585858"/>
                </a:solidFill>
                <a:latin typeface="Arial MT"/>
                <a:cs typeface="Arial MT"/>
              </a:rPr>
              <a:t>Sources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54" name="object 5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Impact</a:t>
            </a:r>
            <a:r>
              <a:rPr dirty="0" spc="35"/>
              <a:t> </a:t>
            </a:r>
            <a:r>
              <a:rPr dirty="0"/>
              <a:t>of</a:t>
            </a:r>
            <a:r>
              <a:rPr dirty="0" spc="50"/>
              <a:t> </a:t>
            </a:r>
            <a:r>
              <a:rPr dirty="0"/>
              <a:t>Global</a:t>
            </a:r>
            <a:r>
              <a:rPr dirty="0" spc="65"/>
              <a:t> </a:t>
            </a:r>
            <a:r>
              <a:rPr dirty="0"/>
              <a:t>Economic</a:t>
            </a:r>
            <a:r>
              <a:rPr dirty="0" spc="30"/>
              <a:t> </a:t>
            </a:r>
            <a:r>
              <a:rPr dirty="0"/>
              <a:t>Trends</a:t>
            </a:r>
            <a:r>
              <a:rPr dirty="0" spc="45"/>
              <a:t> </a:t>
            </a:r>
            <a:r>
              <a:rPr dirty="0"/>
              <a:t>on</a:t>
            </a:r>
            <a:r>
              <a:rPr dirty="0" spc="40"/>
              <a:t> </a:t>
            </a:r>
            <a:r>
              <a:rPr dirty="0"/>
              <a:t>Nigeria’s</a:t>
            </a:r>
            <a:r>
              <a:rPr dirty="0" spc="60"/>
              <a:t> </a:t>
            </a:r>
            <a:r>
              <a:rPr dirty="0"/>
              <a:t>Foreign</a:t>
            </a:r>
            <a:r>
              <a:rPr dirty="0" spc="45"/>
              <a:t> </a:t>
            </a:r>
            <a:r>
              <a:rPr dirty="0"/>
              <a:t>Exchange</a:t>
            </a:r>
            <a:r>
              <a:rPr dirty="0" spc="60"/>
              <a:t> </a:t>
            </a:r>
            <a:r>
              <a:rPr dirty="0" spc="-10"/>
              <a:t>Market</a:t>
            </a:r>
          </a:p>
        </p:txBody>
      </p:sp>
      <p:sp>
        <p:nvSpPr>
          <p:cNvPr id="55" name="object 5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October</a:t>
            </a:r>
            <a:r>
              <a:rPr dirty="0" spc="80"/>
              <a:t> </a:t>
            </a:r>
            <a:r>
              <a:rPr dirty="0" spc="-20"/>
              <a:t>2023</a:t>
            </a:r>
          </a:p>
        </p:txBody>
      </p:sp>
      <p:sp>
        <p:nvSpPr>
          <p:cNvPr id="56" name="object 5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815"/>
              </a:lnSpc>
            </a:pPr>
            <a:fld id="{81D60167-4931-47E6-BA6A-407CBD079E47}" type="slidenum">
              <a:rPr dirty="0" spc="-25"/>
              <a:t>26</a:t>
            </a:fld>
          </a:p>
        </p:txBody>
      </p:sp>
      <p:sp>
        <p:nvSpPr>
          <p:cNvPr id="53" name="object 5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49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WDAS/RDAS</a:t>
            </a:r>
            <a:r>
              <a:rPr dirty="0" spc="-30"/>
              <a:t> </a:t>
            </a:r>
            <a:r>
              <a:rPr dirty="0"/>
              <a:t>utilisation</a:t>
            </a:r>
            <a:r>
              <a:rPr dirty="0" spc="-25"/>
              <a:t> </a:t>
            </a:r>
            <a:r>
              <a:rPr dirty="0"/>
              <a:t>and</a:t>
            </a:r>
            <a:r>
              <a:rPr dirty="0" spc="-30"/>
              <a:t> </a:t>
            </a:r>
            <a:r>
              <a:rPr dirty="0"/>
              <a:t>FX</a:t>
            </a:r>
            <a:r>
              <a:rPr dirty="0" spc="-50"/>
              <a:t> </a:t>
            </a:r>
            <a:r>
              <a:rPr dirty="0"/>
              <a:t>intervention</a:t>
            </a:r>
            <a:r>
              <a:rPr dirty="0" spc="-30"/>
              <a:t> </a:t>
            </a:r>
            <a:r>
              <a:rPr dirty="0"/>
              <a:t>accounted</a:t>
            </a:r>
            <a:r>
              <a:rPr dirty="0" spc="-25"/>
              <a:t> </a:t>
            </a:r>
            <a:r>
              <a:rPr dirty="0"/>
              <a:t>for</a:t>
            </a:r>
            <a:r>
              <a:rPr dirty="0" spc="-55"/>
              <a:t> </a:t>
            </a:r>
            <a:r>
              <a:rPr dirty="0"/>
              <a:t>70%</a:t>
            </a:r>
            <a:r>
              <a:rPr dirty="0" spc="-45"/>
              <a:t> </a:t>
            </a:r>
            <a:r>
              <a:rPr dirty="0"/>
              <a:t>of</a:t>
            </a:r>
            <a:r>
              <a:rPr dirty="0" spc="-60"/>
              <a:t> </a:t>
            </a:r>
            <a:r>
              <a:rPr dirty="0"/>
              <a:t>FX</a:t>
            </a:r>
            <a:r>
              <a:rPr dirty="0" spc="-45"/>
              <a:t> </a:t>
            </a:r>
            <a:r>
              <a:rPr dirty="0"/>
              <a:t>outflows</a:t>
            </a:r>
            <a:r>
              <a:rPr dirty="0" spc="-55"/>
              <a:t> </a:t>
            </a:r>
            <a:r>
              <a:rPr dirty="0"/>
              <a:t>between</a:t>
            </a:r>
            <a:r>
              <a:rPr dirty="0" spc="-30"/>
              <a:t> </a:t>
            </a:r>
            <a:r>
              <a:rPr dirty="0"/>
              <a:t>2004</a:t>
            </a:r>
            <a:r>
              <a:rPr dirty="0" spc="-35"/>
              <a:t> </a:t>
            </a:r>
            <a:r>
              <a:rPr dirty="0"/>
              <a:t>and</a:t>
            </a:r>
            <a:r>
              <a:rPr dirty="0" spc="-40"/>
              <a:t> </a:t>
            </a:r>
            <a:r>
              <a:rPr dirty="0" spc="-20"/>
              <a:t>2021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268033" y="891349"/>
            <a:ext cx="9623425" cy="2961640"/>
            <a:chOff x="268033" y="891349"/>
            <a:chExt cx="9623425" cy="2961640"/>
          </a:xfrm>
        </p:grpSpPr>
        <p:sp>
          <p:nvSpPr>
            <p:cNvPr id="3" name="object 3" descr=""/>
            <p:cNvSpPr/>
            <p:nvPr/>
          </p:nvSpPr>
          <p:spPr>
            <a:xfrm>
              <a:off x="272795" y="896111"/>
              <a:ext cx="9613900" cy="2952115"/>
            </a:xfrm>
            <a:custGeom>
              <a:avLst/>
              <a:gdLst/>
              <a:ahLst/>
              <a:cxnLst/>
              <a:rect l="l" t="t" r="r" b="b"/>
              <a:pathLst>
                <a:path w="9613900" h="2952115">
                  <a:moveTo>
                    <a:pt x="0" y="2951988"/>
                  </a:moveTo>
                  <a:lnTo>
                    <a:pt x="9613392" y="2951988"/>
                  </a:lnTo>
                  <a:lnTo>
                    <a:pt x="9613392" y="0"/>
                  </a:lnTo>
                  <a:lnTo>
                    <a:pt x="0" y="0"/>
                  </a:lnTo>
                  <a:lnTo>
                    <a:pt x="0" y="2951988"/>
                  </a:lnTo>
                  <a:close/>
                </a:path>
              </a:pathLst>
            </a:custGeom>
            <a:ln w="9525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701040" y="1926335"/>
              <a:ext cx="8677910" cy="1478280"/>
            </a:xfrm>
            <a:custGeom>
              <a:avLst/>
              <a:gdLst/>
              <a:ahLst/>
              <a:cxnLst/>
              <a:rect l="l" t="t" r="r" b="b"/>
              <a:pathLst>
                <a:path w="8677910" h="1478279">
                  <a:moveTo>
                    <a:pt x="310896" y="0"/>
                  </a:moveTo>
                  <a:lnTo>
                    <a:pt x="0" y="0"/>
                  </a:lnTo>
                  <a:lnTo>
                    <a:pt x="0" y="1478280"/>
                  </a:lnTo>
                  <a:lnTo>
                    <a:pt x="310896" y="1478280"/>
                  </a:lnTo>
                  <a:lnTo>
                    <a:pt x="310896" y="0"/>
                  </a:lnTo>
                  <a:close/>
                </a:path>
                <a:path w="8677910" h="1478279">
                  <a:moveTo>
                    <a:pt x="775716" y="62484"/>
                  </a:moveTo>
                  <a:lnTo>
                    <a:pt x="464820" y="62484"/>
                  </a:lnTo>
                  <a:lnTo>
                    <a:pt x="464820" y="1478280"/>
                  </a:lnTo>
                  <a:lnTo>
                    <a:pt x="775716" y="1478280"/>
                  </a:lnTo>
                  <a:lnTo>
                    <a:pt x="775716" y="62484"/>
                  </a:lnTo>
                  <a:close/>
                </a:path>
                <a:path w="8677910" h="1478279">
                  <a:moveTo>
                    <a:pt x="1240536" y="167640"/>
                  </a:moveTo>
                  <a:lnTo>
                    <a:pt x="929640" y="167640"/>
                  </a:lnTo>
                  <a:lnTo>
                    <a:pt x="929640" y="1478280"/>
                  </a:lnTo>
                  <a:lnTo>
                    <a:pt x="1240536" y="1478280"/>
                  </a:lnTo>
                  <a:lnTo>
                    <a:pt x="1240536" y="167640"/>
                  </a:lnTo>
                  <a:close/>
                </a:path>
                <a:path w="8677910" h="1478279">
                  <a:moveTo>
                    <a:pt x="1705356" y="480072"/>
                  </a:moveTo>
                  <a:lnTo>
                    <a:pt x="1394460" y="480072"/>
                  </a:lnTo>
                  <a:lnTo>
                    <a:pt x="1394460" y="1478280"/>
                  </a:lnTo>
                  <a:lnTo>
                    <a:pt x="1705356" y="1478280"/>
                  </a:lnTo>
                  <a:lnTo>
                    <a:pt x="1705356" y="480072"/>
                  </a:lnTo>
                  <a:close/>
                </a:path>
                <a:path w="8677910" h="1478279">
                  <a:moveTo>
                    <a:pt x="2170176" y="521220"/>
                  </a:moveTo>
                  <a:lnTo>
                    <a:pt x="1859280" y="521220"/>
                  </a:lnTo>
                  <a:lnTo>
                    <a:pt x="1859280" y="1478280"/>
                  </a:lnTo>
                  <a:lnTo>
                    <a:pt x="2170176" y="1478280"/>
                  </a:lnTo>
                  <a:lnTo>
                    <a:pt x="2170176" y="521220"/>
                  </a:lnTo>
                  <a:close/>
                </a:path>
                <a:path w="8677910" h="1478279">
                  <a:moveTo>
                    <a:pt x="2634996" y="708660"/>
                  </a:moveTo>
                  <a:lnTo>
                    <a:pt x="2324100" y="708660"/>
                  </a:lnTo>
                  <a:lnTo>
                    <a:pt x="2324100" y="1478280"/>
                  </a:lnTo>
                  <a:lnTo>
                    <a:pt x="2634996" y="1478280"/>
                  </a:lnTo>
                  <a:lnTo>
                    <a:pt x="2634996" y="708660"/>
                  </a:lnTo>
                  <a:close/>
                </a:path>
                <a:path w="8677910" h="1478279">
                  <a:moveTo>
                    <a:pt x="3099816" y="853440"/>
                  </a:moveTo>
                  <a:lnTo>
                    <a:pt x="2790444" y="853440"/>
                  </a:lnTo>
                  <a:lnTo>
                    <a:pt x="2790444" y="1478280"/>
                  </a:lnTo>
                  <a:lnTo>
                    <a:pt x="3099816" y="1478280"/>
                  </a:lnTo>
                  <a:lnTo>
                    <a:pt x="3099816" y="853440"/>
                  </a:lnTo>
                  <a:close/>
                </a:path>
                <a:path w="8677910" h="1478279">
                  <a:moveTo>
                    <a:pt x="3564636" y="541020"/>
                  </a:moveTo>
                  <a:lnTo>
                    <a:pt x="3255264" y="541020"/>
                  </a:lnTo>
                  <a:lnTo>
                    <a:pt x="3255264" y="1478280"/>
                  </a:lnTo>
                  <a:lnTo>
                    <a:pt x="3564636" y="1478280"/>
                  </a:lnTo>
                  <a:lnTo>
                    <a:pt x="3564636" y="541020"/>
                  </a:lnTo>
                  <a:close/>
                </a:path>
                <a:path w="8677910" h="1478279">
                  <a:moveTo>
                    <a:pt x="4029456" y="665988"/>
                  </a:moveTo>
                  <a:lnTo>
                    <a:pt x="3720084" y="665988"/>
                  </a:lnTo>
                  <a:lnTo>
                    <a:pt x="3720084" y="1478280"/>
                  </a:lnTo>
                  <a:lnTo>
                    <a:pt x="4029456" y="1478280"/>
                  </a:lnTo>
                  <a:lnTo>
                    <a:pt x="4029456" y="665988"/>
                  </a:lnTo>
                  <a:close/>
                </a:path>
                <a:path w="8677910" h="1478279">
                  <a:moveTo>
                    <a:pt x="4494276" y="896112"/>
                  </a:moveTo>
                  <a:lnTo>
                    <a:pt x="4184904" y="896112"/>
                  </a:lnTo>
                  <a:lnTo>
                    <a:pt x="4184904" y="1478280"/>
                  </a:lnTo>
                  <a:lnTo>
                    <a:pt x="4494276" y="1478280"/>
                  </a:lnTo>
                  <a:lnTo>
                    <a:pt x="4494276" y="896112"/>
                  </a:lnTo>
                  <a:close/>
                </a:path>
                <a:path w="8677910" h="1478279">
                  <a:moveTo>
                    <a:pt x="4959096" y="562356"/>
                  </a:moveTo>
                  <a:lnTo>
                    <a:pt x="4649724" y="562356"/>
                  </a:lnTo>
                  <a:lnTo>
                    <a:pt x="4649724" y="1478280"/>
                  </a:lnTo>
                  <a:lnTo>
                    <a:pt x="4959096" y="1478280"/>
                  </a:lnTo>
                  <a:lnTo>
                    <a:pt x="4959096" y="562356"/>
                  </a:lnTo>
                  <a:close/>
                </a:path>
                <a:path w="8677910" h="1478279">
                  <a:moveTo>
                    <a:pt x="5423916" y="771144"/>
                  </a:moveTo>
                  <a:lnTo>
                    <a:pt x="5114544" y="771144"/>
                  </a:lnTo>
                  <a:lnTo>
                    <a:pt x="5114544" y="1478280"/>
                  </a:lnTo>
                  <a:lnTo>
                    <a:pt x="5423916" y="1478280"/>
                  </a:lnTo>
                  <a:lnTo>
                    <a:pt x="5423916" y="771144"/>
                  </a:lnTo>
                  <a:close/>
                </a:path>
                <a:path w="8677910" h="1478279">
                  <a:moveTo>
                    <a:pt x="5888736" y="771144"/>
                  </a:moveTo>
                  <a:lnTo>
                    <a:pt x="5579364" y="771144"/>
                  </a:lnTo>
                  <a:lnTo>
                    <a:pt x="5579364" y="1478280"/>
                  </a:lnTo>
                  <a:lnTo>
                    <a:pt x="5888736" y="1478280"/>
                  </a:lnTo>
                  <a:lnTo>
                    <a:pt x="5888736" y="771144"/>
                  </a:lnTo>
                  <a:close/>
                </a:path>
                <a:path w="8677910" h="1478279">
                  <a:moveTo>
                    <a:pt x="6353556" y="480072"/>
                  </a:moveTo>
                  <a:lnTo>
                    <a:pt x="6044184" y="480072"/>
                  </a:lnTo>
                  <a:lnTo>
                    <a:pt x="6044184" y="1478280"/>
                  </a:lnTo>
                  <a:lnTo>
                    <a:pt x="6353556" y="1478280"/>
                  </a:lnTo>
                  <a:lnTo>
                    <a:pt x="6353556" y="480072"/>
                  </a:lnTo>
                  <a:close/>
                </a:path>
                <a:path w="8677910" h="1478279">
                  <a:moveTo>
                    <a:pt x="6818376" y="480072"/>
                  </a:moveTo>
                  <a:lnTo>
                    <a:pt x="6509004" y="480072"/>
                  </a:lnTo>
                  <a:lnTo>
                    <a:pt x="6509004" y="1478280"/>
                  </a:lnTo>
                  <a:lnTo>
                    <a:pt x="6818376" y="1478280"/>
                  </a:lnTo>
                  <a:lnTo>
                    <a:pt x="6818376" y="480072"/>
                  </a:lnTo>
                  <a:close/>
                </a:path>
                <a:path w="8677910" h="1478279">
                  <a:moveTo>
                    <a:pt x="7283196" y="665988"/>
                  </a:moveTo>
                  <a:lnTo>
                    <a:pt x="6973824" y="665988"/>
                  </a:lnTo>
                  <a:lnTo>
                    <a:pt x="6973824" y="1478280"/>
                  </a:lnTo>
                  <a:lnTo>
                    <a:pt x="7283196" y="1478280"/>
                  </a:lnTo>
                  <a:lnTo>
                    <a:pt x="7283196" y="665988"/>
                  </a:lnTo>
                  <a:close/>
                </a:path>
                <a:path w="8677910" h="1478279">
                  <a:moveTo>
                    <a:pt x="7748016" y="749808"/>
                  </a:moveTo>
                  <a:lnTo>
                    <a:pt x="7438644" y="749808"/>
                  </a:lnTo>
                  <a:lnTo>
                    <a:pt x="7438644" y="1478280"/>
                  </a:lnTo>
                  <a:lnTo>
                    <a:pt x="7748016" y="1478280"/>
                  </a:lnTo>
                  <a:lnTo>
                    <a:pt x="7748016" y="749808"/>
                  </a:lnTo>
                  <a:close/>
                </a:path>
                <a:path w="8677910" h="1478279">
                  <a:moveTo>
                    <a:pt x="8212836" y="603504"/>
                  </a:moveTo>
                  <a:lnTo>
                    <a:pt x="7903464" y="603504"/>
                  </a:lnTo>
                  <a:lnTo>
                    <a:pt x="7903464" y="1478280"/>
                  </a:lnTo>
                  <a:lnTo>
                    <a:pt x="8212836" y="1478280"/>
                  </a:lnTo>
                  <a:lnTo>
                    <a:pt x="8212836" y="603504"/>
                  </a:lnTo>
                  <a:close/>
                </a:path>
                <a:path w="8677910" h="1478279">
                  <a:moveTo>
                    <a:pt x="8677656" y="624840"/>
                  </a:moveTo>
                  <a:lnTo>
                    <a:pt x="8368284" y="624840"/>
                  </a:lnTo>
                  <a:lnTo>
                    <a:pt x="8368284" y="1478280"/>
                  </a:lnTo>
                  <a:lnTo>
                    <a:pt x="8677656" y="1478280"/>
                  </a:lnTo>
                  <a:lnTo>
                    <a:pt x="8677656" y="62484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701040" y="1322831"/>
              <a:ext cx="8677910" cy="1499870"/>
            </a:xfrm>
            <a:custGeom>
              <a:avLst/>
              <a:gdLst/>
              <a:ahLst/>
              <a:cxnLst/>
              <a:rect l="l" t="t" r="r" b="b"/>
              <a:pathLst>
                <a:path w="8677910" h="1499870">
                  <a:moveTo>
                    <a:pt x="310896" y="0"/>
                  </a:moveTo>
                  <a:lnTo>
                    <a:pt x="0" y="0"/>
                  </a:lnTo>
                  <a:lnTo>
                    <a:pt x="0" y="603504"/>
                  </a:lnTo>
                  <a:lnTo>
                    <a:pt x="310896" y="603504"/>
                  </a:lnTo>
                  <a:lnTo>
                    <a:pt x="310896" y="0"/>
                  </a:lnTo>
                  <a:close/>
                </a:path>
                <a:path w="8677910" h="1499870">
                  <a:moveTo>
                    <a:pt x="775716" y="0"/>
                  </a:moveTo>
                  <a:lnTo>
                    <a:pt x="464820" y="0"/>
                  </a:lnTo>
                  <a:lnTo>
                    <a:pt x="464820" y="665988"/>
                  </a:lnTo>
                  <a:lnTo>
                    <a:pt x="775716" y="665988"/>
                  </a:lnTo>
                  <a:lnTo>
                    <a:pt x="775716" y="0"/>
                  </a:lnTo>
                  <a:close/>
                </a:path>
                <a:path w="8677910" h="1499870">
                  <a:moveTo>
                    <a:pt x="1240536" y="0"/>
                  </a:moveTo>
                  <a:lnTo>
                    <a:pt x="929640" y="0"/>
                  </a:lnTo>
                  <a:lnTo>
                    <a:pt x="929640" y="771144"/>
                  </a:lnTo>
                  <a:lnTo>
                    <a:pt x="1240536" y="771144"/>
                  </a:lnTo>
                  <a:lnTo>
                    <a:pt x="1240536" y="0"/>
                  </a:lnTo>
                  <a:close/>
                </a:path>
                <a:path w="8677910" h="1499870">
                  <a:moveTo>
                    <a:pt x="1705356" y="0"/>
                  </a:moveTo>
                  <a:lnTo>
                    <a:pt x="1394460" y="0"/>
                  </a:lnTo>
                  <a:lnTo>
                    <a:pt x="1394460" y="1083576"/>
                  </a:lnTo>
                  <a:lnTo>
                    <a:pt x="1705356" y="1083576"/>
                  </a:lnTo>
                  <a:lnTo>
                    <a:pt x="1705356" y="0"/>
                  </a:lnTo>
                  <a:close/>
                </a:path>
                <a:path w="8677910" h="1499870">
                  <a:moveTo>
                    <a:pt x="2170176" y="0"/>
                  </a:moveTo>
                  <a:lnTo>
                    <a:pt x="1859280" y="0"/>
                  </a:lnTo>
                  <a:lnTo>
                    <a:pt x="1859280" y="1124724"/>
                  </a:lnTo>
                  <a:lnTo>
                    <a:pt x="2170176" y="1124724"/>
                  </a:lnTo>
                  <a:lnTo>
                    <a:pt x="2170176" y="0"/>
                  </a:lnTo>
                  <a:close/>
                </a:path>
                <a:path w="8677910" h="1499870">
                  <a:moveTo>
                    <a:pt x="2634996" y="0"/>
                  </a:moveTo>
                  <a:lnTo>
                    <a:pt x="2324100" y="0"/>
                  </a:lnTo>
                  <a:lnTo>
                    <a:pt x="2324100" y="1312164"/>
                  </a:lnTo>
                  <a:lnTo>
                    <a:pt x="2634996" y="1312164"/>
                  </a:lnTo>
                  <a:lnTo>
                    <a:pt x="2634996" y="0"/>
                  </a:lnTo>
                  <a:close/>
                </a:path>
                <a:path w="8677910" h="1499870">
                  <a:moveTo>
                    <a:pt x="3099816" y="0"/>
                  </a:moveTo>
                  <a:lnTo>
                    <a:pt x="2790444" y="0"/>
                  </a:lnTo>
                  <a:lnTo>
                    <a:pt x="2790444" y="1456944"/>
                  </a:lnTo>
                  <a:lnTo>
                    <a:pt x="3099816" y="1456944"/>
                  </a:lnTo>
                  <a:lnTo>
                    <a:pt x="3099816" y="0"/>
                  </a:lnTo>
                  <a:close/>
                </a:path>
                <a:path w="8677910" h="1499870">
                  <a:moveTo>
                    <a:pt x="3564636" y="0"/>
                  </a:moveTo>
                  <a:lnTo>
                    <a:pt x="3255264" y="0"/>
                  </a:lnTo>
                  <a:lnTo>
                    <a:pt x="3255264" y="1144524"/>
                  </a:lnTo>
                  <a:lnTo>
                    <a:pt x="3564636" y="1144524"/>
                  </a:lnTo>
                  <a:lnTo>
                    <a:pt x="3564636" y="0"/>
                  </a:lnTo>
                  <a:close/>
                </a:path>
                <a:path w="8677910" h="1499870">
                  <a:moveTo>
                    <a:pt x="4029456" y="0"/>
                  </a:moveTo>
                  <a:lnTo>
                    <a:pt x="3720084" y="0"/>
                  </a:lnTo>
                  <a:lnTo>
                    <a:pt x="3720084" y="1269492"/>
                  </a:lnTo>
                  <a:lnTo>
                    <a:pt x="4029456" y="1269492"/>
                  </a:lnTo>
                  <a:lnTo>
                    <a:pt x="4029456" y="0"/>
                  </a:lnTo>
                  <a:close/>
                </a:path>
                <a:path w="8677910" h="1499870">
                  <a:moveTo>
                    <a:pt x="4494276" y="0"/>
                  </a:moveTo>
                  <a:lnTo>
                    <a:pt x="4184904" y="0"/>
                  </a:lnTo>
                  <a:lnTo>
                    <a:pt x="4184904" y="1499616"/>
                  </a:lnTo>
                  <a:lnTo>
                    <a:pt x="4494276" y="1499616"/>
                  </a:lnTo>
                  <a:lnTo>
                    <a:pt x="4494276" y="0"/>
                  </a:lnTo>
                  <a:close/>
                </a:path>
                <a:path w="8677910" h="1499870">
                  <a:moveTo>
                    <a:pt x="4959096" y="0"/>
                  </a:moveTo>
                  <a:lnTo>
                    <a:pt x="4649724" y="0"/>
                  </a:lnTo>
                  <a:lnTo>
                    <a:pt x="4649724" y="1165860"/>
                  </a:lnTo>
                  <a:lnTo>
                    <a:pt x="4959096" y="1165860"/>
                  </a:lnTo>
                  <a:lnTo>
                    <a:pt x="4959096" y="0"/>
                  </a:lnTo>
                  <a:close/>
                </a:path>
                <a:path w="8677910" h="1499870">
                  <a:moveTo>
                    <a:pt x="5423916" y="0"/>
                  </a:moveTo>
                  <a:lnTo>
                    <a:pt x="5114544" y="0"/>
                  </a:lnTo>
                  <a:lnTo>
                    <a:pt x="5114544" y="1374648"/>
                  </a:lnTo>
                  <a:lnTo>
                    <a:pt x="5423916" y="1374648"/>
                  </a:lnTo>
                  <a:lnTo>
                    <a:pt x="5423916" y="0"/>
                  </a:lnTo>
                  <a:close/>
                </a:path>
                <a:path w="8677910" h="1499870">
                  <a:moveTo>
                    <a:pt x="5888736" y="0"/>
                  </a:moveTo>
                  <a:lnTo>
                    <a:pt x="5579364" y="0"/>
                  </a:lnTo>
                  <a:lnTo>
                    <a:pt x="5579364" y="1374648"/>
                  </a:lnTo>
                  <a:lnTo>
                    <a:pt x="5888736" y="1374648"/>
                  </a:lnTo>
                  <a:lnTo>
                    <a:pt x="5888736" y="0"/>
                  </a:lnTo>
                  <a:close/>
                </a:path>
                <a:path w="8677910" h="1499870">
                  <a:moveTo>
                    <a:pt x="6353556" y="0"/>
                  </a:moveTo>
                  <a:lnTo>
                    <a:pt x="6044184" y="0"/>
                  </a:lnTo>
                  <a:lnTo>
                    <a:pt x="6044184" y="1083576"/>
                  </a:lnTo>
                  <a:lnTo>
                    <a:pt x="6353556" y="1083576"/>
                  </a:lnTo>
                  <a:lnTo>
                    <a:pt x="6353556" y="0"/>
                  </a:lnTo>
                  <a:close/>
                </a:path>
                <a:path w="8677910" h="1499870">
                  <a:moveTo>
                    <a:pt x="6818376" y="0"/>
                  </a:moveTo>
                  <a:lnTo>
                    <a:pt x="6509004" y="0"/>
                  </a:lnTo>
                  <a:lnTo>
                    <a:pt x="6509004" y="1083576"/>
                  </a:lnTo>
                  <a:lnTo>
                    <a:pt x="6818376" y="1083576"/>
                  </a:lnTo>
                  <a:lnTo>
                    <a:pt x="6818376" y="0"/>
                  </a:lnTo>
                  <a:close/>
                </a:path>
                <a:path w="8677910" h="1499870">
                  <a:moveTo>
                    <a:pt x="7283196" y="0"/>
                  </a:moveTo>
                  <a:lnTo>
                    <a:pt x="6973824" y="0"/>
                  </a:lnTo>
                  <a:lnTo>
                    <a:pt x="6973824" y="1269492"/>
                  </a:lnTo>
                  <a:lnTo>
                    <a:pt x="7283196" y="1269492"/>
                  </a:lnTo>
                  <a:lnTo>
                    <a:pt x="7283196" y="0"/>
                  </a:lnTo>
                  <a:close/>
                </a:path>
                <a:path w="8677910" h="1499870">
                  <a:moveTo>
                    <a:pt x="7748016" y="0"/>
                  </a:moveTo>
                  <a:lnTo>
                    <a:pt x="7438644" y="0"/>
                  </a:lnTo>
                  <a:lnTo>
                    <a:pt x="7438644" y="1353312"/>
                  </a:lnTo>
                  <a:lnTo>
                    <a:pt x="7748016" y="1353312"/>
                  </a:lnTo>
                  <a:lnTo>
                    <a:pt x="7748016" y="0"/>
                  </a:lnTo>
                  <a:close/>
                </a:path>
                <a:path w="8677910" h="1499870">
                  <a:moveTo>
                    <a:pt x="8212836" y="0"/>
                  </a:moveTo>
                  <a:lnTo>
                    <a:pt x="7903464" y="0"/>
                  </a:lnTo>
                  <a:lnTo>
                    <a:pt x="7903464" y="1207008"/>
                  </a:lnTo>
                  <a:lnTo>
                    <a:pt x="8212836" y="1207008"/>
                  </a:lnTo>
                  <a:lnTo>
                    <a:pt x="8212836" y="0"/>
                  </a:lnTo>
                  <a:close/>
                </a:path>
                <a:path w="8677910" h="1499870">
                  <a:moveTo>
                    <a:pt x="8677656" y="0"/>
                  </a:moveTo>
                  <a:lnTo>
                    <a:pt x="8368284" y="0"/>
                  </a:lnTo>
                  <a:lnTo>
                    <a:pt x="8368284" y="1228344"/>
                  </a:lnTo>
                  <a:lnTo>
                    <a:pt x="8677656" y="1228344"/>
                  </a:lnTo>
                  <a:lnTo>
                    <a:pt x="867765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23315" y="3404616"/>
              <a:ext cx="8833485" cy="0"/>
            </a:xfrm>
            <a:custGeom>
              <a:avLst/>
              <a:gdLst/>
              <a:ahLst/>
              <a:cxnLst/>
              <a:rect l="l" t="t" r="r" b="b"/>
              <a:pathLst>
                <a:path w="8833485" h="0">
                  <a:moveTo>
                    <a:pt x="0" y="0"/>
                  </a:moveTo>
                  <a:lnTo>
                    <a:pt x="8833104" y="0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856487" y="1504073"/>
              <a:ext cx="8368665" cy="1445260"/>
            </a:xfrm>
            <a:custGeom>
              <a:avLst/>
              <a:gdLst/>
              <a:ahLst/>
              <a:cxnLst/>
              <a:rect l="l" t="t" r="r" b="b"/>
              <a:pathLst>
                <a:path w="8368665" h="1445260">
                  <a:moveTo>
                    <a:pt x="0" y="1444866"/>
                  </a:moveTo>
                  <a:lnTo>
                    <a:pt x="46489" y="1423593"/>
                  </a:lnTo>
                  <a:lnTo>
                    <a:pt x="92979" y="1401590"/>
                  </a:lnTo>
                  <a:lnTo>
                    <a:pt x="139470" y="1379170"/>
                  </a:lnTo>
                  <a:lnTo>
                    <a:pt x="185961" y="1356644"/>
                  </a:lnTo>
                  <a:lnTo>
                    <a:pt x="232454" y="1334328"/>
                  </a:lnTo>
                  <a:lnTo>
                    <a:pt x="278948" y="1312534"/>
                  </a:lnTo>
                  <a:lnTo>
                    <a:pt x="325444" y="1291575"/>
                  </a:lnTo>
                  <a:lnTo>
                    <a:pt x="371942" y="1271764"/>
                  </a:lnTo>
                  <a:lnTo>
                    <a:pt x="418443" y="1253414"/>
                  </a:lnTo>
                  <a:lnTo>
                    <a:pt x="464947" y="1236840"/>
                  </a:lnTo>
                  <a:lnTo>
                    <a:pt x="516593" y="1221198"/>
                  </a:lnTo>
                  <a:lnTo>
                    <a:pt x="568240" y="1208450"/>
                  </a:lnTo>
                  <a:lnTo>
                    <a:pt x="619886" y="1197794"/>
                  </a:lnTo>
                  <a:lnTo>
                    <a:pt x="671533" y="1188427"/>
                  </a:lnTo>
                  <a:lnTo>
                    <a:pt x="723180" y="1179546"/>
                  </a:lnTo>
                  <a:lnTo>
                    <a:pt x="774826" y="1170348"/>
                  </a:lnTo>
                  <a:lnTo>
                    <a:pt x="826473" y="1160031"/>
                  </a:lnTo>
                  <a:lnTo>
                    <a:pt x="878120" y="1147791"/>
                  </a:lnTo>
                  <a:lnTo>
                    <a:pt x="929767" y="1132827"/>
                  </a:lnTo>
                  <a:lnTo>
                    <a:pt x="976283" y="1118045"/>
                  </a:lnTo>
                  <a:lnTo>
                    <a:pt x="1022792" y="1103359"/>
                  </a:lnTo>
                  <a:lnTo>
                    <a:pt x="1069296" y="1088339"/>
                  </a:lnTo>
                  <a:lnTo>
                    <a:pt x="1115794" y="1072556"/>
                  </a:lnTo>
                  <a:lnTo>
                    <a:pt x="1162288" y="1055579"/>
                  </a:lnTo>
                  <a:lnTo>
                    <a:pt x="1208777" y="1036979"/>
                  </a:lnTo>
                  <a:lnTo>
                    <a:pt x="1255264" y="1016327"/>
                  </a:lnTo>
                  <a:lnTo>
                    <a:pt x="1301748" y="993192"/>
                  </a:lnTo>
                  <a:lnTo>
                    <a:pt x="1348231" y="967144"/>
                  </a:lnTo>
                  <a:lnTo>
                    <a:pt x="1394714" y="937755"/>
                  </a:lnTo>
                  <a:lnTo>
                    <a:pt x="1427915" y="912066"/>
                  </a:lnTo>
                  <a:lnTo>
                    <a:pt x="1461117" y="880440"/>
                  </a:lnTo>
                  <a:lnTo>
                    <a:pt x="1494319" y="844170"/>
                  </a:lnTo>
                  <a:lnTo>
                    <a:pt x="1527522" y="804548"/>
                  </a:lnTo>
                  <a:lnTo>
                    <a:pt x="1560726" y="762870"/>
                  </a:lnTo>
                  <a:lnTo>
                    <a:pt x="1593932" y="720428"/>
                  </a:lnTo>
                  <a:lnTo>
                    <a:pt x="1627139" y="678516"/>
                  </a:lnTo>
                  <a:lnTo>
                    <a:pt x="1660349" y="638427"/>
                  </a:lnTo>
                  <a:lnTo>
                    <a:pt x="1693560" y="601455"/>
                  </a:lnTo>
                  <a:lnTo>
                    <a:pt x="1726774" y="568894"/>
                  </a:lnTo>
                  <a:lnTo>
                    <a:pt x="1759991" y="542036"/>
                  </a:lnTo>
                  <a:lnTo>
                    <a:pt x="1793211" y="522176"/>
                  </a:lnTo>
                  <a:lnTo>
                    <a:pt x="1859661" y="508622"/>
                  </a:lnTo>
                  <a:lnTo>
                    <a:pt x="1888712" y="516573"/>
                  </a:lnTo>
                  <a:lnTo>
                    <a:pt x="1946814" y="559269"/>
                  </a:lnTo>
                  <a:lnTo>
                    <a:pt x="1975865" y="591402"/>
                  </a:lnTo>
                  <a:lnTo>
                    <a:pt x="2004917" y="628985"/>
                  </a:lnTo>
                  <a:lnTo>
                    <a:pt x="2033968" y="670713"/>
                  </a:lnTo>
                  <a:lnTo>
                    <a:pt x="2063019" y="715281"/>
                  </a:lnTo>
                  <a:lnTo>
                    <a:pt x="2092070" y="761384"/>
                  </a:lnTo>
                  <a:lnTo>
                    <a:pt x="2121122" y="807715"/>
                  </a:lnTo>
                  <a:lnTo>
                    <a:pt x="2150173" y="852970"/>
                  </a:lnTo>
                  <a:lnTo>
                    <a:pt x="2179224" y="895845"/>
                  </a:lnTo>
                  <a:lnTo>
                    <a:pt x="2208275" y="935032"/>
                  </a:lnTo>
                  <a:lnTo>
                    <a:pt x="2237327" y="969228"/>
                  </a:lnTo>
                  <a:lnTo>
                    <a:pt x="2266378" y="997127"/>
                  </a:lnTo>
                  <a:lnTo>
                    <a:pt x="2324481" y="1028814"/>
                  </a:lnTo>
                  <a:lnTo>
                    <a:pt x="2360263" y="1031725"/>
                  </a:lnTo>
                  <a:lnTo>
                    <a:pt x="2396041" y="1025331"/>
                  </a:lnTo>
                  <a:lnTo>
                    <a:pt x="2431816" y="1010946"/>
                  </a:lnTo>
                  <a:lnTo>
                    <a:pt x="2467587" y="989885"/>
                  </a:lnTo>
                  <a:lnTo>
                    <a:pt x="2503355" y="963460"/>
                  </a:lnTo>
                  <a:lnTo>
                    <a:pt x="2539120" y="932986"/>
                  </a:lnTo>
                  <a:lnTo>
                    <a:pt x="2574883" y="899776"/>
                  </a:lnTo>
                  <a:lnTo>
                    <a:pt x="2610643" y="865145"/>
                  </a:lnTo>
                  <a:lnTo>
                    <a:pt x="2646402" y="830406"/>
                  </a:lnTo>
                  <a:lnTo>
                    <a:pt x="2682160" y="796873"/>
                  </a:lnTo>
                  <a:lnTo>
                    <a:pt x="2717916" y="765860"/>
                  </a:lnTo>
                  <a:lnTo>
                    <a:pt x="2753672" y="738680"/>
                  </a:lnTo>
                  <a:lnTo>
                    <a:pt x="2789428" y="716648"/>
                  </a:lnTo>
                  <a:lnTo>
                    <a:pt x="2835910" y="693193"/>
                  </a:lnTo>
                  <a:lnTo>
                    <a:pt x="2882393" y="671947"/>
                  </a:lnTo>
                  <a:lnTo>
                    <a:pt x="2928877" y="652519"/>
                  </a:lnTo>
                  <a:lnTo>
                    <a:pt x="2975364" y="634518"/>
                  </a:lnTo>
                  <a:lnTo>
                    <a:pt x="3021853" y="617556"/>
                  </a:lnTo>
                  <a:lnTo>
                    <a:pt x="3068347" y="601241"/>
                  </a:lnTo>
                  <a:lnTo>
                    <a:pt x="3114845" y="585184"/>
                  </a:lnTo>
                  <a:lnTo>
                    <a:pt x="3161349" y="568995"/>
                  </a:lnTo>
                  <a:lnTo>
                    <a:pt x="3207858" y="552282"/>
                  </a:lnTo>
                  <a:lnTo>
                    <a:pt x="3254375" y="534657"/>
                  </a:lnTo>
                  <a:lnTo>
                    <a:pt x="3300857" y="517206"/>
                  </a:lnTo>
                  <a:lnTo>
                    <a:pt x="3347339" y="500940"/>
                  </a:lnTo>
                  <a:lnTo>
                    <a:pt x="3393821" y="485350"/>
                  </a:lnTo>
                  <a:lnTo>
                    <a:pt x="3440303" y="469929"/>
                  </a:lnTo>
                  <a:lnTo>
                    <a:pt x="3486785" y="454171"/>
                  </a:lnTo>
                  <a:lnTo>
                    <a:pt x="3533267" y="437566"/>
                  </a:lnTo>
                  <a:lnTo>
                    <a:pt x="3579749" y="419608"/>
                  </a:lnTo>
                  <a:lnTo>
                    <a:pt x="3626231" y="399789"/>
                  </a:lnTo>
                  <a:lnTo>
                    <a:pt x="3672713" y="377602"/>
                  </a:lnTo>
                  <a:lnTo>
                    <a:pt x="3719195" y="352539"/>
                  </a:lnTo>
                  <a:lnTo>
                    <a:pt x="3754977" y="328674"/>
                  </a:lnTo>
                  <a:lnTo>
                    <a:pt x="3790755" y="299011"/>
                  </a:lnTo>
                  <a:lnTo>
                    <a:pt x="3826530" y="264989"/>
                  </a:lnTo>
                  <a:lnTo>
                    <a:pt x="3862301" y="228046"/>
                  </a:lnTo>
                  <a:lnTo>
                    <a:pt x="3898069" y="189622"/>
                  </a:lnTo>
                  <a:lnTo>
                    <a:pt x="3933834" y="151153"/>
                  </a:lnTo>
                  <a:lnTo>
                    <a:pt x="3969597" y="114080"/>
                  </a:lnTo>
                  <a:lnTo>
                    <a:pt x="4005357" y="79842"/>
                  </a:lnTo>
                  <a:lnTo>
                    <a:pt x="4041116" y="49875"/>
                  </a:lnTo>
                  <a:lnTo>
                    <a:pt x="4076874" y="25620"/>
                  </a:lnTo>
                  <a:lnTo>
                    <a:pt x="4112630" y="8516"/>
                  </a:lnTo>
                  <a:lnTo>
                    <a:pt x="4148386" y="0"/>
                  </a:lnTo>
                  <a:lnTo>
                    <a:pt x="4184141" y="1511"/>
                  </a:lnTo>
                  <a:lnTo>
                    <a:pt x="4246118" y="31929"/>
                  </a:lnTo>
                  <a:lnTo>
                    <a:pt x="4277107" y="59043"/>
                  </a:lnTo>
                  <a:lnTo>
                    <a:pt x="4308096" y="92490"/>
                  </a:lnTo>
                  <a:lnTo>
                    <a:pt x="4339086" y="131070"/>
                  </a:lnTo>
                  <a:lnTo>
                    <a:pt x="4370078" y="173579"/>
                  </a:lnTo>
                  <a:lnTo>
                    <a:pt x="4401070" y="218815"/>
                  </a:lnTo>
                  <a:lnTo>
                    <a:pt x="4432065" y="265577"/>
                  </a:lnTo>
                  <a:lnTo>
                    <a:pt x="4463061" y="312663"/>
                  </a:lnTo>
                  <a:lnTo>
                    <a:pt x="4494059" y="358870"/>
                  </a:lnTo>
                  <a:lnTo>
                    <a:pt x="4525060" y="402997"/>
                  </a:lnTo>
                  <a:lnTo>
                    <a:pt x="4556063" y="443841"/>
                  </a:lnTo>
                  <a:lnTo>
                    <a:pt x="4587068" y="480200"/>
                  </a:lnTo>
                  <a:lnTo>
                    <a:pt x="4618077" y="510873"/>
                  </a:lnTo>
                  <a:lnTo>
                    <a:pt x="4649089" y="534657"/>
                  </a:lnTo>
                  <a:lnTo>
                    <a:pt x="4691345" y="556590"/>
                  </a:lnTo>
                  <a:lnTo>
                    <a:pt x="4733601" y="569338"/>
                  </a:lnTo>
                  <a:lnTo>
                    <a:pt x="4775858" y="574895"/>
                  </a:lnTo>
                  <a:lnTo>
                    <a:pt x="4818114" y="575254"/>
                  </a:lnTo>
                  <a:lnTo>
                    <a:pt x="4860370" y="572409"/>
                  </a:lnTo>
                  <a:lnTo>
                    <a:pt x="4902627" y="568353"/>
                  </a:lnTo>
                  <a:lnTo>
                    <a:pt x="4944883" y="565079"/>
                  </a:lnTo>
                  <a:lnTo>
                    <a:pt x="4987139" y="564582"/>
                  </a:lnTo>
                  <a:lnTo>
                    <a:pt x="5029396" y="568854"/>
                  </a:lnTo>
                  <a:lnTo>
                    <a:pt x="5071652" y="579889"/>
                  </a:lnTo>
                  <a:lnTo>
                    <a:pt x="5113909" y="599681"/>
                  </a:lnTo>
                  <a:lnTo>
                    <a:pt x="5147135" y="623125"/>
                  </a:lnTo>
                  <a:lnTo>
                    <a:pt x="5180358" y="653595"/>
                  </a:lnTo>
                  <a:lnTo>
                    <a:pt x="5213578" y="689754"/>
                  </a:lnTo>
                  <a:lnTo>
                    <a:pt x="5246795" y="730266"/>
                  </a:lnTo>
                  <a:lnTo>
                    <a:pt x="5280009" y="773795"/>
                  </a:lnTo>
                  <a:lnTo>
                    <a:pt x="5313220" y="819003"/>
                  </a:lnTo>
                  <a:lnTo>
                    <a:pt x="5346430" y="864555"/>
                  </a:lnTo>
                  <a:lnTo>
                    <a:pt x="5379637" y="909114"/>
                  </a:lnTo>
                  <a:lnTo>
                    <a:pt x="5412843" y="951342"/>
                  </a:lnTo>
                  <a:lnTo>
                    <a:pt x="5446047" y="989904"/>
                  </a:lnTo>
                  <a:lnTo>
                    <a:pt x="5479250" y="1023463"/>
                  </a:lnTo>
                  <a:lnTo>
                    <a:pt x="5512452" y="1050683"/>
                  </a:lnTo>
                  <a:lnTo>
                    <a:pt x="5545654" y="1070226"/>
                  </a:lnTo>
                  <a:lnTo>
                    <a:pt x="5617591" y="1082312"/>
                  </a:lnTo>
                  <a:lnTo>
                    <a:pt x="5656326" y="1074745"/>
                  </a:lnTo>
                  <a:lnTo>
                    <a:pt x="5695062" y="1059228"/>
                  </a:lnTo>
                  <a:lnTo>
                    <a:pt x="5733800" y="1036937"/>
                  </a:lnTo>
                  <a:lnTo>
                    <a:pt x="5772540" y="1009046"/>
                  </a:lnTo>
                  <a:lnTo>
                    <a:pt x="5811281" y="976728"/>
                  </a:lnTo>
                  <a:lnTo>
                    <a:pt x="5850026" y="941159"/>
                  </a:lnTo>
                  <a:lnTo>
                    <a:pt x="5888773" y="903512"/>
                  </a:lnTo>
                  <a:lnTo>
                    <a:pt x="5927524" y="864962"/>
                  </a:lnTo>
                  <a:lnTo>
                    <a:pt x="5966279" y="826683"/>
                  </a:lnTo>
                  <a:lnTo>
                    <a:pt x="6005038" y="789850"/>
                  </a:lnTo>
                  <a:lnTo>
                    <a:pt x="6043803" y="755637"/>
                  </a:lnTo>
                  <a:lnTo>
                    <a:pt x="6079558" y="724343"/>
                  </a:lnTo>
                  <a:lnTo>
                    <a:pt x="6115313" y="690735"/>
                  </a:lnTo>
                  <a:lnTo>
                    <a:pt x="6151069" y="655275"/>
                  </a:lnTo>
                  <a:lnTo>
                    <a:pt x="6186824" y="618425"/>
                  </a:lnTo>
                  <a:lnTo>
                    <a:pt x="6222579" y="580649"/>
                  </a:lnTo>
                  <a:lnTo>
                    <a:pt x="6258335" y="542408"/>
                  </a:lnTo>
                  <a:lnTo>
                    <a:pt x="6294090" y="504166"/>
                  </a:lnTo>
                  <a:lnTo>
                    <a:pt x="6329846" y="466386"/>
                  </a:lnTo>
                  <a:lnTo>
                    <a:pt x="6365601" y="429529"/>
                  </a:lnTo>
                  <a:lnTo>
                    <a:pt x="6401356" y="394059"/>
                  </a:lnTo>
                  <a:lnTo>
                    <a:pt x="6437112" y="360438"/>
                  </a:lnTo>
                  <a:lnTo>
                    <a:pt x="6472867" y="329130"/>
                  </a:lnTo>
                  <a:lnTo>
                    <a:pt x="6508623" y="300596"/>
                  </a:lnTo>
                  <a:lnTo>
                    <a:pt x="6550910" y="268107"/>
                  </a:lnTo>
                  <a:lnTo>
                    <a:pt x="6593193" y="235075"/>
                  </a:lnTo>
                  <a:lnTo>
                    <a:pt x="6635470" y="202349"/>
                  </a:lnTo>
                  <a:lnTo>
                    <a:pt x="6677742" y="170779"/>
                  </a:lnTo>
                  <a:lnTo>
                    <a:pt x="6720011" y="141213"/>
                  </a:lnTo>
                  <a:lnTo>
                    <a:pt x="6762276" y="114501"/>
                  </a:lnTo>
                  <a:lnTo>
                    <a:pt x="6804538" y="91490"/>
                  </a:lnTo>
                  <a:lnTo>
                    <a:pt x="6846798" y="73032"/>
                  </a:lnTo>
                  <a:lnTo>
                    <a:pt x="6889056" y="59973"/>
                  </a:lnTo>
                  <a:lnTo>
                    <a:pt x="6931313" y="53164"/>
                  </a:lnTo>
                  <a:lnTo>
                    <a:pt x="6973569" y="53454"/>
                  </a:lnTo>
                  <a:lnTo>
                    <a:pt x="7012305" y="61321"/>
                  </a:lnTo>
                  <a:lnTo>
                    <a:pt x="7051040" y="76565"/>
                  </a:lnTo>
                  <a:lnTo>
                    <a:pt x="7089776" y="98082"/>
                  </a:lnTo>
                  <a:lnTo>
                    <a:pt x="7128514" y="124767"/>
                  </a:lnTo>
                  <a:lnTo>
                    <a:pt x="7167254" y="155513"/>
                  </a:lnTo>
                  <a:lnTo>
                    <a:pt x="7205995" y="189217"/>
                  </a:lnTo>
                  <a:lnTo>
                    <a:pt x="7244740" y="224773"/>
                  </a:lnTo>
                  <a:lnTo>
                    <a:pt x="7283487" y="261075"/>
                  </a:lnTo>
                  <a:lnTo>
                    <a:pt x="7322238" y="297020"/>
                  </a:lnTo>
                  <a:lnTo>
                    <a:pt x="7360993" y="331501"/>
                  </a:lnTo>
                  <a:lnTo>
                    <a:pt x="7399752" y="363415"/>
                  </a:lnTo>
                  <a:lnTo>
                    <a:pt x="7438517" y="391655"/>
                  </a:lnTo>
                  <a:lnTo>
                    <a:pt x="7480773" y="419610"/>
                  </a:lnTo>
                  <a:lnTo>
                    <a:pt x="7523029" y="446821"/>
                  </a:lnTo>
                  <a:lnTo>
                    <a:pt x="7565286" y="473405"/>
                  </a:lnTo>
                  <a:lnTo>
                    <a:pt x="7607542" y="499479"/>
                  </a:lnTo>
                  <a:lnTo>
                    <a:pt x="7649798" y="525163"/>
                  </a:lnTo>
                  <a:lnTo>
                    <a:pt x="7692055" y="550574"/>
                  </a:lnTo>
                  <a:lnTo>
                    <a:pt x="7734311" y="575829"/>
                  </a:lnTo>
                  <a:lnTo>
                    <a:pt x="7776567" y="601048"/>
                  </a:lnTo>
                  <a:lnTo>
                    <a:pt x="7818824" y="626347"/>
                  </a:lnTo>
                  <a:lnTo>
                    <a:pt x="7861080" y="651844"/>
                  </a:lnTo>
                  <a:lnTo>
                    <a:pt x="7903336" y="677659"/>
                  </a:lnTo>
                  <a:lnTo>
                    <a:pt x="7945624" y="703671"/>
                  </a:lnTo>
                  <a:lnTo>
                    <a:pt x="7987907" y="729683"/>
                  </a:lnTo>
                  <a:lnTo>
                    <a:pt x="8030184" y="755695"/>
                  </a:lnTo>
                  <a:lnTo>
                    <a:pt x="8072456" y="781706"/>
                  </a:lnTo>
                  <a:lnTo>
                    <a:pt x="8114725" y="807718"/>
                  </a:lnTo>
                  <a:lnTo>
                    <a:pt x="8156990" y="833730"/>
                  </a:lnTo>
                  <a:lnTo>
                    <a:pt x="8199252" y="859742"/>
                  </a:lnTo>
                  <a:lnTo>
                    <a:pt x="8241512" y="885754"/>
                  </a:lnTo>
                  <a:lnTo>
                    <a:pt x="8283770" y="911766"/>
                  </a:lnTo>
                  <a:lnTo>
                    <a:pt x="8326027" y="937778"/>
                  </a:lnTo>
                  <a:lnTo>
                    <a:pt x="8368284" y="963790"/>
                  </a:lnTo>
                </a:path>
              </a:pathLst>
            </a:custGeom>
            <a:ln w="12700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/>
          <p:nvPr/>
        </p:nvSpPr>
        <p:spPr>
          <a:xfrm>
            <a:off x="262127" y="4232147"/>
            <a:ext cx="9603105" cy="882650"/>
          </a:xfrm>
          <a:custGeom>
            <a:avLst/>
            <a:gdLst/>
            <a:ahLst/>
            <a:cxnLst/>
            <a:rect l="l" t="t" r="r" b="b"/>
            <a:pathLst>
              <a:path w="9603105" h="882650">
                <a:moveTo>
                  <a:pt x="0" y="882395"/>
                </a:moveTo>
                <a:lnTo>
                  <a:pt x="9602597" y="882395"/>
                </a:lnTo>
                <a:lnTo>
                  <a:pt x="9602597" y="0"/>
                </a:lnTo>
                <a:lnTo>
                  <a:pt x="0" y="0"/>
                </a:lnTo>
                <a:lnTo>
                  <a:pt x="0" y="882395"/>
                </a:lnTo>
                <a:close/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274320" y="4227639"/>
            <a:ext cx="9601200" cy="216535"/>
          </a:xfrm>
          <a:prstGeom prst="rect">
            <a:avLst/>
          </a:prstGeom>
          <a:solidFill>
            <a:srgbClr val="5F5F5F"/>
          </a:solidFill>
        </p:spPr>
        <p:txBody>
          <a:bodyPr wrap="square" lIns="0" tIns="12065" rIns="0" bIns="0" rtlCol="0" vert="horz">
            <a:spAutoFit/>
          </a:bodyPr>
          <a:lstStyle/>
          <a:p>
            <a:pPr marL="11557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Insights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66890" y="4548327"/>
            <a:ext cx="9593580" cy="482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81305" marR="469900" indent="-172720">
              <a:lnSpc>
                <a:spcPct val="100000"/>
              </a:lnSpc>
              <a:spcBef>
                <a:spcPts val="95"/>
              </a:spcBef>
              <a:buChar char="•"/>
              <a:tabLst>
                <a:tab pos="281305" algn="l"/>
              </a:tabLst>
            </a:pPr>
            <a:r>
              <a:rPr dirty="0" sz="1000">
                <a:latin typeface="Arial MT"/>
                <a:cs typeface="Arial MT"/>
              </a:rPr>
              <a:t>Over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time,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there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has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been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rise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in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inflows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of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FX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from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autonomous</a:t>
            </a:r>
            <a:r>
              <a:rPr dirty="0" sz="1000" spc="-5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or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non-CBN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sources,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which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has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led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to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widening divergence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between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official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and </a:t>
            </a:r>
            <a:r>
              <a:rPr dirty="0" sz="1000">
                <a:latin typeface="Arial MT"/>
                <a:cs typeface="Arial MT"/>
              </a:rPr>
              <a:t>parallel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market</a:t>
            </a:r>
            <a:r>
              <a:rPr dirty="0" sz="1000" spc="-6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rates.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Since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2007</a:t>
            </a:r>
            <a:r>
              <a:rPr dirty="0" sz="1000" b="1">
                <a:latin typeface="Arial"/>
                <a:cs typeface="Arial"/>
              </a:rPr>
              <a:t>,</a:t>
            </a:r>
            <a:r>
              <a:rPr dirty="0" sz="1000" spc="-3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the</a:t>
            </a:r>
            <a:r>
              <a:rPr dirty="0" sz="1000" spc="-2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FX</a:t>
            </a:r>
            <a:r>
              <a:rPr dirty="0" sz="1000" spc="-2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inflows</a:t>
            </a:r>
            <a:r>
              <a:rPr dirty="0" sz="1000" spc="-40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from</a:t>
            </a:r>
            <a:r>
              <a:rPr dirty="0" sz="1000" spc="-2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autonomous</a:t>
            </a:r>
            <a:r>
              <a:rPr dirty="0" sz="1000" spc="-2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sources</a:t>
            </a:r>
            <a:r>
              <a:rPr dirty="0" sz="1000" spc="-2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exceeded</a:t>
            </a:r>
            <a:r>
              <a:rPr dirty="0" sz="1000" spc="-3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inflows</a:t>
            </a:r>
            <a:r>
              <a:rPr dirty="0" sz="1000" spc="-4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from</a:t>
            </a:r>
            <a:r>
              <a:rPr dirty="0" sz="1000" spc="-25" b="1">
                <a:latin typeface="Arial"/>
                <a:cs typeface="Arial"/>
              </a:rPr>
              <a:t> </a:t>
            </a:r>
            <a:r>
              <a:rPr dirty="0" sz="1000" b="1">
                <a:latin typeface="Arial"/>
                <a:cs typeface="Arial"/>
              </a:rPr>
              <a:t>the</a:t>
            </a:r>
            <a:r>
              <a:rPr dirty="0" sz="1000" spc="-25" b="1">
                <a:latin typeface="Arial"/>
                <a:cs typeface="Arial"/>
              </a:rPr>
              <a:t> CBN</a:t>
            </a:r>
            <a:endParaRPr sz="1000">
              <a:latin typeface="Arial"/>
              <a:cs typeface="Arial"/>
            </a:endParaRPr>
          </a:p>
          <a:p>
            <a:pPr marL="281305" indent="-172720">
              <a:lnSpc>
                <a:spcPct val="100000"/>
              </a:lnSpc>
              <a:buChar char="•"/>
              <a:tabLst>
                <a:tab pos="281305" algn="l"/>
              </a:tabLst>
            </a:pP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implication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official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interventions </a:t>
            </a:r>
            <a:r>
              <a:rPr dirty="0" sz="1000">
                <a:latin typeface="Arial MT"/>
                <a:cs typeface="Arial MT"/>
              </a:rPr>
              <a:t>may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not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accurately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reflect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market</a:t>
            </a:r>
            <a:r>
              <a:rPr dirty="0" sz="1000" spc="-5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demand</a:t>
            </a:r>
            <a:r>
              <a:rPr dirty="0" sz="1000" spc="-5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and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supply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dynamics as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annual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inflows is</a:t>
            </a:r>
            <a:r>
              <a:rPr dirty="0" sz="1000" spc="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skewed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towards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unofficial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sources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952296" y="2882010"/>
            <a:ext cx="123189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>
                <a:solidFill>
                  <a:srgbClr val="404040"/>
                </a:solidFill>
                <a:latin typeface="Arial MT"/>
                <a:cs typeface="Arial MT"/>
              </a:rPr>
              <a:t>35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417447" y="2673857"/>
            <a:ext cx="123189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>
                <a:solidFill>
                  <a:srgbClr val="404040"/>
                </a:solidFill>
                <a:latin typeface="Arial MT"/>
                <a:cs typeface="Arial MT"/>
              </a:rPr>
              <a:t>51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882267" y="2569590"/>
            <a:ext cx="123189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>
                <a:solidFill>
                  <a:srgbClr val="404040"/>
                </a:solidFill>
                <a:latin typeface="Arial MT"/>
                <a:cs typeface="Arial MT"/>
              </a:rPr>
              <a:t>59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347341" y="2374518"/>
            <a:ext cx="123189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>
                <a:solidFill>
                  <a:srgbClr val="404040"/>
                </a:solidFill>
                <a:latin typeface="Arial MT"/>
                <a:cs typeface="Arial MT"/>
              </a:rPr>
              <a:t>74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812542" y="1945004"/>
            <a:ext cx="1720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>
                <a:solidFill>
                  <a:srgbClr val="404040"/>
                </a:solidFill>
                <a:latin typeface="Arial MT"/>
                <a:cs typeface="Arial MT"/>
              </a:rPr>
              <a:t>107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3277361" y="2465323"/>
            <a:ext cx="123189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>
                <a:solidFill>
                  <a:srgbClr val="404040"/>
                </a:solidFill>
                <a:latin typeface="Arial MT"/>
                <a:cs typeface="Arial MT"/>
              </a:rPr>
              <a:t>67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3742182" y="2153157"/>
            <a:ext cx="123189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>
                <a:solidFill>
                  <a:srgbClr val="404040"/>
                </a:solidFill>
                <a:latin typeface="Arial MT"/>
                <a:cs typeface="Arial MT"/>
              </a:rPr>
              <a:t>91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4207509" y="1970912"/>
            <a:ext cx="1720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>
                <a:solidFill>
                  <a:srgbClr val="404040"/>
                </a:solidFill>
                <a:latin typeface="Arial MT"/>
                <a:cs typeface="Arial MT"/>
              </a:rPr>
              <a:t>105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4672329" y="1788363"/>
            <a:ext cx="1720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>
                <a:solidFill>
                  <a:srgbClr val="404040"/>
                </a:solidFill>
                <a:latin typeface="Arial MT"/>
                <a:cs typeface="Arial MT"/>
              </a:rPr>
              <a:t>119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5137530" y="1437512"/>
            <a:ext cx="1720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>
                <a:solidFill>
                  <a:srgbClr val="404040"/>
                </a:solidFill>
                <a:latin typeface="Arial MT"/>
                <a:cs typeface="Arial MT"/>
              </a:rPr>
              <a:t>146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5602351" y="1970912"/>
            <a:ext cx="1720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>
                <a:solidFill>
                  <a:srgbClr val="404040"/>
                </a:solidFill>
                <a:latin typeface="Arial MT"/>
                <a:cs typeface="Arial MT"/>
              </a:rPr>
              <a:t>105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6067425" y="2036191"/>
            <a:ext cx="1720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>
                <a:solidFill>
                  <a:srgbClr val="404040"/>
                </a:solidFill>
                <a:latin typeface="Arial MT"/>
                <a:cs typeface="Arial MT"/>
              </a:rPr>
              <a:t>100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6531991" y="2517393"/>
            <a:ext cx="123189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>
                <a:solidFill>
                  <a:srgbClr val="404040"/>
                </a:solidFill>
                <a:latin typeface="Arial MT"/>
                <a:cs typeface="Arial MT"/>
              </a:rPr>
              <a:t>63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6997065" y="2192273"/>
            <a:ext cx="123189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>
                <a:solidFill>
                  <a:srgbClr val="404040"/>
                </a:solidFill>
                <a:latin typeface="Arial MT"/>
                <a:cs typeface="Arial MT"/>
              </a:rPr>
              <a:t>88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7462266" y="1736851"/>
            <a:ext cx="1720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>
                <a:solidFill>
                  <a:srgbClr val="404040"/>
                </a:solidFill>
                <a:latin typeface="Arial MT"/>
                <a:cs typeface="Arial MT"/>
              </a:rPr>
              <a:t>123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7927340" y="1489710"/>
            <a:ext cx="1720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>
                <a:solidFill>
                  <a:srgbClr val="404040"/>
                </a:solidFill>
                <a:latin typeface="Arial MT"/>
                <a:cs typeface="Arial MT"/>
              </a:rPr>
              <a:t>142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8392159" y="1828037"/>
            <a:ext cx="1720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>
                <a:solidFill>
                  <a:srgbClr val="404040"/>
                </a:solidFill>
                <a:latin typeface="Arial MT"/>
                <a:cs typeface="Arial MT"/>
              </a:rPr>
              <a:t>116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8856980" y="2114168"/>
            <a:ext cx="123189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>
                <a:solidFill>
                  <a:srgbClr val="404040"/>
                </a:solidFill>
                <a:latin typeface="Arial MT"/>
                <a:cs typeface="Arial MT"/>
              </a:rPr>
              <a:t>94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9321800" y="2400426"/>
            <a:ext cx="123189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>
                <a:solidFill>
                  <a:srgbClr val="404040"/>
                </a:solidFill>
                <a:latin typeface="Arial MT"/>
                <a:cs typeface="Arial MT"/>
              </a:rPr>
              <a:t>72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9533381" y="3322701"/>
            <a:ext cx="17272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5">
                <a:solidFill>
                  <a:srgbClr val="0D0D0D"/>
                </a:solidFill>
                <a:latin typeface="Arial MT"/>
                <a:cs typeface="Arial MT"/>
              </a:rPr>
              <a:t>0%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9533381" y="2906014"/>
            <a:ext cx="22860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5">
                <a:solidFill>
                  <a:srgbClr val="0D0D0D"/>
                </a:solidFill>
                <a:latin typeface="Arial MT"/>
                <a:cs typeface="Arial MT"/>
              </a:rPr>
              <a:t>20%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9533381" y="2489708"/>
            <a:ext cx="22860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5">
                <a:solidFill>
                  <a:srgbClr val="0D0D0D"/>
                </a:solidFill>
                <a:latin typeface="Arial MT"/>
                <a:cs typeface="Arial MT"/>
              </a:rPr>
              <a:t>40%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9533381" y="2073401"/>
            <a:ext cx="22860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25">
                <a:solidFill>
                  <a:srgbClr val="0D0D0D"/>
                </a:solidFill>
                <a:latin typeface="Arial MT"/>
                <a:cs typeface="Arial MT"/>
              </a:rPr>
              <a:t>60%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9533381" y="1656969"/>
            <a:ext cx="22860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25">
                <a:solidFill>
                  <a:srgbClr val="0D0D0D"/>
                </a:solidFill>
                <a:latin typeface="Arial MT"/>
                <a:cs typeface="Arial MT"/>
              </a:rPr>
              <a:t>80%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9533381" y="1240663"/>
            <a:ext cx="28511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20">
                <a:solidFill>
                  <a:srgbClr val="0D0D0D"/>
                </a:solidFill>
                <a:latin typeface="Arial MT"/>
                <a:cs typeface="Arial MT"/>
              </a:rPr>
              <a:t>100%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467359" y="3322701"/>
            <a:ext cx="8255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50">
                <a:solidFill>
                  <a:srgbClr val="0D0D0D"/>
                </a:solidFill>
                <a:latin typeface="Arial MT"/>
                <a:cs typeface="Arial MT"/>
              </a:rPr>
              <a:t>0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410972" y="2802127"/>
            <a:ext cx="13843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5">
                <a:solidFill>
                  <a:srgbClr val="0D0D0D"/>
                </a:solidFill>
                <a:latin typeface="Arial MT"/>
                <a:cs typeface="Arial MT"/>
              </a:rPr>
              <a:t>40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410972" y="2281555"/>
            <a:ext cx="13843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25">
                <a:solidFill>
                  <a:srgbClr val="0D0D0D"/>
                </a:solidFill>
                <a:latin typeface="Arial MT"/>
                <a:cs typeface="Arial MT"/>
              </a:rPr>
              <a:t>80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354279" y="1761236"/>
            <a:ext cx="19494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25">
                <a:solidFill>
                  <a:srgbClr val="0D0D0D"/>
                </a:solidFill>
                <a:latin typeface="Arial MT"/>
                <a:cs typeface="Arial MT"/>
              </a:rPr>
              <a:t>120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354279" y="1240663"/>
            <a:ext cx="19494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25">
                <a:solidFill>
                  <a:srgbClr val="0D0D0D"/>
                </a:solidFill>
                <a:latin typeface="Arial MT"/>
                <a:cs typeface="Arial MT"/>
              </a:rPr>
              <a:t>160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730707" y="3443732"/>
            <a:ext cx="25146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0">
                <a:solidFill>
                  <a:srgbClr val="0D0D0D"/>
                </a:solidFill>
                <a:latin typeface="Arial MT"/>
                <a:cs typeface="Arial MT"/>
              </a:rPr>
              <a:t>2004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1195832" y="3443732"/>
            <a:ext cx="25146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0">
                <a:solidFill>
                  <a:srgbClr val="0D0D0D"/>
                </a:solidFill>
                <a:latin typeface="Arial MT"/>
                <a:cs typeface="Arial MT"/>
              </a:rPr>
              <a:t>2005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1660651" y="3443732"/>
            <a:ext cx="25146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0">
                <a:solidFill>
                  <a:srgbClr val="0D0D0D"/>
                </a:solidFill>
                <a:latin typeface="Arial MT"/>
                <a:cs typeface="Arial MT"/>
              </a:rPr>
              <a:t>2006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2125726" y="3443732"/>
            <a:ext cx="25146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0">
                <a:solidFill>
                  <a:srgbClr val="0D0D0D"/>
                </a:solidFill>
                <a:latin typeface="Arial MT"/>
                <a:cs typeface="Arial MT"/>
              </a:rPr>
              <a:t>2007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2590545" y="3443732"/>
            <a:ext cx="25146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0">
                <a:solidFill>
                  <a:srgbClr val="0D0D0D"/>
                </a:solidFill>
                <a:latin typeface="Arial MT"/>
                <a:cs typeface="Arial MT"/>
              </a:rPr>
              <a:t>2008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8635365" y="3443732"/>
            <a:ext cx="25146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0">
                <a:solidFill>
                  <a:srgbClr val="0D0D0D"/>
                </a:solidFill>
                <a:latin typeface="Arial MT"/>
                <a:cs typeface="Arial MT"/>
              </a:rPr>
              <a:t>2021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9100184" y="3443732"/>
            <a:ext cx="25146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0">
                <a:solidFill>
                  <a:srgbClr val="0D0D0D"/>
                </a:solidFill>
                <a:latin typeface="Arial MT"/>
                <a:cs typeface="Arial MT"/>
              </a:rPr>
              <a:t>2022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48" name="object 48" descr=""/>
          <p:cNvGrpSpPr/>
          <p:nvPr/>
        </p:nvGrpSpPr>
        <p:grpSpPr>
          <a:xfrm>
            <a:off x="2717292" y="781812"/>
            <a:ext cx="4775200" cy="3001010"/>
            <a:chOff x="2717292" y="781812"/>
            <a:chExt cx="4775200" cy="3001010"/>
          </a:xfrm>
        </p:grpSpPr>
        <p:sp>
          <p:nvSpPr>
            <p:cNvPr id="49" name="object 49" descr=""/>
            <p:cNvSpPr/>
            <p:nvPr/>
          </p:nvSpPr>
          <p:spPr>
            <a:xfrm>
              <a:off x="2836164" y="3730751"/>
              <a:ext cx="243840" cy="52069"/>
            </a:xfrm>
            <a:custGeom>
              <a:avLst/>
              <a:gdLst/>
              <a:ahLst/>
              <a:cxnLst/>
              <a:rect l="l" t="t" r="r" b="b"/>
              <a:pathLst>
                <a:path w="243839" h="52070">
                  <a:moveTo>
                    <a:pt x="243839" y="0"/>
                  </a:moveTo>
                  <a:lnTo>
                    <a:pt x="0" y="0"/>
                  </a:lnTo>
                  <a:lnTo>
                    <a:pt x="0" y="51816"/>
                  </a:lnTo>
                  <a:lnTo>
                    <a:pt x="243839" y="51816"/>
                  </a:lnTo>
                  <a:lnTo>
                    <a:pt x="24383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4722876" y="3730751"/>
              <a:ext cx="243840" cy="52069"/>
            </a:xfrm>
            <a:custGeom>
              <a:avLst/>
              <a:gdLst/>
              <a:ahLst/>
              <a:cxnLst/>
              <a:rect l="l" t="t" r="r" b="b"/>
              <a:pathLst>
                <a:path w="243839" h="52070">
                  <a:moveTo>
                    <a:pt x="243839" y="0"/>
                  </a:moveTo>
                  <a:lnTo>
                    <a:pt x="0" y="0"/>
                  </a:lnTo>
                  <a:lnTo>
                    <a:pt x="0" y="51816"/>
                  </a:lnTo>
                  <a:lnTo>
                    <a:pt x="243839" y="51816"/>
                  </a:lnTo>
                  <a:lnTo>
                    <a:pt x="243839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6829044" y="3756660"/>
              <a:ext cx="243840" cy="0"/>
            </a:xfrm>
            <a:custGeom>
              <a:avLst/>
              <a:gdLst/>
              <a:ahLst/>
              <a:cxnLst/>
              <a:rect l="l" t="t" r="r" b="b"/>
              <a:pathLst>
                <a:path w="243840" h="0">
                  <a:moveTo>
                    <a:pt x="0" y="0"/>
                  </a:moveTo>
                  <a:lnTo>
                    <a:pt x="243839" y="0"/>
                  </a:lnTo>
                </a:path>
              </a:pathLst>
            </a:custGeom>
            <a:ln w="12700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2717292" y="781812"/>
              <a:ext cx="4775200" cy="196850"/>
            </a:xfrm>
            <a:custGeom>
              <a:avLst/>
              <a:gdLst/>
              <a:ahLst/>
              <a:cxnLst/>
              <a:rect l="l" t="t" r="r" b="b"/>
              <a:pathLst>
                <a:path w="4775200" h="196850">
                  <a:moveTo>
                    <a:pt x="4774691" y="0"/>
                  </a:moveTo>
                  <a:lnTo>
                    <a:pt x="0" y="0"/>
                  </a:lnTo>
                  <a:lnTo>
                    <a:pt x="0" y="196596"/>
                  </a:lnTo>
                  <a:lnTo>
                    <a:pt x="4774691" y="196596"/>
                  </a:lnTo>
                  <a:lnTo>
                    <a:pt x="47746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 descr=""/>
          <p:cNvSpPr txBox="1"/>
          <p:nvPr/>
        </p:nvSpPr>
        <p:spPr>
          <a:xfrm>
            <a:off x="3728084" y="776732"/>
            <a:ext cx="27565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585858"/>
                </a:solidFill>
                <a:latin typeface="Arial"/>
                <a:cs typeface="Arial"/>
              </a:rPr>
              <a:t>USD</a:t>
            </a:r>
            <a:r>
              <a:rPr dirty="0" sz="1200" spc="-10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585858"/>
                </a:solidFill>
                <a:latin typeface="Arial"/>
                <a:cs typeface="Arial"/>
              </a:rPr>
              <a:t>Inflows</a:t>
            </a:r>
            <a:r>
              <a:rPr dirty="0" sz="1200" spc="-30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585858"/>
                </a:solidFill>
                <a:latin typeface="Arial"/>
                <a:cs typeface="Arial"/>
              </a:rPr>
              <a:t>to</a:t>
            </a:r>
            <a:r>
              <a:rPr dirty="0" sz="1200" spc="-5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585858"/>
                </a:solidFill>
                <a:latin typeface="Arial"/>
                <a:cs typeface="Arial"/>
              </a:rPr>
              <a:t>the</a:t>
            </a:r>
            <a:r>
              <a:rPr dirty="0" sz="1200" spc="5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585858"/>
                </a:solidFill>
                <a:latin typeface="Arial"/>
                <a:cs typeface="Arial"/>
              </a:rPr>
              <a:t>Nigerian</a:t>
            </a:r>
            <a:r>
              <a:rPr dirty="0" sz="1200" spc="-25" b="1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585858"/>
                </a:solidFill>
                <a:latin typeface="Arial"/>
                <a:cs typeface="Arial"/>
              </a:rPr>
              <a:t>Economy</a:t>
            </a:r>
            <a:endParaRPr sz="1200">
              <a:latin typeface="Arial"/>
              <a:cs typeface="Arial"/>
            </a:endParaRPr>
          </a:p>
        </p:txBody>
      </p:sp>
      <p:sp>
        <p:nvSpPr>
          <p:cNvPr id="59" name="object 5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Impact</a:t>
            </a:r>
            <a:r>
              <a:rPr dirty="0" spc="35"/>
              <a:t> </a:t>
            </a:r>
            <a:r>
              <a:rPr dirty="0"/>
              <a:t>of</a:t>
            </a:r>
            <a:r>
              <a:rPr dirty="0" spc="50"/>
              <a:t> </a:t>
            </a:r>
            <a:r>
              <a:rPr dirty="0"/>
              <a:t>Global</a:t>
            </a:r>
            <a:r>
              <a:rPr dirty="0" spc="65"/>
              <a:t> </a:t>
            </a:r>
            <a:r>
              <a:rPr dirty="0"/>
              <a:t>Economic</a:t>
            </a:r>
            <a:r>
              <a:rPr dirty="0" spc="30"/>
              <a:t> </a:t>
            </a:r>
            <a:r>
              <a:rPr dirty="0"/>
              <a:t>Trends</a:t>
            </a:r>
            <a:r>
              <a:rPr dirty="0" spc="45"/>
              <a:t> </a:t>
            </a:r>
            <a:r>
              <a:rPr dirty="0"/>
              <a:t>on</a:t>
            </a:r>
            <a:r>
              <a:rPr dirty="0" spc="40"/>
              <a:t> </a:t>
            </a:r>
            <a:r>
              <a:rPr dirty="0"/>
              <a:t>Nigeria’s</a:t>
            </a:r>
            <a:r>
              <a:rPr dirty="0" spc="60"/>
              <a:t> </a:t>
            </a:r>
            <a:r>
              <a:rPr dirty="0"/>
              <a:t>Foreign</a:t>
            </a:r>
            <a:r>
              <a:rPr dirty="0" spc="45"/>
              <a:t> </a:t>
            </a:r>
            <a:r>
              <a:rPr dirty="0"/>
              <a:t>Exchange</a:t>
            </a:r>
            <a:r>
              <a:rPr dirty="0" spc="60"/>
              <a:t> </a:t>
            </a:r>
            <a:r>
              <a:rPr dirty="0" spc="-10"/>
              <a:t>Market</a:t>
            </a:r>
          </a:p>
        </p:txBody>
      </p:sp>
      <p:sp>
        <p:nvSpPr>
          <p:cNvPr id="60" name="object 60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October</a:t>
            </a:r>
            <a:r>
              <a:rPr dirty="0" spc="80"/>
              <a:t> </a:t>
            </a:r>
            <a:r>
              <a:rPr dirty="0" spc="-20"/>
              <a:t>2023</a:t>
            </a:r>
          </a:p>
        </p:txBody>
      </p:sp>
      <p:sp>
        <p:nvSpPr>
          <p:cNvPr id="61" name="object 6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815"/>
              </a:lnSpc>
            </a:pPr>
            <a:fld id="{81D60167-4931-47E6-BA6A-407CBD079E47}" type="slidenum">
              <a:rPr dirty="0" spc="-25"/>
              <a:t>26</a:t>
            </a:fld>
          </a:p>
        </p:txBody>
      </p:sp>
      <p:sp>
        <p:nvSpPr>
          <p:cNvPr id="54" name="object 54" descr=""/>
          <p:cNvSpPr txBox="1"/>
          <p:nvPr/>
        </p:nvSpPr>
        <p:spPr>
          <a:xfrm>
            <a:off x="259181" y="3849370"/>
            <a:ext cx="112776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i="1">
                <a:latin typeface="Arial"/>
                <a:cs typeface="Arial"/>
              </a:rPr>
              <a:t>Source: CBN,</a:t>
            </a:r>
            <a:r>
              <a:rPr dirty="0" sz="700" spc="-15" i="1">
                <a:latin typeface="Arial"/>
                <a:cs typeface="Arial"/>
              </a:rPr>
              <a:t> </a:t>
            </a:r>
            <a:r>
              <a:rPr dirty="0" sz="700" spc="-10" i="1">
                <a:latin typeface="Arial"/>
                <a:cs typeface="Arial"/>
              </a:rPr>
              <a:t>PwC</a:t>
            </a:r>
            <a:r>
              <a:rPr dirty="0" sz="700" spc="-50" i="1">
                <a:latin typeface="Arial"/>
                <a:cs typeface="Arial"/>
              </a:rPr>
              <a:t> </a:t>
            </a:r>
            <a:r>
              <a:rPr dirty="0" sz="700" spc="-10" i="1">
                <a:latin typeface="Arial"/>
                <a:cs typeface="Arial"/>
              </a:rPr>
              <a:t>Analysis</a:t>
            </a:r>
            <a:endParaRPr sz="700">
              <a:latin typeface="Arial"/>
              <a:cs typeface="Arial"/>
            </a:endParaRPr>
          </a:p>
        </p:txBody>
      </p:sp>
      <p:sp>
        <p:nvSpPr>
          <p:cNvPr id="55" name="object 55" descr=""/>
          <p:cNvSpPr txBox="1"/>
          <p:nvPr/>
        </p:nvSpPr>
        <p:spPr>
          <a:xfrm>
            <a:off x="3055747" y="3443732"/>
            <a:ext cx="1645920" cy="3879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76884" algn="l"/>
                <a:tab pos="942340" algn="l"/>
                <a:tab pos="1407160" algn="l"/>
              </a:tabLst>
            </a:pPr>
            <a:r>
              <a:rPr dirty="0" sz="800" spc="-20">
                <a:solidFill>
                  <a:srgbClr val="0D0D0D"/>
                </a:solidFill>
                <a:latin typeface="Arial MT"/>
                <a:cs typeface="Arial MT"/>
              </a:rPr>
              <a:t>2009</a:t>
            </a:r>
            <a:r>
              <a:rPr dirty="0" sz="800">
                <a:solidFill>
                  <a:srgbClr val="0D0D0D"/>
                </a:solidFill>
                <a:latin typeface="Arial MT"/>
                <a:cs typeface="Arial MT"/>
              </a:rPr>
              <a:t>	</a:t>
            </a:r>
            <a:r>
              <a:rPr dirty="0" sz="800" spc="-20">
                <a:solidFill>
                  <a:srgbClr val="0D0D0D"/>
                </a:solidFill>
                <a:latin typeface="Arial MT"/>
                <a:cs typeface="Arial MT"/>
              </a:rPr>
              <a:t>2010</a:t>
            </a:r>
            <a:r>
              <a:rPr dirty="0" sz="800">
                <a:solidFill>
                  <a:srgbClr val="0D0D0D"/>
                </a:solidFill>
                <a:latin typeface="Arial MT"/>
                <a:cs typeface="Arial MT"/>
              </a:rPr>
              <a:t>	</a:t>
            </a:r>
            <a:r>
              <a:rPr dirty="0" sz="800" spc="-20">
                <a:solidFill>
                  <a:srgbClr val="0D0D0D"/>
                </a:solidFill>
                <a:latin typeface="Arial MT"/>
                <a:cs typeface="Arial MT"/>
              </a:rPr>
              <a:t>2011</a:t>
            </a:r>
            <a:r>
              <a:rPr dirty="0" sz="800">
                <a:solidFill>
                  <a:srgbClr val="0D0D0D"/>
                </a:solidFill>
                <a:latin typeface="Arial MT"/>
                <a:cs typeface="Arial MT"/>
              </a:rPr>
              <a:t>	</a:t>
            </a:r>
            <a:r>
              <a:rPr dirty="0" sz="800" spc="-20">
                <a:solidFill>
                  <a:srgbClr val="0D0D0D"/>
                </a:solidFill>
                <a:latin typeface="Arial MT"/>
                <a:cs typeface="Arial MT"/>
              </a:rPr>
              <a:t>2012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800">
              <a:latin typeface="Arial MT"/>
              <a:cs typeface="Arial MT"/>
            </a:endParaRPr>
          </a:p>
          <a:p>
            <a:pPr marL="50800">
              <a:lnSpc>
                <a:spcPct val="100000"/>
              </a:lnSpc>
            </a:pPr>
            <a:r>
              <a:rPr dirty="0" baseline="3472" sz="1200">
                <a:solidFill>
                  <a:srgbClr val="0D0D0D"/>
                </a:solidFill>
                <a:latin typeface="Arial MT"/>
                <a:cs typeface="Arial MT"/>
              </a:rPr>
              <a:t>CBN</a:t>
            </a:r>
            <a:r>
              <a:rPr dirty="0" baseline="3472" sz="1200" spc="-6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baseline="3472" sz="1200">
                <a:solidFill>
                  <a:srgbClr val="0D0D0D"/>
                </a:solidFill>
                <a:latin typeface="Arial MT"/>
                <a:cs typeface="Arial MT"/>
              </a:rPr>
              <a:t>inflows</a:t>
            </a:r>
            <a:r>
              <a:rPr dirty="0" baseline="3472" sz="1200" spc="-44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baseline="3472" sz="1200">
                <a:solidFill>
                  <a:srgbClr val="0D0D0D"/>
                </a:solidFill>
                <a:latin typeface="Arial MT"/>
                <a:cs typeface="Arial MT"/>
              </a:rPr>
              <a:t>($'billion) </a:t>
            </a:r>
            <a:r>
              <a:rPr dirty="0" sz="700" spc="-20">
                <a:latin typeface="Arial MT"/>
                <a:cs typeface="Arial MT"/>
              </a:rPr>
              <a:t>(LHA)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56" name="object 56" descr=""/>
          <p:cNvSpPr txBox="1"/>
          <p:nvPr/>
        </p:nvSpPr>
        <p:spPr>
          <a:xfrm>
            <a:off x="4915661" y="3443732"/>
            <a:ext cx="1645920" cy="378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  <a:tabLst>
                <a:tab pos="464184" algn="l"/>
                <a:tab pos="929640" algn="l"/>
                <a:tab pos="1394460" algn="l"/>
              </a:tabLst>
            </a:pPr>
            <a:r>
              <a:rPr dirty="0" sz="800" spc="-20">
                <a:solidFill>
                  <a:srgbClr val="0D0D0D"/>
                </a:solidFill>
                <a:latin typeface="Arial MT"/>
                <a:cs typeface="Arial MT"/>
              </a:rPr>
              <a:t>2013</a:t>
            </a:r>
            <a:r>
              <a:rPr dirty="0" sz="800">
                <a:solidFill>
                  <a:srgbClr val="0D0D0D"/>
                </a:solidFill>
                <a:latin typeface="Arial MT"/>
                <a:cs typeface="Arial MT"/>
              </a:rPr>
              <a:t>	</a:t>
            </a:r>
            <a:r>
              <a:rPr dirty="0" sz="800" spc="-20">
                <a:solidFill>
                  <a:srgbClr val="0D0D0D"/>
                </a:solidFill>
                <a:latin typeface="Arial MT"/>
                <a:cs typeface="Arial MT"/>
              </a:rPr>
              <a:t>2014</a:t>
            </a:r>
            <a:r>
              <a:rPr dirty="0" sz="800">
                <a:solidFill>
                  <a:srgbClr val="0D0D0D"/>
                </a:solidFill>
                <a:latin typeface="Arial MT"/>
                <a:cs typeface="Arial MT"/>
              </a:rPr>
              <a:t>	</a:t>
            </a:r>
            <a:r>
              <a:rPr dirty="0" sz="800" spc="-20">
                <a:solidFill>
                  <a:srgbClr val="0D0D0D"/>
                </a:solidFill>
                <a:latin typeface="Arial MT"/>
                <a:cs typeface="Arial MT"/>
              </a:rPr>
              <a:t>2015</a:t>
            </a:r>
            <a:r>
              <a:rPr dirty="0" sz="800">
                <a:solidFill>
                  <a:srgbClr val="0D0D0D"/>
                </a:solidFill>
                <a:latin typeface="Arial MT"/>
                <a:cs typeface="Arial MT"/>
              </a:rPr>
              <a:t>	</a:t>
            </a:r>
            <a:r>
              <a:rPr dirty="0" sz="800" spc="-20">
                <a:solidFill>
                  <a:srgbClr val="0D0D0D"/>
                </a:solidFill>
                <a:latin typeface="Arial MT"/>
                <a:cs typeface="Arial MT"/>
              </a:rPr>
              <a:t>2016</a:t>
            </a:r>
            <a:endParaRPr sz="800">
              <a:latin typeface="Arial MT"/>
              <a:cs typeface="Arial MT"/>
            </a:endParaRPr>
          </a:p>
          <a:p>
            <a:pPr algn="ctr" marR="16510">
              <a:lnSpc>
                <a:spcPct val="100000"/>
              </a:lnSpc>
              <a:spcBef>
                <a:spcPts val="855"/>
              </a:spcBef>
            </a:pPr>
            <a:r>
              <a:rPr dirty="0" sz="800" spc="-10">
                <a:solidFill>
                  <a:srgbClr val="0D0D0D"/>
                </a:solidFill>
                <a:latin typeface="Arial MT"/>
                <a:cs typeface="Arial MT"/>
              </a:rPr>
              <a:t>Non-</a:t>
            </a:r>
            <a:r>
              <a:rPr dirty="0" sz="800">
                <a:solidFill>
                  <a:srgbClr val="0D0D0D"/>
                </a:solidFill>
                <a:latin typeface="Arial MT"/>
                <a:cs typeface="Arial MT"/>
              </a:rPr>
              <a:t>CBN</a:t>
            </a:r>
            <a:r>
              <a:rPr dirty="0" sz="800" spc="-1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0D0D0D"/>
                </a:solidFill>
                <a:latin typeface="Arial MT"/>
                <a:cs typeface="Arial MT"/>
              </a:rPr>
              <a:t>inflows</a:t>
            </a:r>
            <a:r>
              <a:rPr dirty="0" sz="800" spc="-2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0D0D0D"/>
                </a:solidFill>
                <a:latin typeface="Arial MT"/>
                <a:cs typeface="Arial MT"/>
              </a:rPr>
              <a:t>($'billion)</a:t>
            </a:r>
            <a:r>
              <a:rPr dirty="0" sz="800" spc="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700" spc="-20">
                <a:latin typeface="Arial MT"/>
                <a:cs typeface="Arial MT"/>
              </a:rPr>
              <a:t>(LHA)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57" name="object 57" descr=""/>
          <p:cNvSpPr txBox="1"/>
          <p:nvPr/>
        </p:nvSpPr>
        <p:spPr>
          <a:xfrm>
            <a:off x="6775450" y="3443732"/>
            <a:ext cx="1697989" cy="3879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6515">
              <a:lnSpc>
                <a:spcPct val="100000"/>
              </a:lnSpc>
              <a:spcBef>
                <a:spcPts val="100"/>
              </a:spcBef>
              <a:tabLst>
                <a:tab pos="464184" algn="l"/>
                <a:tab pos="929640" algn="l"/>
                <a:tab pos="1394460" algn="l"/>
              </a:tabLst>
            </a:pPr>
            <a:r>
              <a:rPr dirty="0" sz="800" spc="-20">
                <a:solidFill>
                  <a:srgbClr val="0D0D0D"/>
                </a:solidFill>
                <a:latin typeface="Arial MT"/>
                <a:cs typeface="Arial MT"/>
              </a:rPr>
              <a:t>2017</a:t>
            </a:r>
            <a:r>
              <a:rPr dirty="0" sz="800">
                <a:solidFill>
                  <a:srgbClr val="0D0D0D"/>
                </a:solidFill>
                <a:latin typeface="Arial MT"/>
                <a:cs typeface="Arial MT"/>
              </a:rPr>
              <a:t>	</a:t>
            </a:r>
            <a:r>
              <a:rPr dirty="0" sz="800" spc="-20">
                <a:solidFill>
                  <a:srgbClr val="0D0D0D"/>
                </a:solidFill>
                <a:latin typeface="Arial MT"/>
                <a:cs typeface="Arial MT"/>
              </a:rPr>
              <a:t>2018</a:t>
            </a:r>
            <a:r>
              <a:rPr dirty="0" sz="800">
                <a:solidFill>
                  <a:srgbClr val="0D0D0D"/>
                </a:solidFill>
                <a:latin typeface="Arial MT"/>
                <a:cs typeface="Arial MT"/>
              </a:rPr>
              <a:t>	</a:t>
            </a:r>
            <a:r>
              <a:rPr dirty="0" sz="800" spc="-20">
                <a:solidFill>
                  <a:srgbClr val="0D0D0D"/>
                </a:solidFill>
                <a:latin typeface="Arial MT"/>
                <a:cs typeface="Arial MT"/>
              </a:rPr>
              <a:t>2019</a:t>
            </a:r>
            <a:r>
              <a:rPr dirty="0" sz="800">
                <a:solidFill>
                  <a:srgbClr val="0D0D0D"/>
                </a:solidFill>
                <a:latin typeface="Arial MT"/>
                <a:cs typeface="Arial MT"/>
              </a:rPr>
              <a:t>	</a:t>
            </a:r>
            <a:r>
              <a:rPr dirty="0" sz="800" spc="-20">
                <a:solidFill>
                  <a:srgbClr val="0D0D0D"/>
                </a:solidFill>
                <a:latin typeface="Arial MT"/>
                <a:cs typeface="Arial MT"/>
              </a:rPr>
              <a:t>2020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8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</a:pPr>
            <a:r>
              <a:rPr dirty="0" baseline="3472" sz="1200">
                <a:solidFill>
                  <a:srgbClr val="0D0D0D"/>
                </a:solidFill>
                <a:latin typeface="Arial MT"/>
                <a:cs typeface="Arial MT"/>
              </a:rPr>
              <a:t>Annual</a:t>
            </a:r>
            <a:r>
              <a:rPr dirty="0" baseline="3472" sz="1200" spc="-6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baseline="3472" sz="1200">
                <a:solidFill>
                  <a:srgbClr val="0D0D0D"/>
                </a:solidFill>
                <a:latin typeface="Arial MT"/>
                <a:cs typeface="Arial MT"/>
              </a:rPr>
              <a:t>inflows</a:t>
            </a:r>
            <a:r>
              <a:rPr dirty="0" baseline="3472" sz="1200" spc="-7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baseline="3472" sz="1200">
                <a:solidFill>
                  <a:srgbClr val="0D0D0D"/>
                </a:solidFill>
                <a:latin typeface="Arial MT"/>
                <a:cs typeface="Arial MT"/>
              </a:rPr>
              <a:t>($'billion)</a:t>
            </a:r>
            <a:r>
              <a:rPr dirty="0" baseline="3472" sz="1200" spc="-52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700" spc="-20">
                <a:latin typeface="Arial MT"/>
                <a:cs typeface="Arial MT"/>
              </a:rPr>
              <a:t>(RHA)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58" name="object 5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49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59%</a:t>
            </a:r>
            <a:r>
              <a:rPr dirty="0" spc="-40"/>
              <a:t> </a:t>
            </a:r>
            <a:r>
              <a:rPr dirty="0"/>
              <a:t>of</a:t>
            </a:r>
            <a:r>
              <a:rPr dirty="0" spc="-45"/>
              <a:t> </a:t>
            </a:r>
            <a:r>
              <a:rPr dirty="0"/>
              <a:t>annual</a:t>
            </a:r>
            <a:r>
              <a:rPr dirty="0" spc="-20"/>
              <a:t> </a:t>
            </a:r>
            <a:r>
              <a:rPr dirty="0"/>
              <a:t>FX</a:t>
            </a:r>
            <a:r>
              <a:rPr dirty="0" spc="-40"/>
              <a:t> </a:t>
            </a:r>
            <a:r>
              <a:rPr dirty="0"/>
              <a:t>inflows</a:t>
            </a:r>
            <a:r>
              <a:rPr dirty="0" spc="-25"/>
              <a:t> </a:t>
            </a:r>
            <a:r>
              <a:rPr dirty="0"/>
              <a:t>were</a:t>
            </a:r>
            <a:r>
              <a:rPr dirty="0" spc="-45"/>
              <a:t> </a:t>
            </a:r>
            <a:r>
              <a:rPr dirty="0"/>
              <a:t>from</a:t>
            </a:r>
            <a:r>
              <a:rPr dirty="0" spc="-30"/>
              <a:t> </a:t>
            </a:r>
            <a:r>
              <a:rPr dirty="0"/>
              <a:t>autonomous</a:t>
            </a:r>
            <a:r>
              <a:rPr dirty="0" spc="-35"/>
              <a:t> </a:t>
            </a:r>
            <a:r>
              <a:rPr dirty="0"/>
              <a:t>sources</a:t>
            </a:r>
            <a:r>
              <a:rPr dirty="0" spc="-35"/>
              <a:t> </a:t>
            </a:r>
            <a:r>
              <a:rPr dirty="0"/>
              <a:t>in</a:t>
            </a:r>
            <a:r>
              <a:rPr dirty="0" spc="-35"/>
              <a:t> </a:t>
            </a:r>
            <a:r>
              <a:rPr dirty="0" spc="-20"/>
              <a:t>2022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283463" y="3694176"/>
            <a:ext cx="9581515" cy="1610995"/>
          </a:xfrm>
          <a:custGeom>
            <a:avLst/>
            <a:gdLst/>
            <a:ahLst/>
            <a:cxnLst/>
            <a:rect l="l" t="t" r="r" b="b"/>
            <a:pathLst>
              <a:path w="9581515" h="1610995">
                <a:moveTo>
                  <a:pt x="0" y="1610868"/>
                </a:moveTo>
                <a:lnTo>
                  <a:pt x="9581261" y="1610868"/>
                </a:lnTo>
                <a:lnTo>
                  <a:pt x="9581261" y="0"/>
                </a:lnTo>
                <a:lnTo>
                  <a:pt x="0" y="0"/>
                </a:lnTo>
                <a:lnTo>
                  <a:pt x="0" y="1610868"/>
                </a:lnTo>
                <a:close/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294131" y="3683558"/>
            <a:ext cx="9582785" cy="205740"/>
          </a:xfrm>
          <a:prstGeom prst="rect">
            <a:avLst/>
          </a:prstGeom>
          <a:solidFill>
            <a:srgbClr val="5F5F5F"/>
          </a:solidFill>
        </p:spPr>
        <p:txBody>
          <a:bodyPr wrap="square" lIns="0" tIns="5080" rIns="0" bIns="0" rtlCol="0" vert="horz">
            <a:spAutoFit/>
          </a:bodyPr>
          <a:lstStyle/>
          <a:p>
            <a:pPr marL="96520">
              <a:lnSpc>
                <a:spcPct val="100000"/>
              </a:lnSpc>
              <a:spcBef>
                <a:spcPts val="40"/>
              </a:spcBef>
            </a:pP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Insights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88226" y="3962527"/>
            <a:ext cx="9571990" cy="1244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69875" marR="18415" indent="-172720">
              <a:lnSpc>
                <a:spcPct val="100000"/>
              </a:lnSpc>
              <a:spcBef>
                <a:spcPts val="95"/>
              </a:spcBef>
              <a:buChar char="•"/>
              <a:tabLst>
                <a:tab pos="269875" algn="l"/>
              </a:tabLst>
            </a:pP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The</a:t>
            </a:r>
            <a:r>
              <a:rPr dirty="0" sz="1000" spc="-3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Central</a:t>
            </a:r>
            <a:r>
              <a:rPr dirty="0" sz="1000" spc="-2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Bank</a:t>
            </a:r>
            <a:r>
              <a:rPr dirty="0" sz="1000" spc="-1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of</a:t>
            </a:r>
            <a:r>
              <a:rPr dirty="0" sz="1000" spc="-3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Nigeria</a:t>
            </a:r>
            <a:r>
              <a:rPr dirty="0" sz="1000" spc="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(CBN)</a:t>
            </a:r>
            <a:r>
              <a:rPr dirty="0" sz="1000" spc="-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maintained</a:t>
            </a:r>
            <a:r>
              <a:rPr dirty="0" sz="1000" spc="-3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control</a:t>
            </a:r>
            <a:r>
              <a:rPr dirty="0" sz="1000" spc="-2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over</a:t>
            </a:r>
            <a:r>
              <a:rPr dirty="0" sz="1000" spc="-1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the</a:t>
            </a:r>
            <a:r>
              <a:rPr dirty="0" sz="1000" spc="-2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official</a:t>
            </a:r>
            <a:r>
              <a:rPr dirty="0" sz="1000" spc="-3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foreign</a:t>
            </a:r>
            <a:r>
              <a:rPr dirty="0" sz="1000" spc="-3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exchange</a:t>
            </a:r>
            <a:r>
              <a:rPr dirty="0" sz="1000" spc="-3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(FX)</a:t>
            </a:r>
            <a:r>
              <a:rPr dirty="0" sz="1000" spc="-2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market</a:t>
            </a:r>
            <a:r>
              <a:rPr dirty="0" sz="1000" spc="-5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by</a:t>
            </a:r>
            <a:r>
              <a:rPr dirty="0" sz="1000" spc="-3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offering</a:t>
            </a:r>
            <a:r>
              <a:rPr dirty="0" sz="1000" spc="-4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a</a:t>
            </a:r>
            <a:r>
              <a:rPr dirty="0" sz="1000" spc="-1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more</a:t>
            </a:r>
            <a:r>
              <a:rPr dirty="0" sz="1000" spc="1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favourable</a:t>
            </a:r>
            <a:r>
              <a:rPr dirty="0" sz="1000" spc="-2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exchange</a:t>
            </a:r>
            <a:r>
              <a:rPr dirty="0" sz="1000" spc="-4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rate</a:t>
            </a:r>
            <a:r>
              <a:rPr dirty="0" sz="1000" spc="-1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and</a:t>
            </a:r>
            <a:r>
              <a:rPr dirty="0" sz="1000" spc="-3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using</a:t>
            </a:r>
            <a:r>
              <a:rPr dirty="0" sz="1000" spc="-1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the</a:t>
            </a:r>
            <a:r>
              <a:rPr dirty="0" sz="1000" spc="-1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0D0D0D"/>
                </a:solidFill>
                <a:latin typeface="Arial MT"/>
                <a:cs typeface="Arial MT"/>
              </a:rPr>
              <a:t>threat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of</a:t>
            </a:r>
            <a:r>
              <a:rPr dirty="0" sz="1000" spc="-2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sanctions.</a:t>
            </a:r>
            <a:r>
              <a:rPr dirty="0" sz="1000" spc="-4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This</a:t>
            </a:r>
            <a:r>
              <a:rPr dirty="0" sz="1000" spc="-1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allowed them</a:t>
            </a:r>
            <a:r>
              <a:rPr dirty="0" sz="1000" spc="-2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to</a:t>
            </a:r>
            <a:r>
              <a:rPr dirty="0" sz="1000" spc="-1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finance</a:t>
            </a:r>
            <a:r>
              <a:rPr dirty="0" sz="1000" spc="-4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over</a:t>
            </a:r>
            <a:r>
              <a:rPr dirty="0" sz="1000" spc="-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60%</a:t>
            </a:r>
            <a:r>
              <a:rPr dirty="0" sz="1000" spc="-3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of</a:t>
            </a:r>
            <a:r>
              <a:rPr dirty="0" sz="1000" spc="-2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USD</a:t>
            </a:r>
            <a:r>
              <a:rPr dirty="0" sz="1000" spc="-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import</a:t>
            </a:r>
            <a:r>
              <a:rPr dirty="0" sz="1000" spc="-3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demand</a:t>
            </a:r>
            <a:r>
              <a:rPr dirty="0" sz="1000" spc="-4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from</a:t>
            </a:r>
            <a:r>
              <a:rPr dirty="0" sz="1000" spc="-2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2005</a:t>
            </a:r>
            <a:r>
              <a:rPr dirty="0" sz="1000" spc="-3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to</a:t>
            </a:r>
            <a:r>
              <a:rPr dirty="0" sz="1000" spc="-2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2013,</a:t>
            </a:r>
            <a:r>
              <a:rPr dirty="0" sz="1000" spc="-3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giving</a:t>
            </a:r>
            <a:r>
              <a:rPr dirty="0" sz="1000" spc="-1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them</a:t>
            </a:r>
            <a:r>
              <a:rPr dirty="0" sz="1000" spc="-1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significant</a:t>
            </a:r>
            <a:r>
              <a:rPr dirty="0" sz="1000" spc="-2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influence</a:t>
            </a:r>
            <a:r>
              <a:rPr dirty="0" sz="1000" spc="1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over</a:t>
            </a:r>
            <a:r>
              <a:rPr dirty="0" sz="1000" spc="-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FX</a:t>
            </a:r>
            <a:r>
              <a:rPr dirty="0" sz="1000" spc="-2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rates</a:t>
            </a:r>
            <a:r>
              <a:rPr dirty="0" sz="1000" spc="-2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for</a:t>
            </a:r>
            <a:r>
              <a:rPr dirty="0" sz="1000" spc="-3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goods</a:t>
            </a:r>
            <a:r>
              <a:rPr dirty="0" sz="1000" spc="-2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and</a:t>
            </a:r>
            <a:r>
              <a:rPr dirty="0" sz="1000" spc="-3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0D0D0D"/>
                </a:solidFill>
                <a:latin typeface="Arial MT"/>
                <a:cs typeface="Arial MT"/>
              </a:rPr>
              <a:t>services.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0D0D0D"/>
              </a:buClr>
              <a:buFont typeface="Arial MT"/>
              <a:buChar char="•"/>
            </a:pPr>
            <a:endParaRPr sz="1000">
              <a:latin typeface="Arial MT"/>
              <a:cs typeface="Arial MT"/>
            </a:endParaRPr>
          </a:p>
          <a:p>
            <a:pPr marL="269875" marR="106680" indent="-172720">
              <a:lnSpc>
                <a:spcPct val="100000"/>
              </a:lnSpc>
              <a:buChar char="•"/>
              <a:tabLst>
                <a:tab pos="269875" algn="l"/>
              </a:tabLst>
            </a:pP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However, Nigeria's</a:t>
            </a:r>
            <a:r>
              <a:rPr dirty="0" sz="1000" spc="-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external</a:t>
            </a:r>
            <a:r>
              <a:rPr dirty="0" sz="1000" spc="-4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accounts</a:t>
            </a:r>
            <a:r>
              <a:rPr dirty="0" sz="1000" spc="-3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were</a:t>
            </a:r>
            <a:r>
              <a:rPr dirty="0" sz="1000" spc="-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changing</a:t>
            </a:r>
            <a:r>
              <a:rPr dirty="0" sz="1000" spc="-3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due</a:t>
            </a:r>
            <a:r>
              <a:rPr dirty="0" sz="1000" spc="-3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to</a:t>
            </a:r>
            <a:r>
              <a:rPr dirty="0" sz="1000" spc="-2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an</a:t>
            </a:r>
            <a:r>
              <a:rPr dirty="0" sz="1000" spc="-2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artificially strong</a:t>
            </a:r>
            <a:r>
              <a:rPr dirty="0" sz="1000" spc="-3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exchange</a:t>
            </a:r>
            <a:r>
              <a:rPr dirty="0" sz="1000" spc="-3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rate.</a:t>
            </a:r>
            <a:r>
              <a:rPr dirty="0" sz="1000" spc="-3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Non-tradable</a:t>
            </a:r>
            <a:r>
              <a:rPr dirty="0" sz="1000" spc="-2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services</a:t>
            </a:r>
            <a:r>
              <a:rPr dirty="0" sz="1000" spc="-1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in</a:t>
            </a:r>
            <a:r>
              <a:rPr dirty="0" sz="1000" spc="-1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the</a:t>
            </a:r>
            <a:r>
              <a:rPr dirty="0" sz="1000" spc="-3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import</a:t>
            </a:r>
            <a:r>
              <a:rPr dirty="0" sz="1000" spc="-2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basket</a:t>
            </a:r>
            <a:r>
              <a:rPr dirty="0" sz="1000" spc="-5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grew,</a:t>
            </a:r>
            <a:r>
              <a:rPr dirty="0" sz="1000" spc="-1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driven</a:t>
            </a:r>
            <a:r>
              <a:rPr dirty="0" sz="1000" spc="-1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by</a:t>
            </a:r>
            <a:r>
              <a:rPr dirty="0" sz="1000" spc="-1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0D0D0D"/>
                </a:solidFill>
                <a:latin typeface="Arial MT"/>
                <a:cs typeface="Arial MT"/>
              </a:rPr>
              <a:t>increased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consumption</a:t>
            </a:r>
            <a:r>
              <a:rPr dirty="0" sz="1000" spc="-5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of</a:t>
            </a:r>
            <a:r>
              <a:rPr dirty="0" sz="1000" spc="-3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foreign</a:t>
            </a:r>
            <a:r>
              <a:rPr dirty="0" sz="1000" spc="-3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transportation,</a:t>
            </a:r>
            <a:r>
              <a:rPr dirty="0" sz="1000" spc="-2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education,</a:t>
            </a:r>
            <a:r>
              <a:rPr dirty="0" sz="1000" spc="-3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health,</a:t>
            </a:r>
            <a:r>
              <a:rPr dirty="0" sz="1000" spc="-2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and</a:t>
            </a:r>
            <a:r>
              <a:rPr dirty="0" sz="1000" spc="-3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financial</a:t>
            </a:r>
            <a:r>
              <a:rPr dirty="0" sz="1000" spc="-2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assets</a:t>
            </a:r>
            <a:r>
              <a:rPr dirty="0" sz="1000" b="1">
                <a:solidFill>
                  <a:srgbClr val="0D0D0D"/>
                </a:solidFill>
                <a:latin typeface="Arial"/>
                <a:cs typeface="Arial"/>
              </a:rPr>
              <a:t>.</a:t>
            </a:r>
            <a:r>
              <a:rPr dirty="0" sz="1000" spc="-45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D0D0D"/>
                </a:solidFill>
                <a:latin typeface="Arial"/>
                <a:cs typeface="Arial"/>
              </a:rPr>
              <a:t>The</a:t>
            </a:r>
            <a:r>
              <a:rPr dirty="0" sz="1000" spc="-35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D0D0D"/>
                </a:solidFill>
                <a:latin typeface="Arial"/>
                <a:cs typeface="Arial"/>
              </a:rPr>
              <a:t>other</a:t>
            </a:r>
            <a:r>
              <a:rPr dirty="0" sz="1000" spc="-20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D0D0D"/>
                </a:solidFill>
                <a:latin typeface="Arial"/>
                <a:cs typeface="Arial"/>
              </a:rPr>
              <a:t>big</a:t>
            </a:r>
            <a:r>
              <a:rPr dirty="0" sz="1000" spc="-30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D0D0D"/>
                </a:solidFill>
                <a:latin typeface="Arial"/>
                <a:cs typeface="Arial"/>
              </a:rPr>
              <a:t>shift</a:t>
            </a:r>
            <a:r>
              <a:rPr dirty="0" sz="1000" spc="-15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D0D0D"/>
                </a:solidFill>
                <a:latin typeface="Arial"/>
                <a:cs typeface="Arial"/>
              </a:rPr>
              <a:t>in</a:t>
            </a:r>
            <a:r>
              <a:rPr dirty="0" sz="1000" spc="-25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D0D0D"/>
                </a:solidFill>
                <a:latin typeface="Arial"/>
                <a:cs typeface="Arial"/>
              </a:rPr>
              <a:t>dollar</a:t>
            </a:r>
            <a:r>
              <a:rPr dirty="0" sz="1000" spc="-20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D0D0D"/>
                </a:solidFill>
                <a:latin typeface="Arial"/>
                <a:cs typeface="Arial"/>
              </a:rPr>
              <a:t>demand</a:t>
            </a:r>
            <a:r>
              <a:rPr dirty="0" sz="1000" spc="-15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D0D0D"/>
                </a:solidFill>
                <a:latin typeface="Arial"/>
                <a:cs typeface="Arial"/>
              </a:rPr>
              <a:t>composition</a:t>
            </a:r>
            <a:r>
              <a:rPr dirty="0" sz="1000" spc="-20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D0D0D"/>
                </a:solidFill>
                <a:latin typeface="Arial"/>
                <a:cs typeface="Arial"/>
              </a:rPr>
              <a:t>was</a:t>
            </a:r>
            <a:r>
              <a:rPr dirty="0" sz="1000" spc="-45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D0D0D"/>
                </a:solidFill>
                <a:latin typeface="Arial"/>
                <a:cs typeface="Arial"/>
              </a:rPr>
              <a:t>in</a:t>
            </a:r>
            <a:r>
              <a:rPr dirty="0" sz="1000" spc="-20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D0D0D"/>
                </a:solidFill>
                <a:latin typeface="Arial"/>
                <a:cs typeface="Arial"/>
              </a:rPr>
              <a:t>oil</a:t>
            </a:r>
            <a:r>
              <a:rPr dirty="0" sz="1000" spc="-35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D0D0D"/>
                </a:solidFill>
                <a:latin typeface="Arial"/>
                <a:cs typeface="Arial"/>
              </a:rPr>
              <a:t>imports</a:t>
            </a:r>
            <a:r>
              <a:rPr dirty="0" sz="1000" spc="-15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D0D0D"/>
                </a:solidFill>
                <a:latin typeface="Arial"/>
                <a:cs typeface="Arial"/>
              </a:rPr>
              <a:t>which</a:t>
            </a:r>
            <a:r>
              <a:rPr dirty="0" sz="1000" spc="-40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000" spc="-20" b="1">
                <a:solidFill>
                  <a:srgbClr val="0D0D0D"/>
                </a:solidFill>
                <a:latin typeface="Arial"/>
                <a:cs typeface="Arial"/>
              </a:rPr>
              <a:t>rose </a:t>
            </a:r>
            <a:r>
              <a:rPr dirty="0" sz="1000" b="1">
                <a:solidFill>
                  <a:srgbClr val="0D0D0D"/>
                </a:solidFill>
                <a:latin typeface="Arial"/>
                <a:cs typeface="Arial"/>
              </a:rPr>
              <a:t>from</a:t>
            </a:r>
            <a:r>
              <a:rPr dirty="0" sz="1000" spc="-20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0D0D0D"/>
                </a:solidFill>
                <a:latin typeface="Arial"/>
                <a:cs typeface="Arial"/>
              </a:rPr>
              <a:t>10-</a:t>
            </a:r>
            <a:r>
              <a:rPr dirty="0" sz="1000" b="1">
                <a:solidFill>
                  <a:srgbClr val="0D0D0D"/>
                </a:solidFill>
                <a:latin typeface="Arial"/>
                <a:cs typeface="Arial"/>
              </a:rPr>
              <a:t>15%</a:t>
            </a:r>
            <a:r>
              <a:rPr dirty="0" sz="1000" spc="-20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D0D0D"/>
                </a:solidFill>
                <a:latin typeface="Arial"/>
                <a:cs typeface="Arial"/>
              </a:rPr>
              <a:t>in</a:t>
            </a:r>
            <a:r>
              <a:rPr dirty="0" sz="1000" spc="-15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D0D0D"/>
                </a:solidFill>
                <a:latin typeface="Arial"/>
                <a:cs typeface="Arial"/>
              </a:rPr>
              <a:t>2005</a:t>
            </a:r>
            <a:r>
              <a:rPr dirty="0" sz="1000" spc="-35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D0D0D"/>
                </a:solidFill>
                <a:latin typeface="Arial"/>
                <a:cs typeface="Arial"/>
              </a:rPr>
              <a:t>to</a:t>
            </a:r>
            <a:r>
              <a:rPr dirty="0" sz="1000" spc="-15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0D0D0D"/>
                </a:solidFill>
                <a:latin typeface="Arial"/>
                <a:cs typeface="Arial"/>
              </a:rPr>
              <a:t>20-</a:t>
            </a:r>
            <a:r>
              <a:rPr dirty="0" sz="1000" b="1">
                <a:solidFill>
                  <a:srgbClr val="0D0D0D"/>
                </a:solidFill>
                <a:latin typeface="Arial"/>
                <a:cs typeface="Arial"/>
              </a:rPr>
              <a:t>22%</a:t>
            </a:r>
            <a:r>
              <a:rPr dirty="0" sz="1000" spc="-30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D0D0D"/>
                </a:solidFill>
                <a:latin typeface="Arial"/>
                <a:cs typeface="Arial"/>
              </a:rPr>
              <a:t>of</a:t>
            </a:r>
            <a:r>
              <a:rPr dirty="0" sz="1000" spc="-10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D0D0D"/>
                </a:solidFill>
                <a:latin typeface="Arial"/>
                <a:cs typeface="Arial"/>
              </a:rPr>
              <a:t>total</a:t>
            </a:r>
            <a:r>
              <a:rPr dirty="0" sz="1000" spc="-20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D0D0D"/>
                </a:solidFill>
                <a:latin typeface="Arial"/>
                <a:cs typeface="Arial"/>
              </a:rPr>
              <a:t>imports</a:t>
            </a:r>
            <a:r>
              <a:rPr dirty="0" sz="1000" spc="-15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D0D0D"/>
                </a:solidFill>
                <a:latin typeface="Arial"/>
                <a:cs typeface="Arial"/>
              </a:rPr>
              <a:t>at</a:t>
            </a:r>
            <a:r>
              <a:rPr dirty="0" sz="1000" spc="-15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D0D0D"/>
                </a:solidFill>
                <a:latin typeface="Arial"/>
                <a:cs typeface="Arial"/>
              </a:rPr>
              <a:t>end</a:t>
            </a:r>
            <a:r>
              <a:rPr dirty="0" sz="1000" spc="-15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D0D0D"/>
                </a:solidFill>
                <a:latin typeface="Arial"/>
                <a:cs typeface="Arial"/>
              </a:rPr>
              <a:t>of</a:t>
            </a:r>
            <a:r>
              <a:rPr dirty="0" sz="1000" spc="-10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000" spc="-20" b="1">
                <a:solidFill>
                  <a:srgbClr val="0D0D0D"/>
                </a:solidFill>
                <a:latin typeface="Arial"/>
                <a:cs typeface="Arial"/>
              </a:rPr>
              <a:t>2022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0D0D0D"/>
              </a:buClr>
              <a:buFont typeface="Arial MT"/>
              <a:buChar char="•"/>
            </a:pPr>
            <a:endParaRPr sz="1000">
              <a:latin typeface="Arial"/>
              <a:cs typeface="Arial"/>
            </a:endParaRPr>
          </a:p>
          <a:p>
            <a:pPr marL="269875" indent="-172085">
              <a:lnSpc>
                <a:spcPct val="100000"/>
              </a:lnSpc>
              <a:buChar char="•"/>
              <a:tabLst>
                <a:tab pos="269875" algn="l"/>
              </a:tabLst>
            </a:pP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The</a:t>
            </a:r>
            <a:r>
              <a:rPr dirty="0" sz="1000" spc="-4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rise</a:t>
            </a:r>
            <a:r>
              <a:rPr dirty="0" sz="1000" spc="-2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in</a:t>
            </a:r>
            <a:r>
              <a:rPr dirty="0" sz="1000" spc="-2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Nigeria’s import</a:t>
            </a:r>
            <a:r>
              <a:rPr dirty="0" sz="1000" spc="-3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basket</a:t>
            </a:r>
            <a:r>
              <a:rPr dirty="0" sz="1000" spc="-5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and</a:t>
            </a:r>
            <a:r>
              <a:rPr dirty="0" sz="1000" spc="-2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the</a:t>
            </a:r>
            <a:r>
              <a:rPr dirty="0" sz="1000" spc="-4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decline</a:t>
            </a:r>
            <a:r>
              <a:rPr dirty="0" sz="1000" spc="-2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in</a:t>
            </a:r>
            <a:r>
              <a:rPr dirty="0" sz="1000" spc="-1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crude</a:t>
            </a:r>
            <a:r>
              <a:rPr dirty="0" sz="1000" spc="-4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oil</a:t>
            </a:r>
            <a:r>
              <a:rPr dirty="0" sz="1000" spc="-2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exports</a:t>
            </a:r>
            <a:r>
              <a:rPr dirty="0" sz="1000" spc="-2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relative</a:t>
            </a:r>
            <a:r>
              <a:rPr dirty="0" sz="1000" spc="-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to</a:t>
            </a:r>
            <a:r>
              <a:rPr dirty="0" sz="1000" spc="-3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0D0D0D"/>
                </a:solidFill>
                <a:latin typeface="Arial MT"/>
                <a:cs typeface="Arial MT"/>
              </a:rPr>
              <a:t>autonomous</a:t>
            </a:r>
            <a:r>
              <a:rPr dirty="0" sz="1000" spc="-5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flows</a:t>
            </a:r>
            <a:r>
              <a:rPr dirty="0" sz="1000" spc="-2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widened</a:t>
            </a:r>
            <a:r>
              <a:rPr dirty="0" sz="1000" spc="-1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the</a:t>
            </a:r>
            <a:r>
              <a:rPr dirty="0" sz="1000" spc="-3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gap</a:t>
            </a:r>
            <a:r>
              <a:rPr dirty="0" sz="1000" spc="-3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between</a:t>
            </a:r>
            <a:r>
              <a:rPr dirty="0" sz="1000" spc="2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the</a:t>
            </a:r>
            <a:r>
              <a:rPr dirty="0" sz="1000" spc="-3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parallel</a:t>
            </a:r>
            <a:r>
              <a:rPr dirty="0" sz="1000" spc="-1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market</a:t>
            </a:r>
            <a:r>
              <a:rPr dirty="0" sz="1000" spc="-6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and</a:t>
            </a:r>
            <a:r>
              <a:rPr dirty="0" sz="1000" spc="-4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the</a:t>
            </a:r>
            <a:r>
              <a:rPr dirty="0" sz="1000" spc="-2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official</a:t>
            </a:r>
            <a:r>
              <a:rPr dirty="0" sz="1000" spc="-4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0D0D0D"/>
                </a:solidFill>
                <a:latin typeface="Arial MT"/>
                <a:cs typeface="Arial MT"/>
              </a:rPr>
              <a:t>rate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668845" y="1374394"/>
            <a:ext cx="8994140" cy="1691005"/>
            <a:chOff x="668845" y="1374394"/>
            <a:chExt cx="8994140" cy="1691005"/>
          </a:xfrm>
        </p:grpSpPr>
        <p:sp>
          <p:nvSpPr>
            <p:cNvPr id="6" name="object 6" descr=""/>
            <p:cNvSpPr/>
            <p:nvPr/>
          </p:nvSpPr>
          <p:spPr>
            <a:xfrm>
              <a:off x="2924556" y="1656588"/>
              <a:ext cx="425450" cy="1402080"/>
            </a:xfrm>
            <a:custGeom>
              <a:avLst/>
              <a:gdLst/>
              <a:ahLst/>
              <a:cxnLst/>
              <a:rect l="l" t="t" r="r" b="b"/>
              <a:pathLst>
                <a:path w="425450" h="1402080">
                  <a:moveTo>
                    <a:pt x="425195" y="0"/>
                  </a:moveTo>
                  <a:lnTo>
                    <a:pt x="0" y="0"/>
                  </a:lnTo>
                  <a:lnTo>
                    <a:pt x="0" y="1402080"/>
                  </a:lnTo>
                  <a:lnTo>
                    <a:pt x="425195" y="1402080"/>
                  </a:lnTo>
                  <a:lnTo>
                    <a:pt x="42519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2924556" y="1656588"/>
              <a:ext cx="425450" cy="1402080"/>
            </a:xfrm>
            <a:custGeom>
              <a:avLst/>
              <a:gdLst/>
              <a:ahLst/>
              <a:cxnLst/>
              <a:rect l="l" t="t" r="r" b="b"/>
              <a:pathLst>
                <a:path w="425450" h="1402080">
                  <a:moveTo>
                    <a:pt x="0" y="1402080"/>
                  </a:moveTo>
                  <a:lnTo>
                    <a:pt x="425195" y="1402080"/>
                  </a:lnTo>
                  <a:lnTo>
                    <a:pt x="425195" y="0"/>
                  </a:lnTo>
                  <a:lnTo>
                    <a:pt x="0" y="0"/>
                  </a:lnTo>
                  <a:lnTo>
                    <a:pt x="0" y="1402080"/>
                  </a:lnTo>
                  <a:close/>
                </a:path>
              </a:pathLst>
            </a:custGeom>
            <a:ln w="12700">
              <a:solidFill>
                <a:srgbClr val="0D0D0D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7869936" y="1380744"/>
              <a:ext cx="1786255" cy="1664335"/>
            </a:xfrm>
            <a:custGeom>
              <a:avLst/>
              <a:gdLst/>
              <a:ahLst/>
              <a:cxnLst/>
              <a:rect l="l" t="t" r="r" b="b"/>
              <a:pathLst>
                <a:path w="1786254" h="1664335">
                  <a:moveTo>
                    <a:pt x="1786127" y="0"/>
                  </a:moveTo>
                  <a:lnTo>
                    <a:pt x="0" y="0"/>
                  </a:lnTo>
                  <a:lnTo>
                    <a:pt x="0" y="1664207"/>
                  </a:lnTo>
                  <a:lnTo>
                    <a:pt x="1786127" y="1664207"/>
                  </a:lnTo>
                  <a:lnTo>
                    <a:pt x="1786127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7869936" y="1380744"/>
              <a:ext cx="1786255" cy="1664335"/>
            </a:xfrm>
            <a:custGeom>
              <a:avLst/>
              <a:gdLst/>
              <a:ahLst/>
              <a:cxnLst/>
              <a:rect l="l" t="t" r="r" b="b"/>
              <a:pathLst>
                <a:path w="1786254" h="1664335">
                  <a:moveTo>
                    <a:pt x="0" y="1664207"/>
                  </a:moveTo>
                  <a:lnTo>
                    <a:pt x="1786127" y="1664207"/>
                  </a:lnTo>
                  <a:lnTo>
                    <a:pt x="1786127" y="0"/>
                  </a:lnTo>
                  <a:lnTo>
                    <a:pt x="0" y="0"/>
                  </a:lnTo>
                  <a:lnTo>
                    <a:pt x="0" y="1664207"/>
                  </a:lnTo>
                  <a:close/>
                </a:path>
              </a:pathLst>
            </a:custGeom>
            <a:ln w="12700">
              <a:solidFill>
                <a:srgbClr val="0D0D0D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5600699" y="1642872"/>
              <a:ext cx="1786255" cy="1402080"/>
            </a:xfrm>
            <a:custGeom>
              <a:avLst/>
              <a:gdLst/>
              <a:ahLst/>
              <a:cxnLst/>
              <a:rect l="l" t="t" r="r" b="b"/>
              <a:pathLst>
                <a:path w="1786254" h="1402080">
                  <a:moveTo>
                    <a:pt x="1786127" y="0"/>
                  </a:moveTo>
                  <a:lnTo>
                    <a:pt x="0" y="0"/>
                  </a:lnTo>
                  <a:lnTo>
                    <a:pt x="0" y="1402079"/>
                  </a:lnTo>
                  <a:lnTo>
                    <a:pt x="1786127" y="1402079"/>
                  </a:lnTo>
                  <a:lnTo>
                    <a:pt x="1786127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5600699" y="1642872"/>
              <a:ext cx="1786255" cy="1402080"/>
            </a:xfrm>
            <a:custGeom>
              <a:avLst/>
              <a:gdLst/>
              <a:ahLst/>
              <a:cxnLst/>
              <a:rect l="l" t="t" r="r" b="b"/>
              <a:pathLst>
                <a:path w="1786254" h="1402080">
                  <a:moveTo>
                    <a:pt x="0" y="1402079"/>
                  </a:moveTo>
                  <a:lnTo>
                    <a:pt x="1786127" y="1402079"/>
                  </a:lnTo>
                  <a:lnTo>
                    <a:pt x="1786127" y="0"/>
                  </a:lnTo>
                  <a:lnTo>
                    <a:pt x="0" y="0"/>
                  </a:lnTo>
                  <a:lnTo>
                    <a:pt x="0" y="1402079"/>
                  </a:lnTo>
                  <a:close/>
                </a:path>
              </a:pathLst>
            </a:custGeom>
            <a:ln w="12700">
              <a:solidFill>
                <a:srgbClr val="0D0D0D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736092" y="1586483"/>
              <a:ext cx="8842375" cy="1454150"/>
            </a:xfrm>
            <a:custGeom>
              <a:avLst/>
              <a:gdLst/>
              <a:ahLst/>
              <a:cxnLst/>
              <a:rect l="l" t="t" r="r" b="b"/>
              <a:pathLst>
                <a:path w="8842375" h="1454150">
                  <a:moveTo>
                    <a:pt x="323088" y="1261872"/>
                  </a:moveTo>
                  <a:lnTo>
                    <a:pt x="0" y="1261872"/>
                  </a:lnTo>
                  <a:lnTo>
                    <a:pt x="0" y="1426464"/>
                  </a:lnTo>
                  <a:lnTo>
                    <a:pt x="323088" y="1426464"/>
                  </a:lnTo>
                  <a:lnTo>
                    <a:pt x="323088" y="1261872"/>
                  </a:lnTo>
                  <a:close/>
                </a:path>
                <a:path w="8842375" h="1454150">
                  <a:moveTo>
                    <a:pt x="771144" y="1207008"/>
                  </a:moveTo>
                  <a:lnTo>
                    <a:pt x="448056" y="1207008"/>
                  </a:lnTo>
                  <a:lnTo>
                    <a:pt x="448056" y="1426464"/>
                  </a:lnTo>
                  <a:lnTo>
                    <a:pt x="771144" y="1426464"/>
                  </a:lnTo>
                  <a:lnTo>
                    <a:pt x="771144" y="1207008"/>
                  </a:lnTo>
                  <a:close/>
                </a:path>
                <a:path w="8842375" h="1454150">
                  <a:moveTo>
                    <a:pt x="1219200" y="1234440"/>
                  </a:moveTo>
                  <a:lnTo>
                    <a:pt x="897623" y="1234440"/>
                  </a:lnTo>
                  <a:lnTo>
                    <a:pt x="897623" y="1426464"/>
                  </a:lnTo>
                  <a:lnTo>
                    <a:pt x="1219200" y="1426464"/>
                  </a:lnTo>
                  <a:lnTo>
                    <a:pt x="1219200" y="1234440"/>
                  </a:lnTo>
                  <a:close/>
                </a:path>
                <a:path w="8842375" h="1454150">
                  <a:moveTo>
                    <a:pt x="1667256" y="1399032"/>
                  </a:moveTo>
                  <a:lnTo>
                    <a:pt x="1345692" y="1399032"/>
                  </a:lnTo>
                  <a:lnTo>
                    <a:pt x="1345692" y="1426464"/>
                  </a:lnTo>
                  <a:lnTo>
                    <a:pt x="1667256" y="1426464"/>
                  </a:lnTo>
                  <a:lnTo>
                    <a:pt x="1667256" y="1399032"/>
                  </a:lnTo>
                  <a:close/>
                </a:path>
                <a:path w="8842375" h="1454150">
                  <a:moveTo>
                    <a:pt x="2116836" y="1371600"/>
                  </a:moveTo>
                  <a:lnTo>
                    <a:pt x="1793748" y="1371600"/>
                  </a:lnTo>
                  <a:lnTo>
                    <a:pt x="1793748" y="1426464"/>
                  </a:lnTo>
                  <a:lnTo>
                    <a:pt x="2116836" y="1426464"/>
                  </a:lnTo>
                  <a:lnTo>
                    <a:pt x="2116836" y="1371600"/>
                  </a:lnTo>
                  <a:close/>
                </a:path>
                <a:path w="8842375" h="1454150">
                  <a:moveTo>
                    <a:pt x="2564892" y="1179576"/>
                  </a:moveTo>
                  <a:lnTo>
                    <a:pt x="2241804" y="1179576"/>
                  </a:lnTo>
                  <a:lnTo>
                    <a:pt x="2241804" y="1426464"/>
                  </a:lnTo>
                  <a:lnTo>
                    <a:pt x="2564892" y="1426464"/>
                  </a:lnTo>
                  <a:lnTo>
                    <a:pt x="2564892" y="1179576"/>
                  </a:lnTo>
                  <a:close/>
                </a:path>
                <a:path w="8842375" h="1454150">
                  <a:moveTo>
                    <a:pt x="3012948" y="1371600"/>
                  </a:moveTo>
                  <a:lnTo>
                    <a:pt x="2691384" y="1371600"/>
                  </a:lnTo>
                  <a:lnTo>
                    <a:pt x="2691384" y="1426464"/>
                  </a:lnTo>
                  <a:lnTo>
                    <a:pt x="3012948" y="1426464"/>
                  </a:lnTo>
                  <a:lnTo>
                    <a:pt x="3012948" y="1371600"/>
                  </a:lnTo>
                  <a:close/>
                </a:path>
                <a:path w="8842375" h="1454150">
                  <a:moveTo>
                    <a:pt x="3461004" y="1316736"/>
                  </a:moveTo>
                  <a:lnTo>
                    <a:pt x="3139440" y="1316736"/>
                  </a:lnTo>
                  <a:lnTo>
                    <a:pt x="3139440" y="1426464"/>
                  </a:lnTo>
                  <a:lnTo>
                    <a:pt x="3461004" y="1426464"/>
                  </a:lnTo>
                  <a:lnTo>
                    <a:pt x="3461004" y="1316736"/>
                  </a:lnTo>
                  <a:close/>
                </a:path>
                <a:path w="8842375" h="1454150">
                  <a:moveTo>
                    <a:pt x="3910584" y="1371600"/>
                  </a:moveTo>
                  <a:lnTo>
                    <a:pt x="3587496" y="1371600"/>
                  </a:lnTo>
                  <a:lnTo>
                    <a:pt x="3587496" y="1426464"/>
                  </a:lnTo>
                  <a:lnTo>
                    <a:pt x="3910584" y="1426464"/>
                  </a:lnTo>
                  <a:lnTo>
                    <a:pt x="3910584" y="1371600"/>
                  </a:lnTo>
                  <a:close/>
                </a:path>
                <a:path w="8842375" h="1454150">
                  <a:moveTo>
                    <a:pt x="4358640" y="1344168"/>
                  </a:moveTo>
                  <a:lnTo>
                    <a:pt x="4035552" y="1344168"/>
                  </a:lnTo>
                  <a:lnTo>
                    <a:pt x="4035552" y="1426464"/>
                  </a:lnTo>
                  <a:lnTo>
                    <a:pt x="4358640" y="1426464"/>
                  </a:lnTo>
                  <a:lnTo>
                    <a:pt x="4358640" y="1344168"/>
                  </a:lnTo>
                  <a:close/>
                </a:path>
                <a:path w="8842375" h="1454150">
                  <a:moveTo>
                    <a:pt x="4806696" y="1207008"/>
                  </a:moveTo>
                  <a:lnTo>
                    <a:pt x="4483608" y="1207008"/>
                  </a:lnTo>
                  <a:lnTo>
                    <a:pt x="4483608" y="1426464"/>
                  </a:lnTo>
                  <a:lnTo>
                    <a:pt x="4806696" y="1426464"/>
                  </a:lnTo>
                  <a:lnTo>
                    <a:pt x="4806696" y="1207008"/>
                  </a:lnTo>
                  <a:close/>
                </a:path>
                <a:path w="8842375" h="1454150">
                  <a:moveTo>
                    <a:pt x="5254752" y="1014984"/>
                  </a:moveTo>
                  <a:lnTo>
                    <a:pt x="4933188" y="1014984"/>
                  </a:lnTo>
                  <a:lnTo>
                    <a:pt x="4933188" y="1426464"/>
                  </a:lnTo>
                  <a:lnTo>
                    <a:pt x="5254752" y="1426464"/>
                  </a:lnTo>
                  <a:lnTo>
                    <a:pt x="5254752" y="1014984"/>
                  </a:lnTo>
                  <a:close/>
                </a:path>
                <a:path w="8842375" h="1454150">
                  <a:moveTo>
                    <a:pt x="5704332" y="82296"/>
                  </a:moveTo>
                  <a:lnTo>
                    <a:pt x="5381244" y="82296"/>
                  </a:lnTo>
                  <a:lnTo>
                    <a:pt x="5381244" y="1426464"/>
                  </a:lnTo>
                  <a:lnTo>
                    <a:pt x="5704332" y="1426464"/>
                  </a:lnTo>
                  <a:lnTo>
                    <a:pt x="5704332" y="82296"/>
                  </a:lnTo>
                  <a:close/>
                </a:path>
                <a:path w="8842375" h="1454150">
                  <a:moveTo>
                    <a:pt x="6152388" y="987552"/>
                  </a:moveTo>
                  <a:lnTo>
                    <a:pt x="5829300" y="987552"/>
                  </a:lnTo>
                  <a:lnTo>
                    <a:pt x="5829300" y="1426464"/>
                  </a:lnTo>
                  <a:lnTo>
                    <a:pt x="6152388" y="1426464"/>
                  </a:lnTo>
                  <a:lnTo>
                    <a:pt x="6152388" y="987552"/>
                  </a:lnTo>
                  <a:close/>
                </a:path>
                <a:path w="8842375" h="1454150">
                  <a:moveTo>
                    <a:pt x="6600444" y="1415796"/>
                  </a:moveTo>
                  <a:lnTo>
                    <a:pt x="6277356" y="1415796"/>
                  </a:lnTo>
                  <a:lnTo>
                    <a:pt x="6277356" y="1426464"/>
                  </a:lnTo>
                  <a:lnTo>
                    <a:pt x="6600444" y="1426464"/>
                  </a:lnTo>
                  <a:lnTo>
                    <a:pt x="6600444" y="1415796"/>
                  </a:lnTo>
                  <a:close/>
                </a:path>
                <a:path w="8842375" h="1454150">
                  <a:moveTo>
                    <a:pt x="7048500" y="1426464"/>
                  </a:moveTo>
                  <a:lnTo>
                    <a:pt x="6726936" y="1426464"/>
                  </a:lnTo>
                  <a:lnTo>
                    <a:pt x="6726936" y="1453896"/>
                  </a:lnTo>
                  <a:lnTo>
                    <a:pt x="7048500" y="1453896"/>
                  </a:lnTo>
                  <a:lnTo>
                    <a:pt x="7048500" y="1426464"/>
                  </a:lnTo>
                  <a:close/>
                </a:path>
                <a:path w="8842375" h="1454150">
                  <a:moveTo>
                    <a:pt x="7498080" y="1069848"/>
                  </a:moveTo>
                  <a:lnTo>
                    <a:pt x="7174992" y="1069848"/>
                  </a:lnTo>
                  <a:lnTo>
                    <a:pt x="7174992" y="1426464"/>
                  </a:lnTo>
                  <a:lnTo>
                    <a:pt x="7498080" y="1426464"/>
                  </a:lnTo>
                  <a:lnTo>
                    <a:pt x="7498080" y="1069848"/>
                  </a:lnTo>
                  <a:close/>
                </a:path>
                <a:path w="8842375" h="1454150">
                  <a:moveTo>
                    <a:pt x="7946136" y="740664"/>
                  </a:moveTo>
                  <a:lnTo>
                    <a:pt x="7623048" y="740664"/>
                  </a:lnTo>
                  <a:lnTo>
                    <a:pt x="7623048" y="1426464"/>
                  </a:lnTo>
                  <a:lnTo>
                    <a:pt x="7946136" y="1426464"/>
                  </a:lnTo>
                  <a:lnTo>
                    <a:pt x="7946136" y="740664"/>
                  </a:lnTo>
                  <a:close/>
                </a:path>
                <a:path w="8842375" h="1454150">
                  <a:moveTo>
                    <a:pt x="8394192" y="0"/>
                  </a:moveTo>
                  <a:lnTo>
                    <a:pt x="8071104" y="0"/>
                  </a:lnTo>
                  <a:lnTo>
                    <a:pt x="8071104" y="1426464"/>
                  </a:lnTo>
                  <a:lnTo>
                    <a:pt x="8394192" y="1426464"/>
                  </a:lnTo>
                  <a:lnTo>
                    <a:pt x="8394192" y="0"/>
                  </a:lnTo>
                  <a:close/>
                </a:path>
                <a:path w="8842375" h="1454150">
                  <a:moveTo>
                    <a:pt x="8842248" y="647700"/>
                  </a:moveTo>
                  <a:lnTo>
                    <a:pt x="8520684" y="647700"/>
                  </a:lnTo>
                  <a:lnTo>
                    <a:pt x="8520684" y="1426464"/>
                  </a:lnTo>
                  <a:lnTo>
                    <a:pt x="8842248" y="1426464"/>
                  </a:lnTo>
                  <a:lnTo>
                    <a:pt x="8842248" y="64770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673608" y="3012948"/>
              <a:ext cx="8968740" cy="0"/>
            </a:xfrm>
            <a:custGeom>
              <a:avLst/>
              <a:gdLst/>
              <a:ahLst/>
              <a:cxnLst/>
              <a:rect l="l" t="t" r="r" b="b"/>
              <a:pathLst>
                <a:path w="8968740" h="0">
                  <a:moveTo>
                    <a:pt x="0" y="0"/>
                  </a:moveTo>
                  <a:lnTo>
                    <a:pt x="8968740" y="0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821232" y="2672841"/>
            <a:ext cx="15240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>
                <a:solidFill>
                  <a:srgbClr val="404040"/>
                </a:solidFill>
                <a:latin typeface="Arial MT"/>
                <a:cs typeface="Arial MT"/>
              </a:rPr>
              <a:t>6%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269619" y="2617977"/>
            <a:ext cx="15240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>
                <a:solidFill>
                  <a:srgbClr val="404040"/>
                </a:solidFill>
                <a:latin typeface="Arial MT"/>
                <a:cs typeface="Arial MT"/>
              </a:rPr>
              <a:t>8%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718310" y="2645409"/>
            <a:ext cx="15240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>
                <a:solidFill>
                  <a:srgbClr val="404040"/>
                </a:solidFill>
                <a:latin typeface="Arial MT"/>
                <a:cs typeface="Arial MT"/>
              </a:rPr>
              <a:t>7%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2166620" y="2810382"/>
            <a:ext cx="15240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>
                <a:solidFill>
                  <a:srgbClr val="404040"/>
                </a:solidFill>
                <a:latin typeface="Arial MT"/>
                <a:cs typeface="Arial MT"/>
              </a:rPr>
              <a:t>1%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2615310" y="2782950"/>
            <a:ext cx="15240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>
                <a:solidFill>
                  <a:srgbClr val="404040"/>
                </a:solidFill>
                <a:latin typeface="Arial MT"/>
                <a:cs typeface="Arial MT"/>
              </a:rPr>
              <a:t>2%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3076320" y="2590545"/>
            <a:ext cx="13970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700" spc="-25">
                <a:solidFill>
                  <a:srgbClr val="404040"/>
                </a:solidFill>
                <a:latin typeface="Arial MT"/>
                <a:cs typeface="Arial MT"/>
              </a:rPr>
              <a:t>9%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3512311" y="2782950"/>
            <a:ext cx="15240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>
                <a:solidFill>
                  <a:srgbClr val="404040"/>
                </a:solidFill>
                <a:latin typeface="Arial MT"/>
                <a:cs typeface="Arial MT"/>
              </a:rPr>
              <a:t>2%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3960621" y="2727401"/>
            <a:ext cx="15303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>
                <a:solidFill>
                  <a:srgbClr val="404040"/>
                </a:solidFill>
                <a:latin typeface="Arial MT"/>
                <a:cs typeface="Arial MT"/>
              </a:rPr>
              <a:t>4%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4409059" y="2782950"/>
            <a:ext cx="15240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>
                <a:solidFill>
                  <a:srgbClr val="404040"/>
                </a:solidFill>
                <a:latin typeface="Arial MT"/>
                <a:cs typeface="Arial MT"/>
              </a:rPr>
              <a:t>2%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4857750" y="2754833"/>
            <a:ext cx="15303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>
                <a:solidFill>
                  <a:srgbClr val="404040"/>
                </a:solidFill>
                <a:latin typeface="Arial MT"/>
                <a:cs typeface="Arial MT"/>
              </a:rPr>
              <a:t>3%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5306059" y="2617977"/>
            <a:ext cx="15240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>
                <a:solidFill>
                  <a:srgbClr val="404040"/>
                </a:solidFill>
                <a:latin typeface="Arial MT"/>
                <a:cs typeface="Arial MT"/>
              </a:rPr>
              <a:t>8%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5607050" y="2425953"/>
            <a:ext cx="51054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35890">
              <a:lnSpc>
                <a:spcPct val="100000"/>
              </a:lnSpc>
              <a:spcBef>
                <a:spcPts val="95"/>
              </a:spcBef>
            </a:pPr>
            <a:r>
              <a:rPr dirty="0" sz="700" spc="-25">
                <a:solidFill>
                  <a:srgbClr val="404040"/>
                </a:solidFill>
                <a:latin typeface="Arial MT"/>
                <a:cs typeface="Arial MT"/>
              </a:rPr>
              <a:t>15%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6178677" y="1493011"/>
            <a:ext cx="20129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>
                <a:solidFill>
                  <a:srgbClr val="404040"/>
                </a:solidFill>
                <a:latin typeface="Arial MT"/>
                <a:cs typeface="Arial MT"/>
              </a:rPr>
              <a:t>49%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6640068" y="2398522"/>
            <a:ext cx="18859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700" spc="-25">
                <a:solidFill>
                  <a:srgbClr val="404040"/>
                </a:solidFill>
                <a:latin typeface="Arial MT"/>
                <a:cs typeface="Arial MT"/>
              </a:rPr>
              <a:t>16%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7112761" y="2826765"/>
            <a:ext cx="13970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700" spc="-25">
                <a:solidFill>
                  <a:srgbClr val="404040"/>
                </a:solidFill>
                <a:latin typeface="Arial MT"/>
                <a:cs typeface="Arial MT"/>
              </a:rPr>
              <a:t>0%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7985506" y="2480817"/>
            <a:ext cx="18859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700" spc="-25">
                <a:solidFill>
                  <a:srgbClr val="404040"/>
                </a:solidFill>
                <a:latin typeface="Arial MT"/>
                <a:cs typeface="Arial MT"/>
              </a:rPr>
              <a:t>13%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8433816" y="2151633"/>
            <a:ext cx="18859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700" spc="-25">
                <a:solidFill>
                  <a:srgbClr val="404040"/>
                </a:solidFill>
                <a:latin typeface="Arial MT"/>
                <a:cs typeface="Arial MT"/>
              </a:rPr>
              <a:t>25%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8882506" y="1410461"/>
            <a:ext cx="18859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700" spc="-25">
                <a:solidFill>
                  <a:srgbClr val="404040"/>
                </a:solidFill>
                <a:latin typeface="Arial MT"/>
                <a:cs typeface="Arial MT"/>
              </a:rPr>
              <a:t>52%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9330817" y="2058161"/>
            <a:ext cx="18859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700" spc="-25">
                <a:solidFill>
                  <a:srgbClr val="404040"/>
                </a:solidFill>
                <a:latin typeface="Arial MT"/>
                <a:cs typeface="Arial MT"/>
              </a:rPr>
              <a:t>28%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376529" y="3216401"/>
            <a:ext cx="23241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0">
                <a:solidFill>
                  <a:srgbClr val="585858"/>
                </a:solidFill>
                <a:latin typeface="Arial MT"/>
                <a:cs typeface="Arial MT"/>
              </a:rPr>
              <a:t>-</a:t>
            </a: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10%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455777" y="2941700"/>
            <a:ext cx="15240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0%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406095" y="2667380"/>
            <a:ext cx="20320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10%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406095" y="2392806"/>
            <a:ext cx="20320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20%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406095" y="2118486"/>
            <a:ext cx="20320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30%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406095" y="1569466"/>
            <a:ext cx="203835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50%</a:t>
            </a:r>
            <a:endParaRPr sz="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15"/>
              </a:spcBef>
            </a:pPr>
            <a:endParaRPr sz="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40%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406095" y="1295146"/>
            <a:ext cx="20320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60%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785876" y="3322065"/>
            <a:ext cx="67119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1009" algn="l"/>
              </a:tabLst>
            </a:pPr>
            <a:r>
              <a:rPr dirty="0" sz="700" spc="-20">
                <a:solidFill>
                  <a:srgbClr val="585858"/>
                </a:solidFill>
                <a:latin typeface="Arial MT"/>
                <a:cs typeface="Arial MT"/>
              </a:rPr>
              <a:t>2004</a:t>
            </a:r>
            <a:r>
              <a:rPr dirty="0" sz="700">
                <a:solidFill>
                  <a:srgbClr val="585858"/>
                </a:solidFill>
                <a:latin typeface="Arial MT"/>
                <a:cs typeface="Arial MT"/>
              </a:rPr>
              <a:t>	</a:t>
            </a:r>
            <a:r>
              <a:rPr dirty="0" sz="700" spc="-20">
                <a:solidFill>
                  <a:srgbClr val="585858"/>
                </a:solidFill>
                <a:latin typeface="Arial MT"/>
                <a:cs typeface="Arial MT"/>
              </a:rPr>
              <a:t>2005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1682876" y="3322065"/>
            <a:ext cx="2228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0">
                <a:solidFill>
                  <a:srgbClr val="585858"/>
                </a:solidFill>
                <a:latin typeface="Arial MT"/>
                <a:cs typeface="Arial MT"/>
              </a:rPr>
              <a:t>2006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2131567" y="3322065"/>
            <a:ext cx="2228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0">
                <a:solidFill>
                  <a:srgbClr val="585858"/>
                </a:solidFill>
                <a:latin typeface="Arial MT"/>
                <a:cs typeface="Arial MT"/>
              </a:rPr>
              <a:t>2007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2579877" y="3322065"/>
            <a:ext cx="2228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0">
                <a:solidFill>
                  <a:srgbClr val="585858"/>
                </a:solidFill>
                <a:latin typeface="Arial MT"/>
                <a:cs typeface="Arial MT"/>
              </a:rPr>
              <a:t>2008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3028569" y="3322065"/>
            <a:ext cx="2228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0">
                <a:solidFill>
                  <a:srgbClr val="585858"/>
                </a:solidFill>
                <a:latin typeface="Arial MT"/>
                <a:cs typeface="Arial MT"/>
              </a:rPr>
              <a:t>2009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3477005" y="3322065"/>
            <a:ext cx="2228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0">
                <a:solidFill>
                  <a:srgbClr val="585858"/>
                </a:solidFill>
                <a:latin typeface="Arial MT"/>
                <a:cs typeface="Arial MT"/>
              </a:rPr>
              <a:t>2010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3925570" y="3322065"/>
            <a:ext cx="2228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0">
                <a:solidFill>
                  <a:srgbClr val="585858"/>
                </a:solidFill>
                <a:latin typeface="Arial MT"/>
                <a:cs typeface="Arial MT"/>
              </a:rPr>
              <a:t>2011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4374007" y="3322065"/>
            <a:ext cx="2228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0">
                <a:solidFill>
                  <a:srgbClr val="585858"/>
                </a:solidFill>
                <a:latin typeface="Arial MT"/>
                <a:cs typeface="Arial MT"/>
              </a:rPr>
              <a:t>2012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4822316" y="3322065"/>
            <a:ext cx="2228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0">
                <a:solidFill>
                  <a:srgbClr val="585858"/>
                </a:solidFill>
                <a:latin typeface="Arial MT"/>
                <a:cs typeface="Arial MT"/>
              </a:rPr>
              <a:t>2013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49" name="object 49" descr=""/>
          <p:cNvSpPr txBox="1"/>
          <p:nvPr/>
        </p:nvSpPr>
        <p:spPr>
          <a:xfrm>
            <a:off x="5271008" y="3322065"/>
            <a:ext cx="2228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0">
                <a:solidFill>
                  <a:srgbClr val="585858"/>
                </a:solidFill>
                <a:latin typeface="Arial MT"/>
                <a:cs typeface="Arial MT"/>
              </a:rPr>
              <a:t>2014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50" name="object 50" descr=""/>
          <p:cNvSpPr txBox="1"/>
          <p:nvPr/>
        </p:nvSpPr>
        <p:spPr>
          <a:xfrm>
            <a:off x="5719317" y="3322065"/>
            <a:ext cx="2228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0">
                <a:solidFill>
                  <a:srgbClr val="585858"/>
                </a:solidFill>
                <a:latin typeface="Arial MT"/>
                <a:cs typeface="Arial MT"/>
              </a:rPr>
              <a:t>2015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51" name="object 51" descr=""/>
          <p:cNvSpPr txBox="1"/>
          <p:nvPr/>
        </p:nvSpPr>
        <p:spPr>
          <a:xfrm>
            <a:off x="6168009" y="3322065"/>
            <a:ext cx="2228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0">
                <a:solidFill>
                  <a:srgbClr val="585858"/>
                </a:solidFill>
                <a:latin typeface="Arial MT"/>
                <a:cs typeface="Arial MT"/>
              </a:rPr>
              <a:t>2016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52" name="object 52" descr=""/>
          <p:cNvSpPr txBox="1"/>
          <p:nvPr/>
        </p:nvSpPr>
        <p:spPr>
          <a:xfrm>
            <a:off x="6616445" y="3322065"/>
            <a:ext cx="2228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0">
                <a:solidFill>
                  <a:srgbClr val="585858"/>
                </a:solidFill>
                <a:latin typeface="Arial MT"/>
                <a:cs typeface="Arial MT"/>
              </a:rPr>
              <a:t>2017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53" name="object 53" descr=""/>
          <p:cNvSpPr txBox="1"/>
          <p:nvPr/>
        </p:nvSpPr>
        <p:spPr>
          <a:xfrm>
            <a:off x="8858757" y="3322065"/>
            <a:ext cx="2228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0">
                <a:solidFill>
                  <a:srgbClr val="585858"/>
                </a:solidFill>
                <a:latin typeface="Arial MT"/>
                <a:cs typeface="Arial MT"/>
              </a:rPr>
              <a:t>2022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54" name="object 54" descr=""/>
          <p:cNvSpPr txBox="1"/>
          <p:nvPr/>
        </p:nvSpPr>
        <p:spPr>
          <a:xfrm>
            <a:off x="9307448" y="3322065"/>
            <a:ext cx="2228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0">
                <a:solidFill>
                  <a:srgbClr val="585858"/>
                </a:solidFill>
                <a:latin typeface="Arial MT"/>
                <a:cs typeface="Arial MT"/>
              </a:rPr>
              <a:t>2023</a:t>
            </a:r>
            <a:endParaRPr sz="700">
              <a:latin typeface="Arial MT"/>
              <a:cs typeface="Arial MT"/>
            </a:endParaRPr>
          </a:p>
        </p:txBody>
      </p:sp>
      <p:grpSp>
        <p:nvGrpSpPr>
          <p:cNvPr id="55" name="object 55" descr=""/>
          <p:cNvGrpSpPr/>
          <p:nvPr/>
        </p:nvGrpSpPr>
        <p:grpSpPr>
          <a:xfrm>
            <a:off x="324421" y="818388"/>
            <a:ext cx="9486265" cy="2640330"/>
            <a:chOff x="324421" y="818388"/>
            <a:chExt cx="9486265" cy="2640330"/>
          </a:xfrm>
        </p:grpSpPr>
        <p:sp>
          <p:nvSpPr>
            <p:cNvPr id="56" name="object 56" descr=""/>
            <p:cNvSpPr/>
            <p:nvPr/>
          </p:nvSpPr>
          <p:spPr>
            <a:xfrm>
              <a:off x="329184" y="893064"/>
              <a:ext cx="9476740" cy="2560320"/>
            </a:xfrm>
            <a:custGeom>
              <a:avLst/>
              <a:gdLst/>
              <a:ahLst/>
              <a:cxnLst/>
              <a:rect l="l" t="t" r="r" b="b"/>
              <a:pathLst>
                <a:path w="9476740" h="2560320">
                  <a:moveTo>
                    <a:pt x="0" y="2560320"/>
                  </a:moveTo>
                  <a:lnTo>
                    <a:pt x="9476232" y="2560320"/>
                  </a:lnTo>
                  <a:lnTo>
                    <a:pt x="9476232" y="0"/>
                  </a:lnTo>
                  <a:lnTo>
                    <a:pt x="0" y="0"/>
                  </a:lnTo>
                  <a:lnTo>
                    <a:pt x="0" y="256032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2706623" y="818388"/>
              <a:ext cx="4699000" cy="195580"/>
            </a:xfrm>
            <a:custGeom>
              <a:avLst/>
              <a:gdLst/>
              <a:ahLst/>
              <a:cxnLst/>
              <a:rect l="l" t="t" r="r" b="b"/>
              <a:pathLst>
                <a:path w="4699000" h="195580">
                  <a:moveTo>
                    <a:pt x="4698491" y="0"/>
                  </a:moveTo>
                  <a:lnTo>
                    <a:pt x="0" y="0"/>
                  </a:lnTo>
                  <a:lnTo>
                    <a:pt x="0" y="195072"/>
                  </a:lnTo>
                  <a:lnTo>
                    <a:pt x="4698491" y="195072"/>
                  </a:lnTo>
                  <a:lnTo>
                    <a:pt x="46984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 descr=""/>
          <p:cNvSpPr txBox="1"/>
          <p:nvPr/>
        </p:nvSpPr>
        <p:spPr>
          <a:xfrm>
            <a:off x="4115561" y="812038"/>
            <a:ext cx="18776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0D0D0D"/>
                </a:solidFill>
                <a:latin typeface="Arial"/>
                <a:cs typeface="Arial"/>
              </a:rPr>
              <a:t>Parallel</a:t>
            </a:r>
            <a:r>
              <a:rPr dirty="0" sz="1200" spc="-55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0D0D0D"/>
                </a:solidFill>
                <a:latin typeface="Arial"/>
                <a:cs typeface="Arial"/>
              </a:rPr>
              <a:t>Market</a:t>
            </a:r>
            <a:r>
              <a:rPr dirty="0" sz="1200" spc="-45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0D0D0D"/>
                </a:solidFill>
                <a:latin typeface="Arial"/>
                <a:cs typeface="Arial"/>
              </a:rPr>
              <a:t>Premiums</a:t>
            </a:r>
            <a:endParaRPr sz="1200">
              <a:latin typeface="Arial"/>
              <a:cs typeface="Arial"/>
            </a:endParaRPr>
          </a:p>
        </p:txBody>
      </p:sp>
      <p:sp>
        <p:nvSpPr>
          <p:cNvPr id="62" name="object 6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Impact</a:t>
            </a:r>
            <a:r>
              <a:rPr dirty="0" spc="35"/>
              <a:t> </a:t>
            </a:r>
            <a:r>
              <a:rPr dirty="0"/>
              <a:t>of</a:t>
            </a:r>
            <a:r>
              <a:rPr dirty="0" spc="50"/>
              <a:t> </a:t>
            </a:r>
            <a:r>
              <a:rPr dirty="0"/>
              <a:t>Global</a:t>
            </a:r>
            <a:r>
              <a:rPr dirty="0" spc="65"/>
              <a:t> </a:t>
            </a:r>
            <a:r>
              <a:rPr dirty="0"/>
              <a:t>Economic</a:t>
            </a:r>
            <a:r>
              <a:rPr dirty="0" spc="30"/>
              <a:t> </a:t>
            </a:r>
            <a:r>
              <a:rPr dirty="0"/>
              <a:t>Trends</a:t>
            </a:r>
            <a:r>
              <a:rPr dirty="0" spc="45"/>
              <a:t> </a:t>
            </a:r>
            <a:r>
              <a:rPr dirty="0"/>
              <a:t>on</a:t>
            </a:r>
            <a:r>
              <a:rPr dirty="0" spc="40"/>
              <a:t> </a:t>
            </a:r>
            <a:r>
              <a:rPr dirty="0"/>
              <a:t>Nigeria’s</a:t>
            </a:r>
            <a:r>
              <a:rPr dirty="0" spc="60"/>
              <a:t> </a:t>
            </a:r>
            <a:r>
              <a:rPr dirty="0"/>
              <a:t>Foreign</a:t>
            </a:r>
            <a:r>
              <a:rPr dirty="0" spc="45"/>
              <a:t> </a:t>
            </a:r>
            <a:r>
              <a:rPr dirty="0"/>
              <a:t>Exchange</a:t>
            </a:r>
            <a:r>
              <a:rPr dirty="0" spc="60"/>
              <a:t> </a:t>
            </a:r>
            <a:r>
              <a:rPr dirty="0" spc="-10"/>
              <a:t>Market</a:t>
            </a:r>
          </a:p>
        </p:txBody>
      </p:sp>
      <p:sp>
        <p:nvSpPr>
          <p:cNvPr id="63" name="object 63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October</a:t>
            </a:r>
            <a:r>
              <a:rPr dirty="0" spc="80"/>
              <a:t> </a:t>
            </a:r>
            <a:r>
              <a:rPr dirty="0" spc="-20"/>
              <a:t>2023</a:t>
            </a:r>
          </a:p>
        </p:txBody>
      </p:sp>
      <p:sp>
        <p:nvSpPr>
          <p:cNvPr id="64" name="object 6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815"/>
              </a:lnSpc>
            </a:pPr>
            <a:fld id="{81D60167-4931-47E6-BA6A-407CBD079E47}" type="slidenum">
              <a:rPr dirty="0" spc="-25"/>
              <a:t>26</a:t>
            </a:fld>
          </a:p>
        </p:txBody>
      </p:sp>
      <p:sp>
        <p:nvSpPr>
          <p:cNvPr id="59" name="object 59" descr=""/>
          <p:cNvSpPr txBox="1"/>
          <p:nvPr/>
        </p:nvSpPr>
        <p:spPr>
          <a:xfrm>
            <a:off x="6827011" y="3081654"/>
            <a:ext cx="1858645" cy="5619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R="256540">
              <a:lnSpc>
                <a:spcPct val="100000"/>
              </a:lnSpc>
              <a:spcBef>
                <a:spcPts val="95"/>
              </a:spcBef>
            </a:pPr>
            <a:r>
              <a:rPr dirty="0" sz="700" spc="-20">
                <a:solidFill>
                  <a:srgbClr val="404040"/>
                </a:solidFill>
                <a:latin typeface="Arial MT"/>
                <a:cs typeface="Arial MT"/>
              </a:rPr>
              <a:t>-</a:t>
            </a:r>
            <a:r>
              <a:rPr dirty="0" sz="700" spc="-25">
                <a:solidFill>
                  <a:srgbClr val="404040"/>
                </a:solidFill>
                <a:latin typeface="Arial MT"/>
                <a:cs typeface="Arial MT"/>
              </a:rPr>
              <a:t>1%</a:t>
            </a:r>
            <a:endParaRPr sz="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700">
              <a:latin typeface="Arial MT"/>
              <a:cs typeface="Arial MT"/>
            </a:endParaRPr>
          </a:p>
          <a:p>
            <a:pPr marL="250190">
              <a:lnSpc>
                <a:spcPct val="100000"/>
              </a:lnSpc>
              <a:spcBef>
                <a:spcPts val="5"/>
              </a:spcBef>
              <a:tabLst>
                <a:tab pos="698500" algn="l"/>
                <a:tab pos="1147445" algn="l"/>
                <a:tab pos="1595755" algn="l"/>
              </a:tabLst>
            </a:pPr>
            <a:r>
              <a:rPr dirty="0" sz="700" spc="-20">
                <a:solidFill>
                  <a:srgbClr val="585858"/>
                </a:solidFill>
                <a:latin typeface="Arial MT"/>
                <a:cs typeface="Arial MT"/>
              </a:rPr>
              <a:t>2018</a:t>
            </a:r>
            <a:r>
              <a:rPr dirty="0" sz="700">
                <a:solidFill>
                  <a:srgbClr val="585858"/>
                </a:solidFill>
                <a:latin typeface="Arial MT"/>
                <a:cs typeface="Arial MT"/>
              </a:rPr>
              <a:t>	</a:t>
            </a:r>
            <a:r>
              <a:rPr dirty="0" sz="700" spc="-20">
                <a:solidFill>
                  <a:srgbClr val="585858"/>
                </a:solidFill>
                <a:latin typeface="Arial MT"/>
                <a:cs typeface="Arial MT"/>
              </a:rPr>
              <a:t>2019</a:t>
            </a:r>
            <a:r>
              <a:rPr dirty="0" sz="700">
                <a:solidFill>
                  <a:srgbClr val="585858"/>
                </a:solidFill>
                <a:latin typeface="Arial MT"/>
                <a:cs typeface="Arial MT"/>
              </a:rPr>
              <a:t>	</a:t>
            </a:r>
            <a:r>
              <a:rPr dirty="0" sz="700" spc="-20">
                <a:solidFill>
                  <a:srgbClr val="585858"/>
                </a:solidFill>
                <a:latin typeface="Arial MT"/>
                <a:cs typeface="Arial MT"/>
              </a:rPr>
              <a:t>2020</a:t>
            </a:r>
            <a:r>
              <a:rPr dirty="0" sz="700">
                <a:solidFill>
                  <a:srgbClr val="585858"/>
                </a:solidFill>
                <a:latin typeface="Arial MT"/>
                <a:cs typeface="Arial MT"/>
              </a:rPr>
              <a:t>	</a:t>
            </a:r>
            <a:r>
              <a:rPr dirty="0" sz="700" spc="-20">
                <a:solidFill>
                  <a:srgbClr val="585858"/>
                </a:solidFill>
                <a:latin typeface="Arial MT"/>
                <a:cs typeface="Arial MT"/>
              </a:rPr>
              <a:t>2021</a:t>
            </a:r>
            <a:endParaRPr sz="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dirty="0" sz="700" i="1">
                <a:latin typeface="Arial"/>
                <a:cs typeface="Arial"/>
              </a:rPr>
              <a:t>Note:</a:t>
            </a:r>
            <a:r>
              <a:rPr dirty="0" sz="700" spc="-15" i="1">
                <a:latin typeface="Arial"/>
                <a:cs typeface="Arial"/>
              </a:rPr>
              <a:t> </a:t>
            </a:r>
            <a:r>
              <a:rPr dirty="0" sz="700" i="1">
                <a:latin typeface="Arial"/>
                <a:cs typeface="Arial"/>
              </a:rPr>
              <a:t>The</a:t>
            </a:r>
            <a:r>
              <a:rPr dirty="0" sz="700" spc="-15" i="1">
                <a:latin typeface="Arial"/>
                <a:cs typeface="Arial"/>
              </a:rPr>
              <a:t> </a:t>
            </a:r>
            <a:r>
              <a:rPr dirty="0" sz="700" i="1">
                <a:latin typeface="Arial"/>
                <a:cs typeface="Arial"/>
              </a:rPr>
              <a:t>data</a:t>
            </a:r>
            <a:r>
              <a:rPr dirty="0" sz="700" spc="-15" i="1">
                <a:latin typeface="Arial"/>
                <a:cs typeface="Arial"/>
              </a:rPr>
              <a:t> </a:t>
            </a:r>
            <a:r>
              <a:rPr dirty="0" sz="700" i="1">
                <a:latin typeface="Arial"/>
                <a:cs typeface="Arial"/>
              </a:rPr>
              <a:t>for</a:t>
            </a:r>
            <a:r>
              <a:rPr dirty="0" sz="700" spc="-5" i="1">
                <a:latin typeface="Arial"/>
                <a:cs typeface="Arial"/>
              </a:rPr>
              <a:t> </a:t>
            </a:r>
            <a:r>
              <a:rPr dirty="0" sz="700" i="1">
                <a:latin typeface="Arial"/>
                <a:cs typeface="Arial"/>
              </a:rPr>
              <a:t>2023</a:t>
            </a:r>
            <a:r>
              <a:rPr dirty="0" sz="700" spc="-20" i="1">
                <a:latin typeface="Arial"/>
                <a:cs typeface="Arial"/>
              </a:rPr>
              <a:t> </a:t>
            </a:r>
            <a:r>
              <a:rPr dirty="0" sz="700" i="1">
                <a:latin typeface="Arial"/>
                <a:cs typeface="Arial"/>
              </a:rPr>
              <a:t>is</a:t>
            </a:r>
            <a:r>
              <a:rPr dirty="0" sz="700" spc="-20" i="1">
                <a:latin typeface="Arial"/>
                <a:cs typeface="Arial"/>
              </a:rPr>
              <a:t> </a:t>
            </a:r>
            <a:r>
              <a:rPr dirty="0" sz="700" i="1">
                <a:latin typeface="Arial"/>
                <a:cs typeface="Arial"/>
              </a:rPr>
              <a:t>as</a:t>
            </a:r>
            <a:r>
              <a:rPr dirty="0" sz="700" spc="-20" i="1">
                <a:latin typeface="Arial"/>
                <a:cs typeface="Arial"/>
              </a:rPr>
              <a:t> </a:t>
            </a:r>
            <a:r>
              <a:rPr dirty="0" sz="700" i="1">
                <a:latin typeface="Arial"/>
                <a:cs typeface="Arial"/>
              </a:rPr>
              <a:t>of</a:t>
            </a:r>
            <a:r>
              <a:rPr dirty="0" sz="700" spc="-20" i="1">
                <a:latin typeface="Arial"/>
                <a:cs typeface="Arial"/>
              </a:rPr>
              <a:t> </a:t>
            </a:r>
            <a:r>
              <a:rPr dirty="0" sz="700" i="1">
                <a:latin typeface="Arial"/>
                <a:cs typeface="Arial"/>
              </a:rPr>
              <a:t>September</a:t>
            </a:r>
            <a:r>
              <a:rPr dirty="0" sz="700" spc="30" i="1">
                <a:latin typeface="Arial"/>
                <a:cs typeface="Arial"/>
              </a:rPr>
              <a:t> </a:t>
            </a:r>
            <a:r>
              <a:rPr dirty="0" sz="700" spc="-25" i="1">
                <a:latin typeface="Arial"/>
                <a:cs typeface="Arial"/>
              </a:rPr>
              <a:t>25</a:t>
            </a:r>
            <a:endParaRPr sz="700">
              <a:latin typeface="Arial"/>
              <a:cs typeface="Arial"/>
            </a:endParaRPr>
          </a:p>
        </p:txBody>
      </p:sp>
      <p:sp>
        <p:nvSpPr>
          <p:cNvPr id="60" name="object 60" descr=""/>
          <p:cNvSpPr txBox="1"/>
          <p:nvPr/>
        </p:nvSpPr>
        <p:spPr>
          <a:xfrm>
            <a:off x="333857" y="3464178"/>
            <a:ext cx="11271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i="1">
                <a:latin typeface="Arial"/>
                <a:cs typeface="Arial"/>
              </a:rPr>
              <a:t>Source: CBN,</a:t>
            </a:r>
            <a:r>
              <a:rPr dirty="0" sz="700" spc="-20" i="1">
                <a:latin typeface="Arial"/>
                <a:cs typeface="Arial"/>
              </a:rPr>
              <a:t> </a:t>
            </a:r>
            <a:r>
              <a:rPr dirty="0" sz="700" spc="-10" i="1">
                <a:latin typeface="Arial"/>
                <a:cs typeface="Arial"/>
              </a:rPr>
              <a:t>PwC</a:t>
            </a:r>
            <a:r>
              <a:rPr dirty="0" sz="700" spc="-50" i="1">
                <a:latin typeface="Arial"/>
                <a:cs typeface="Arial"/>
              </a:rPr>
              <a:t> </a:t>
            </a:r>
            <a:r>
              <a:rPr dirty="0" sz="700" spc="-10" i="1">
                <a:latin typeface="Arial"/>
                <a:cs typeface="Arial"/>
              </a:rPr>
              <a:t>Analysis</a:t>
            </a:r>
            <a:endParaRPr sz="700">
              <a:latin typeface="Arial"/>
              <a:cs typeface="Arial"/>
            </a:endParaRPr>
          </a:p>
        </p:txBody>
      </p:sp>
      <p:sp>
        <p:nvSpPr>
          <p:cNvPr id="61" name="object 61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49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Parallel</a:t>
            </a:r>
            <a:r>
              <a:rPr dirty="0" spc="-15"/>
              <a:t> </a:t>
            </a:r>
            <a:r>
              <a:rPr dirty="0"/>
              <a:t>market</a:t>
            </a:r>
            <a:r>
              <a:rPr dirty="0" spc="-25"/>
              <a:t> </a:t>
            </a:r>
            <a:r>
              <a:rPr dirty="0"/>
              <a:t>premium</a:t>
            </a:r>
            <a:r>
              <a:rPr dirty="0" spc="-10"/>
              <a:t> </a:t>
            </a:r>
            <a:r>
              <a:rPr dirty="0"/>
              <a:t>widened</a:t>
            </a:r>
            <a:r>
              <a:rPr dirty="0" spc="-15"/>
              <a:t> </a:t>
            </a:r>
            <a:r>
              <a:rPr dirty="0"/>
              <a:t>in</a:t>
            </a:r>
            <a:r>
              <a:rPr dirty="0" spc="-40"/>
              <a:t> </a:t>
            </a:r>
            <a:r>
              <a:rPr dirty="0"/>
              <a:t>2023</a:t>
            </a:r>
            <a:r>
              <a:rPr dirty="0" spc="-20"/>
              <a:t> </a:t>
            </a:r>
            <a:r>
              <a:rPr dirty="0"/>
              <a:t>with</a:t>
            </a:r>
            <a:r>
              <a:rPr dirty="0" spc="-40"/>
              <a:t> </a:t>
            </a:r>
            <a:r>
              <a:rPr dirty="0"/>
              <a:t>the</a:t>
            </a:r>
            <a:r>
              <a:rPr dirty="0" spc="-40"/>
              <a:t> </a:t>
            </a:r>
            <a:r>
              <a:rPr dirty="0"/>
              <a:t>rise</a:t>
            </a:r>
            <a:r>
              <a:rPr dirty="0" spc="-35"/>
              <a:t> </a:t>
            </a:r>
            <a:r>
              <a:rPr dirty="0"/>
              <a:t>in</a:t>
            </a:r>
            <a:r>
              <a:rPr dirty="0" spc="-40"/>
              <a:t> </a:t>
            </a:r>
            <a:r>
              <a:rPr dirty="0"/>
              <a:t>import</a:t>
            </a:r>
            <a:r>
              <a:rPr dirty="0" spc="-35"/>
              <a:t> </a:t>
            </a:r>
            <a:r>
              <a:rPr dirty="0"/>
              <a:t>bills</a:t>
            </a:r>
            <a:r>
              <a:rPr dirty="0" spc="-30"/>
              <a:t> </a:t>
            </a:r>
            <a:r>
              <a:rPr dirty="0"/>
              <a:t>and</a:t>
            </a:r>
            <a:r>
              <a:rPr dirty="0" spc="-30"/>
              <a:t> </a:t>
            </a:r>
            <a:r>
              <a:rPr dirty="0"/>
              <a:t>the</a:t>
            </a:r>
            <a:r>
              <a:rPr dirty="0" spc="-40"/>
              <a:t> </a:t>
            </a:r>
            <a:r>
              <a:rPr dirty="0"/>
              <a:t>decline</a:t>
            </a:r>
            <a:r>
              <a:rPr dirty="0" spc="-15"/>
              <a:t> </a:t>
            </a:r>
            <a:r>
              <a:rPr dirty="0"/>
              <a:t>in</a:t>
            </a:r>
            <a:r>
              <a:rPr dirty="0" spc="-35"/>
              <a:t> </a:t>
            </a:r>
            <a:r>
              <a:rPr dirty="0"/>
              <a:t>crude</a:t>
            </a:r>
            <a:r>
              <a:rPr dirty="0" spc="-30"/>
              <a:t> </a:t>
            </a:r>
            <a:r>
              <a:rPr dirty="0"/>
              <a:t>oil</a:t>
            </a:r>
            <a:r>
              <a:rPr dirty="0" spc="-40"/>
              <a:t> </a:t>
            </a:r>
            <a:r>
              <a:rPr dirty="0" spc="-10"/>
              <a:t>exports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283463" y="4116323"/>
            <a:ext cx="9581515" cy="1065530"/>
          </a:xfrm>
          <a:custGeom>
            <a:avLst/>
            <a:gdLst/>
            <a:ahLst/>
            <a:cxnLst/>
            <a:rect l="l" t="t" r="r" b="b"/>
            <a:pathLst>
              <a:path w="9581515" h="1065529">
                <a:moveTo>
                  <a:pt x="0" y="1065276"/>
                </a:moveTo>
                <a:lnTo>
                  <a:pt x="9581261" y="1065276"/>
                </a:lnTo>
                <a:lnTo>
                  <a:pt x="9581261" y="0"/>
                </a:lnTo>
                <a:lnTo>
                  <a:pt x="0" y="0"/>
                </a:lnTo>
                <a:lnTo>
                  <a:pt x="0" y="1065276"/>
                </a:lnTo>
                <a:close/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294131" y="4110278"/>
            <a:ext cx="9582785" cy="201295"/>
          </a:xfrm>
          <a:prstGeom prst="rect">
            <a:avLst/>
          </a:prstGeom>
          <a:solidFill>
            <a:srgbClr val="5F5F5F"/>
          </a:solidFill>
        </p:spPr>
        <p:txBody>
          <a:bodyPr wrap="square" lIns="0" tIns="27305" rIns="0" bIns="0" rtlCol="0" vert="horz">
            <a:spAutoFit/>
          </a:bodyPr>
          <a:lstStyle/>
          <a:p>
            <a:pPr marL="123189">
              <a:lnSpc>
                <a:spcPct val="100000"/>
              </a:lnSpc>
              <a:spcBef>
                <a:spcPts val="215"/>
              </a:spcBef>
            </a:pP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Insights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88226" y="4393183"/>
            <a:ext cx="9571990" cy="635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30504" marR="168275" indent="-172720">
              <a:lnSpc>
                <a:spcPct val="100000"/>
              </a:lnSpc>
              <a:spcBef>
                <a:spcPts val="95"/>
              </a:spcBef>
              <a:buChar char="•"/>
              <a:tabLst>
                <a:tab pos="230504" algn="l"/>
              </a:tabLst>
            </a:pP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Net</a:t>
            </a:r>
            <a:r>
              <a:rPr dirty="0" sz="1000" spc="-2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flow</a:t>
            </a:r>
            <a:r>
              <a:rPr dirty="0" sz="1000" spc="-2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through</a:t>
            </a:r>
            <a:r>
              <a:rPr dirty="0" sz="1000" spc="-3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the</a:t>
            </a:r>
            <a:r>
              <a:rPr dirty="0" sz="1000" spc="-2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CBN</a:t>
            </a:r>
            <a:r>
              <a:rPr dirty="0" sz="1000" spc="-2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is</a:t>
            </a:r>
            <a:r>
              <a:rPr dirty="0" sz="1000" spc="-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negative,</a:t>
            </a:r>
            <a:r>
              <a:rPr dirty="0" sz="1000" spc="-2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indicative</a:t>
            </a:r>
            <a:r>
              <a:rPr dirty="0" sz="1000" spc="-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of</a:t>
            </a:r>
            <a:r>
              <a:rPr dirty="0" sz="1000" spc="-2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the</a:t>
            </a:r>
            <a:r>
              <a:rPr dirty="0" sz="1000" spc="-3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decline</a:t>
            </a:r>
            <a:r>
              <a:rPr dirty="0" sz="1000" spc="-1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in</a:t>
            </a:r>
            <a:r>
              <a:rPr dirty="0" sz="1000" spc="-2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both</a:t>
            </a:r>
            <a:r>
              <a:rPr dirty="0" sz="1000" spc="-3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oil</a:t>
            </a:r>
            <a:r>
              <a:rPr dirty="0" sz="1000" spc="-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sector</a:t>
            </a:r>
            <a:r>
              <a:rPr dirty="0" sz="1000" spc="-2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receipts</a:t>
            </a:r>
            <a:r>
              <a:rPr dirty="0" sz="1000" spc="-3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and</a:t>
            </a:r>
            <a:r>
              <a:rPr dirty="0" sz="1000" spc="-2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non-oil</a:t>
            </a:r>
            <a:r>
              <a:rPr dirty="0" sz="1000" spc="-2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sector</a:t>
            </a:r>
            <a:r>
              <a:rPr dirty="0" sz="1000" spc="-3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inflows</a:t>
            </a:r>
            <a:r>
              <a:rPr dirty="0" sz="1000" spc="-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from</a:t>
            </a:r>
            <a:r>
              <a:rPr dirty="0" sz="1000" spc="-2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autonomous</a:t>
            </a:r>
            <a:r>
              <a:rPr dirty="0" sz="1000" spc="-5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sources.</a:t>
            </a:r>
            <a:r>
              <a:rPr dirty="0" sz="1000" spc="-3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Since</a:t>
            </a:r>
            <a:r>
              <a:rPr dirty="0" sz="1000" spc="-2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2007</a:t>
            </a:r>
            <a:r>
              <a:rPr dirty="0" sz="1000" spc="-3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more</a:t>
            </a:r>
            <a:r>
              <a:rPr dirty="0" sz="1000" spc="-3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 spc="-25">
                <a:solidFill>
                  <a:srgbClr val="0D0D0D"/>
                </a:solidFill>
                <a:latin typeface="Arial MT"/>
                <a:cs typeface="Arial MT"/>
              </a:rPr>
              <a:t>USD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came</a:t>
            </a:r>
            <a:r>
              <a:rPr dirty="0" sz="1000" spc="-4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into</a:t>
            </a:r>
            <a:r>
              <a:rPr dirty="0" sz="1000" spc="-2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the</a:t>
            </a:r>
            <a:r>
              <a:rPr dirty="0" sz="1000" spc="-1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market</a:t>
            </a:r>
            <a:r>
              <a:rPr dirty="0" sz="1000" spc="-5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via</a:t>
            </a:r>
            <a:r>
              <a:rPr dirty="0" sz="1000" spc="-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autonomous</a:t>
            </a:r>
            <a:r>
              <a:rPr dirty="0" sz="1000" spc="-4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sources</a:t>
            </a:r>
            <a:r>
              <a:rPr dirty="0" sz="1000" spc="-2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peaking</a:t>
            </a:r>
            <a:r>
              <a:rPr dirty="0" sz="1000" spc="-4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at</a:t>
            </a:r>
            <a:r>
              <a:rPr dirty="0" sz="1000" spc="-1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$103</a:t>
            </a:r>
            <a:r>
              <a:rPr dirty="0" sz="1000" spc="-3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billion</a:t>
            </a:r>
            <a:r>
              <a:rPr dirty="0" sz="1000" spc="1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in</a:t>
            </a:r>
            <a:r>
              <a:rPr dirty="0" sz="1000" spc="-1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0D0D0D"/>
                </a:solidFill>
                <a:latin typeface="Arial MT"/>
                <a:cs typeface="Arial MT"/>
              </a:rPr>
              <a:t>2013</a:t>
            </a:r>
            <a:endParaRPr sz="1000">
              <a:latin typeface="Arial MT"/>
              <a:cs typeface="Arial MT"/>
            </a:endParaRPr>
          </a:p>
          <a:p>
            <a:pPr marL="229870" indent="-172085">
              <a:lnSpc>
                <a:spcPct val="100000"/>
              </a:lnSpc>
              <a:buChar char="•"/>
              <a:tabLst>
                <a:tab pos="229870" algn="l"/>
              </a:tabLst>
            </a:pP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The</a:t>
            </a:r>
            <a:r>
              <a:rPr dirty="0" sz="1000" spc="-4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gap</a:t>
            </a:r>
            <a:r>
              <a:rPr dirty="0" sz="1000" spc="-3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between</a:t>
            </a:r>
            <a:r>
              <a:rPr dirty="0" sz="1000" spc="-2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the</a:t>
            </a:r>
            <a:r>
              <a:rPr dirty="0" sz="1000" spc="-2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official</a:t>
            </a:r>
            <a:r>
              <a:rPr dirty="0" sz="1000" spc="-4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and</a:t>
            </a:r>
            <a:r>
              <a:rPr dirty="0" sz="1000" spc="-2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parallel</a:t>
            </a:r>
            <a:r>
              <a:rPr dirty="0" sz="1000" spc="-2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market</a:t>
            </a:r>
            <a:r>
              <a:rPr dirty="0" sz="1000" spc="-5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rate</a:t>
            </a:r>
            <a:r>
              <a:rPr dirty="0" sz="1000" spc="-2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widened</a:t>
            </a:r>
            <a:r>
              <a:rPr dirty="0" sz="1000" spc="-10">
                <a:solidFill>
                  <a:srgbClr val="0D0D0D"/>
                </a:solidFill>
                <a:latin typeface="Arial MT"/>
                <a:cs typeface="Arial MT"/>
              </a:rPr>
              <a:t> abnormally</a:t>
            </a:r>
            <a:r>
              <a:rPr dirty="0" sz="1000" spc="-3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in</a:t>
            </a:r>
            <a:r>
              <a:rPr dirty="0" sz="1000" spc="-1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2016Q1</a:t>
            </a:r>
            <a:r>
              <a:rPr dirty="0" sz="1000" spc="-3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as</a:t>
            </a:r>
            <a:r>
              <a:rPr dirty="0" sz="1000" spc="-3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a</a:t>
            </a:r>
            <a:r>
              <a:rPr dirty="0" sz="1000" spc="-2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result</a:t>
            </a:r>
            <a:r>
              <a:rPr dirty="0" sz="1000" spc="-2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of</a:t>
            </a:r>
            <a:r>
              <a:rPr dirty="0" sz="1000" spc="-2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a</a:t>
            </a:r>
            <a:r>
              <a:rPr dirty="0" sz="1000" spc="-3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fall</a:t>
            </a:r>
            <a:r>
              <a:rPr dirty="0" sz="1000" spc="-2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in</a:t>
            </a:r>
            <a:r>
              <a:rPr dirty="0" sz="1000" spc="-1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oil</a:t>
            </a:r>
            <a:r>
              <a:rPr dirty="0" sz="1000" spc="-1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price</a:t>
            </a:r>
            <a:r>
              <a:rPr dirty="0" sz="1000" spc="-2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to</a:t>
            </a:r>
            <a:r>
              <a:rPr dirty="0" sz="1000" spc="-2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$35/barrel</a:t>
            </a:r>
            <a:r>
              <a:rPr dirty="0" sz="1000" spc="-2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toward</a:t>
            </a:r>
            <a:r>
              <a:rPr dirty="0" sz="1000" spc="-1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the</a:t>
            </a:r>
            <a:r>
              <a:rPr dirty="0" sz="1000" spc="-3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end</a:t>
            </a:r>
            <a:r>
              <a:rPr dirty="0" sz="1000" spc="-2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of</a:t>
            </a:r>
            <a:r>
              <a:rPr dirty="0" sz="1000" spc="-3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February</a:t>
            </a:r>
            <a:r>
              <a:rPr dirty="0" sz="1000" spc="-3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0D0D0D"/>
                </a:solidFill>
                <a:latin typeface="Arial MT"/>
                <a:cs typeface="Arial MT"/>
              </a:rPr>
              <a:t>2016</a:t>
            </a:r>
            <a:endParaRPr sz="1000">
              <a:latin typeface="Arial MT"/>
              <a:cs typeface="Arial MT"/>
            </a:endParaRPr>
          </a:p>
          <a:p>
            <a:pPr marL="230504">
              <a:lnSpc>
                <a:spcPct val="100000"/>
              </a:lnSpc>
            </a:pP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accompanied</a:t>
            </a:r>
            <a:r>
              <a:rPr dirty="0" sz="1000" spc="-4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by</a:t>
            </a:r>
            <a:r>
              <a:rPr dirty="0" sz="1000" spc="-2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a</a:t>
            </a:r>
            <a:r>
              <a:rPr dirty="0" sz="1000" spc="-1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depreciation</a:t>
            </a:r>
            <a:r>
              <a:rPr dirty="0" sz="1000" spc="-2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of</a:t>
            </a:r>
            <a:r>
              <a:rPr dirty="0" sz="1000" spc="-3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the</a:t>
            </a:r>
            <a:r>
              <a:rPr dirty="0" sz="1000" spc="-1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naira</a:t>
            </a:r>
            <a:r>
              <a:rPr dirty="0" sz="1000" spc="-2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in</a:t>
            </a:r>
            <a:r>
              <a:rPr dirty="0" sz="1000" spc="-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0D0D0D"/>
                </a:solidFill>
                <a:latin typeface="Arial MT"/>
                <a:cs typeface="Arial MT"/>
              </a:rPr>
              <a:t>2016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661225" y="1481708"/>
            <a:ext cx="8818245" cy="1623060"/>
            <a:chOff x="661225" y="1481708"/>
            <a:chExt cx="8818245" cy="1623060"/>
          </a:xfrm>
        </p:grpSpPr>
        <p:sp>
          <p:nvSpPr>
            <p:cNvPr id="6" name="object 6" descr=""/>
            <p:cNvSpPr/>
            <p:nvPr/>
          </p:nvSpPr>
          <p:spPr>
            <a:xfrm>
              <a:off x="665987" y="2773680"/>
              <a:ext cx="8808720" cy="0"/>
            </a:xfrm>
            <a:custGeom>
              <a:avLst/>
              <a:gdLst/>
              <a:ahLst/>
              <a:cxnLst/>
              <a:rect l="l" t="t" r="r" b="b"/>
              <a:pathLst>
                <a:path w="8808720" h="0">
                  <a:moveTo>
                    <a:pt x="0" y="0"/>
                  </a:moveTo>
                  <a:lnTo>
                    <a:pt x="8808719" y="0"/>
                  </a:lnTo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910589" y="2512391"/>
              <a:ext cx="8319770" cy="582930"/>
            </a:xfrm>
            <a:custGeom>
              <a:avLst/>
              <a:gdLst/>
              <a:ahLst/>
              <a:cxnLst/>
              <a:rect l="l" t="t" r="r" b="b"/>
              <a:pathLst>
                <a:path w="8319770" h="582930">
                  <a:moveTo>
                    <a:pt x="0" y="157402"/>
                  </a:moveTo>
                  <a:lnTo>
                    <a:pt x="48939" y="156172"/>
                  </a:lnTo>
                  <a:lnTo>
                    <a:pt x="97877" y="154987"/>
                  </a:lnTo>
                  <a:lnTo>
                    <a:pt x="146814" y="153829"/>
                  </a:lnTo>
                  <a:lnTo>
                    <a:pt x="195750" y="152681"/>
                  </a:lnTo>
                  <a:lnTo>
                    <a:pt x="244684" y="151528"/>
                  </a:lnTo>
                  <a:lnTo>
                    <a:pt x="293617" y="150352"/>
                  </a:lnTo>
                  <a:lnTo>
                    <a:pt x="342548" y="149136"/>
                  </a:lnTo>
                  <a:lnTo>
                    <a:pt x="391478" y="147864"/>
                  </a:lnTo>
                  <a:lnTo>
                    <a:pt x="440405" y="146518"/>
                  </a:lnTo>
                  <a:lnTo>
                    <a:pt x="489331" y="145083"/>
                  </a:lnTo>
                  <a:lnTo>
                    <a:pt x="538285" y="143371"/>
                  </a:lnTo>
                  <a:lnTo>
                    <a:pt x="587234" y="141356"/>
                  </a:lnTo>
                  <a:lnTo>
                    <a:pt x="636179" y="139146"/>
                  </a:lnTo>
                  <a:lnTo>
                    <a:pt x="685120" y="136849"/>
                  </a:lnTo>
                  <a:lnTo>
                    <a:pt x="734060" y="134574"/>
                  </a:lnTo>
                  <a:lnTo>
                    <a:pt x="782999" y="132427"/>
                  </a:lnTo>
                  <a:lnTo>
                    <a:pt x="831940" y="130519"/>
                  </a:lnTo>
                  <a:lnTo>
                    <a:pt x="880885" y="128957"/>
                  </a:lnTo>
                  <a:lnTo>
                    <a:pt x="929834" y="127849"/>
                  </a:lnTo>
                  <a:lnTo>
                    <a:pt x="978789" y="127303"/>
                  </a:lnTo>
                  <a:lnTo>
                    <a:pt x="1027712" y="126990"/>
                  </a:lnTo>
                  <a:lnTo>
                    <a:pt x="1076643" y="126615"/>
                  </a:lnTo>
                  <a:lnTo>
                    <a:pt x="1125577" y="126336"/>
                  </a:lnTo>
                  <a:lnTo>
                    <a:pt x="1174515" y="126311"/>
                  </a:lnTo>
                  <a:lnTo>
                    <a:pt x="1223454" y="126700"/>
                  </a:lnTo>
                  <a:lnTo>
                    <a:pt x="1272393" y="127659"/>
                  </a:lnTo>
                  <a:lnTo>
                    <a:pt x="1321331" y="129349"/>
                  </a:lnTo>
                  <a:lnTo>
                    <a:pt x="1370265" y="131928"/>
                  </a:lnTo>
                  <a:lnTo>
                    <a:pt x="1419196" y="135553"/>
                  </a:lnTo>
                  <a:lnTo>
                    <a:pt x="1468120" y="140384"/>
                  </a:lnTo>
                  <a:lnTo>
                    <a:pt x="1517074" y="146461"/>
                  </a:lnTo>
                  <a:lnTo>
                    <a:pt x="1566023" y="153642"/>
                  </a:lnTo>
                  <a:lnTo>
                    <a:pt x="1614968" y="161812"/>
                  </a:lnTo>
                  <a:lnTo>
                    <a:pt x="1663909" y="170856"/>
                  </a:lnTo>
                  <a:lnTo>
                    <a:pt x="1712849" y="180659"/>
                  </a:lnTo>
                  <a:lnTo>
                    <a:pt x="1761788" y="191106"/>
                  </a:lnTo>
                  <a:lnTo>
                    <a:pt x="1810729" y="202081"/>
                  </a:lnTo>
                  <a:lnTo>
                    <a:pt x="1859674" y="213471"/>
                  </a:lnTo>
                  <a:lnTo>
                    <a:pt x="1908623" y="225159"/>
                  </a:lnTo>
                  <a:lnTo>
                    <a:pt x="1957577" y="237031"/>
                  </a:lnTo>
                  <a:lnTo>
                    <a:pt x="2006501" y="250034"/>
                  </a:lnTo>
                  <a:lnTo>
                    <a:pt x="2055432" y="264873"/>
                  </a:lnTo>
                  <a:lnTo>
                    <a:pt x="2104366" y="280953"/>
                  </a:lnTo>
                  <a:lnTo>
                    <a:pt x="2153304" y="297678"/>
                  </a:lnTo>
                  <a:lnTo>
                    <a:pt x="2202243" y="314453"/>
                  </a:lnTo>
                  <a:lnTo>
                    <a:pt x="2251182" y="330684"/>
                  </a:lnTo>
                  <a:lnTo>
                    <a:pt x="2300120" y="345774"/>
                  </a:lnTo>
                  <a:lnTo>
                    <a:pt x="2349054" y="359130"/>
                  </a:lnTo>
                  <a:lnTo>
                    <a:pt x="2397985" y="370155"/>
                  </a:lnTo>
                  <a:lnTo>
                    <a:pt x="2446909" y="378255"/>
                  </a:lnTo>
                  <a:lnTo>
                    <a:pt x="2495863" y="383567"/>
                  </a:lnTo>
                  <a:lnTo>
                    <a:pt x="2544811" y="386786"/>
                  </a:lnTo>
                  <a:lnTo>
                    <a:pt x="2593753" y="388149"/>
                  </a:lnTo>
                  <a:lnTo>
                    <a:pt x="2642690" y="387893"/>
                  </a:lnTo>
                  <a:lnTo>
                    <a:pt x="2691622" y="386256"/>
                  </a:lnTo>
                  <a:lnTo>
                    <a:pt x="2740550" y="383476"/>
                  </a:lnTo>
                  <a:lnTo>
                    <a:pt x="2789475" y="379791"/>
                  </a:lnTo>
                  <a:lnTo>
                    <a:pt x="2838398" y="375438"/>
                  </a:lnTo>
                  <a:lnTo>
                    <a:pt x="2887319" y="370656"/>
                  </a:lnTo>
                  <a:lnTo>
                    <a:pt x="2936240" y="365682"/>
                  </a:lnTo>
                  <a:lnTo>
                    <a:pt x="2985194" y="360859"/>
                  </a:lnTo>
                  <a:lnTo>
                    <a:pt x="3034143" y="356073"/>
                  </a:lnTo>
                  <a:lnTo>
                    <a:pt x="3083088" y="350987"/>
                  </a:lnTo>
                  <a:lnTo>
                    <a:pt x="3132029" y="345264"/>
                  </a:lnTo>
                  <a:lnTo>
                    <a:pt x="3180968" y="338567"/>
                  </a:lnTo>
                  <a:lnTo>
                    <a:pt x="3229908" y="330560"/>
                  </a:lnTo>
                  <a:lnTo>
                    <a:pt x="3278849" y="320905"/>
                  </a:lnTo>
                  <a:lnTo>
                    <a:pt x="3327794" y="309265"/>
                  </a:lnTo>
                  <a:lnTo>
                    <a:pt x="3376743" y="295305"/>
                  </a:lnTo>
                  <a:lnTo>
                    <a:pt x="3425698" y="278687"/>
                  </a:lnTo>
                  <a:lnTo>
                    <a:pt x="3466467" y="261248"/>
                  </a:lnTo>
                  <a:lnTo>
                    <a:pt x="3507241" y="239611"/>
                  </a:lnTo>
                  <a:lnTo>
                    <a:pt x="3548018" y="214742"/>
                  </a:lnTo>
                  <a:lnTo>
                    <a:pt x="3588798" y="187609"/>
                  </a:lnTo>
                  <a:lnTo>
                    <a:pt x="3629580" y="159177"/>
                  </a:lnTo>
                  <a:lnTo>
                    <a:pt x="3670363" y="130414"/>
                  </a:lnTo>
                  <a:lnTo>
                    <a:pt x="3711146" y="102286"/>
                  </a:lnTo>
                  <a:lnTo>
                    <a:pt x="3751928" y="75760"/>
                  </a:lnTo>
                  <a:lnTo>
                    <a:pt x="3792708" y="51801"/>
                  </a:lnTo>
                  <a:lnTo>
                    <a:pt x="3833485" y="31378"/>
                  </a:lnTo>
                  <a:lnTo>
                    <a:pt x="3874259" y="15456"/>
                  </a:lnTo>
                  <a:lnTo>
                    <a:pt x="3915029" y="5002"/>
                  </a:lnTo>
                  <a:lnTo>
                    <a:pt x="3963983" y="0"/>
                  </a:lnTo>
                  <a:lnTo>
                    <a:pt x="4012932" y="1788"/>
                  </a:lnTo>
                  <a:lnTo>
                    <a:pt x="4061877" y="9043"/>
                  </a:lnTo>
                  <a:lnTo>
                    <a:pt x="4110818" y="20441"/>
                  </a:lnTo>
                  <a:lnTo>
                    <a:pt x="4159758" y="34656"/>
                  </a:lnTo>
                  <a:lnTo>
                    <a:pt x="4208697" y="50365"/>
                  </a:lnTo>
                  <a:lnTo>
                    <a:pt x="4257638" y="66243"/>
                  </a:lnTo>
                  <a:lnTo>
                    <a:pt x="4306583" y="80966"/>
                  </a:lnTo>
                  <a:lnTo>
                    <a:pt x="4355532" y="93209"/>
                  </a:lnTo>
                  <a:lnTo>
                    <a:pt x="4404487" y="101649"/>
                  </a:lnTo>
                  <a:lnTo>
                    <a:pt x="4453410" y="105172"/>
                  </a:lnTo>
                  <a:lnTo>
                    <a:pt x="4502341" y="104534"/>
                  </a:lnTo>
                  <a:lnTo>
                    <a:pt x="4551275" y="101214"/>
                  </a:lnTo>
                  <a:lnTo>
                    <a:pt x="4600213" y="96691"/>
                  </a:lnTo>
                  <a:lnTo>
                    <a:pt x="4649152" y="92441"/>
                  </a:lnTo>
                  <a:lnTo>
                    <a:pt x="4698091" y="89944"/>
                  </a:lnTo>
                  <a:lnTo>
                    <a:pt x="4747029" y="90679"/>
                  </a:lnTo>
                  <a:lnTo>
                    <a:pt x="4795963" y="96122"/>
                  </a:lnTo>
                  <a:lnTo>
                    <a:pt x="4844894" y="107752"/>
                  </a:lnTo>
                  <a:lnTo>
                    <a:pt x="4893818" y="127049"/>
                  </a:lnTo>
                  <a:lnTo>
                    <a:pt x="4928786" y="147471"/>
                  </a:lnTo>
                  <a:lnTo>
                    <a:pt x="4963751" y="174187"/>
                  </a:lnTo>
                  <a:lnTo>
                    <a:pt x="4998714" y="206064"/>
                  </a:lnTo>
                  <a:lnTo>
                    <a:pt x="5033674" y="241976"/>
                  </a:lnTo>
                  <a:lnTo>
                    <a:pt x="5068632" y="280792"/>
                  </a:lnTo>
                  <a:lnTo>
                    <a:pt x="5103590" y="321382"/>
                  </a:lnTo>
                  <a:lnTo>
                    <a:pt x="5138547" y="362618"/>
                  </a:lnTo>
                  <a:lnTo>
                    <a:pt x="5173503" y="403370"/>
                  </a:lnTo>
                  <a:lnTo>
                    <a:pt x="5208461" y="442508"/>
                  </a:lnTo>
                  <a:lnTo>
                    <a:pt x="5243419" y="478904"/>
                  </a:lnTo>
                  <a:lnTo>
                    <a:pt x="5278379" y="511427"/>
                  </a:lnTo>
                  <a:lnTo>
                    <a:pt x="5313342" y="538949"/>
                  </a:lnTo>
                  <a:lnTo>
                    <a:pt x="5348307" y="560339"/>
                  </a:lnTo>
                  <a:lnTo>
                    <a:pt x="5427749" y="582508"/>
                  </a:lnTo>
                  <a:lnTo>
                    <a:pt x="5472222" y="581781"/>
                  </a:lnTo>
                  <a:lnTo>
                    <a:pt x="5516697" y="573681"/>
                  </a:lnTo>
                  <a:lnTo>
                    <a:pt x="5561174" y="559603"/>
                  </a:lnTo>
                  <a:lnTo>
                    <a:pt x="5605653" y="540938"/>
                  </a:lnTo>
                  <a:lnTo>
                    <a:pt x="5650135" y="519080"/>
                  </a:lnTo>
                  <a:lnTo>
                    <a:pt x="5694620" y="495422"/>
                  </a:lnTo>
                  <a:lnTo>
                    <a:pt x="5739109" y="471355"/>
                  </a:lnTo>
                  <a:lnTo>
                    <a:pt x="5783603" y="448274"/>
                  </a:lnTo>
                  <a:lnTo>
                    <a:pt x="5828102" y="427572"/>
                  </a:lnTo>
                  <a:lnTo>
                    <a:pt x="5872607" y="410640"/>
                  </a:lnTo>
                  <a:lnTo>
                    <a:pt x="5921530" y="394072"/>
                  </a:lnTo>
                  <a:lnTo>
                    <a:pt x="5970461" y="376697"/>
                  </a:lnTo>
                  <a:lnTo>
                    <a:pt x="6019395" y="358892"/>
                  </a:lnTo>
                  <a:lnTo>
                    <a:pt x="6068333" y="341030"/>
                  </a:lnTo>
                  <a:lnTo>
                    <a:pt x="6117272" y="323486"/>
                  </a:lnTo>
                  <a:lnTo>
                    <a:pt x="6166211" y="306636"/>
                  </a:lnTo>
                  <a:lnTo>
                    <a:pt x="6215149" y="290854"/>
                  </a:lnTo>
                  <a:lnTo>
                    <a:pt x="6264083" y="276516"/>
                  </a:lnTo>
                  <a:lnTo>
                    <a:pt x="6313014" y="263995"/>
                  </a:lnTo>
                  <a:lnTo>
                    <a:pt x="6361938" y="253668"/>
                  </a:lnTo>
                  <a:lnTo>
                    <a:pt x="6410892" y="245245"/>
                  </a:lnTo>
                  <a:lnTo>
                    <a:pt x="6459841" y="238237"/>
                  </a:lnTo>
                  <a:lnTo>
                    <a:pt x="6508786" y="232603"/>
                  </a:lnTo>
                  <a:lnTo>
                    <a:pt x="6557727" y="228304"/>
                  </a:lnTo>
                  <a:lnTo>
                    <a:pt x="6606667" y="225299"/>
                  </a:lnTo>
                  <a:lnTo>
                    <a:pt x="6655606" y="223547"/>
                  </a:lnTo>
                  <a:lnTo>
                    <a:pt x="6704547" y="223009"/>
                  </a:lnTo>
                  <a:lnTo>
                    <a:pt x="6753492" y="223643"/>
                  </a:lnTo>
                  <a:lnTo>
                    <a:pt x="6802441" y="225409"/>
                  </a:lnTo>
                  <a:lnTo>
                    <a:pt x="6851395" y="228268"/>
                  </a:lnTo>
                  <a:lnTo>
                    <a:pt x="6900319" y="233405"/>
                  </a:lnTo>
                  <a:lnTo>
                    <a:pt x="6949250" y="241580"/>
                  </a:lnTo>
                  <a:lnTo>
                    <a:pt x="6998184" y="252001"/>
                  </a:lnTo>
                  <a:lnTo>
                    <a:pt x="7047122" y="263872"/>
                  </a:lnTo>
                  <a:lnTo>
                    <a:pt x="7096061" y="276401"/>
                  </a:lnTo>
                  <a:lnTo>
                    <a:pt x="7145000" y="288792"/>
                  </a:lnTo>
                  <a:lnTo>
                    <a:pt x="7193938" y="300252"/>
                  </a:lnTo>
                  <a:lnTo>
                    <a:pt x="7242872" y="309987"/>
                  </a:lnTo>
                  <a:lnTo>
                    <a:pt x="7291803" y="317202"/>
                  </a:lnTo>
                  <a:lnTo>
                    <a:pt x="7340727" y="321105"/>
                  </a:lnTo>
                  <a:lnTo>
                    <a:pt x="7389681" y="321483"/>
                  </a:lnTo>
                  <a:lnTo>
                    <a:pt x="7438630" y="319100"/>
                  </a:lnTo>
                  <a:lnTo>
                    <a:pt x="7487575" y="314511"/>
                  </a:lnTo>
                  <a:lnTo>
                    <a:pt x="7536516" y="308269"/>
                  </a:lnTo>
                  <a:lnTo>
                    <a:pt x="7585456" y="300928"/>
                  </a:lnTo>
                  <a:lnTo>
                    <a:pt x="7634395" y="293042"/>
                  </a:lnTo>
                  <a:lnTo>
                    <a:pt x="7683336" y="285165"/>
                  </a:lnTo>
                  <a:lnTo>
                    <a:pt x="7732281" y="277852"/>
                  </a:lnTo>
                  <a:lnTo>
                    <a:pt x="7781230" y="271655"/>
                  </a:lnTo>
                  <a:lnTo>
                    <a:pt x="7830184" y="267130"/>
                  </a:lnTo>
                  <a:lnTo>
                    <a:pt x="7879108" y="264021"/>
                  </a:lnTo>
                  <a:lnTo>
                    <a:pt x="7928039" y="261553"/>
                  </a:lnTo>
                  <a:lnTo>
                    <a:pt x="7976973" y="259612"/>
                  </a:lnTo>
                  <a:lnTo>
                    <a:pt x="8025911" y="258085"/>
                  </a:lnTo>
                  <a:lnTo>
                    <a:pt x="8074850" y="256859"/>
                  </a:lnTo>
                  <a:lnTo>
                    <a:pt x="8123789" y="255819"/>
                  </a:lnTo>
                  <a:lnTo>
                    <a:pt x="8172727" y="254852"/>
                  </a:lnTo>
                  <a:lnTo>
                    <a:pt x="8221661" y="253845"/>
                  </a:lnTo>
                  <a:lnTo>
                    <a:pt x="8270592" y="252683"/>
                  </a:lnTo>
                  <a:lnTo>
                    <a:pt x="8319515" y="251255"/>
                  </a:lnTo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910589" y="1650486"/>
              <a:ext cx="8319770" cy="1016635"/>
            </a:xfrm>
            <a:custGeom>
              <a:avLst/>
              <a:gdLst/>
              <a:ahLst/>
              <a:cxnLst/>
              <a:rect l="l" t="t" r="r" b="b"/>
              <a:pathLst>
                <a:path w="8319770" h="1016635">
                  <a:moveTo>
                    <a:pt x="0" y="1016640"/>
                  </a:moveTo>
                  <a:lnTo>
                    <a:pt x="48939" y="1010485"/>
                  </a:lnTo>
                  <a:lnTo>
                    <a:pt x="97877" y="1004357"/>
                  </a:lnTo>
                  <a:lnTo>
                    <a:pt x="146814" y="998247"/>
                  </a:lnTo>
                  <a:lnTo>
                    <a:pt x="195750" y="992142"/>
                  </a:lnTo>
                  <a:lnTo>
                    <a:pt x="244684" y="986033"/>
                  </a:lnTo>
                  <a:lnTo>
                    <a:pt x="293617" y="979908"/>
                  </a:lnTo>
                  <a:lnTo>
                    <a:pt x="342548" y="973758"/>
                  </a:lnTo>
                  <a:lnTo>
                    <a:pt x="391478" y="967571"/>
                  </a:lnTo>
                  <a:lnTo>
                    <a:pt x="440405" y="961337"/>
                  </a:lnTo>
                  <a:lnTo>
                    <a:pt x="489331" y="955045"/>
                  </a:lnTo>
                  <a:lnTo>
                    <a:pt x="538285" y="949144"/>
                  </a:lnTo>
                  <a:lnTo>
                    <a:pt x="587234" y="943896"/>
                  </a:lnTo>
                  <a:lnTo>
                    <a:pt x="636179" y="939010"/>
                  </a:lnTo>
                  <a:lnTo>
                    <a:pt x="685120" y="934192"/>
                  </a:lnTo>
                  <a:lnTo>
                    <a:pt x="734060" y="929153"/>
                  </a:lnTo>
                  <a:lnTo>
                    <a:pt x="782999" y="923599"/>
                  </a:lnTo>
                  <a:lnTo>
                    <a:pt x="831940" y="917238"/>
                  </a:lnTo>
                  <a:lnTo>
                    <a:pt x="880885" y="909780"/>
                  </a:lnTo>
                  <a:lnTo>
                    <a:pt x="929834" y="900932"/>
                  </a:lnTo>
                  <a:lnTo>
                    <a:pt x="978789" y="890402"/>
                  </a:lnTo>
                  <a:lnTo>
                    <a:pt x="1027712" y="878232"/>
                  </a:lnTo>
                  <a:lnTo>
                    <a:pt x="1076643" y="864689"/>
                  </a:lnTo>
                  <a:lnTo>
                    <a:pt x="1125577" y="849929"/>
                  </a:lnTo>
                  <a:lnTo>
                    <a:pt x="1174515" y="834111"/>
                  </a:lnTo>
                  <a:lnTo>
                    <a:pt x="1223454" y="817393"/>
                  </a:lnTo>
                  <a:lnTo>
                    <a:pt x="1272393" y="799931"/>
                  </a:lnTo>
                  <a:lnTo>
                    <a:pt x="1321331" y="781884"/>
                  </a:lnTo>
                  <a:lnTo>
                    <a:pt x="1370265" y="763410"/>
                  </a:lnTo>
                  <a:lnTo>
                    <a:pt x="1419196" y="744666"/>
                  </a:lnTo>
                  <a:lnTo>
                    <a:pt x="1468120" y="725810"/>
                  </a:lnTo>
                  <a:lnTo>
                    <a:pt x="1512624" y="706915"/>
                  </a:lnTo>
                  <a:lnTo>
                    <a:pt x="1557124" y="685087"/>
                  </a:lnTo>
                  <a:lnTo>
                    <a:pt x="1601619" y="661275"/>
                  </a:lnTo>
                  <a:lnTo>
                    <a:pt x="1646112" y="636433"/>
                  </a:lnTo>
                  <a:lnTo>
                    <a:pt x="1690603" y="611511"/>
                  </a:lnTo>
                  <a:lnTo>
                    <a:pt x="1735094" y="587461"/>
                  </a:lnTo>
                  <a:lnTo>
                    <a:pt x="1779585" y="565235"/>
                  </a:lnTo>
                  <a:lnTo>
                    <a:pt x="1824078" y="545783"/>
                  </a:lnTo>
                  <a:lnTo>
                    <a:pt x="1868573" y="530058"/>
                  </a:lnTo>
                  <a:lnTo>
                    <a:pt x="1913073" y="519011"/>
                  </a:lnTo>
                  <a:lnTo>
                    <a:pt x="1957577" y="513593"/>
                  </a:lnTo>
                  <a:lnTo>
                    <a:pt x="2002054" y="515675"/>
                  </a:lnTo>
                  <a:lnTo>
                    <a:pt x="2046535" y="525419"/>
                  </a:lnTo>
                  <a:lnTo>
                    <a:pt x="2091020" y="541112"/>
                  </a:lnTo>
                  <a:lnTo>
                    <a:pt x="2135508" y="561037"/>
                  </a:lnTo>
                  <a:lnTo>
                    <a:pt x="2179998" y="583481"/>
                  </a:lnTo>
                  <a:lnTo>
                    <a:pt x="2224488" y="606728"/>
                  </a:lnTo>
                  <a:lnTo>
                    <a:pt x="2268978" y="629065"/>
                  </a:lnTo>
                  <a:lnTo>
                    <a:pt x="2313466" y="648776"/>
                  </a:lnTo>
                  <a:lnTo>
                    <a:pt x="2357951" y="664147"/>
                  </a:lnTo>
                  <a:lnTo>
                    <a:pt x="2402432" y="673463"/>
                  </a:lnTo>
                  <a:lnTo>
                    <a:pt x="2446909" y="675010"/>
                  </a:lnTo>
                  <a:lnTo>
                    <a:pt x="2491413" y="667994"/>
                  </a:lnTo>
                  <a:lnTo>
                    <a:pt x="2535912" y="653712"/>
                  </a:lnTo>
                  <a:lnTo>
                    <a:pt x="2580406" y="633690"/>
                  </a:lnTo>
                  <a:lnTo>
                    <a:pt x="2624895" y="609454"/>
                  </a:lnTo>
                  <a:lnTo>
                    <a:pt x="2669380" y="582530"/>
                  </a:lnTo>
                  <a:lnTo>
                    <a:pt x="2713862" y="554443"/>
                  </a:lnTo>
                  <a:lnTo>
                    <a:pt x="2758341" y="526718"/>
                  </a:lnTo>
                  <a:lnTo>
                    <a:pt x="2802818" y="500883"/>
                  </a:lnTo>
                  <a:lnTo>
                    <a:pt x="2847293" y="478462"/>
                  </a:lnTo>
                  <a:lnTo>
                    <a:pt x="2891766" y="460981"/>
                  </a:lnTo>
                  <a:lnTo>
                    <a:pt x="2936240" y="449966"/>
                  </a:lnTo>
                  <a:lnTo>
                    <a:pt x="2985194" y="445749"/>
                  </a:lnTo>
                  <a:lnTo>
                    <a:pt x="3034143" y="448003"/>
                  </a:lnTo>
                  <a:lnTo>
                    <a:pt x="3083088" y="455200"/>
                  </a:lnTo>
                  <a:lnTo>
                    <a:pt x="3132029" y="465809"/>
                  </a:lnTo>
                  <a:lnTo>
                    <a:pt x="3180968" y="478303"/>
                  </a:lnTo>
                  <a:lnTo>
                    <a:pt x="3229908" y="491150"/>
                  </a:lnTo>
                  <a:lnTo>
                    <a:pt x="3278849" y="502823"/>
                  </a:lnTo>
                  <a:lnTo>
                    <a:pt x="3327794" y="511791"/>
                  </a:lnTo>
                  <a:lnTo>
                    <a:pt x="3376743" y="516526"/>
                  </a:lnTo>
                  <a:lnTo>
                    <a:pt x="3425698" y="515498"/>
                  </a:lnTo>
                  <a:lnTo>
                    <a:pt x="3474621" y="509967"/>
                  </a:lnTo>
                  <a:lnTo>
                    <a:pt x="3523552" y="502162"/>
                  </a:lnTo>
                  <a:lnTo>
                    <a:pt x="3572486" y="492114"/>
                  </a:lnTo>
                  <a:lnTo>
                    <a:pt x="3621424" y="479859"/>
                  </a:lnTo>
                  <a:lnTo>
                    <a:pt x="3670363" y="465428"/>
                  </a:lnTo>
                  <a:lnTo>
                    <a:pt x="3719302" y="448856"/>
                  </a:lnTo>
                  <a:lnTo>
                    <a:pt x="3768240" y="430177"/>
                  </a:lnTo>
                  <a:lnTo>
                    <a:pt x="3817174" y="409423"/>
                  </a:lnTo>
                  <a:lnTo>
                    <a:pt x="3866105" y="386629"/>
                  </a:lnTo>
                  <a:lnTo>
                    <a:pt x="3915029" y="361828"/>
                  </a:lnTo>
                  <a:lnTo>
                    <a:pt x="3949997" y="340355"/>
                  </a:lnTo>
                  <a:lnTo>
                    <a:pt x="3984962" y="313515"/>
                  </a:lnTo>
                  <a:lnTo>
                    <a:pt x="4019925" y="282481"/>
                  </a:lnTo>
                  <a:lnTo>
                    <a:pt x="4054885" y="248428"/>
                  </a:lnTo>
                  <a:lnTo>
                    <a:pt x="4089843" y="212533"/>
                  </a:lnTo>
                  <a:lnTo>
                    <a:pt x="4124801" y="175969"/>
                  </a:lnTo>
                  <a:lnTo>
                    <a:pt x="4159758" y="139911"/>
                  </a:lnTo>
                  <a:lnTo>
                    <a:pt x="4194714" y="105535"/>
                  </a:lnTo>
                  <a:lnTo>
                    <a:pt x="4229672" y="74016"/>
                  </a:lnTo>
                  <a:lnTo>
                    <a:pt x="4264630" y="46527"/>
                  </a:lnTo>
                  <a:lnTo>
                    <a:pt x="4299590" y="24245"/>
                  </a:lnTo>
                  <a:lnTo>
                    <a:pt x="4334553" y="8344"/>
                  </a:lnTo>
                  <a:lnTo>
                    <a:pt x="4369518" y="0"/>
                  </a:lnTo>
                  <a:lnTo>
                    <a:pt x="4404487" y="386"/>
                  </a:lnTo>
                  <a:lnTo>
                    <a:pt x="4469720" y="28778"/>
                  </a:lnTo>
                  <a:lnTo>
                    <a:pt x="4502341" y="55149"/>
                  </a:lnTo>
                  <a:lnTo>
                    <a:pt x="4534963" y="87932"/>
                  </a:lnTo>
                  <a:lnTo>
                    <a:pt x="4567587" y="125848"/>
                  </a:lnTo>
                  <a:lnTo>
                    <a:pt x="4600213" y="167617"/>
                  </a:lnTo>
                  <a:lnTo>
                    <a:pt x="4632839" y="211962"/>
                  </a:lnTo>
                  <a:lnTo>
                    <a:pt x="4665465" y="257604"/>
                  </a:lnTo>
                  <a:lnTo>
                    <a:pt x="4698091" y="303263"/>
                  </a:lnTo>
                  <a:lnTo>
                    <a:pt x="4730717" y="347660"/>
                  </a:lnTo>
                  <a:lnTo>
                    <a:pt x="4763341" y="389518"/>
                  </a:lnTo>
                  <a:lnTo>
                    <a:pt x="4795963" y="427557"/>
                  </a:lnTo>
                  <a:lnTo>
                    <a:pt x="4828584" y="460498"/>
                  </a:lnTo>
                  <a:lnTo>
                    <a:pt x="4861202" y="487063"/>
                  </a:lnTo>
                  <a:lnTo>
                    <a:pt x="4938322" y="520230"/>
                  </a:lnTo>
                  <a:lnTo>
                    <a:pt x="4982822" y="524378"/>
                  </a:lnTo>
                  <a:lnTo>
                    <a:pt x="5027317" y="520437"/>
                  </a:lnTo>
                  <a:lnTo>
                    <a:pt x="5071810" y="510426"/>
                  </a:lnTo>
                  <a:lnTo>
                    <a:pt x="5116301" y="496365"/>
                  </a:lnTo>
                  <a:lnTo>
                    <a:pt x="5160792" y="480274"/>
                  </a:lnTo>
                  <a:lnTo>
                    <a:pt x="5205283" y="464172"/>
                  </a:lnTo>
                  <a:lnTo>
                    <a:pt x="5249776" y="450081"/>
                  </a:lnTo>
                  <a:lnTo>
                    <a:pt x="5294271" y="440018"/>
                  </a:lnTo>
                  <a:lnTo>
                    <a:pt x="5338771" y="436005"/>
                  </a:lnTo>
                  <a:lnTo>
                    <a:pt x="5383276" y="440060"/>
                  </a:lnTo>
                  <a:lnTo>
                    <a:pt x="5427749" y="452535"/>
                  </a:lnTo>
                  <a:lnTo>
                    <a:pt x="5472222" y="471429"/>
                  </a:lnTo>
                  <a:lnTo>
                    <a:pt x="5516697" y="495340"/>
                  </a:lnTo>
                  <a:lnTo>
                    <a:pt x="5561174" y="522867"/>
                  </a:lnTo>
                  <a:lnTo>
                    <a:pt x="5605653" y="552607"/>
                  </a:lnTo>
                  <a:lnTo>
                    <a:pt x="5650135" y="583159"/>
                  </a:lnTo>
                  <a:lnTo>
                    <a:pt x="5694620" y="613120"/>
                  </a:lnTo>
                  <a:lnTo>
                    <a:pt x="5739109" y="641087"/>
                  </a:lnTo>
                  <a:lnTo>
                    <a:pt x="5783603" y="665660"/>
                  </a:lnTo>
                  <a:lnTo>
                    <a:pt x="5828102" y="685436"/>
                  </a:lnTo>
                  <a:lnTo>
                    <a:pt x="5872607" y="699013"/>
                  </a:lnTo>
                  <a:lnTo>
                    <a:pt x="5921530" y="707800"/>
                  </a:lnTo>
                  <a:lnTo>
                    <a:pt x="5970461" y="712467"/>
                  </a:lnTo>
                  <a:lnTo>
                    <a:pt x="6019395" y="713501"/>
                  </a:lnTo>
                  <a:lnTo>
                    <a:pt x="6068333" y="711394"/>
                  </a:lnTo>
                  <a:lnTo>
                    <a:pt x="6117272" y="706633"/>
                  </a:lnTo>
                  <a:lnTo>
                    <a:pt x="6166211" y="699708"/>
                  </a:lnTo>
                  <a:lnTo>
                    <a:pt x="6215149" y="691108"/>
                  </a:lnTo>
                  <a:lnTo>
                    <a:pt x="6264083" y="681322"/>
                  </a:lnTo>
                  <a:lnTo>
                    <a:pt x="6313014" y="670840"/>
                  </a:lnTo>
                  <a:lnTo>
                    <a:pt x="6361938" y="660151"/>
                  </a:lnTo>
                  <a:lnTo>
                    <a:pt x="6410892" y="648596"/>
                  </a:lnTo>
                  <a:lnTo>
                    <a:pt x="6459841" y="635303"/>
                  </a:lnTo>
                  <a:lnTo>
                    <a:pt x="6508786" y="620436"/>
                  </a:lnTo>
                  <a:lnTo>
                    <a:pt x="6557727" y="604163"/>
                  </a:lnTo>
                  <a:lnTo>
                    <a:pt x="6606667" y="586650"/>
                  </a:lnTo>
                  <a:lnTo>
                    <a:pt x="6655606" y="568062"/>
                  </a:lnTo>
                  <a:lnTo>
                    <a:pt x="6704547" y="548565"/>
                  </a:lnTo>
                  <a:lnTo>
                    <a:pt x="6753492" y="528327"/>
                  </a:lnTo>
                  <a:lnTo>
                    <a:pt x="6802441" y="507512"/>
                  </a:lnTo>
                  <a:lnTo>
                    <a:pt x="6851395" y="486288"/>
                  </a:lnTo>
                  <a:lnTo>
                    <a:pt x="6889029" y="466800"/>
                  </a:lnTo>
                  <a:lnTo>
                    <a:pt x="6926666" y="442157"/>
                  </a:lnTo>
                  <a:lnTo>
                    <a:pt x="6964306" y="413762"/>
                  </a:lnTo>
                  <a:lnTo>
                    <a:pt x="7001948" y="383021"/>
                  </a:lnTo>
                  <a:lnTo>
                    <a:pt x="7039593" y="351339"/>
                  </a:lnTo>
                  <a:lnTo>
                    <a:pt x="7077238" y="320119"/>
                  </a:lnTo>
                  <a:lnTo>
                    <a:pt x="7114884" y="290768"/>
                  </a:lnTo>
                  <a:lnTo>
                    <a:pt x="7152529" y="264688"/>
                  </a:lnTo>
                  <a:lnTo>
                    <a:pt x="7190174" y="243286"/>
                  </a:lnTo>
                  <a:lnTo>
                    <a:pt x="7227816" y="227966"/>
                  </a:lnTo>
                  <a:lnTo>
                    <a:pt x="7265456" y="220132"/>
                  </a:lnTo>
                  <a:lnTo>
                    <a:pt x="7303093" y="221189"/>
                  </a:lnTo>
                  <a:lnTo>
                    <a:pt x="7340727" y="232542"/>
                  </a:lnTo>
                  <a:lnTo>
                    <a:pt x="7395120" y="271538"/>
                  </a:lnTo>
                  <a:lnTo>
                    <a:pt x="7422315" y="300714"/>
                  </a:lnTo>
                  <a:lnTo>
                    <a:pt x="7449507" y="335257"/>
                  </a:lnTo>
                  <a:lnTo>
                    <a:pt x="7476698" y="374355"/>
                  </a:lnTo>
                  <a:lnTo>
                    <a:pt x="7503889" y="417195"/>
                  </a:lnTo>
                  <a:lnTo>
                    <a:pt x="7531078" y="462965"/>
                  </a:lnTo>
                  <a:lnTo>
                    <a:pt x="7558267" y="510852"/>
                  </a:lnTo>
                  <a:lnTo>
                    <a:pt x="7585456" y="560043"/>
                  </a:lnTo>
                  <a:lnTo>
                    <a:pt x="7612644" y="609726"/>
                  </a:lnTo>
                  <a:lnTo>
                    <a:pt x="7639833" y="659087"/>
                  </a:lnTo>
                  <a:lnTo>
                    <a:pt x="7667022" y="707315"/>
                  </a:lnTo>
                  <a:lnTo>
                    <a:pt x="7694213" y="753596"/>
                  </a:lnTo>
                  <a:lnTo>
                    <a:pt x="7721404" y="797118"/>
                  </a:lnTo>
                  <a:lnTo>
                    <a:pt x="7748596" y="837068"/>
                  </a:lnTo>
                  <a:lnTo>
                    <a:pt x="7775791" y="872633"/>
                  </a:lnTo>
                  <a:lnTo>
                    <a:pt x="7802986" y="903001"/>
                  </a:lnTo>
                  <a:lnTo>
                    <a:pt x="7874661" y="956879"/>
                  </a:lnTo>
                  <a:lnTo>
                    <a:pt x="7919142" y="977393"/>
                  </a:lnTo>
                  <a:lnTo>
                    <a:pt x="7963627" y="990323"/>
                  </a:lnTo>
                  <a:lnTo>
                    <a:pt x="8008115" y="997090"/>
                  </a:lnTo>
                  <a:lnTo>
                    <a:pt x="8052605" y="999116"/>
                  </a:lnTo>
                  <a:lnTo>
                    <a:pt x="8097095" y="997825"/>
                  </a:lnTo>
                  <a:lnTo>
                    <a:pt x="8141585" y="994637"/>
                  </a:lnTo>
                  <a:lnTo>
                    <a:pt x="8186073" y="990975"/>
                  </a:lnTo>
                  <a:lnTo>
                    <a:pt x="8230558" y="988262"/>
                  </a:lnTo>
                  <a:lnTo>
                    <a:pt x="8275039" y="987918"/>
                  </a:lnTo>
                  <a:lnTo>
                    <a:pt x="8319515" y="991367"/>
                  </a:lnTo>
                </a:path>
              </a:pathLst>
            </a:custGeom>
            <a:ln w="190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910589" y="1491233"/>
              <a:ext cx="8319770" cy="1140460"/>
            </a:xfrm>
            <a:custGeom>
              <a:avLst/>
              <a:gdLst/>
              <a:ahLst/>
              <a:cxnLst/>
              <a:rect l="l" t="t" r="r" b="b"/>
              <a:pathLst>
                <a:path w="8319770" h="1140460">
                  <a:moveTo>
                    <a:pt x="0" y="1071371"/>
                  </a:moveTo>
                  <a:lnTo>
                    <a:pt x="489203" y="998219"/>
                  </a:lnTo>
                  <a:lnTo>
                    <a:pt x="978408" y="915924"/>
                  </a:lnTo>
                  <a:lnTo>
                    <a:pt x="1467611" y="763524"/>
                  </a:lnTo>
                  <a:lnTo>
                    <a:pt x="1958339" y="647700"/>
                  </a:lnTo>
                  <a:lnTo>
                    <a:pt x="2447544" y="950976"/>
                  </a:lnTo>
                  <a:lnTo>
                    <a:pt x="2936748" y="713231"/>
                  </a:lnTo>
                  <a:lnTo>
                    <a:pt x="3425952" y="691895"/>
                  </a:lnTo>
                  <a:lnTo>
                    <a:pt x="3915156" y="265175"/>
                  </a:lnTo>
                  <a:lnTo>
                    <a:pt x="4404360" y="0"/>
                  </a:lnTo>
                  <a:lnTo>
                    <a:pt x="4893564" y="530351"/>
                  </a:lnTo>
                  <a:lnTo>
                    <a:pt x="5382768" y="911351"/>
                  </a:lnTo>
                  <a:lnTo>
                    <a:pt x="5871971" y="1007363"/>
                  </a:lnTo>
                  <a:lnTo>
                    <a:pt x="6361176" y="810767"/>
                  </a:lnTo>
                  <a:lnTo>
                    <a:pt x="6851904" y="612648"/>
                  </a:lnTo>
                  <a:lnTo>
                    <a:pt x="7341108" y="451103"/>
                  </a:lnTo>
                  <a:lnTo>
                    <a:pt x="7830311" y="1091183"/>
                  </a:lnTo>
                  <a:lnTo>
                    <a:pt x="8319515" y="1139952"/>
                  </a:lnTo>
                </a:path>
              </a:pathLst>
            </a:custGeom>
            <a:ln w="1905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428650" y="1187958"/>
            <a:ext cx="173990" cy="207898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95"/>
              </a:spcBef>
            </a:pP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140</a:t>
            </a:r>
            <a:endParaRPr sz="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7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</a:pP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120</a:t>
            </a:r>
            <a:endParaRPr sz="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7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5"/>
              </a:spcBef>
            </a:pP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100</a:t>
            </a:r>
            <a:endParaRPr sz="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700">
              <a:latin typeface="Arial MT"/>
              <a:cs typeface="Arial MT"/>
            </a:endParaRPr>
          </a:p>
          <a:p>
            <a:pPr algn="r" marR="6350">
              <a:lnSpc>
                <a:spcPct val="100000"/>
              </a:lnSpc>
            </a:pP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80</a:t>
            </a:r>
            <a:endParaRPr sz="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700">
              <a:latin typeface="Arial MT"/>
              <a:cs typeface="Arial MT"/>
            </a:endParaRPr>
          </a:p>
          <a:p>
            <a:pPr algn="r" marR="6350">
              <a:lnSpc>
                <a:spcPct val="100000"/>
              </a:lnSpc>
            </a:pP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60</a:t>
            </a:r>
            <a:endParaRPr sz="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700">
              <a:latin typeface="Arial MT"/>
              <a:cs typeface="Arial MT"/>
            </a:endParaRPr>
          </a:p>
          <a:p>
            <a:pPr algn="r" marR="6350">
              <a:lnSpc>
                <a:spcPct val="100000"/>
              </a:lnSpc>
            </a:pP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40</a:t>
            </a:r>
            <a:endParaRPr sz="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700">
              <a:latin typeface="Arial MT"/>
              <a:cs typeface="Arial MT"/>
            </a:endParaRPr>
          </a:p>
          <a:p>
            <a:pPr algn="r" marR="6350">
              <a:lnSpc>
                <a:spcPct val="100000"/>
              </a:lnSpc>
            </a:pP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20</a:t>
            </a:r>
            <a:endParaRPr sz="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7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</a:pPr>
            <a:r>
              <a:rPr dirty="0" sz="700" spc="-50">
                <a:solidFill>
                  <a:srgbClr val="585858"/>
                </a:solidFill>
                <a:latin typeface="Arial MT"/>
                <a:cs typeface="Arial MT"/>
              </a:rPr>
              <a:t>0</a:t>
            </a:r>
            <a:endParaRPr sz="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7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</a:pPr>
            <a:r>
              <a:rPr dirty="0" sz="700" spc="-20">
                <a:solidFill>
                  <a:srgbClr val="585858"/>
                </a:solidFill>
                <a:latin typeface="Arial MT"/>
                <a:cs typeface="Arial MT"/>
              </a:rPr>
              <a:t>-</a:t>
            </a: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20</a:t>
            </a:r>
            <a:endParaRPr sz="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7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5"/>
              </a:spcBef>
            </a:pPr>
            <a:r>
              <a:rPr dirty="0" sz="700" spc="-20">
                <a:solidFill>
                  <a:srgbClr val="585858"/>
                </a:solidFill>
                <a:latin typeface="Arial MT"/>
                <a:cs typeface="Arial MT"/>
              </a:rPr>
              <a:t>-</a:t>
            </a: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40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799287" y="3241039"/>
            <a:ext cx="2228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0">
                <a:solidFill>
                  <a:srgbClr val="585858"/>
                </a:solidFill>
                <a:latin typeface="Arial MT"/>
                <a:cs typeface="Arial MT"/>
              </a:rPr>
              <a:t>2004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288796" y="3241039"/>
            <a:ext cx="2228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0">
                <a:solidFill>
                  <a:srgbClr val="585858"/>
                </a:solidFill>
                <a:latin typeface="Arial MT"/>
                <a:cs typeface="Arial MT"/>
              </a:rPr>
              <a:t>2005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778254" y="3241039"/>
            <a:ext cx="2228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0">
                <a:solidFill>
                  <a:srgbClr val="585858"/>
                </a:solidFill>
                <a:latin typeface="Arial MT"/>
                <a:cs typeface="Arial MT"/>
              </a:rPr>
              <a:t>2006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267839" y="3241039"/>
            <a:ext cx="2228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0">
                <a:solidFill>
                  <a:srgbClr val="585858"/>
                </a:solidFill>
                <a:latin typeface="Arial MT"/>
                <a:cs typeface="Arial MT"/>
              </a:rPr>
              <a:t>2007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757042" y="3241039"/>
            <a:ext cx="71183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01650" algn="l"/>
              </a:tabLst>
            </a:pPr>
            <a:r>
              <a:rPr dirty="0" sz="700" spc="-20">
                <a:solidFill>
                  <a:srgbClr val="585858"/>
                </a:solidFill>
                <a:latin typeface="Arial MT"/>
                <a:cs typeface="Arial MT"/>
              </a:rPr>
              <a:t>2008</a:t>
            </a:r>
            <a:r>
              <a:rPr dirty="0" sz="700">
                <a:solidFill>
                  <a:srgbClr val="585858"/>
                </a:solidFill>
                <a:latin typeface="Arial MT"/>
                <a:cs typeface="Arial MT"/>
              </a:rPr>
              <a:t>	</a:t>
            </a:r>
            <a:r>
              <a:rPr dirty="0" sz="700" spc="-20">
                <a:solidFill>
                  <a:srgbClr val="585858"/>
                </a:solidFill>
                <a:latin typeface="Arial MT"/>
                <a:cs typeface="Arial MT"/>
              </a:rPr>
              <a:t>2009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3736085" y="3241039"/>
            <a:ext cx="71183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01650" algn="l"/>
              </a:tabLst>
            </a:pPr>
            <a:r>
              <a:rPr dirty="0" sz="700" spc="-20">
                <a:solidFill>
                  <a:srgbClr val="585858"/>
                </a:solidFill>
                <a:latin typeface="Arial MT"/>
                <a:cs typeface="Arial MT"/>
              </a:rPr>
              <a:t>2010</a:t>
            </a:r>
            <a:r>
              <a:rPr dirty="0" sz="700">
                <a:solidFill>
                  <a:srgbClr val="585858"/>
                </a:solidFill>
                <a:latin typeface="Arial MT"/>
                <a:cs typeface="Arial MT"/>
              </a:rPr>
              <a:t>	</a:t>
            </a:r>
            <a:r>
              <a:rPr dirty="0" sz="700" spc="-20">
                <a:solidFill>
                  <a:srgbClr val="585858"/>
                </a:solidFill>
                <a:latin typeface="Arial MT"/>
                <a:cs typeface="Arial MT"/>
              </a:rPr>
              <a:t>2011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4714747" y="3241039"/>
            <a:ext cx="2228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0">
                <a:solidFill>
                  <a:srgbClr val="585858"/>
                </a:solidFill>
                <a:latin typeface="Arial MT"/>
                <a:cs typeface="Arial MT"/>
              </a:rPr>
              <a:t>2012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5204205" y="3241039"/>
            <a:ext cx="2228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0">
                <a:solidFill>
                  <a:srgbClr val="585858"/>
                </a:solidFill>
                <a:latin typeface="Arial MT"/>
                <a:cs typeface="Arial MT"/>
              </a:rPr>
              <a:t>2013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5693790" y="3241039"/>
            <a:ext cx="71183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01650" algn="l"/>
              </a:tabLst>
            </a:pPr>
            <a:r>
              <a:rPr dirty="0" sz="700" spc="-20">
                <a:solidFill>
                  <a:srgbClr val="585858"/>
                </a:solidFill>
                <a:latin typeface="Arial MT"/>
                <a:cs typeface="Arial MT"/>
              </a:rPr>
              <a:t>2014</a:t>
            </a:r>
            <a:r>
              <a:rPr dirty="0" sz="700">
                <a:solidFill>
                  <a:srgbClr val="585858"/>
                </a:solidFill>
                <a:latin typeface="Arial MT"/>
                <a:cs typeface="Arial MT"/>
              </a:rPr>
              <a:t>	</a:t>
            </a:r>
            <a:r>
              <a:rPr dirty="0" sz="700" spc="-20">
                <a:solidFill>
                  <a:srgbClr val="585858"/>
                </a:solidFill>
                <a:latin typeface="Arial MT"/>
                <a:cs typeface="Arial MT"/>
              </a:rPr>
              <a:t>2015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6672453" y="3241039"/>
            <a:ext cx="2228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0">
                <a:solidFill>
                  <a:srgbClr val="585858"/>
                </a:solidFill>
                <a:latin typeface="Arial MT"/>
                <a:cs typeface="Arial MT"/>
              </a:rPr>
              <a:t>2016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7162038" y="3241039"/>
            <a:ext cx="2228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0">
                <a:solidFill>
                  <a:srgbClr val="585858"/>
                </a:solidFill>
                <a:latin typeface="Arial MT"/>
                <a:cs typeface="Arial MT"/>
              </a:rPr>
              <a:t>2017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7651495" y="3241039"/>
            <a:ext cx="2228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0">
                <a:solidFill>
                  <a:srgbClr val="585858"/>
                </a:solidFill>
                <a:latin typeface="Arial MT"/>
                <a:cs typeface="Arial MT"/>
              </a:rPr>
              <a:t>2018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8140954" y="3241039"/>
            <a:ext cx="2228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0">
                <a:solidFill>
                  <a:srgbClr val="585858"/>
                </a:solidFill>
                <a:latin typeface="Arial MT"/>
                <a:cs typeface="Arial MT"/>
              </a:rPr>
              <a:t>2019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8630157" y="3241039"/>
            <a:ext cx="2228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0">
                <a:solidFill>
                  <a:srgbClr val="585858"/>
                </a:solidFill>
                <a:latin typeface="Arial MT"/>
                <a:cs typeface="Arial MT"/>
              </a:rPr>
              <a:t>2020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9119743" y="3241039"/>
            <a:ext cx="22288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0">
                <a:solidFill>
                  <a:srgbClr val="585858"/>
                </a:solidFill>
                <a:latin typeface="Arial MT"/>
                <a:cs typeface="Arial MT"/>
              </a:rPr>
              <a:t>2021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6" name="object 26" descr=""/>
          <p:cNvSpPr/>
          <p:nvPr/>
        </p:nvSpPr>
        <p:spPr>
          <a:xfrm>
            <a:off x="2841498" y="3638550"/>
            <a:ext cx="243840" cy="0"/>
          </a:xfrm>
          <a:custGeom>
            <a:avLst/>
            <a:gdLst/>
            <a:ahLst/>
            <a:cxnLst/>
            <a:rect l="l" t="t" r="r" b="b"/>
            <a:pathLst>
              <a:path w="243839" h="0">
                <a:moveTo>
                  <a:pt x="0" y="0"/>
                </a:moveTo>
                <a:lnTo>
                  <a:pt x="243839" y="0"/>
                </a:lnTo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 txBox="1"/>
          <p:nvPr/>
        </p:nvSpPr>
        <p:spPr>
          <a:xfrm>
            <a:off x="3098673" y="3566286"/>
            <a:ext cx="100901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>
                <a:solidFill>
                  <a:srgbClr val="585858"/>
                </a:solidFill>
                <a:latin typeface="Arial MT"/>
                <a:cs typeface="Arial MT"/>
              </a:rPr>
              <a:t>Netflow</a:t>
            </a:r>
            <a:r>
              <a:rPr dirty="0" sz="700" spc="-2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585858"/>
                </a:solidFill>
                <a:latin typeface="Arial MT"/>
                <a:cs typeface="Arial MT"/>
              </a:rPr>
              <a:t>through</a:t>
            </a:r>
            <a:r>
              <a:rPr dirty="0" sz="700" spc="-2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585858"/>
                </a:solidFill>
                <a:latin typeface="Arial MT"/>
                <a:cs typeface="Arial MT"/>
              </a:rPr>
              <a:t>the</a:t>
            </a:r>
            <a:r>
              <a:rPr dirty="0" sz="700" spc="-35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dirty="0" sz="700" spc="-25">
                <a:solidFill>
                  <a:srgbClr val="585858"/>
                </a:solidFill>
                <a:latin typeface="Arial MT"/>
                <a:cs typeface="Arial MT"/>
              </a:rPr>
              <a:t>CBN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28" name="object 28" descr=""/>
          <p:cNvSpPr/>
          <p:nvPr/>
        </p:nvSpPr>
        <p:spPr>
          <a:xfrm>
            <a:off x="4325873" y="3638550"/>
            <a:ext cx="243840" cy="0"/>
          </a:xfrm>
          <a:custGeom>
            <a:avLst/>
            <a:gdLst/>
            <a:ahLst/>
            <a:cxnLst/>
            <a:rect l="l" t="t" r="r" b="b"/>
            <a:pathLst>
              <a:path w="243839" h="0">
                <a:moveTo>
                  <a:pt x="0" y="0"/>
                </a:moveTo>
                <a:lnTo>
                  <a:pt x="243839" y="0"/>
                </a:lnTo>
              </a:path>
            </a:pathLst>
          </a:custGeom>
          <a:ln w="1905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 txBox="1"/>
          <p:nvPr/>
        </p:nvSpPr>
        <p:spPr>
          <a:xfrm>
            <a:off x="4583048" y="3566286"/>
            <a:ext cx="152273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>
                <a:solidFill>
                  <a:srgbClr val="585858"/>
                </a:solidFill>
                <a:latin typeface="Arial MT"/>
                <a:cs typeface="Arial MT"/>
              </a:rPr>
              <a:t>Netflow</a:t>
            </a:r>
            <a:r>
              <a:rPr dirty="0" sz="700" spc="-3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585858"/>
                </a:solidFill>
                <a:latin typeface="Arial MT"/>
                <a:cs typeface="Arial MT"/>
              </a:rPr>
              <a:t>through</a:t>
            </a:r>
            <a:r>
              <a:rPr dirty="0" sz="700" spc="-3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dirty="0" sz="700">
                <a:solidFill>
                  <a:srgbClr val="585858"/>
                </a:solidFill>
                <a:latin typeface="Arial MT"/>
                <a:cs typeface="Arial MT"/>
              </a:rPr>
              <a:t>Autonomous</a:t>
            </a:r>
            <a:r>
              <a:rPr dirty="0" sz="700" spc="-3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585858"/>
                </a:solidFill>
                <a:latin typeface="Arial MT"/>
                <a:cs typeface="Arial MT"/>
              </a:rPr>
              <a:t>Sources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30" name="object 30" descr=""/>
          <p:cNvSpPr/>
          <p:nvPr/>
        </p:nvSpPr>
        <p:spPr>
          <a:xfrm>
            <a:off x="6323838" y="3638550"/>
            <a:ext cx="243840" cy="0"/>
          </a:xfrm>
          <a:custGeom>
            <a:avLst/>
            <a:gdLst/>
            <a:ahLst/>
            <a:cxnLst/>
            <a:rect l="l" t="t" r="r" b="b"/>
            <a:pathLst>
              <a:path w="243840" h="0">
                <a:moveTo>
                  <a:pt x="0" y="0"/>
                </a:moveTo>
                <a:lnTo>
                  <a:pt x="243839" y="0"/>
                </a:lnTo>
              </a:path>
            </a:pathLst>
          </a:custGeom>
          <a:ln w="19050">
            <a:solidFill>
              <a:srgbClr val="FFC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 txBox="1"/>
          <p:nvPr/>
        </p:nvSpPr>
        <p:spPr>
          <a:xfrm>
            <a:off x="6581647" y="3566286"/>
            <a:ext cx="54356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>
                <a:solidFill>
                  <a:srgbClr val="585858"/>
                </a:solidFill>
                <a:latin typeface="Arial MT"/>
                <a:cs typeface="Arial MT"/>
              </a:rPr>
              <a:t>Total</a:t>
            </a:r>
            <a:r>
              <a:rPr dirty="0" sz="700" spc="-15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dirty="0" sz="700" spc="-10">
                <a:solidFill>
                  <a:srgbClr val="585858"/>
                </a:solidFill>
                <a:latin typeface="Arial MT"/>
                <a:cs typeface="Arial MT"/>
              </a:rPr>
              <a:t>Netflow</a:t>
            </a:r>
            <a:endParaRPr sz="700">
              <a:latin typeface="Arial MT"/>
              <a:cs typeface="Arial MT"/>
            </a:endParaRPr>
          </a:p>
        </p:txBody>
      </p:sp>
      <p:grpSp>
        <p:nvGrpSpPr>
          <p:cNvPr id="32" name="object 32" descr=""/>
          <p:cNvGrpSpPr/>
          <p:nvPr/>
        </p:nvGrpSpPr>
        <p:grpSpPr>
          <a:xfrm>
            <a:off x="324421" y="762000"/>
            <a:ext cx="9486265" cy="3188970"/>
            <a:chOff x="324421" y="762000"/>
            <a:chExt cx="9486265" cy="3188970"/>
          </a:xfrm>
        </p:grpSpPr>
        <p:sp>
          <p:nvSpPr>
            <p:cNvPr id="33" name="object 33" descr=""/>
            <p:cNvSpPr/>
            <p:nvPr/>
          </p:nvSpPr>
          <p:spPr>
            <a:xfrm>
              <a:off x="329184" y="885444"/>
              <a:ext cx="9476740" cy="3060700"/>
            </a:xfrm>
            <a:custGeom>
              <a:avLst/>
              <a:gdLst/>
              <a:ahLst/>
              <a:cxnLst/>
              <a:rect l="l" t="t" r="r" b="b"/>
              <a:pathLst>
                <a:path w="9476740" h="3060700">
                  <a:moveTo>
                    <a:pt x="0" y="3060191"/>
                  </a:moveTo>
                  <a:lnTo>
                    <a:pt x="9476232" y="3060191"/>
                  </a:lnTo>
                  <a:lnTo>
                    <a:pt x="9476232" y="0"/>
                  </a:lnTo>
                  <a:lnTo>
                    <a:pt x="0" y="0"/>
                  </a:lnTo>
                  <a:lnTo>
                    <a:pt x="0" y="306019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2526791" y="762000"/>
              <a:ext cx="4699000" cy="196850"/>
            </a:xfrm>
            <a:custGeom>
              <a:avLst/>
              <a:gdLst/>
              <a:ahLst/>
              <a:cxnLst/>
              <a:rect l="l" t="t" r="r" b="b"/>
              <a:pathLst>
                <a:path w="4699000" h="196850">
                  <a:moveTo>
                    <a:pt x="4698491" y="0"/>
                  </a:moveTo>
                  <a:lnTo>
                    <a:pt x="0" y="0"/>
                  </a:lnTo>
                  <a:lnTo>
                    <a:pt x="0" y="196596"/>
                  </a:lnTo>
                  <a:lnTo>
                    <a:pt x="4698491" y="196596"/>
                  </a:lnTo>
                  <a:lnTo>
                    <a:pt x="46984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 descr=""/>
          <p:cNvSpPr txBox="1"/>
          <p:nvPr/>
        </p:nvSpPr>
        <p:spPr>
          <a:xfrm>
            <a:off x="2904870" y="756284"/>
            <a:ext cx="39414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0D0D0D"/>
                </a:solidFill>
                <a:latin typeface="Arial"/>
                <a:cs typeface="Arial"/>
              </a:rPr>
              <a:t>USD</a:t>
            </a:r>
            <a:r>
              <a:rPr dirty="0" sz="1200" spc="-5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0D0D0D"/>
                </a:solidFill>
                <a:latin typeface="Arial"/>
                <a:cs typeface="Arial"/>
              </a:rPr>
              <a:t>Net</a:t>
            </a:r>
            <a:r>
              <a:rPr dirty="0" sz="1200" spc="-15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0D0D0D"/>
                </a:solidFill>
                <a:latin typeface="Arial"/>
                <a:cs typeface="Arial"/>
              </a:rPr>
              <a:t>Flows</a:t>
            </a:r>
            <a:r>
              <a:rPr dirty="0" sz="1200" spc="-15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0D0D0D"/>
                </a:solidFill>
                <a:latin typeface="Arial"/>
                <a:cs typeface="Arial"/>
              </a:rPr>
              <a:t>to</a:t>
            </a:r>
            <a:r>
              <a:rPr dirty="0" sz="1200" spc="-10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0D0D0D"/>
                </a:solidFill>
                <a:latin typeface="Arial"/>
                <a:cs typeface="Arial"/>
              </a:rPr>
              <a:t>the</a:t>
            </a:r>
            <a:r>
              <a:rPr dirty="0" sz="1200" spc="10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0D0D0D"/>
                </a:solidFill>
                <a:latin typeface="Arial"/>
                <a:cs typeface="Arial"/>
              </a:rPr>
              <a:t>Nigerian</a:t>
            </a:r>
            <a:r>
              <a:rPr dirty="0" sz="1200" spc="-10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0D0D0D"/>
                </a:solidFill>
                <a:latin typeface="Arial"/>
                <a:cs typeface="Arial"/>
              </a:rPr>
              <a:t>Economy</a:t>
            </a:r>
            <a:r>
              <a:rPr dirty="0" sz="1200" spc="-15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0D0D0D"/>
                </a:solidFill>
                <a:latin typeface="Arial"/>
                <a:cs typeface="Arial"/>
              </a:rPr>
              <a:t>(USD’</a:t>
            </a:r>
            <a:r>
              <a:rPr dirty="0" sz="1200" spc="-75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0D0D0D"/>
                </a:solidFill>
                <a:latin typeface="Arial"/>
                <a:cs typeface="Arial"/>
              </a:rPr>
              <a:t>billion)</a:t>
            </a:r>
            <a:endParaRPr sz="1200">
              <a:latin typeface="Arial"/>
              <a:cs typeface="Arial"/>
            </a:endParaRPr>
          </a:p>
        </p:txBody>
      </p:sp>
      <p:sp>
        <p:nvSpPr>
          <p:cNvPr id="37" name="object 3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Impact</a:t>
            </a:r>
            <a:r>
              <a:rPr dirty="0" spc="35"/>
              <a:t> </a:t>
            </a:r>
            <a:r>
              <a:rPr dirty="0"/>
              <a:t>of</a:t>
            </a:r>
            <a:r>
              <a:rPr dirty="0" spc="50"/>
              <a:t> </a:t>
            </a:r>
            <a:r>
              <a:rPr dirty="0"/>
              <a:t>Global</a:t>
            </a:r>
            <a:r>
              <a:rPr dirty="0" spc="65"/>
              <a:t> </a:t>
            </a:r>
            <a:r>
              <a:rPr dirty="0"/>
              <a:t>Economic</a:t>
            </a:r>
            <a:r>
              <a:rPr dirty="0" spc="30"/>
              <a:t> </a:t>
            </a:r>
            <a:r>
              <a:rPr dirty="0"/>
              <a:t>Trends</a:t>
            </a:r>
            <a:r>
              <a:rPr dirty="0" spc="45"/>
              <a:t> </a:t>
            </a:r>
            <a:r>
              <a:rPr dirty="0"/>
              <a:t>on</a:t>
            </a:r>
            <a:r>
              <a:rPr dirty="0" spc="40"/>
              <a:t> </a:t>
            </a:r>
            <a:r>
              <a:rPr dirty="0"/>
              <a:t>Nigeria’s</a:t>
            </a:r>
            <a:r>
              <a:rPr dirty="0" spc="60"/>
              <a:t> </a:t>
            </a:r>
            <a:r>
              <a:rPr dirty="0"/>
              <a:t>Foreign</a:t>
            </a:r>
            <a:r>
              <a:rPr dirty="0" spc="45"/>
              <a:t> </a:t>
            </a:r>
            <a:r>
              <a:rPr dirty="0"/>
              <a:t>Exchange</a:t>
            </a:r>
            <a:r>
              <a:rPr dirty="0" spc="60"/>
              <a:t> </a:t>
            </a:r>
            <a:r>
              <a:rPr dirty="0" spc="-10"/>
              <a:t>Market</a:t>
            </a:r>
          </a:p>
        </p:txBody>
      </p:sp>
      <p:sp>
        <p:nvSpPr>
          <p:cNvPr id="38" name="object 38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October</a:t>
            </a:r>
            <a:r>
              <a:rPr dirty="0" spc="80"/>
              <a:t> </a:t>
            </a:r>
            <a:r>
              <a:rPr dirty="0" spc="-20"/>
              <a:t>2023</a:t>
            </a:r>
          </a:p>
        </p:txBody>
      </p:sp>
      <p:sp>
        <p:nvSpPr>
          <p:cNvPr id="39" name="object 3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815"/>
              </a:lnSpc>
            </a:pPr>
            <a:fld id="{81D60167-4931-47E6-BA6A-407CBD079E47}" type="slidenum">
              <a:rPr dirty="0" spc="-25"/>
              <a:t>26</a:t>
            </a:fld>
          </a:p>
        </p:txBody>
      </p:sp>
      <p:sp>
        <p:nvSpPr>
          <p:cNvPr id="36" name="object 3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49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Total</a:t>
            </a:r>
            <a:r>
              <a:rPr dirty="0" spc="-35"/>
              <a:t> </a:t>
            </a:r>
            <a:r>
              <a:rPr dirty="0"/>
              <a:t>net</a:t>
            </a:r>
            <a:r>
              <a:rPr dirty="0" spc="-55"/>
              <a:t> </a:t>
            </a:r>
            <a:r>
              <a:rPr dirty="0"/>
              <a:t>flows</a:t>
            </a:r>
            <a:r>
              <a:rPr dirty="0" spc="-40"/>
              <a:t> </a:t>
            </a:r>
            <a:r>
              <a:rPr dirty="0"/>
              <a:t>through</a:t>
            </a:r>
            <a:r>
              <a:rPr dirty="0" spc="-35"/>
              <a:t> </a:t>
            </a:r>
            <a:r>
              <a:rPr dirty="0"/>
              <a:t>the</a:t>
            </a:r>
            <a:r>
              <a:rPr dirty="0" spc="-45"/>
              <a:t> </a:t>
            </a:r>
            <a:r>
              <a:rPr dirty="0"/>
              <a:t>CBN</a:t>
            </a:r>
            <a:r>
              <a:rPr dirty="0" spc="-50"/>
              <a:t> </a:t>
            </a:r>
            <a:r>
              <a:rPr dirty="0"/>
              <a:t>and</a:t>
            </a:r>
            <a:r>
              <a:rPr dirty="0" spc="-25"/>
              <a:t> </a:t>
            </a:r>
            <a:r>
              <a:rPr dirty="0"/>
              <a:t>autonomous</a:t>
            </a:r>
            <a:r>
              <a:rPr dirty="0" spc="-50"/>
              <a:t> </a:t>
            </a:r>
            <a:r>
              <a:rPr dirty="0"/>
              <a:t>sources</a:t>
            </a:r>
            <a:r>
              <a:rPr dirty="0" spc="-35"/>
              <a:t> </a:t>
            </a:r>
            <a:r>
              <a:rPr dirty="0"/>
              <a:t>has</a:t>
            </a:r>
            <a:r>
              <a:rPr dirty="0" spc="-30"/>
              <a:t> </a:t>
            </a:r>
            <a:r>
              <a:rPr dirty="0"/>
              <a:t>been</a:t>
            </a:r>
            <a:r>
              <a:rPr dirty="0" spc="-20"/>
              <a:t> </a:t>
            </a:r>
            <a:r>
              <a:rPr dirty="0" spc="-10"/>
              <a:t>declining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283463" y="4137659"/>
            <a:ext cx="9622790" cy="1056640"/>
          </a:xfrm>
          <a:custGeom>
            <a:avLst/>
            <a:gdLst/>
            <a:ahLst/>
            <a:cxnLst/>
            <a:rect l="l" t="t" r="r" b="b"/>
            <a:pathLst>
              <a:path w="9622790" h="1056639">
                <a:moveTo>
                  <a:pt x="0" y="1056132"/>
                </a:moveTo>
                <a:lnTo>
                  <a:pt x="9622409" y="1056132"/>
                </a:lnTo>
                <a:lnTo>
                  <a:pt x="9622409" y="0"/>
                </a:lnTo>
                <a:lnTo>
                  <a:pt x="0" y="0"/>
                </a:lnTo>
                <a:lnTo>
                  <a:pt x="0" y="1056132"/>
                </a:lnTo>
                <a:close/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283463" y="4148289"/>
            <a:ext cx="9622790" cy="248285"/>
          </a:xfrm>
          <a:prstGeom prst="rect">
            <a:avLst/>
          </a:prstGeom>
          <a:solidFill>
            <a:srgbClr val="5F5F5F"/>
          </a:solidFill>
        </p:spPr>
        <p:txBody>
          <a:bodyPr wrap="square" lIns="0" tIns="29209" rIns="0" bIns="0" rtlCol="0" vert="horz">
            <a:spAutoFit/>
          </a:bodyPr>
          <a:lstStyle/>
          <a:p>
            <a:pPr marL="55244">
              <a:lnSpc>
                <a:spcPct val="100000"/>
              </a:lnSpc>
              <a:spcBef>
                <a:spcPts val="229"/>
              </a:spcBef>
            </a:pP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Insights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88226" y="4474870"/>
            <a:ext cx="9613265" cy="635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29870" indent="-172085">
              <a:lnSpc>
                <a:spcPct val="100000"/>
              </a:lnSpc>
              <a:spcBef>
                <a:spcPts val="95"/>
              </a:spcBef>
              <a:buChar char="•"/>
              <a:tabLst>
                <a:tab pos="229870" algn="l"/>
              </a:tabLst>
            </a:pP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More</a:t>
            </a:r>
            <a:r>
              <a:rPr dirty="0" sz="1000" spc="-2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0D0D0D"/>
                </a:solidFill>
                <a:latin typeface="Arial MT"/>
                <a:cs typeface="Arial MT"/>
              </a:rPr>
              <a:t>exchange-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rate</a:t>
            </a:r>
            <a:r>
              <a:rPr dirty="0" sz="1000" spc="-3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0D0D0D"/>
                </a:solidFill>
                <a:latin typeface="Arial MT"/>
                <a:cs typeface="Arial MT"/>
              </a:rPr>
              <a:t>flexibility</a:t>
            </a:r>
            <a:r>
              <a:rPr dirty="0" sz="1000" spc="-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is</a:t>
            </a:r>
            <a:r>
              <a:rPr dirty="0" sz="1000" spc="-1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0D0D0D"/>
                </a:solidFill>
                <a:latin typeface="Arial MT"/>
                <a:cs typeface="Arial MT"/>
              </a:rPr>
              <a:t>associated</a:t>
            </a:r>
            <a:r>
              <a:rPr dirty="0" sz="1000" spc="-3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with greater</a:t>
            </a:r>
            <a:r>
              <a:rPr dirty="0" sz="1000" spc="-3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0D0D0D"/>
                </a:solidFill>
                <a:latin typeface="Arial MT"/>
                <a:cs typeface="Arial MT"/>
              </a:rPr>
              <a:t>monetary-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policy</a:t>
            </a:r>
            <a:r>
              <a:rPr dirty="0" sz="1000" spc="1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autonomy,</a:t>
            </a:r>
            <a:r>
              <a:rPr dirty="0" sz="1000" spc="-2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so</a:t>
            </a:r>
            <a:r>
              <a:rPr dirty="0" sz="1000" spc="-2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there</a:t>
            </a:r>
            <a:r>
              <a:rPr dirty="0" sz="1000" spc="-3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is</a:t>
            </a:r>
            <a:r>
              <a:rPr dirty="0" sz="1000" spc="-1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some</a:t>
            </a:r>
            <a:r>
              <a:rPr dirty="0" sz="1000" spc="-4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rounding</a:t>
            </a:r>
            <a:r>
              <a:rPr dirty="0" sz="1000" spc="-2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of</a:t>
            </a:r>
            <a:r>
              <a:rPr dirty="0" sz="1000" spc="-2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that</a:t>
            </a:r>
            <a:r>
              <a:rPr dirty="0" sz="1000" spc="-3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corner</a:t>
            </a:r>
            <a:r>
              <a:rPr dirty="0" sz="1000" spc="-1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of</a:t>
            </a:r>
            <a:r>
              <a:rPr dirty="0" sz="1000" spc="-1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the</a:t>
            </a:r>
            <a:r>
              <a:rPr dirty="0" sz="1000" spc="-2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policy</a:t>
            </a:r>
            <a:r>
              <a:rPr dirty="0" sz="1000" spc="-1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trilemma;</a:t>
            </a:r>
            <a:r>
              <a:rPr dirty="0" sz="1000" spc="-3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but</a:t>
            </a:r>
            <a:r>
              <a:rPr dirty="0" sz="1000" spc="-3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0D0D0D"/>
                </a:solidFill>
                <a:latin typeface="Arial MT"/>
                <a:cs typeface="Arial MT"/>
              </a:rPr>
              <a:t>temporary,</a:t>
            </a:r>
            <a:endParaRPr sz="1000">
              <a:latin typeface="Arial MT"/>
              <a:cs typeface="Arial MT"/>
            </a:endParaRPr>
          </a:p>
          <a:p>
            <a:pPr marL="229870">
              <a:lnSpc>
                <a:spcPct val="100000"/>
              </a:lnSpc>
              <a:spcBef>
                <a:spcPts val="5"/>
              </a:spcBef>
            </a:pP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narrowly targeted</a:t>
            </a:r>
            <a:r>
              <a:rPr dirty="0" sz="1000" spc="-2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capital</a:t>
            </a:r>
            <a:r>
              <a:rPr dirty="0" sz="1000" spc="-2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controls</a:t>
            </a:r>
            <a:r>
              <a:rPr dirty="0" sz="1000" spc="-1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do</a:t>
            </a:r>
            <a:r>
              <a:rPr dirty="0" sz="1000" spc="-3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not</a:t>
            </a:r>
            <a:r>
              <a:rPr dirty="0" sz="1000" spc="-1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enable</a:t>
            </a:r>
            <a:r>
              <a:rPr dirty="0" sz="1000" spc="-2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a</a:t>
            </a:r>
            <a:r>
              <a:rPr dirty="0" sz="1000" spc="-3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country</a:t>
            </a:r>
            <a:r>
              <a:rPr dirty="0" sz="1000" spc="-2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with a</a:t>
            </a:r>
            <a:r>
              <a:rPr dirty="0" sz="1000" spc="-1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fixed</a:t>
            </a:r>
            <a:r>
              <a:rPr dirty="0" sz="1000" spc="-3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exchange</a:t>
            </a:r>
            <a:r>
              <a:rPr dirty="0" sz="1000" spc="-4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rate</a:t>
            </a:r>
            <a:r>
              <a:rPr dirty="0" sz="1000" spc="-3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to</a:t>
            </a:r>
            <a:r>
              <a:rPr dirty="0" sz="1000" spc="-2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have</a:t>
            </a:r>
            <a:r>
              <a:rPr dirty="0" sz="1000" spc="-2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greater</a:t>
            </a:r>
            <a:r>
              <a:rPr dirty="0" sz="1000" spc="-1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0D0D0D"/>
                </a:solidFill>
                <a:latin typeface="Arial MT"/>
                <a:cs typeface="Arial MT"/>
              </a:rPr>
              <a:t>monetary-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policy autonomy</a:t>
            </a:r>
            <a:r>
              <a:rPr dirty="0" sz="1000" spc="-4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than</a:t>
            </a:r>
            <a:r>
              <a:rPr dirty="0" sz="1000" spc="-2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it</a:t>
            </a:r>
            <a:r>
              <a:rPr dirty="0" sz="1000" spc="-2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has</a:t>
            </a:r>
            <a:r>
              <a:rPr dirty="0" sz="1000" spc="-1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under</a:t>
            </a:r>
            <a:r>
              <a:rPr dirty="0" sz="1000" spc="-3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full</a:t>
            </a:r>
            <a:r>
              <a:rPr dirty="0" sz="1000" spc="-2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capital</a:t>
            </a:r>
            <a:r>
              <a:rPr dirty="0" sz="1000" spc="-1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0D0D0D"/>
                </a:solidFill>
                <a:latin typeface="Arial MT"/>
                <a:cs typeface="Arial MT"/>
              </a:rPr>
              <a:t>mobility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>
              <a:latin typeface="Arial MT"/>
              <a:cs typeface="Arial MT"/>
            </a:endParaRPr>
          </a:p>
          <a:p>
            <a:pPr marL="229870" indent="-172085">
              <a:lnSpc>
                <a:spcPct val="100000"/>
              </a:lnSpc>
              <a:buChar char="•"/>
              <a:tabLst>
                <a:tab pos="229870" algn="l"/>
              </a:tabLst>
            </a:pP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Widely</a:t>
            </a:r>
            <a:r>
              <a:rPr dirty="0" sz="1000" spc="-5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applied,</a:t>
            </a:r>
            <a:r>
              <a:rPr dirty="0" sz="1000" spc="-25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 b="1">
                <a:solidFill>
                  <a:srgbClr val="0D0D0D"/>
                </a:solidFill>
                <a:latin typeface="Arial"/>
                <a:cs typeface="Arial"/>
              </a:rPr>
              <a:t>longstanding</a:t>
            </a:r>
            <a:r>
              <a:rPr dirty="0" sz="1000" spc="-20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D0D0D"/>
                </a:solidFill>
                <a:latin typeface="Arial"/>
                <a:cs typeface="Arial"/>
              </a:rPr>
              <a:t>capital</a:t>
            </a:r>
            <a:r>
              <a:rPr dirty="0" sz="1000" spc="-30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D0D0D"/>
                </a:solidFill>
                <a:latin typeface="Arial"/>
                <a:cs typeface="Arial"/>
              </a:rPr>
              <a:t>controls</a:t>
            </a:r>
            <a:r>
              <a:rPr dirty="0" sz="1000" spc="-25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D0D0D"/>
                </a:solidFill>
                <a:latin typeface="Arial"/>
                <a:cs typeface="Arial"/>
              </a:rPr>
              <a:t>break</a:t>
            </a:r>
            <a:r>
              <a:rPr dirty="0" sz="1000" spc="-40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D0D0D"/>
                </a:solidFill>
                <a:latin typeface="Arial"/>
                <a:cs typeface="Arial"/>
              </a:rPr>
              <a:t>the</a:t>
            </a:r>
            <a:r>
              <a:rPr dirty="0" sz="1000" spc="-25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D0D0D"/>
                </a:solidFill>
                <a:latin typeface="Arial"/>
                <a:cs typeface="Arial"/>
              </a:rPr>
              <a:t>link</a:t>
            </a:r>
            <a:r>
              <a:rPr dirty="0" sz="1000" spc="-30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D0D0D"/>
                </a:solidFill>
                <a:latin typeface="Arial"/>
                <a:cs typeface="Arial"/>
              </a:rPr>
              <a:t>between</a:t>
            </a:r>
            <a:r>
              <a:rPr dirty="0" sz="1000" spc="-45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D0D0D"/>
                </a:solidFill>
                <a:latin typeface="Arial"/>
                <a:cs typeface="Arial"/>
              </a:rPr>
              <a:t>domestic</a:t>
            </a:r>
            <a:r>
              <a:rPr dirty="0" sz="1000" spc="-25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D0D0D"/>
                </a:solidFill>
                <a:latin typeface="Arial"/>
                <a:cs typeface="Arial"/>
              </a:rPr>
              <a:t>and</a:t>
            </a:r>
            <a:r>
              <a:rPr dirty="0" sz="1000" spc="-20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D0D0D"/>
                </a:solidFill>
                <a:latin typeface="Arial"/>
                <a:cs typeface="Arial"/>
              </a:rPr>
              <a:t>foreign</a:t>
            </a:r>
            <a:r>
              <a:rPr dirty="0" sz="1000" spc="-25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D0D0D"/>
                </a:solidFill>
                <a:latin typeface="Arial"/>
                <a:cs typeface="Arial"/>
              </a:rPr>
              <a:t>interest</a:t>
            </a:r>
            <a:r>
              <a:rPr dirty="0" sz="1000" spc="-20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D0D0D"/>
                </a:solidFill>
                <a:latin typeface="Arial"/>
                <a:cs typeface="Arial"/>
              </a:rPr>
              <a:t>rates</a:t>
            </a:r>
            <a:r>
              <a:rPr dirty="0" sz="1000" spc="-30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D0D0D"/>
                </a:solidFill>
                <a:latin typeface="Arial"/>
                <a:cs typeface="Arial"/>
              </a:rPr>
              <a:t>under</a:t>
            </a:r>
            <a:r>
              <a:rPr dirty="0" sz="1000" spc="-30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D0D0D"/>
                </a:solidFill>
                <a:latin typeface="Arial"/>
                <a:cs typeface="Arial"/>
              </a:rPr>
              <a:t>a</a:t>
            </a:r>
            <a:r>
              <a:rPr dirty="0" sz="1000" spc="-40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D0D0D"/>
                </a:solidFill>
                <a:latin typeface="Arial"/>
                <a:cs typeface="Arial"/>
              </a:rPr>
              <a:t>fixed</a:t>
            </a:r>
            <a:r>
              <a:rPr dirty="0" sz="1000" spc="-20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D0D0D"/>
                </a:solidFill>
                <a:latin typeface="Arial"/>
                <a:cs typeface="Arial"/>
              </a:rPr>
              <a:t>exchange-rate</a:t>
            </a:r>
            <a:r>
              <a:rPr dirty="0" sz="1000" spc="-30" b="1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0D0D0D"/>
                </a:solidFill>
                <a:latin typeface="Arial"/>
                <a:cs typeface="Arial"/>
              </a:rPr>
              <a:t>system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13587" y="3944873"/>
            <a:ext cx="13303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i="1">
                <a:latin typeface="Arial"/>
                <a:cs typeface="Arial"/>
              </a:rPr>
              <a:t>Source:</a:t>
            </a:r>
            <a:r>
              <a:rPr dirty="0" sz="700" spc="-10" i="1">
                <a:latin typeface="Arial"/>
                <a:cs typeface="Arial"/>
              </a:rPr>
              <a:t> </a:t>
            </a:r>
            <a:r>
              <a:rPr dirty="0" sz="700" i="1">
                <a:latin typeface="Arial"/>
                <a:cs typeface="Arial"/>
              </a:rPr>
              <a:t>The</a:t>
            </a:r>
            <a:r>
              <a:rPr dirty="0" sz="700" spc="-30" i="1">
                <a:latin typeface="Arial"/>
                <a:cs typeface="Arial"/>
              </a:rPr>
              <a:t> </a:t>
            </a:r>
            <a:r>
              <a:rPr dirty="0" sz="700" i="1">
                <a:latin typeface="Arial"/>
                <a:cs typeface="Arial"/>
              </a:rPr>
              <a:t>Brookings</a:t>
            </a:r>
            <a:r>
              <a:rPr dirty="0" sz="700" spc="-20" i="1">
                <a:latin typeface="Arial"/>
                <a:cs typeface="Arial"/>
              </a:rPr>
              <a:t> </a:t>
            </a:r>
            <a:r>
              <a:rPr dirty="0" sz="700" spc="-10" i="1">
                <a:latin typeface="Arial"/>
                <a:cs typeface="Arial"/>
              </a:rPr>
              <a:t>Institution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3564635" y="713231"/>
            <a:ext cx="2672715" cy="2549525"/>
            <a:chOff x="3564635" y="713231"/>
            <a:chExt cx="2672715" cy="2549525"/>
          </a:xfrm>
        </p:grpSpPr>
        <p:sp>
          <p:nvSpPr>
            <p:cNvPr id="7" name="object 7" descr=""/>
            <p:cNvSpPr/>
            <p:nvPr/>
          </p:nvSpPr>
          <p:spPr>
            <a:xfrm>
              <a:off x="3564635" y="1554479"/>
              <a:ext cx="1337945" cy="1694814"/>
            </a:xfrm>
            <a:custGeom>
              <a:avLst/>
              <a:gdLst/>
              <a:ahLst/>
              <a:cxnLst/>
              <a:rect l="l" t="t" r="r" b="b"/>
              <a:pathLst>
                <a:path w="1337945" h="1694814">
                  <a:moveTo>
                    <a:pt x="846201" y="0"/>
                  </a:moveTo>
                  <a:lnTo>
                    <a:pt x="796620" y="1428"/>
                  </a:lnTo>
                  <a:lnTo>
                    <a:pt x="747762" y="5663"/>
                  </a:lnTo>
                  <a:lnTo>
                    <a:pt x="699716" y="12631"/>
                  </a:lnTo>
                  <a:lnTo>
                    <a:pt x="652573" y="22256"/>
                  </a:lnTo>
                  <a:lnTo>
                    <a:pt x="606425" y="34466"/>
                  </a:lnTo>
                  <a:lnTo>
                    <a:pt x="561361" y="49184"/>
                  </a:lnTo>
                  <a:lnTo>
                    <a:pt x="517474" y="66338"/>
                  </a:lnTo>
                  <a:lnTo>
                    <a:pt x="474852" y="85852"/>
                  </a:lnTo>
                  <a:lnTo>
                    <a:pt x="433345" y="107570"/>
                  </a:lnTo>
                  <a:lnTo>
                    <a:pt x="393230" y="131488"/>
                  </a:lnTo>
                  <a:lnTo>
                    <a:pt x="354587" y="157525"/>
                  </a:lnTo>
                  <a:lnTo>
                    <a:pt x="317495" y="185601"/>
                  </a:lnTo>
                  <a:lnTo>
                    <a:pt x="282035" y="215638"/>
                  </a:lnTo>
                  <a:lnTo>
                    <a:pt x="248285" y="247554"/>
                  </a:lnTo>
                  <a:lnTo>
                    <a:pt x="216325" y="281271"/>
                  </a:lnTo>
                  <a:lnTo>
                    <a:pt x="186235" y="316709"/>
                  </a:lnTo>
                  <a:lnTo>
                    <a:pt x="158095" y="353788"/>
                  </a:lnTo>
                  <a:lnTo>
                    <a:pt x="131984" y="392429"/>
                  </a:lnTo>
                  <a:lnTo>
                    <a:pt x="107982" y="432553"/>
                  </a:lnTo>
                  <a:lnTo>
                    <a:pt x="86168" y="474078"/>
                  </a:lnTo>
                  <a:lnTo>
                    <a:pt x="66623" y="516927"/>
                  </a:lnTo>
                  <a:lnTo>
                    <a:pt x="49425" y="561018"/>
                  </a:lnTo>
                  <a:lnTo>
                    <a:pt x="34655" y="606274"/>
                  </a:lnTo>
                  <a:lnTo>
                    <a:pt x="22391" y="652613"/>
                  </a:lnTo>
                  <a:lnTo>
                    <a:pt x="12714" y="699956"/>
                  </a:lnTo>
                  <a:lnTo>
                    <a:pt x="5704" y="748225"/>
                  </a:lnTo>
                  <a:lnTo>
                    <a:pt x="1439" y="797338"/>
                  </a:lnTo>
                  <a:lnTo>
                    <a:pt x="0" y="847217"/>
                  </a:lnTo>
                  <a:lnTo>
                    <a:pt x="1338" y="895276"/>
                  </a:lnTo>
                  <a:lnTo>
                    <a:pt x="5306" y="942634"/>
                  </a:lnTo>
                  <a:lnTo>
                    <a:pt x="11833" y="989218"/>
                  </a:lnTo>
                  <a:lnTo>
                    <a:pt x="20847" y="1034956"/>
                  </a:lnTo>
                  <a:lnTo>
                    <a:pt x="32278" y="1079778"/>
                  </a:lnTo>
                  <a:lnTo>
                    <a:pt x="46053" y="1123610"/>
                  </a:lnTo>
                  <a:lnTo>
                    <a:pt x="62101" y="1166383"/>
                  </a:lnTo>
                  <a:lnTo>
                    <a:pt x="80352" y="1208025"/>
                  </a:lnTo>
                  <a:lnTo>
                    <a:pt x="100734" y="1248463"/>
                  </a:lnTo>
                  <a:lnTo>
                    <a:pt x="123176" y="1287626"/>
                  </a:lnTo>
                  <a:lnTo>
                    <a:pt x="147606" y="1325442"/>
                  </a:lnTo>
                  <a:lnTo>
                    <a:pt x="173954" y="1361841"/>
                  </a:lnTo>
                  <a:lnTo>
                    <a:pt x="202148" y="1396750"/>
                  </a:lnTo>
                  <a:lnTo>
                    <a:pt x="232117" y="1430098"/>
                  </a:lnTo>
                  <a:lnTo>
                    <a:pt x="263790" y="1461813"/>
                  </a:lnTo>
                  <a:lnTo>
                    <a:pt x="297095" y="1491824"/>
                  </a:lnTo>
                  <a:lnTo>
                    <a:pt x="331961" y="1520059"/>
                  </a:lnTo>
                  <a:lnTo>
                    <a:pt x="368317" y="1546447"/>
                  </a:lnTo>
                  <a:lnTo>
                    <a:pt x="406092" y="1570916"/>
                  </a:lnTo>
                  <a:lnTo>
                    <a:pt x="445214" y="1593394"/>
                  </a:lnTo>
                  <a:lnTo>
                    <a:pt x="485613" y="1613809"/>
                  </a:lnTo>
                  <a:lnTo>
                    <a:pt x="527217" y="1632091"/>
                  </a:lnTo>
                  <a:lnTo>
                    <a:pt x="569955" y="1648168"/>
                  </a:lnTo>
                  <a:lnTo>
                    <a:pt x="613755" y="1661968"/>
                  </a:lnTo>
                  <a:lnTo>
                    <a:pt x="658546" y="1673419"/>
                  </a:lnTo>
                  <a:lnTo>
                    <a:pt x="704258" y="1682450"/>
                  </a:lnTo>
                  <a:lnTo>
                    <a:pt x="750818" y="1688989"/>
                  </a:lnTo>
                  <a:lnTo>
                    <a:pt x="798156" y="1692965"/>
                  </a:lnTo>
                  <a:lnTo>
                    <a:pt x="846201" y="1694307"/>
                  </a:lnTo>
                  <a:lnTo>
                    <a:pt x="900757" y="1692575"/>
                  </a:lnTo>
                  <a:lnTo>
                    <a:pt x="954398" y="1687453"/>
                  </a:lnTo>
                  <a:lnTo>
                    <a:pt x="1007017" y="1679044"/>
                  </a:lnTo>
                  <a:lnTo>
                    <a:pt x="1058506" y="1667456"/>
                  </a:lnTo>
                  <a:lnTo>
                    <a:pt x="1108757" y="1652793"/>
                  </a:lnTo>
                  <a:lnTo>
                    <a:pt x="1157663" y="1635163"/>
                  </a:lnTo>
                  <a:lnTo>
                    <a:pt x="1205117" y="1614671"/>
                  </a:lnTo>
                  <a:lnTo>
                    <a:pt x="1251011" y="1591422"/>
                  </a:lnTo>
                  <a:lnTo>
                    <a:pt x="1295238" y="1565524"/>
                  </a:lnTo>
                  <a:lnTo>
                    <a:pt x="1337690" y="1537081"/>
                  </a:lnTo>
                  <a:lnTo>
                    <a:pt x="1298292" y="1507091"/>
                  </a:lnTo>
                  <a:lnTo>
                    <a:pt x="1260743" y="1474908"/>
                  </a:lnTo>
                  <a:lnTo>
                    <a:pt x="1225138" y="1440626"/>
                  </a:lnTo>
                  <a:lnTo>
                    <a:pt x="1191573" y="1404340"/>
                  </a:lnTo>
                  <a:lnTo>
                    <a:pt x="1160144" y="1366145"/>
                  </a:lnTo>
                  <a:lnTo>
                    <a:pt x="1130946" y="1326137"/>
                  </a:lnTo>
                  <a:lnTo>
                    <a:pt x="1104075" y="1284410"/>
                  </a:lnTo>
                  <a:lnTo>
                    <a:pt x="1079627" y="1241059"/>
                  </a:lnTo>
                  <a:lnTo>
                    <a:pt x="1057696" y="1196180"/>
                  </a:lnTo>
                  <a:lnTo>
                    <a:pt x="1038380" y="1149868"/>
                  </a:lnTo>
                  <a:lnTo>
                    <a:pt x="1021773" y="1102218"/>
                  </a:lnTo>
                  <a:lnTo>
                    <a:pt x="1007971" y="1053324"/>
                  </a:lnTo>
                  <a:lnTo>
                    <a:pt x="997069" y="1003281"/>
                  </a:lnTo>
                  <a:lnTo>
                    <a:pt x="989164" y="952186"/>
                  </a:lnTo>
                  <a:lnTo>
                    <a:pt x="984351" y="900133"/>
                  </a:lnTo>
                  <a:lnTo>
                    <a:pt x="982726" y="847217"/>
                  </a:lnTo>
                  <a:lnTo>
                    <a:pt x="982896" y="829512"/>
                  </a:lnTo>
                  <a:lnTo>
                    <a:pt x="985647" y="777113"/>
                  </a:lnTo>
                  <a:lnTo>
                    <a:pt x="991331" y="726449"/>
                  </a:lnTo>
                  <a:lnTo>
                    <a:pt x="999944" y="676729"/>
                  </a:lnTo>
                  <a:lnTo>
                    <a:pt x="1011396" y="628042"/>
                  </a:lnTo>
                  <a:lnTo>
                    <a:pt x="1025597" y="580477"/>
                  </a:lnTo>
                  <a:lnTo>
                    <a:pt x="1042458" y="534124"/>
                  </a:lnTo>
                  <a:lnTo>
                    <a:pt x="1061889" y="489072"/>
                  </a:lnTo>
                  <a:lnTo>
                    <a:pt x="1083802" y="445412"/>
                  </a:lnTo>
                  <a:lnTo>
                    <a:pt x="1108106" y="403233"/>
                  </a:lnTo>
                  <a:lnTo>
                    <a:pt x="1134712" y="362624"/>
                  </a:lnTo>
                  <a:lnTo>
                    <a:pt x="1163531" y="323675"/>
                  </a:lnTo>
                  <a:lnTo>
                    <a:pt x="1194474" y="286477"/>
                  </a:lnTo>
                  <a:lnTo>
                    <a:pt x="1227450" y="251117"/>
                  </a:lnTo>
                  <a:lnTo>
                    <a:pt x="1262372" y="217687"/>
                  </a:lnTo>
                  <a:lnTo>
                    <a:pt x="1299148" y="186275"/>
                  </a:lnTo>
                  <a:lnTo>
                    <a:pt x="1337690" y="156972"/>
                  </a:lnTo>
                  <a:lnTo>
                    <a:pt x="1295238" y="128597"/>
                  </a:lnTo>
                  <a:lnTo>
                    <a:pt x="1251011" y="102754"/>
                  </a:lnTo>
                  <a:lnTo>
                    <a:pt x="1205117" y="79548"/>
                  </a:lnTo>
                  <a:lnTo>
                    <a:pt x="1157663" y="59088"/>
                  </a:lnTo>
                  <a:lnTo>
                    <a:pt x="1108757" y="41481"/>
                  </a:lnTo>
                  <a:lnTo>
                    <a:pt x="1058506" y="26834"/>
                  </a:lnTo>
                  <a:lnTo>
                    <a:pt x="1007017" y="15255"/>
                  </a:lnTo>
                  <a:lnTo>
                    <a:pt x="954398" y="6851"/>
                  </a:lnTo>
                  <a:lnTo>
                    <a:pt x="900757" y="1730"/>
                  </a:lnTo>
                  <a:lnTo>
                    <a:pt x="846201" y="0"/>
                  </a:lnTo>
                  <a:close/>
                </a:path>
              </a:pathLst>
            </a:custGeom>
            <a:solidFill>
              <a:srgbClr val="D9395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4037075" y="713231"/>
              <a:ext cx="1694814" cy="1609090"/>
            </a:xfrm>
            <a:custGeom>
              <a:avLst/>
              <a:gdLst/>
              <a:ahLst/>
              <a:cxnLst/>
              <a:rect l="l" t="t" r="r" b="b"/>
              <a:pathLst>
                <a:path w="1694814" h="1609089">
                  <a:moveTo>
                    <a:pt x="1694282" y="850264"/>
                  </a:moveTo>
                  <a:lnTo>
                    <a:pt x="376427" y="850264"/>
                  </a:lnTo>
                  <a:lnTo>
                    <a:pt x="431026" y="851995"/>
                  </a:lnTo>
                  <a:lnTo>
                    <a:pt x="484715" y="857115"/>
                  </a:lnTo>
                  <a:lnTo>
                    <a:pt x="537386" y="865517"/>
                  </a:lnTo>
                  <a:lnTo>
                    <a:pt x="588930" y="877091"/>
                  </a:lnTo>
                  <a:lnTo>
                    <a:pt x="639238" y="891730"/>
                  </a:lnTo>
                  <a:lnTo>
                    <a:pt x="688201" y="909326"/>
                  </a:lnTo>
                  <a:lnTo>
                    <a:pt x="735711" y="929770"/>
                  </a:lnTo>
                  <a:lnTo>
                    <a:pt x="781657" y="952954"/>
                  </a:lnTo>
                  <a:lnTo>
                    <a:pt x="825932" y="978770"/>
                  </a:lnTo>
                  <a:lnTo>
                    <a:pt x="868426" y="1007109"/>
                  </a:lnTo>
                  <a:lnTo>
                    <a:pt x="906092" y="1035722"/>
                  </a:lnTo>
                  <a:lnTo>
                    <a:pt x="942074" y="1066334"/>
                  </a:lnTo>
                  <a:lnTo>
                    <a:pt x="976288" y="1098865"/>
                  </a:lnTo>
                  <a:lnTo>
                    <a:pt x="1008653" y="1133233"/>
                  </a:lnTo>
                  <a:lnTo>
                    <a:pt x="1039085" y="1169354"/>
                  </a:lnTo>
                  <a:lnTo>
                    <a:pt x="1067503" y="1207148"/>
                  </a:lnTo>
                  <a:lnTo>
                    <a:pt x="1093822" y="1246531"/>
                  </a:lnTo>
                  <a:lnTo>
                    <a:pt x="1117961" y="1287421"/>
                  </a:lnTo>
                  <a:lnTo>
                    <a:pt x="1139838" y="1329737"/>
                  </a:lnTo>
                  <a:lnTo>
                    <a:pt x="1159368" y="1373396"/>
                  </a:lnTo>
                  <a:lnTo>
                    <a:pt x="1176471" y="1418316"/>
                  </a:lnTo>
                  <a:lnTo>
                    <a:pt x="1191062" y="1464415"/>
                  </a:lnTo>
                  <a:lnTo>
                    <a:pt x="1203060" y="1511611"/>
                  </a:lnTo>
                  <a:lnTo>
                    <a:pt x="1212382" y="1559820"/>
                  </a:lnTo>
                  <a:lnTo>
                    <a:pt x="1218946" y="1608963"/>
                  </a:lnTo>
                  <a:lnTo>
                    <a:pt x="1261871" y="1586370"/>
                  </a:lnTo>
                  <a:lnTo>
                    <a:pt x="1303299" y="1561449"/>
                  </a:lnTo>
                  <a:lnTo>
                    <a:pt x="1343143" y="1534288"/>
                  </a:lnTo>
                  <a:lnTo>
                    <a:pt x="1381315" y="1504973"/>
                  </a:lnTo>
                  <a:lnTo>
                    <a:pt x="1417730" y="1473591"/>
                  </a:lnTo>
                  <a:lnTo>
                    <a:pt x="1452301" y="1440231"/>
                  </a:lnTo>
                  <a:lnTo>
                    <a:pt x="1484941" y="1404979"/>
                  </a:lnTo>
                  <a:lnTo>
                    <a:pt x="1515563" y="1367923"/>
                  </a:lnTo>
                  <a:lnTo>
                    <a:pt x="1544081" y="1329150"/>
                  </a:lnTo>
                  <a:lnTo>
                    <a:pt x="1570409" y="1288747"/>
                  </a:lnTo>
                  <a:lnTo>
                    <a:pt x="1594459" y="1246801"/>
                  </a:lnTo>
                  <a:lnTo>
                    <a:pt x="1616145" y="1203400"/>
                  </a:lnTo>
                  <a:lnTo>
                    <a:pt x="1635381" y="1158631"/>
                  </a:lnTo>
                  <a:lnTo>
                    <a:pt x="1652079" y="1112581"/>
                  </a:lnTo>
                  <a:lnTo>
                    <a:pt x="1666153" y="1065338"/>
                  </a:lnTo>
                  <a:lnTo>
                    <a:pt x="1677517" y="1016988"/>
                  </a:lnTo>
                  <a:lnTo>
                    <a:pt x="1686084" y="967620"/>
                  </a:lnTo>
                  <a:lnTo>
                    <a:pt x="1691766" y="917320"/>
                  </a:lnTo>
                  <a:lnTo>
                    <a:pt x="1693940" y="872505"/>
                  </a:lnTo>
                  <a:lnTo>
                    <a:pt x="1694012" y="869910"/>
                  </a:lnTo>
                  <a:lnTo>
                    <a:pt x="1694134" y="865517"/>
                  </a:lnTo>
                  <a:lnTo>
                    <a:pt x="1694229" y="855926"/>
                  </a:lnTo>
                  <a:lnTo>
                    <a:pt x="1694282" y="850264"/>
                  </a:lnTo>
                  <a:close/>
                </a:path>
                <a:path w="1694814" h="1609089">
                  <a:moveTo>
                    <a:pt x="847216" y="0"/>
                  </a:moveTo>
                  <a:lnTo>
                    <a:pt x="799144" y="1342"/>
                  </a:lnTo>
                  <a:lnTo>
                    <a:pt x="751775" y="5322"/>
                  </a:lnTo>
                  <a:lnTo>
                    <a:pt x="705180" y="11868"/>
                  </a:lnTo>
                  <a:lnTo>
                    <a:pt x="659431" y="20907"/>
                  </a:lnTo>
                  <a:lnTo>
                    <a:pt x="614600" y="32369"/>
                  </a:lnTo>
                  <a:lnTo>
                    <a:pt x="570759" y="46181"/>
                  </a:lnTo>
                  <a:lnTo>
                    <a:pt x="527978" y="62272"/>
                  </a:lnTo>
                  <a:lnTo>
                    <a:pt x="486330" y="80570"/>
                  </a:lnTo>
                  <a:lnTo>
                    <a:pt x="445885" y="101004"/>
                  </a:lnTo>
                  <a:lnTo>
                    <a:pt x="406716" y="123500"/>
                  </a:lnTo>
                  <a:lnTo>
                    <a:pt x="368894" y="147989"/>
                  </a:lnTo>
                  <a:lnTo>
                    <a:pt x="332491" y="174397"/>
                  </a:lnTo>
                  <a:lnTo>
                    <a:pt x="297577" y="202654"/>
                  </a:lnTo>
                  <a:lnTo>
                    <a:pt x="264225" y="232687"/>
                  </a:lnTo>
                  <a:lnTo>
                    <a:pt x="232507" y="264426"/>
                  </a:lnTo>
                  <a:lnTo>
                    <a:pt x="202493" y="297797"/>
                  </a:lnTo>
                  <a:lnTo>
                    <a:pt x="174256" y="332730"/>
                  </a:lnTo>
                  <a:lnTo>
                    <a:pt x="147866" y="369152"/>
                  </a:lnTo>
                  <a:lnTo>
                    <a:pt x="123396" y="406992"/>
                  </a:lnTo>
                  <a:lnTo>
                    <a:pt x="100916" y="446179"/>
                  </a:lnTo>
                  <a:lnTo>
                    <a:pt x="80499" y="486640"/>
                  </a:lnTo>
                  <a:lnTo>
                    <a:pt x="62216" y="528303"/>
                  </a:lnTo>
                  <a:lnTo>
                    <a:pt x="46139" y="571098"/>
                  </a:lnTo>
                  <a:lnTo>
                    <a:pt x="32339" y="614951"/>
                  </a:lnTo>
                  <a:lnTo>
                    <a:pt x="20888" y="659793"/>
                  </a:lnTo>
                  <a:lnTo>
                    <a:pt x="11856" y="705550"/>
                  </a:lnTo>
                  <a:lnTo>
                    <a:pt x="5317" y="752150"/>
                  </a:lnTo>
                  <a:lnTo>
                    <a:pt x="1341" y="799524"/>
                  </a:lnTo>
                  <a:lnTo>
                    <a:pt x="0" y="847597"/>
                  </a:lnTo>
                  <a:lnTo>
                    <a:pt x="113" y="855926"/>
                  </a:lnTo>
                  <a:lnTo>
                    <a:pt x="208" y="862889"/>
                  </a:lnTo>
                  <a:lnTo>
                    <a:pt x="303" y="869910"/>
                  </a:lnTo>
                  <a:lnTo>
                    <a:pt x="1176" y="891730"/>
                  </a:lnTo>
                  <a:lnTo>
                    <a:pt x="2625" y="914106"/>
                  </a:lnTo>
                  <a:lnTo>
                    <a:pt x="4572" y="935989"/>
                  </a:lnTo>
                  <a:lnTo>
                    <a:pt x="47241" y="916518"/>
                  </a:lnTo>
                  <a:lnTo>
                    <a:pt x="91178" y="899396"/>
                  </a:lnTo>
                  <a:lnTo>
                    <a:pt x="136293" y="884700"/>
                  </a:lnTo>
                  <a:lnTo>
                    <a:pt x="182499" y="872505"/>
                  </a:lnTo>
                  <a:lnTo>
                    <a:pt x="229704" y="862889"/>
                  </a:lnTo>
                  <a:lnTo>
                    <a:pt x="277820" y="855926"/>
                  </a:lnTo>
                  <a:lnTo>
                    <a:pt x="326758" y="851693"/>
                  </a:lnTo>
                  <a:lnTo>
                    <a:pt x="376427" y="850264"/>
                  </a:lnTo>
                  <a:lnTo>
                    <a:pt x="1694282" y="850264"/>
                  </a:lnTo>
                  <a:lnTo>
                    <a:pt x="1694307" y="847597"/>
                  </a:lnTo>
                  <a:lnTo>
                    <a:pt x="1692965" y="799524"/>
                  </a:lnTo>
                  <a:lnTo>
                    <a:pt x="1688989" y="752150"/>
                  </a:lnTo>
                  <a:lnTo>
                    <a:pt x="1682450" y="705550"/>
                  </a:lnTo>
                  <a:lnTo>
                    <a:pt x="1673419" y="659793"/>
                  </a:lnTo>
                  <a:lnTo>
                    <a:pt x="1661968" y="614951"/>
                  </a:lnTo>
                  <a:lnTo>
                    <a:pt x="1648168" y="571098"/>
                  </a:lnTo>
                  <a:lnTo>
                    <a:pt x="1632091" y="528303"/>
                  </a:lnTo>
                  <a:lnTo>
                    <a:pt x="1613809" y="486640"/>
                  </a:lnTo>
                  <a:lnTo>
                    <a:pt x="1593394" y="446179"/>
                  </a:lnTo>
                  <a:lnTo>
                    <a:pt x="1570916" y="406992"/>
                  </a:lnTo>
                  <a:lnTo>
                    <a:pt x="1546447" y="369152"/>
                  </a:lnTo>
                  <a:lnTo>
                    <a:pt x="1520059" y="332730"/>
                  </a:lnTo>
                  <a:lnTo>
                    <a:pt x="1491824" y="297797"/>
                  </a:lnTo>
                  <a:lnTo>
                    <a:pt x="1461813" y="264426"/>
                  </a:lnTo>
                  <a:lnTo>
                    <a:pt x="1430098" y="232687"/>
                  </a:lnTo>
                  <a:lnTo>
                    <a:pt x="1396750" y="202654"/>
                  </a:lnTo>
                  <a:lnTo>
                    <a:pt x="1361841" y="174397"/>
                  </a:lnTo>
                  <a:lnTo>
                    <a:pt x="1325442" y="147989"/>
                  </a:lnTo>
                  <a:lnTo>
                    <a:pt x="1287626" y="123500"/>
                  </a:lnTo>
                  <a:lnTo>
                    <a:pt x="1248463" y="101004"/>
                  </a:lnTo>
                  <a:lnTo>
                    <a:pt x="1208025" y="80570"/>
                  </a:lnTo>
                  <a:lnTo>
                    <a:pt x="1166383" y="62272"/>
                  </a:lnTo>
                  <a:lnTo>
                    <a:pt x="1123610" y="46181"/>
                  </a:lnTo>
                  <a:lnTo>
                    <a:pt x="1079778" y="32369"/>
                  </a:lnTo>
                  <a:lnTo>
                    <a:pt x="1034956" y="20907"/>
                  </a:lnTo>
                  <a:lnTo>
                    <a:pt x="989218" y="11868"/>
                  </a:lnTo>
                  <a:lnTo>
                    <a:pt x="942634" y="5322"/>
                  </a:lnTo>
                  <a:lnTo>
                    <a:pt x="895276" y="1342"/>
                  </a:lnTo>
                  <a:lnTo>
                    <a:pt x="84721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543043" y="1635251"/>
              <a:ext cx="1694814" cy="1627505"/>
            </a:xfrm>
            <a:custGeom>
              <a:avLst/>
              <a:gdLst/>
              <a:ahLst/>
              <a:cxnLst/>
              <a:rect l="l" t="t" r="r" b="b"/>
              <a:pathLst>
                <a:path w="1694814" h="1627504">
                  <a:moveTo>
                    <a:pt x="2920" y="709930"/>
                  </a:moveTo>
                  <a:lnTo>
                    <a:pt x="1659" y="727308"/>
                  </a:lnTo>
                  <a:lnTo>
                    <a:pt x="878" y="742263"/>
                  </a:lnTo>
                  <a:lnTo>
                    <a:pt x="846" y="742860"/>
                  </a:lnTo>
                  <a:lnTo>
                    <a:pt x="746" y="744791"/>
                  </a:lnTo>
                  <a:lnTo>
                    <a:pt x="188" y="762400"/>
                  </a:lnTo>
                  <a:lnTo>
                    <a:pt x="88" y="771777"/>
                  </a:lnTo>
                  <a:lnTo>
                    <a:pt x="0" y="780034"/>
                  </a:lnTo>
                  <a:lnTo>
                    <a:pt x="1627" y="832951"/>
                  </a:lnTo>
                  <a:lnTo>
                    <a:pt x="6445" y="885009"/>
                  </a:lnTo>
                  <a:lnTo>
                    <a:pt x="14358" y="936110"/>
                  </a:lnTo>
                  <a:lnTo>
                    <a:pt x="25271" y="986160"/>
                  </a:lnTo>
                  <a:lnTo>
                    <a:pt x="39088" y="1035064"/>
                  </a:lnTo>
                  <a:lnTo>
                    <a:pt x="55714" y="1082725"/>
                  </a:lnTo>
                  <a:lnTo>
                    <a:pt x="75054" y="1129049"/>
                  </a:lnTo>
                  <a:lnTo>
                    <a:pt x="97012" y="1173940"/>
                  </a:lnTo>
                  <a:lnTo>
                    <a:pt x="121492" y="1217302"/>
                  </a:lnTo>
                  <a:lnTo>
                    <a:pt x="148400" y="1259041"/>
                  </a:lnTo>
                  <a:lnTo>
                    <a:pt x="177639" y="1299060"/>
                  </a:lnTo>
                  <a:lnTo>
                    <a:pt x="209115" y="1337264"/>
                  </a:lnTo>
                  <a:lnTo>
                    <a:pt x="242732" y="1373558"/>
                  </a:lnTo>
                  <a:lnTo>
                    <a:pt x="278394" y="1407846"/>
                  </a:lnTo>
                  <a:lnTo>
                    <a:pt x="316006" y="1440034"/>
                  </a:lnTo>
                  <a:lnTo>
                    <a:pt x="355472" y="1470025"/>
                  </a:lnTo>
                  <a:lnTo>
                    <a:pt x="397863" y="1498468"/>
                  </a:lnTo>
                  <a:lnTo>
                    <a:pt x="442056" y="1524366"/>
                  </a:lnTo>
                  <a:lnTo>
                    <a:pt x="487940" y="1547615"/>
                  </a:lnTo>
                  <a:lnTo>
                    <a:pt x="535406" y="1568107"/>
                  </a:lnTo>
                  <a:lnTo>
                    <a:pt x="584342" y="1585737"/>
                  </a:lnTo>
                  <a:lnTo>
                    <a:pt x="634639" y="1600400"/>
                  </a:lnTo>
                  <a:lnTo>
                    <a:pt x="686185" y="1611988"/>
                  </a:lnTo>
                  <a:lnTo>
                    <a:pt x="738870" y="1620397"/>
                  </a:lnTo>
                  <a:lnTo>
                    <a:pt x="792584" y="1625519"/>
                  </a:lnTo>
                  <a:lnTo>
                    <a:pt x="847216" y="1627251"/>
                  </a:lnTo>
                  <a:lnTo>
                    <a:pt x="895313" y="1625909"/>
                  </a:lnTo>
                  <a:lnTo>
                    <a:pt x="942702" y="1621933"/>
                  </a:lnTo>
                  <a:lnTo>
                    <a:pt x="989313" y="1615394"/>
                  </a:lnTo>
                  <a:lnTo>
                    <a:pt x="1035073" y="1606362"/>
                  </a:lnTo>
                  <a:lnTo>
                    <a:pt x="1079912" y="1594911"/>
                  </a:lnTo>
                  <a:lnTo>
                    <a:pt x="1123759" y="1581111"/>
                  </a:lnTo>
                  <a:lnTo>
                    <a:pt x="1166542" y="1565034"/>
                  </a:lnTo>
                  <a:lnTo>
                    <a:pt x="1208190" y="1546751"/>
                  </a:lnTo>
                  <a:lnTo>
                    <a:pt x="1248631" y="1526334"/>
                  </a:lnTo>
                  <a:lnTo>
                    <a:pt x="1287795" y="1503854"/>
                  </a:lnTo>
                  <a:lnTo>
                    <a:pt x="1325609" y="1479384"/>
                  </a:lnTo>
                  <a:lnTo>
                    <a:pt x="1362004" y="1452994"/>
                  </a:lnTo>
                  <a:lnTo>
                    <a:pt x="1396906" y="1424757"/>
                  </a:lnTo>
                  <a:lnTo>
                    <a:pt x="1430246" y="1394743"/>
                  </a:lnTo>
                  <a:lnTo>
                    <a:pt x="1461951" y="1363025"/>
                  </a:lnTo>
                  <a:lnTo>
                    <a:pt x="1491951" y="1329673"/>
                  </a:lnTo>
                  <a:lnTo>
                    <a:pt x="1520174" y="1294759"/>
                  </a:lnTo>
                  <a:lnTo>
                    <a:pt x="1546549" y="1258356"/>
                  </a:lnTo>
                  <a:lnTo>
                    <a:pt x="1571005" y="1220534"/>
                  </a:lnTo>
                  <a:lnTo>
                    <a:pt x="1593470" y="1181365"/>
                  </a:lnTo>
                  <a:lnTo>
                    <a:pt x="1613872" y="1140920"/>
                  </a:lnTo>
                  <a:lnTo>
                    <a:pt x="1632142" y="1099272"/>
                  </a:lnTo>
                  <a:lnTo>
                    <a:pt x="1648207" y="1056491"/>
                  </a:lnTo>
                  <a:lnTo>
                    <a:pt x="1661996" y="1012650"/>
                  </a:lnTo>
                  <a:lnTo>
                    <a:pt x="1673437" y="967819"/>
                  </a:lnTo>
                  <a:lnTo>
                    <a:pt x="1682461" y="922070"/>
                  </a:lnTo>
                  <a:lnTo>
                    <a:pt x="1688994" y="875475"/>
                  </a:lnTo>
                  <a:lnTo>
                    <a:pt x="1692967" y="828106"/>
                  </a:lnTo>
                  <a:lnTo>
                    <a:pt x="1694306" y="780034"/>
                  </a:lnTo>
                  <a:lnTo>
                    <a:pt x="1694233" y="777494"/>
                  </a:lnTo>
                  <a:lnTo>
                    <a:pt x="334136" y="777494"/>
                  </a:lnTo>
                  <a:lnTo>
                    <a:pt x="285110" y="776050"/>
                  </a:lnTo>
                  <a:lnTo>
                    <a:pt x="284520" y="776050"/>
                  </a:lnTo>
                  <a:lnTo>
                    <a:pt x="236181" y="771777"/>
                  </a:lnTo>
                  <a:lnTo>
                    <a:pt x="235719" y="771777"/>
                  </a:lnTo>
                  <a:lnTo>
                    <a:pt x="186633" y="764537"/>
                  </a:lnTo>
                  <a:lnTo>
                    <a:pt x="139134" y="754703"/>
                  </a:lnTo>
                  <a:lnTo>
                    <a:pt x="92622" y="742263"/>
                  </a:lnTo>
                  <a:lnTo>
                    <a:pt x="47187" y="727308"/>
                  </a:lnTo>
                  <a:lnTo>
                    <a:pt x="2920" y="709930"/>
                  </a:lnTo>
                  <a:close/>
                </a:path>
                <a:path w="1694814" h="1627504">
                  <a:moveTo>
                    <a:pt x="1178686" y="0"/>
                  </a:moveTo>
                  <a:lnTo>
                    <a:pt x="1173060" y="50299"/>
                  </a:lnTo>
                  <a:lnTo>
                    <a:pt x="1164537" y="99667"/>
                  </a:lnTo>
                  <a:lnTo>
                    <a:pt x="1153206" y="148017"/>
                  </a:lnTo>
                  <a:lnTo>
                    <a:pt x="1139154" y="195260"/>
                  </a:lnTo>
                  <a:lnTo>
                    <a:pt x="1122469" y="241310"/>
                  </a:lnTo>
                  <a:lnTo>
                    <a:pt x="1103239" y="286079"/>
                  </a:lnTo>
                  <a:lnTo>
                    <a:pt x="1081552" y="329480"/>
                  </a:lnTo>
                  <a:lnTo>
                    <a:pt x="1057497" y="371426"/>
                  </a:lnTo>
                  <a:lnTo>
                    <a:pt x="1031160" y="411829"/>
                  </a:lnTo>
                  <a:lnTo>
                    <a:pt x="1002605" y="450633"/>
                  </a:lnTo>
                  <a:lnTo>
                    <a:pt x="971995" y="487658"/>
                  </a:lnTo>
                  <a:lnTo>
                    <a:pt x="939343" y="522910"/>
                  </a:lnTo>
                  <a:lnTo>
                    <a:pt x="904762" y="556270"/>
                  </a:lnTo>
                  <a:lnTo>
                    <a:pt x="868339" y="587652"/>
                  </a:lnTo>
                  <a:lnTo>
                    <a:pt x="830163" y="616967"/>
                  </a:lnTo>
                  <a:lnTo>
                    <a:pt x="790321" y="644128"/>
                  </a:lnTo>
                  <a:lnTo>
                    <a:pt x="748901" y="669049"/>
                  </a:lnTo>
                  <a:lnTo>
                    <a:pt x="705992" y="691642"/>
                  </a:lnTo>
                  <a:lnTo>
                    <a:pt x="663214" y="711046"/>
                  </a:lnTo>
                  <a:lnTo>
                    <a:pt x="619226" y="728148"/>
                  </a:lnTo>
                  <a:lnTo>
                    <a:pt x="574103" y="742860"/>
                  </a:lnTo>
                  <a:lnTo>
                    <a:pt x="527923" y="755094"/>
                  </a:lnTo>
                  <a:lnTo>
                    <a:pt x="480760" y="764762"/>
                  </a:lnTo>
                  <a:lnTo>
                    <a:pt x="432690" y="771777"/>
                  </a:lnTo>
                  <a:lnTo>
                    <a:pt x="383791" y="776050"/>
                  </a:lnTo>
                  <a:lnTo>
                    <a:pt x="334136" y="777494"/>
                  </a:lnTo>
                  <a:lnTo>
                    <a:pt x="1694233" y="777494"/>
                  </a:lnTo>
                  <a:lnTo>
                    <a:pt x="1692876" y="730311"/>
                  </a:lnTo>
                  <a:lnTo>
                    <a:pt x="1688636" y="681345"/>
                  </a:lnTo>
                  <a:lnTo>
                    <a:pt x="1681666" y="633215"/>
                  </a:lnTo>
                  <a:lnTo>
                    <a:pt x="1672044" y="585999"/>
                  </a:lnTo>
                  <a:lnTo>
                    <a:pt x="1659849" y="539778"/>
                  </a:lnTo>
                  <a:lnTo>
                    <a:pt x="1645158" y="494629"/>
                  </a:lnTo>
                  <a:lnTo>
                    <a:pt x="1628050" y="450633"/>
                  </a:lnTo>
                  <a:lnTo>
                    <a:pt x="1608604" y="407868"/>
                  </a:lnTo>
                  <a:lnTo>
                    <a:pt x="1586898" y="366414"/>
                  </a:lnTo>
                  <a:lnTo>
                    <a:pt x="1563010" y="326350"/>
                  </a:lnTo>
                  <a:lnTo>
                    <a:pt x="1537019" y="287754"/>
                  </a:lnTo>
                  <a:lnTo>
                    <a:pt x="1509004" y="250706"/>
                  </a:lnTo>
                  <a:lnTo>
                    <a:pt x="1479041" y="215286"/>
                  </a:lnTo>
                  <a:lnTo>
                    <a:pt x="1447212" y="181572"/>
                  </a:lnTo>
                  <a:lnTo>
                    <a:pt x="1413592" y="149643"/>
                  </a:lnTo>
                  <a:lnTo>
                    <a:pt x="1378261" y="119579"/>
                  </a:lnTo>
                  <a:lnTo>
                    <a:pt x="1341298" y="91459"/>
                  </a:lnTo>
                  <a:lnTo>
                    <a:pt x="1302781" y="65362"/>
                  </a:lnTo>
                  <a:lnTo>
                    <a:pt x="1262787" y="41367"/>
                  </a:lnTo>
                  <a:lnTo>
                    <a:pt x="1221396" y="19553"/>
                  </a:lnTo>
                  <a:lnTo>
                    <a:pt x="1178686" y="0"/>
                  </a:lnTo>
                  <a:close/>
                </a:path>
              </a:pathLst>
            </a:custGeom>
            <a:solidFill>
              <a:srgbClr val="DB526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4445634" y="1060449"/>
            <a:ext cx="88138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Capital</a:t>
            </a:r>
            <a:r>
              <a:rPr dirty="0" sz="10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Mobility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131689" y="2358389"/>
            <a:ext cx="105600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17830" marR="5080" indent="-405765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Pegged</a:t>
            </a:r>
            <a:r>
              <a:rPr dirty="0" sz="10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Exchange 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rate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3779011" y="2309875"/>
            <a:ext cx="59817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3048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Financial Autonomy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6493764" y="1406652"/>
            <a:ext cx="1984375" cy="457200"/>
          </a:xfrm>
          <a:prstGeom prst="rect">
            <a:avLst/>
          </a:prstGeom>
          <a:solidFill>
            <a:srgbClr val="DB526B"/>
          </a:solidFill>
        </p:spPr>
        <p:txBody>
          <a:bodyPr wrap="square" lIns="0" tIns="73025" rIns="0" bIns="0" rtlCol="0" vert="horz">
            <a:spAutoFit/>
          </a:bodyPr>
          <a:lstStyle/>
          <a:p>
            <a:pPr marL="565150" marR="286385" indent="-265430">
              <a:lnSpc>
                <a:spcPct val="100000"/>
              </a:lnSpc>
              <a:spcBef>
                <a:spcPts val="575"/>
              </a:spcBef>
            </a:pP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Pegged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exchange</a:t>
            </a:r>
            <a:r>
              <a:rPr dirty="0" sz="10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rate</a:t>
            </a:r>
            <a:r>
              <a:rPr dirty="0" sz="10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50">
                <a:solidFill>
                  <a:srgbClr val="FFFFFF"/>
                </a:solidFill>
                <a:latin typeface="Arial MT"/>
                <a:cs typeface="Arial MT"/>
              </a:rPr>
              <a:t>&amp;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Capital</a:t>
            </a:r>
            <a:r>
              <a:rPr dirty="0" sz="10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mobility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626107" y="1446275"/>
            <a:ext cx="1635760" cy="399415"/>
          </a:xfrm>
          <a:prstGeom prst="rect">
            <a:avLst/>
          </a:prstGeom>
          <a:solidFill>
            <a:srgbClr val="C00000"/>
          </a:solidFill>
        </p:spPr>
        <p:txBody>
          <a:bodyPr wrap="square" lIns="0" tIns="42544" rIns="0" bIns="0" rtlCol="0" vert="horz">
            <a:spAutoFit/>
          </a:bodyPr>
          <a:lstStyle/>
          <a:p>
            <a:pPr marL="258445" marR="85725" indent="-167640">
              <a:lnSpc>
                <a:spcPct val="100000"/>
              </a:lnSpc>
              <a:spcBef>
                <a:spcPts val="334"/>
              </a:spcBef>
            </a:pP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Floating</a:t>
            </a:r>
            <a:r>
              <a:rPr dirty="0" sz="10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exchange</a:t>
            </a:r>
            <a:r>
              <a:rPr dirty="0" sz="10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Rate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50">
                <a:solidFill>
                  <a:srgbClr val="FFFFFF"/>
                </a:solidFill>
                <a:latin typeface="Arial MT"/>
                <a:cs typeface="Arial MT"/>
              </a:rPr>
              <a:t>&amp;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Monetary</a:t>
            </a:r>
            <a:r>
              <a:rPr dirty="0" sz="10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autonomy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4075176" y="3631691"/>
            <a:ext cx="1693545" cy="352425"/>
          </a:xfrm>
          <a:prstGeom prst="rect">
            <a:avLst/>
          </a:prstGeom>
          <a:solidFill>
            <a:srgbClr val="D93953"/>
          </a:solidFill>
        </p:spPr>
        <p:txBody>
          <a:bodyPr wrap="square" lIns="0" tIns="20955" rIns="0" bIns="0" rtlCol="0" vert="horz">
            <a:spAutoFit/>
          </a:bodyPr>
          <a:lstStyle/>
          <a:p>
            <a:pPr algn="ctr" marL="1905">
              <a:lnSpc>
                <a:spcPct val="100000"/>
              </a:lnSpc>
              <a:spcBef>
                <a:spcPts val="165"/>
              </a:spcBef>
            </a:pP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Pegged</a:t>
            </a:r>
            <a:r>
              <a:rPr dirty="0" sz="1000" spc="-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exchange</a:t>
            </a:r>
            <a:r>
              <a:rPr dirty="0" sz="10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rate</a:t>
            </a:r>
            <a:r>
              <a:rPr dirty="0" sz="10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5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endParaRPr sz="1000">
              <a:latin typeface="Arial MT"/>
              <a:cs typeface="Arial MT"/>
            </a:endParaRPr>
          </a:p>
          <a:p>
            <a:pPr algn="ctr" marL="3810">
              <a:lnSpc>
                <a:spcPct val="100000"/>
              </a:lnSpc>
            </a:pP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Monetary</a:t>
            </a:r>
            <a:r>
              <a:rPr dirty="0" sz="10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autonomy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49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0"/>
              <a:t>Trade-</a:t>
            </a:r>
            <a:r>
              <a:rPr dirty="0"/>
              <a:t>offs in</a:t>
            </a:r>
            <a:r>
              <a:rPr dirty="0" spc="-30"/>
              <a:t> </a:t>
            </a:r>
            <a:r>
              <a:rPr dirty="0"/>
              <a:t>exchange</a:t>
            </a:r>
            <a:r>
              <a:rPr dirty="0" spc="-5"/>
              <a:t> </a:t>
            </a:r>
            <a:r>
              <a:rPr dirty="0"/>
              <a:t>rate</a:t>
            </a:r>
            <a:r>
              <a:rPr dirty="0" spc="-25"/>
              <a:t> </a:t>
            </a:r>
            <a:r>
              <a:rPr dirty="0"/>
              <a:t>policy</a:t>
            </a:r>
            <a:r>
              <a:rPr dirty="0" spc="-25"/>
              <a:t> </a:t>
            </a:r>
            <a:r>
              <a:rPr dirty="0" spc="-10"/>
              <a:t>trilemma</a:t>
            </a:r>
          </a:p>
        </p:txBody>
      </p:sp>
      <p:grpSp>
        <p:nvGrpSpPr>
          <p:cNvPr id="17" name="object 17" descr=""/>
          <p:cNvGrpSpPr/>
          <p:nvPr/>
        </p:nvGrpSpPr>
        <p:grpSpPr>
          <a:xfrm>
            <a:off x="3302508" y="1610613"/>
            <a:ext cx="3159760" cy="1979295"/>
            <a:chOff x="3302508" y="1610613"/>
            <a:chExt cx="3159760" cy="1979295"/>
          </a:xfrm>
        </p:grpSpPr>
        <p:sp>
          <p:nvSpPr>
            <p:cNvPr id="18" name="object 18" descr=""/>
            <p:cNvSpPr/>
            <p:nvPr/>
          </p:nvSpPr>
          <p:spPr>
            <a:xfrm>
              <a:off x="3302508" y="1616963"/>
              <a:ext cx="689610" cy="0"/>
            </a:xfrm>
            <a:custGeom>
              <a:avLst/>
              <a:gdLst/>
              <a:ahLst/>
              <a:cxnLst/>
              <a:rect l="l" t="t" r="r" b="b"/>
              <a:pathLst>
                <a:path w="689610" h="0">
                  <a:moveTo>
                    <a:pt x="0" y="0"/>
                  </a:moveTo>
                  <a:lnTo>
                    <a:pt x="689355" y="0"/>
                  </a:lnTo>
                </a:path>
              </a:pathLst>
            </a:custGeom>
            <a:ln w="127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5772912" y="1616963"/>
              <a:ext cx="689610" cy="0"/>
            </a:xfrm>
            <a:custGeom>
              <a:avLst/>
              <a:gdLst/>
              <a:ahLst/>
              <a:cxnLst/>
              <a:rect l="l" t="t" r="r" b="b"/>
              <a:pathLst>
                <a:path w="689610" h="0">
                  <a:moveTo>
                    <a:pt x="0" y="0"/>
                  </a:moveTo>
                  <a:lnTo>
                    <a:pt x="689355" y="0"/>
                  </a:lnTo>
                </a:path>
              </a:pathLst>
            </a:custGeom>
            <a:ln w="12700">
              <a:solidFill>
                <a:srgbClr val="DB526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4896612" y="3177539"/>
              <a:ext cx="0" cy="412115"/>
            </a:xfrm>
            <a:custGeom>
              <a:avLst/>
              <a:gdLst/>
              <a:ahLst/>
              <a:cxnLst/>
              <a:rect l="l" t="t" r="r" b="b"/>
              <a:pathLst>
                <a:path w="0" h="412114">
                  <a:moveTo>
                    <a:pt x="0" y="0"/>
                  </a:moveTo>
                  <a:lnTo>
                    <a:pt x="0" y="411861"/>
                  </a:lnTo>
                </a:path>
              </a:pathLst>
            </a:custGeom>
            <a:ln w="12700">
              <a:solidFill>
                <a:srgbClr val="D9395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Impact</a:t>
            </a:r>
            <a:r>
              <a:rPr dirty="0" spc="35"/>
              <a:t> </a:t>
            </a:r>
            <a:r>
              <a:rPr dirty="0"/>
              <a:t>of</a:t>
            </a:r>
            <a:r>
              <a:rPr dirty="0" spc="50"/>
              <a:t> </a:t>
            </a:r>
            <a:r>
              <a:rPr dirty="0"/>
              <a:t>Global</a:t>
            </a:r>
            <a:r>
              <a:rPr dirty="0" spc="65"/>
              <a:t> </a:t>
            </a:r>
            <a:r>
              <a:rPr dirty="0"/>
              <a:t>Economic</a:t>
            </a:r>
            <a:r>
              <a:rPr dirty="0" spc="30"/>
              <a:t> </a:t>
            </a:r>
            <a:r>
              <a:rPr dirty="0"/>
              <a:t>Trends</a:t>
            </a:r>
            <a:r>
              <a:rPr dirty="0" spc="45"/>
              <a:t> </a:t>
            </a:r>
            <a:r>
              <a:rPr dirty="0"/>
              <a:t>on</a:t>
            </a:r>
            <a:r>
              <a:rPr dirty="0" spc="40"/>
              <a:t> </a:t>
            </a:r>
            <a:r>
              <a:rPr dirty="0"/>
              <a:t>Nigeria’s</a:t>
            </a:r>
            <a:r>
              <a:rPr dirty="0" spc="60"/>
              <a:t> </a:t>
            </a:r>
            <a:r>
              <a:rPr dirty="0"/>
              <a:t>Foreign</a:t>
            </a:r>
            <a:r>
              <a:rPr dirty="0" spc="45"/>
              <a:t> </a:t>
            </a:r>
            <a:r>
              <a:rPr dirty="0"/>
              <a:t>Exchange</a:t>
            </a:r>
            <a:r>
              <a:rPr dirty="0" spc="60"/>
              <a:t> </a:t>
            </a:r>
            <a:r>
              <a:rPr dirty="0" spc="-10"/>
              <a:t>Market</a:t>
            </a:r>
          </a:p>
        </p:txBody>
      </p:sp>
      <p:sp>
        <p:nvSpPr>
          <p:cNvPr id="22" name="object 22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October</a:t>
            </a:r>
            <a:r>
              <a:rPr dirty="0" spc="80"/>
              <a:t> </a:t>
            </a:r>
            <a:r>
              <a:rPr dirty="0" spc="-20"/>
              <a:t>2023</a:t>
            </a:r>
          </a:p>
        </p:txBody>
      </p:sp>
      <p:sp>
        <p:nvSpPr>
          <p:cNvPr id="23" name="object 2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815"/>
              </a:lnSpc>
            </a:pPr>
            <a:fld id="{81D60167-4931-47E6-BA6A-407CBD079E47}" type="slidenum">
              <a:rPr dirty="0" spc="-25"/>
              <a:t>26</a:t>
            </a:fld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548116" y="115823"/>
            <a:ext cx="1285240" cy="410209"/>
          </a:xfrm>
          <a:prstGeom prst="rect">
            <a:avLst/>
          </a:prstGeom>
          <a:solidFill>
            <a:srgbClr val="F1F1F1"/>
          </a:solidFill>
          <a:ln w="12700">
            <a:solidFill>
              <a:srgbClr val="A6A6A6"/>
            </a:solidFill>
          </a:ln>
        </p:spPr>
        <p:txBody>
          <a:bodyPr wrap="square" lIns="0" tIns="48260" rIns="0" bIns="0" rtlCol="0" vert="horz">
            <a:spAutoFit/>
          </a:bodyPr>
          <a:lstStyle/>
          <a:p>
            <a:pPr marL="92710" marR="318770">
              <a:lnSpc>
                <a:spcPct val="100000"/>
              </a:lnSpc>
              <a:spcBef>
                <a:spcPts val="380"/>
              </a:spcBef>
            </a:pP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preliminary,</a:t>
            </a:r>
            <a:r>
              <a:rPr dirty="0" sz="1000" spc="-5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 spc="-25">
                <a:solidFill>
                  <a:srgbClr val="1F2023"/>
                </a:solidFill>
                <a:latin typeface="Arial MT"/>
                <a:cs typeface="Arial MT"/>
              </a:rPr>
              <a:t>not </a:t>
            </a:r>
            <a:r>
              <a:rPr dirty="0" sz="1000" spc="-10">
                <a:solidFill>
                  <a:srgbClr val="1F2023"/>
                </a:solidFill>
                <a:latin typeface="Arial MT"/>
                <a:cs typeface="Arial MT"/>
              </a:rPr>
              <a:t>exhaustive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956560" y="1517903"/>
            <a:ext cx="220979" cy="220979"/>
          </a:xfrm>
          <a:custGeom>
            <a:avLst/>
            <a:gdLst/>
            <a:ahLst/>
            <a:cxnLst/>
            <a:rect l="l" t="t" r="r" b="b"/>
            <a:pathLst>
              <a:path w="220980" h="220980">
                <a:moveTo>
                  <a:pt x="0" y="220979"/>
                </a:moveTo>
                <a:lnTo>
                  <a:pt x="220980" y="220979"/>
                </a:lnTo>
                <a:lnTo>
                  <a:pt x="220980" y="0"/>
                </a:lnTo>
                <a:lnTo>
                  <a:pt x="0" y="0"/>
                </a:lnTo>
                <a:lnTo>
                  <a:pt x="0" y="220979"/>
                </a:lnTo>
                <a:close/>
              </a:path>
            </a:pathLst>
          </a:custGeom>
          <a:ln w="12700">
            <a:solidFill>
              <a:srgbClr val="E7E6E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3012694" y="1519885"/>
            <a:ext cx="110489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 b="1"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462898" y="4951882"/>
            <a:ext cx="10420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FF0000"/>
                </a:solidFill>
                <a:latin typeface="Arial"/>
                <a:cs typeface="Arial"/>
              </a:rPr>
              <a:t>See</a:t>
            </a:r>
            <a:r>
              <a:rPr dirty="0" sz="1200" spc="-2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FF0000"/>
                </a:solidFill>
                <a:latin typeface="Arial"/>
                <a:cs typeface="Arial"/>
              </a:rPr>
              <a:t>next </a:t>
            </a:r>
            <a:r>
              <a:rPr dirty="0" sz="1200" spc="-10" b="1">
                <a:solidFill>
                  <a:srgbClr val="FF0000"/>
                </a:solidFill>
                <a:latin typeface="Arial"/>
                <a:cs typeface="Arial"/>
              </a:rPr>
              <a:t>slide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39369" y="171068"/>
            <a:ext cx="6482080" cy="26924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Framing</a:t>
            </a:r>
            <a:r>
              <a:rPr dirty="0" spc="-35"/>
              <a:t> </a:t>
            </a:r>
            <a:r>
              <a:rPr dirty="0"/>
              <a:t>the</a:t>
            </a:r>
            <a:r>
              <a:rPr dirty="0" spc="-60"/>
              <a:t> </a:t>
            </a:r>
            <a:r>
              <a:rPr dirty="0"/>
              <a:t>relationships</a:t>
            </a:r>
            <a:r>
              <a:rPr dirty="0" spc="-15"/>
              <a:t> </a:t>
            </a:r>
            <a:r>
              <a:rPr dirty="0"/>
              <a:t>between</a:t>
            </a:r>
            <a:r>
              <a:rPr dirty="0" spc="-30"/>
              <a:t> </a:t>
            </a:r>
            <a:r>
              <a:rPr dirty="0"/>
              <a:t>global</a:t>
            </a:r>
            <a:r>
              <a:rPr dirty="0" spc="-35"/>
              <a:t> </a:t>
            </a:r>
            <a:r>
              <a:rPr dirty="0"/>
              <a:t>trends</a:t>
            </a:r>
            <a:r>
              <a:rPr dirty="0" spc="-45"/>
              <a:t> </a:t>
            </a:r>
            <a:r>
              <a:rPr dirty="0"/>
              <a:t>and</a:t>
            </a:r>
            <a:r>
              <a:rPr dirty="0" spc="-40"/>
              <a:t> </a:t>
            </a:r>
            <a:r>
              <a:rPr dirty="0"/>
              <a:t>Nigeria</a:t>
            </a:r>
            <a:r>
              <a:rPr dirty="0" spc="-45"/>
              <a:t> </a:t>
            </a:r>
            <a:r>
              <a:rPr dirty="0"/>
              <a:t>FX</a:t>
            </a:r>
            <a:r>
              <a:rPr dirty="0" spc="-45"/>
              <a:t> </a:t>
            </a:r>
            <a:r>
              <a:rPr dirty="0" spc="-10"/>
              <a:t>market</a:t>
            </a:r>
          </a:p>
        </p:txBody>
      </p:sp>
      <p:grpSp>
        <p:nvGrpSpPr>
          <p:cNvPr id="7" name="object 7" descr=""/>
          <p:cNvGrpSpPr/>
          <p:nvPr/>
        </p:nvGrpSpPr>
        <p:grpSpPr>
          <a:xfrm>
            <a:off x="4951412" y="1190180"/>
            <a:ext cx="1975485" cy="1733550"/>
            <a:chOff x="4951412" y="1190180"/>
            <a:chExt cx="1975485" cy="1733550"/>
          </a:xfrm>
        </p:grpSpPr>
        <p:sp>
          <p:nvSpPr>
            <p:cNvPr id="8" name="object 8" descr=""/>
            <p:cNvSpPr/>
            <p:nvPr/>
          </p:nvSpPr>
          <p:spPr>
            <a:xfrm>
              <a:off x="4969764" y="2328671"/>
              <a:ext cx="1950720" cy="588645"/>
            </a:xfrm>
            <a:custGeom>
              <a:avLst/>
              <a:gdLst/>
              <a:ahLst/>
              <a:cxnLst/>
              <a:rect l="l" t="t" r="r" b="b"/>
              <a:pathLst>
                <a:path w="1950720" h="588644">
                  <a:moveTo>
                    <a:pt x="0" y="588263"/>
                  </a:moveTo>
                  <a:lnTo>
                    <a:pt x="1950719" y="588263"/>
                  </a:lnTo>
                  <a:lnTo>
                    <a:pt x="1950719" y="0"/>
                  </a:lnTo>
                  <a:lnTo>
                    <a:pt x="0" y="0"/>
                  </a:lnTo>
                  <a:lnTo>
                    <a:pt x="0" y="588263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953000" y="1191767"/>
              <a:ext cx="1955800" cy="932815"/>
            </a:xfrm>
            <a:custGeom>
              <a:avLst/>
              <a:gdLst/>
              <a:ahLst/>
              <a:cxnLst/>
              <a:rect l="l" t="t" r="r" b="b"/>
              <a:pathLst>
                <a:path w="1955800" h="932814">
                  <a:moveTo>
                    <a:pt x="0" y="932688"/>
                  </a:moveTo>
                  <a:lnTo>
                    <a:pt x="1955292" y="932688"/>
                  </a:lnTo>
                  <a:lnTo>
                    <a:pt x="1955292" y="0"/>
                  </a:lnTo>
                  <a:lnTo>
                    <a:pt x="0" y="0"/>
                  </a:lnTo>
                  <a:lnTo>
                    <a:pt x="0" y="932688"/>
                  </a:lnTo>
                  <a:close/>
                </a:path>
              </a:pathLst>
            </a:custGeom>
            <a:ln w="317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4986528" y="1278636"/>
            <a:ext cx="1877695" cy="266700"/>
          </a:xfrm>
          <a:prstGeom prst="rect">
            <a:avLst/>
          </a:prstGeom>
          <a:solidFill>
            <a:srgbClr val="C00000"/>
          </a:solidFill>
        </p:spPr>
        <p:txBody>
          <a:bodyPr wrap="square" lIns="0" tIns="36194" rIns="0" bIns="0" rtlCol="0" vert="horz">
            <a:spAutoFit/>
          </a:bodyPr>
          <a:lstStyle/>
          <a:p>
            <a:pPr marL="421640">
              <a:lnSpc>
                <a:spcPct val="100000"/>
              </a:lnSpc>
              <a:spcBef>
                <a:spcPts val="284"/>
              </a:spcBef>
            </a:pPr>
            <a:r>
              <a:rPr dirty="0" sz="1100" spc="-10">
                <a:solidFill>
                  <a:srgbClr val="FFFFFF"/>
                </a:solidFill>
                <a:latin typeface="Arial MT"/>
                <a:cs typeface="Arial MT"/>
              </a:rPr>
              <a:t>Supply</a:t>
            </a:r>
            <a:r>
              <a:rPr dirty="0" sz="11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 MT"/>
                <a:cs typeface="Arial MT"/>
              </a:rPr>
              <a:t>dynamics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4986528" y="1847088"/>
            <a:ext cx="1880870" cy="259079"/>
          </a:xfrm>
          <a:custGeom>
            <a:avLst/>
            <a:gdLst/>
            <a:ahLst/>
            <a:cxnLst/>
            <a:rect l="l" t="t" r="r" b="b"/>
            <a:pathLst>
              <a:path w="1880870" h="259080">
                <a:moveTo>
                  <a:pt x="1880616" y="0"/>
                </a:moveTo>
                <a:lnTo>
                  <a:pt x="0" y="0"/>
                </a:lnTo>
                <a:lnTo>
                  <a:pt x="0" y="259079"/>
                </a:lnTo>
                <a:lnTo>
                  <a:pt x="1880616" y="259079"/>
                </a:lnTo>
                <a:lnTo>
                  <a:pt x="1880616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5311521" y="1881632"/>
            <a:ext cx="116395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10">
                <a:solidFill>
                  <a:srgbClr val="FFFFFF"/>
                </a:solidFill>
                <a:latin typeface="Arial MT"/>
                <a:cs typeface="Arial MT"/>
              </a:rPr>
              <a:t>Demand</a:t>
            </a:r>
            <a:r>
              <a:rPr dirty="0" sz="11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 MT"/>
                <a:cs typeface="Arial MT"/>
              </a:rPr>
              <a:t>dynamics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977384" y="803148"/>
            <a:ext cx="1899285" cy="426720"/>
          </a:xfrm>
          <a:prstGeom prst="rect">
            <a:avLst/>
          </a:prstGeom>
          <a:solidFill>
            <a:srgbClr val="0D0D0D"/>
          </a:solidFill>
        </p:spPr>
        <p:txBody>
          <a:bodyPr wrap="square" lIns="0" tIns="103505" rIns="0" bIns="0" rtlCol="0" vert="horz">
            <a:spAutoFit/>
          </a:bodyPr>
          <a:lstStyle/>
          <a:p>
            <a:pPr marL="123189">
              <a:lnSpc>
                <a:spcPct val="100000"/>
              </a:lnSpc>
              <a:spcBef>
                <a:spcPts val="815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FX</a:t>
            </a:r>
            <a:r>
              <a:rPr dirty="0" sz="12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Market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7478268" y="1293875"/>
            <a:ext cx="2139950" cy="1687195"/>
          </a:xfrm>
          <a:custGeom>
            <a:avLst/>
            <a:gdLst/>
            <a:ahLst/>
            <a:cxnLst/>
            <a:rect l="l" t="t" r="r" b="b"/>
            <a:pathLst>
              <a:path w="2139950" h="1687195">
                <a:moveTo>
                  <a:pt x="0" y="1687068"/>
                </a:moveTo>
                <a:lnTo>
                  <a:pt x="2139696" y="1687068"/>
                </a:lnTo>
                <a:lnTo>
                  <a:pt x="2139696" y="0"/>
                </a:lnTo>
                <a:lnTo>
                  <a:pt x="0" y="0"/>
                </a:lnTo>
                <a:lnTo>
                  <a:pt x="0" y="1687068"/>
                </a:lnTo>
                <a:close/>
              </a:path>
            </a:pathLst>
          </a:custGeom>
          <a:ln w="6350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7478268" y="803148"/>
            <a:ext cx="2139950" cy="487680"/>
          </a:xfrm>
          <a:prstGeom prst="rect">
            <a:avLst/>
          </a:prstGeom>
          <a:solidFill>
            <a:srgbClr val="0D0D0D"/>
          </a:solidFill>
        </p:spPr>
        <p:txBody>
          <a:bodyPr wrap="square" lIns="0" tIns="11620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915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Local</a:t>
            </a:r>
            <a:r>
              <a:rPr dirty="0" sz="1200" spc="-7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trends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7539228" y="1331975"/>
            <a:ext cx="2019300" cy="734695"/>
          </a:xfrm>
          <a:prstGeom prst="rect">
            <a:avLst/>
          </a:prstGeom>
          <a:solidFill>
            <a:srgbClr val="C00000"/>
          </a:solidFill>
        </p:spPr>
        <p:txBody>
          <a:bodyPr wrap="square" lIns="0" tIns="508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</a:pPr>
            <a:endParaRPr sz="1000">
              <a:latin typeface="Times New Roman"/>
              <a:cs typeface="Times New Roman"/>
            </a:endParaRPr>
          </a:p>
          <a:p>
            <a:pPr marL="89535" marR="394970">
              <a:lnSpc>
                <a:spcPts val="1180"/>
              </a:lnSpc>
            </a:pP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Fiscal</a:t>
            </a:r>
            <a:r>
              <a:rPr dirty="0" sz="10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policy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+</a:t>
            </a:r>
            <a:r>
              <a:rPr dirty="0" sz="10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development (fiscal</a:t>
            </a:r>
            <a:r>
              <a:rPr dirty="0" sz="10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balance,</a:t>
            </a:r>
            <a:r>
              <a:rPr dirty="0" sz="10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debt)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7539228" y="2159507"/>
            <a:ext cx="2019300" cy="763905"/>
          </a:xfrm>
          <a:prstGeom prst="rect">
            <a:avLst/>
          </a:prstGeom>
          <a:solidFill>
            <a:srgbClr val="AEABAB"/>
          </a:solidFill>
        </p:spPr>
        <p:txBody>
          <a:bodyPr wrap="square" lIns="0" tIns="81280" rIns="0" bIns="0" rtlCol="0" vert="horz">
            <a:spAutoFit/>
          </a:bodyPr>
          <a:lstStyle/>
          <a:p>
            <a:pPr marL="83820" marR="654050">
              <a:lnSpc>
                <a:spcPct val="100000"/>
              </a:lnSpc>
              <a:spcBef>
                <a:spcPts val="640"/>
              </a:spcBef>
            </a:pP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Local</a:t>
            </a:r>
            <a:r>
              <a:rPr dirty="0" sz="10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economy</a:t>
            </a:r>
            <a:r>
              <a:rPr dirty="0" sz="10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growth/ performance</a:t>
            </a:r>
            <a:endParaRPr sz="1000">
              <a:latin typeface="Arial MT"/>
              <a:cs typeface="Arial MT"/>
            </a:endParaRPr>
          </a:p>
          <a:p>
            <a:pPr marL="83820" marR="298450">
              <a:lnSpc>
                <a:spcPts val="1180"/>
              </a:lnSpc>
              <a:spcBef>
                <a:spcPts val="55"/>
              </a:spcBef>
            </a:pP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(exports</a:t>
            </a:r>
            <a:r>
              <a:rPr dirty="0" sz="10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10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Imports,</a:t>
            </a:r>
            <a:r>
              <a:rPr dirty="0" sz="10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inflation etc.)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4568952" y="2913888"/>
            <a:ext cx="2673350" cy="748665"/>
            <a:chOff x="4568952" y="2913888"/>
            <a:chExt cx="2673350" cy="748665"/>
          </a:xfrm>
        </p:grpSpPr>
        <p:pic>
          <p:nvPicPr>
            <p:cNvPr id="19" name="object 1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85104" y="2913888"/>
              <a:ext cx="160020" cy="179831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4568952" y="3095244"/>
              <a:ext cx="2673350" cy="567055"/>
            </a:xfrm>
            <a:custGeom>
              <a:avLst/>
              <a:gdLst/>
              <a:ahLst/>
              <a:cxnLst/>
              <a:rect l="l" t="t" r="r" b="b"/>
              <a:pathLst>
                <a:path w="2673350" h="567054">
                  <a:moveTo>
                    <a:pt x="2673096" y="0"/>
                  </a:moveTo>
                  <a:lnTo>
                    <a:pt x="0" y="0"/>
                  </a:lnTo>
                  <a:lnTo>
                    <a:pt x="0" y="566927"/>
                  </a:lnTo>
                  <a:lnTo>
                    <a:pt x="2673096" y="566927"/>
                  </a:lnTo>
                  <a:lnTo>
                    <a:pt x="2673096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4644897" y="3154172"/>
            <a:ext cx="2512695" cy="4343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98900"/>
              </a:lnSpc>
              <a:spcBef>
                <a:spcPts val="110"/>
              </a:spcBef>
            </a:pPr>
            <a:r>
              <a:rPr dirty="0" sz="900" b="1">
                <a:latin typeface="Arial"/>
                <a:cs typeface="Arial"/>
              </a:rPr>
              <a:t>Market</a:t>
            </a:r>
            <a:r>
              <a:rPr dirty="0" sz="900" spc="-3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Mechanisms</a:t>
            </a:r>
            <a:r>
              <a:rPr dirty="0" sz="900" spc="-45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and</a:t>
            </a:r>
            <a:r>
              <a:rPr dirty="0" sz="900" spc="-20" b="1">
                <a:latin typeface="Arial"/>
                <a:cs typeface="Arial"/>
              </a:rPr>
              <a:t> </a:t>
            </a:r>
            <a:r>
              <a:rPr dirty="0" sz="900" b="1">
                <a:latin typeface="Arial"/>
                <a:cs typeface="Arial"/>
              </a:rPr>
              <a:t>Governance:</a:t>
            </a:r>
            <a:r>
              <a:rPr dirty="0" sz="900" spc="10" b="1">
                <a:latin typeface="Arial"/>
                <a:cs typeface="Arial"/>
              </a:rPr>
              <a:t> </a:t>
            </a:r>
            <a:r>
              <a:rPr dirty="0" sz="900" spc="-10">
                <a:latin typeface="Arial MT"/>
                <a:cs typeface="Arial MT"/>
              </a:rPr>
              <a:t>Access, </a:t>
            </a:r>
            <a:r>
              <a:rPr dirty="0" sz="900">
                <a:latin typeface="Arial MT"/>
                <a:cs typeface="Arial MT"/>
              </a:rPr>
              <a:t>Friction,</a:t>
            </a:r>
            <a:r>
              <a:rPr dirty="0" sz="900" spc="-4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Transparency,</a:t>
            </a:r>
            <a:r>
              <a:rPr dirty="0" sz="900" spc="-3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Market</a:t>
            </a:r>
            <a:r>
              <a:rPr dirty="0" sz="900" spc="-5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Debt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-25">
                <a:latin typeface="Arial MT"/>
                <a:cs typeface="Arial MT"/>
              </a:rPr>
              <a:t>and</a:t>
            </a:r>
            <a:r>
              <a:rPr dirty="0" sz="900" spc="50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Financial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Instruments,</a:t>
            </a:r>
            <a:r>
              <a:rPr dirty="0" sz="900" spc="-40">
                <a:latin typeface="Arial MT"/>
                <a:cs typeface="Arial MT"/>
              </a:rPr>
              <a:t> </a:t>
            </a:r>
            <a:r>
              <a:rPr dirty="0" sz="900">
                <a:latin typeface="Arial MT"/>
                <a:cs typeface="Arial MT"/>
              </a:rPr>
              <a:t>Price</a:t>
            </a:r>
            <a:r>
              <a:rPr dirty="0" sz="900" spc="-10">
                <a:latin typeface="Arial MT"/>
                <a:cs typeface="Arial MT"/>
              </a:rPr>
              <a:t> Discovery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4597908" y="3889247"/>
            <a:ext cx="2644140" cy="47879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142240" rIns="0" bIns="0" rtlCol="0" vert="horz">
            <a:spAutoFit/>
          </a:bodyPr>
          <a:lstStyle/>
          <a:p>
            <a:pPr marL="247015">
              <a:lnSpc>
                <a:spcPct val="100000"/>
              </a:lnSpc>
              <a:spcBef>
                <a:spcPts val="1120"/>
              </a:spcBef>
            </a:pPr>
            <a:r>
              <a:rPr dirty="0" sz="1000">
                <a:latin typeface="Arial MT"/>
                <a:cs typeface="Arial MT"/>
              </a:rPr>
              <a:t>Monetary+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FX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Market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Strategy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+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Policy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4678426" y="1653285"/>
            <a:ext cx="2656840" cy="2894330"/>
            <a:chOff x="4678426" y="1653285"/>
            <a:chExt cx="2656840" cy="2894330"/>
          </a:xfrm>
        </p:grpSpPr>
        <p:pic>
          <p:nvPicPr>
            <p:cNvPr id="24" name="object 2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78426" y="2095245"/>
              <a:ext cx="221487" cy="203200"/>
            </a:xfrm>
            <a:prstGeom prst="rect">
              <a:avLst/>
            </a:prstGeom>
          </p:spPr>
        </p:pic>
        <p:sp>
          <p:nvSpPr>
            <p:cNvPr id="25" name="object 25" descr=""/>
            <p:cNvSpPr/>
            <p:nvPr/>
          </p:nvSpPr>
          <p:spPr>
            <a:xfrm>
              <a:off x="7059168" y="1659635"/>
              <a:ext cx="269875" cy="96520"/>
            </a:xfrm>
            <a:custGeom>
              <a:avLst/>
              <a:gdLst/>
              <a:ahLst/>
              <a:cxnLst/>
              <a:rect l="l" t="t" r="r" b="b"/>
              <a:pathLst>
                <a:path w="269875" h="96519">
                  <a:moveTo>
                    <a:pt x="48005" y="0"/>
                  </a:moveTo>
                  <a:lnTo>
                    <a:pt x="0" y="48005"/>
                  </a:lnTo>
                  <a:lnTo>
                    <a:pt x="48005" y="96012"/>
                  </a:lnTo>
                  <a:lnTo>
                    <a:pt x="48005" y="72009"/>
                  </a:lnTo>
                  <a:lnTo>
                    <a:pt x="269748" y="72009"/>
                  </a:lnTo>
                  <a:lnTo>
                    <a:pt x="269748" y="24002"/>
                  </a:lnTo>
                  <a:lnTo>
                    <a:pt x="48005" y="24002"/>
                  </a:lnTo>
                  <a:lnTo>
                    <a:pt x="48005" y="0"/>
                  </a:lnTo>
                  <a:close/>
                </a:path>
              </a:pathLst>
            </a:custGeom>
            <a:solidFill>
              <a:srgbClr val="0D0D0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7059168" y="1659635"/>
              <a:ext cx="269875" cy="96520"/>
            </a:xfrm>
            <a:custGeom>
              <a:avLst/>
              <a:gdLst/>
              <a:ahLst/>
              <a:cxnLst/>
              <a:rect l="l" t="t" r="r" b="b"/>
              <a:pathLst>
                <a:path w="269875" h="96519">
                  <a:moveTo>
                    <a:pt x="269748" y="72009"/>
                  </a:moveTo>
                  <a:lnTo>
                    <a:pt x="48005" y="72009"/>
                  </a:lnTo>
                  <a:lnTo>
                    <a:pt x="48005" y="96012"/>
                  </a:lnTo>
                  <a:lnTo>
                    <a:pt x="0" y="48005"/>
                  </a:lnTo>
                  <a:lnTo>
                    <a:pt x="48005" y="0"/>
                  </a:lnTo>
                  <a:lnTo>
                    <a:pt x="48005" y="24002"/>
                  </a:lnTo>
                  <a:lnTo>
                    <a:pt x="269748" y="24002"/>
                  </a:lnTo>
                  <a:lnTo>
                    <a:pt x="269748" y="72009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00344" y="2138171"/>
              <a:ext cx="129539" cy="153924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88152" y="4386071"/>
              <a:ext cx="153924" cy="161544"/>
            </a:xfrm>
            <a:prstGeom prst="rect">
              <a:avLst/>
            </a:prstGeom>
          </p:spPr>
        </p:pic>
      </p:grpSp>
      <p:sp>
        <p:nvSpPr>
          <p:cNvPr id="29" name="object 29" descr=""/>
          <p:cNvSpPr txBox="1"/>
          <p:nvPr/>
        </p:nvSpPr>
        <p:spPr>
          <a:xfrm>
            <a:off x="3537203" y="4616196"/>
            <a:ext cx="4048125" cy="243840"/>
          </a:xfrm>
          <a:prstGeom prst="rect">
            <a:avLst/>
          </a:prstGeom>
          <a:solidFill>
            <a:srgbClr val="0D0D0D"/>
          </a:solidFill>
        </p:spPr>
        <p:txBody>
          <a:bodyPr wrap="square" lIns="0" tIns="57150" rIns="0" bIns="0" rtlCol="0" vert="horz">
            <a:spAutoFit/>
          </a:bodyPr>
          <a:lstStyle/>
          <a:p>
            <a:pPr marL="146050">
              <a:lnSpc>
                <a:spcPct val="100000"/>
              </a:lnSpc>
              <a:spcBef>
                <a:spcPts val="450"/>
              </a:spcBef>
            </a:pPr>
            <a:r>
              <a:rPr dirty="0" sz="1100" b="1">
                <a:solidFill>
                  <a:srgbClr val="FFFFFF"/>
                </a:solidFill>
                <a:latin typeface="Arial"/>
                <a:cs typeface="Arial"/>
              </a:rPr>
              <a:t>FX</a:t>
            </a:r>
            <a:r>
              <a:rPr dirty="0" sz="11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FFFFFF"/>
                </a:solidFill>
                <a:latin typeface="Arial"/>
                <a:cs typeface="Arial"/>
              </a:rPr>
              <a:t>Outcomes</a:t>
            </a:r>
            <a:endParaRPr sz="1100">
              <a:latin typeface="Arial"/>
              <a:cs typeface="Arial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3537203" y="4860035"/>
            <a:ext cx="4048125" cy="593090"/>
          </a:xfrm>
          <a:prstGeom prst="rect">
            <a:avLst/>
          </a:prstGeom>
          <a:solidFill>
            <a:srgbClr val="F1F1F1"/>
          </a:solidFill>
        </p:spPr>
        <p:txBody>
          <a:bodyPr wrap="square" lIns="0" tIns="41275" rIns="0" bIns="0" rtlCol="0" vert="horz">
            <a:spAutoFit/>
          </a:bodyPr>
          <a:lstStyle/>
          <a:p>
            <a:pPr marL="425450" indent="-286385">
              <a:lnSpc>
                <a:spcPct val="100000"/>
              </a:lnSpc>
              <a:spcBef>
                <a:spcPts val="325"/>
              </a:spcBef>
              <a:buChar char="•"/>
              <a:tabLst>
                <a:tab pos="425450" algn="l"/>
              </a:tabLst>
            </a:pPr>
            <a:r>
              <a:rPr dirty="0" sz="1050">
                <a:latin typeface="Arial MT"/>
                <a:cs typeface="Arial MT"/>
              </a:rPr>
              <a:t>Stability</a:t>
            </a:r>
            <a:r>
              <a:rPr dirty="0" sz="1050" spc="-4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+</a:t>
            </a:r>
            <a:r>
              <a:rPr dirty="0" sz="1050" spc="-25">
                <a:latin typeface="Arial MT"/>
                <a:cs typeface="Arial MT"/>
              </a:rPr>
              <a:t> </a:t>
            </a:r>
            <a:r>
              <a:rPr dirty="0" sz="1050" spc="-10">
                <a:latin typeface="Arial MT"/>
                <a:cs typeface="Arial MT"/>
              </a:rPr>
              <a:t>volatility</a:t>
            </a:r>
            <a:endParaRPr sz="1050">
              <a:latin typeface="Arial MT"/>
              <a:cs typeface="Arial MT"/>
            </a:endParaRPr>
          </a:p>
          <a:p>
            <a:pPr marL="425450" indent="-286385">
              <a:lnSpc>
                <a:spcPct val="100000"/>
              </a:lnSpc>
              <a:buChar char="•"/>
              <a:tabLst>
                <a:tab pos="425450" algn="l"/>
              </a:tabLst>
            </a:pPr>
            <a:r>
              <a:rPr dirty="0" sz="1050">
                <a:latin typeface="Arial MT"/>
                <a:cs typeface="Arial MT"/>
              </a:rPr>
              <a:t>Price</a:t>
            </a:r>
            <a:r>
              <a:rPr dirty="0" sz="1050" spc="-15">
                <a:latin typeface="Arial MT"/>
                <a:cs typeface="Arial MT"/>
              </a:rPr>
              <a:t> </a:t>
            </a:r>
            <a:r>
              <a:rPr dirty="0" sz="1050" spc="-10">
                <a:latin typeface="Arial MT"/>
                <a:cs typeface="Arial MT"/>
              </a:rPr>
              <a:t>evolution</a:t>
            </a:r>
            <a:endParaRPr sz="1050">
              <a:latin typeface="Arial MT"/>
              <a:cs typeface="Arial MT"/>
            </a:endParaRPr>
          </a:p>
          <a:p>
            <a:pPr marL="425450" indent="-286385">
              <a:lnSpc>
                <a:spcPct val="100000"/>
              </a:lnSpc>
              <a:buChar char="•"/>
              <a:tabLst>
                <a:tab pos="425450" algn="l"/>
              </a:tabLst>
            </a:pPr>
            <a:r>
              <a:rPr dirty="0" sz="1050">
                <a:latin typeface="Arial MT"/>
                <a:cs typeface="Arial MT"/>
              </a:rPr>
              <a:t>Flexibility</a:t>
            </a:r>
            <a:r>
              <a:rPr dirty="0" sz="1050" spc="-5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to</a:t>
            </a:r>
            <a:r>
              <a:rPr dirty="0" sz="1050" spc="-25">
                <a:latin typeface="Arial MT"/>
                <a:cs typeface="Arial MT"/>
              </a:rPr>
              <a:t> </a:t>
            </a:r>
            <a:r>
              <a:rPr dirty="0" sz="1050" spc="-10">
                <a:latin typeface="Arial MT"/>
                <a:cs typeface="Arial MT"/>
              </a:rPr>
              <a:t>shocks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5398389" y="2467101"/>
            <a:ext cx="107378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Arial MT"/>
                <a:cs typeface="Arial MT"/>
              </a:rPr>
              <a:t>Investors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+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market</a:t>
            </a:r>
            <a:endParaRPr sz="10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dirty="0" sz="1000" spc="-10">
                <a:latin typeface="Arial MT"/>
                <a:cs typeface="Arial MT"/>
              </a:rPr>
              <a:t>confidence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32" name="object 32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803391" y="1580388"/>
            <a:ext cx="123444" cy="207263"/>
          </a:xfrm>
          <a:prstGeom prst="rect">
            <a:avLst/>
          </a:prstGeom>
        </p:spPr>
      </p:pic>
      <p:sp>
        <p:nvSpPr>
          <p:cNvPr id="33" name="object 33" descr=""/>
          <p:cNvSpPr txBox="1"/>
          <p:nvPr/>
        </p:nvSpPr>
        <p:spPr>
          <a:xfrm>
            <a:off x="5986017" y="1581149"/>
            <a:ext cx="54419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Arial MT"/>
                <a:cs typeface="Arial MT"/>
              </a:rPr>
              <a:t>Net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flows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2950464" y="1769364"/>
            <a:ext cx="1647825" cy="862965"/>
          </a:xfrm>
          <a:prstGeom prst="rect">
            <a:avLst/>
          </a:prstGeom>
          <a:solidFill>
            <a:srgbClr val="C00000"/>
          </a:solidFill>
        </p:spPr>
        <p:txBody>
          <a:bodyPr wrap="square" lIns="0" tIns="46990" rIns="0" bIns="0" rtlCol="0" vert="horz">
            <a:spAutoFit/>
          </a:bodyPr>
          <a:lstStyle/>
          <a:p>
            <a:pPr marL="377825" indent="-286385">
              <a:lnSpc>
                <a:spcPct val="100000"/>
              </a:lnSpc>
              <a:spcBef>
                <a:spcPts val="370"/>
              </a:spcBef>
              <a:buChar char="•"/>
              <a:tabLst>
                <a:tab pos="377825" algn="l"/>
              </a:tabLst>
            </a:pP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Cost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dirty="0" sz="10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funding</a:t>
            </a:r>
            <a:endParaRPr sz="1000">
              <a:latin typeface="Arial MT"/>
              <a:cs typeface="Arial MT"/>
            </a:endParaRPr>
          </a:p>
          <a:p>
            <a:pPr marL="377825" indent="-286385">
              <a:lnSpc>
                <a:spcPct val="100000"/>
              </a:lnSpc>
              <a:buChar char="•"/>
              <a:tabLst>
                <a:tab pos="377825" algn="l"/>
              </a:tabLst>
            </a:pP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Capital</a:t>
            </a:r>
            <a:r>
              <a:rPr dirty="0" sz="10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reallocation</a:t>
            </a:r>
            <a:endParaRPr sz="1000">
              <a:latin typeface="Arial MT"/>
              <a:cs typeface="Arial MT"/>
            </a:endParaRPr>
          </a:p>
          <a:p>
            <a:pPr marL="377825" indent="-286385">
              <a:lnSpc>
                <a:spcPct val="100000"/>
              </a:lnSpc>
              <a:buChar char="•"/>
              <a:tabLst>
                <a:tab pos="377825" algn="l"/>
              </a:tabLst>
            </a:pP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Trade</a:t>
            </a:r>
            <a:r>
              <a:rPr dirty="0" sz="10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balance</a:t>
            </a:r>
            <a:endParaRPr sz="1000">
              <a:latin typeface="Arial MT"/>
              <a:cs typeface="Arial MT"/>
            </a:endParaRPr>
          </a:p>
          <a:p>
            <a:pPr marL="377825" indent="-286385">
              <a:lnSpc>
                <a:spcPct val="100000"/>
              </a:lnSpc>
              <a:buChar char="•"/>
              <a:tabLst>
                <a:tab pos="377825" algn="l"/>
              </a:tabLst>
            </a:pP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Remittances</a:t>
            </a:r>
            <a:endParaRPr sz="1000">
              <a:latin typeface="Arial MT"/>
              <a:cs typeface="Arial MT"/>
            </a:endParaRPr>
          </a:p>
          <a:p>
            <a:pPr marL="377825" indent="-286385">
              <a:lnSpc>
                <a:spcPct val="100000"/>
              </a:lnSpc>
              <a:buChar char="•"/>
              <a:tabLst>
                <a:tab pos="377825" algn="l"/>
              </a:tabLst>
            </a:pP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Confidence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7511795" y="3118104"/>
            <a:ext cx="2018030" cy="762000"/>
          </a:xfrm>
          <a:prstGeom prst="rect">
            <a:avLst/>
          </a:prstGeom>
          <a:solidFill>
            <a:srgbClr val="EC7C30"/>
          </a:solidFill>
        </p:spPr>
        <p:txBody>
          <a:bodyPr wrap="square" lIns="0" tIns="495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90"/>
              </a:spcBef>
            </a:pPr>
            <a:endParaRPr sz="1100">
              <a:latin typeface="Times New Roman"/>
              <a:cs typeface="Times New Roman"/>
            </a:endParaRPr>
          </a:p>
          <a:p>
            <a:pPr marL="741680" marR="128905" indent="-605790">
              <a:lnSpc>
                <a:spcPct val="100000"/>
              </a:lnSpc>
            </a:pP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Financial</a:t>
            </a:r>
            <a:r>
              <a:rPr dirty="0" sz="11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11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capital</a:t>
            </a:r>
            <a:r>
              <a:rPr dirty="0" sz="110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 MT"/>
                <a:cs typeface="Arial MT"/>
              </a:rPr>
              <a:t>market activities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36" name="object 3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85103" y="3671315"/>
            <a:ext cx="160020" cy="179831"/>
          </a:xfrm>
          <a:prstGeom prst="rect">
            <a:avLst/>
          </a:prstGeom>
        </p:spPr>
      </p:pic>
      <p:sp>
        <p:nvSpPr>
          <p:cNvPr id="37" name="object 37" descr=""/>
          <p:cNvSpPr txBox="1"/>
          <p:nvPr/>
        </p:nvSpPr>
        <p:spPr>
          <a:xfrm>
            <a:off x="437387" y="774191"/>
            <a:ext cx="2291080" cy="455930"/>
          </a:xfrm>
          <a:prstGeom prst="rect">
            <a:avLst/>
          </a:prstGeom>
          <a:solidFill>
            <a:srgbClr val="0D0D0D"/>
          </a:solidFill>
        </p:spPr>
        <p:txBody>
          <a:bodyPr wrap="square" lIns="0" tIns="140335" rIns="0" bIns="0" rtlCol="0" vert="horz">
            <a:spAutoFit/>
          </a:bodyPr>
          <a:lstStyle/>
          <a:p>
            <a:pPr marL="158115">
              <a:lnSpc>
                <a:spcPct val="100000"/>
              </a:lnSpc>
              <a:spcBef>
                <a:spcPts val="1105"/>
              </a:spcBef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Five</a:t>
            </a:r>
            <a:r>
              <a:rPr dirty="0" sz="12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global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Arial"/>
                <a:cs typeface="Arial"/>
              </a:rPr>
              <a:t>trends</a:t>
            </a:r>
            <a:endParaRPr sz="1200">
              <a:latin typeface="Arial"/>
              <a:cs typeface="Arial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518159" y="1331975"/>
            <a:ext cx="2129155" cy="523240"/>
          </a:xfrm>
          <a:prstGeom prst="rect">
            <a:avLst/>
          </a:prstGeom>
          <a:solidFill>
            <a:srgbClr val="7D7D7D"/>
          </a:solidFill>
        </p:spPr>
        <p:txBody>
          <a:bodyPr wrap="square" lIns="0" tIns="9906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780"/>
              </a:spcBef>
            </a:pP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Tightening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monetary</a:t>
            </a:r>
            <a:r>
              <a:rPr dirty="0" sz="10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environment</a:t>
            </a:r>
            <a:endParaRPr sz="1000">
              <a:latin typeface="Arial MT"/>
              <a:cs typeface="Arial MT"/>
            </a:endParaRPr>
          </a:p>
          <a:p>
            <a:pPr marL="91440">
              <a:lnSpc>
                <a:spcPct val="100000"/>
              </a:lnSpc>
            </a:pP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curtail</a:t>
            </a:r>
            <a:r>
              <a:rPr dirty="0" sz="10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inflation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518159" y="2580132"/>
            <a:ext cx="2129155" cy="523240"/>
          </a:xfrm>
          <a:prstGeom prst="rect">
            <a:avLst/>
          </a:prstGeom>
          <a:solidFill>
            <a:srgbClr val="DB526B"/>
          </a:solidFill>
        </p:spPr>
        <p:txBody>
          <a:bodyPr wrap="square" lIns="0" tIns="3619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85"/>
              </a:spcBef>
            </a:pPr>
            <a:endParaRPr sz="1000">
              <a:latin typeface="Times New Roman"/>
              <a:cs typeface="Times New Roman"/>
            </a:endParaRPr>
          </a:p>
          <a:p>
            <a:pPr marL="113030">
              <a:lnSpc>
                <a:spcPct val="100000"/>
              </a:lnSpc>
            </a:pP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Heightened</a:t>
            </a:r>
            <a:r>
              <a:rPr dirty="0" sz="1000" spc="-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geopolitical</a:t>
            </a:r>
            <a:r>
              <a:rPr dirty="0" sz="10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risk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515112" y="3200400"/>
            <a:ext cx="2127885" cy="523240"/>
          </a:xfrm>
          <a:prstGeom prst="rect">
            <a:avLst/>
          </a:prstGeom>
          <a:solidFill>
            <a:srgbClr val="DF2F1E"/>
          </a:solidFill>
        </p:spPr>
        <p:txBody>
          <a:bodyPr wrap="square" lIns="0" tIns="29209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29"/>
              </a:spcBef>
            </a:pPr>
            <a:endParaRPr sz="100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</a:pP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Weakening</a:t>
            </a:r>
            <a:r>
              <a:rPr dirty="0" sz="1000" spc="-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global</a:t>
            </a:r>
            <a:r>
              <a:rPr dirty="0" sz="10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trade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519683" y="3813047"/>
            <a:ext cx="2129155" cy="523240"/>
          </a:xfrm>
          <a:prstGeom prst="rect">
            <a:avLst/>
          </a:prstGeom>
          <a:solidFill>
            <a:srgbClr val="FFE699"/>
          </a:solidFill>
        </p:spPr>
        <p:txBody>
          <a:bodyPr wrap="square" lIns="0" tIns="254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endParaRPr sz="1000">
              <a:latin typeface="Times New Roman"/>
              <a:cs typeface="Times New Roman"/>
            </a:endParaRPr>
          </a:p>
          <a:p>
            <a:pPr marL="95885">
              <a:lnSpc>
                <a:spcPct val="100000"/>
              </a:lnSpc>
            </a:pP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Slowing</a:t>
            </a:r>
            <a:r>
              <a:rPr dirty="0" sz="1000" spc="-2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0D0D0D"/>
                </a:solidFill>
                <a:latin typeface="Arial MT"/>
                <a:cs typeface="Arial MT"/>
              </a:rPr>
              <a:t>GDP</a:t>
            </a:r>
            <a:r>
              <a:rPr dirty="0" sz="1000" spc="-50">
                <a:solidFill>
                  <a:srgbClr val="0D0D0D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0D0D0D"/>
                </a:solidFill>
                <a:latin typeface="Arial MT"/>
                <a:cs typeface="Arial MT"/>
              </a:rPr>
              <a:t>growth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516636" y="1952244"/>
            <a:ext cx="2127885" cy="521334"/>
          </a:xfrm>
          <a:prstGeom prst="rect">
            <a:avLst/>
          </a:prstGeom>
          <a:solidFill>
            <a:srgbClr val="C00000"/>
          </a:solidFill>
        </p:spPr>
        <p:txBody>
          <a:bodyPr wrap="square" lIns="0" tIns="419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30"/>
              </a:spcBef>
            </a:pPr>
            <a:endParaRPr sz="1000">
              <a:latin typeface="Times New Roman"/>
              <a:cs typeface="Times New Roman"/>
            </a:endParaRPr>
          </a:p>
          <a:p>
            <a:pPr marL="87630">
              <a:lnSpc>
                <a:spcPct val="100000"/>
              </a:lnSpc>
            </a:pP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Concerns</a:t>
            </a:r>
            <a:r>
              <a:rPr dirty="0" sz="10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dirty="0" sz="10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FFFF"/>
                </a:solidFill>
                <a:latin typeface="Arial MT"/>
                <a:cs typeface="Arial MT"/>
              </a:rPr>
              <a:t>debt</a:t>
            </a:r>
            <a:r>
              <a:rPr dirty="0" sz="10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Arial MT"/>
                <a:cs typeface="Arial MT"/>
              </a:rPr>
              <a:t>sustainability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43" name="object 43" descr=""/>
          <p:cNvGrpSpPr/>
          <p:nvPr/>
        </p:nvGrpSpPr>
        <p:grpSpPr>
          <a:xfrm>
            <a:off x="220725" y="732790"/>
            <a:ext cx="9618980" cy="3829050"/>
            <a:chOff x="220725" y="732790"/>
            <a:chExt cx="9618980" cy="3829050"/>
          </a:xfrm>
        </p:grpSpPr>
        <p:pic>
          <p:nvPicPr>
            <p:cNvPr id="44" name="object 4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662427" y="2136648"/>
              <a:ext cx="208788" cy="190500"/>
            </a:xfrm>
            <a:prstGeom prst="rect">
              <a:avLst/>
            </a:prstGeom>
          </p:spPr>
        </p:pic>
        <p:sp>
          <p:nvSpPr>
            <p:cNvPr id="45" name="object 45" descr=""/>
            <p:cNvSpPr/>
            <p:nvPr/>
          </p:nvSpPr>
          <p:spPr>
            <a:xfrm>
              <a:off x="227075" y="739140"/>
              <a:ext cx="9606280" cy="3816350"/>
            </a:xfrm>
            <a:custGeom>
              <a:avLst/>
              <a:gdLst/>
              <a:ahLst/>
              <a:cxnLst/>
              <a:rect l="l" t="t" r="r" b="b"/>
              <a:pathLst>
                <a:path w="9606280" h="3816350">
                  <a:moveTo>
                    <a:pt x="0" y="3816096"/>
                  </a:moveTo>
                  <a:lnTo>
                    <a:pt x="9605772" y="3816096"/>
                  </a:lnTo>
                  <a:lnTo>
                    <a:pt x="9605772" y="0"/>
                  </a:lnTo>
                  <a:lnTo>
                    <a:pt x="0" y="0"/>
                  </a:lnTo>
                  <a:lnTo>
                    <a:pt x="0" y="3816096"/>
                  </a:lnTo>
                  <a:close/>
                </a:path>
                <a:path w="9606280" h="3816350">
                  <a:moveTo>
                    <a:pt x="4500372" y="286512"/>
                  </a:moveTo>
                  <a:lnTo>
                    <a:pt x="4721352" y="286512"/>
                  </a:lnTo>
                  <a:lnTo>
                    <a:pt x="4721352" y="65532"/>
                  </a:lnTo>
                  <a:lnTo>
                    <a:pt x="4500372" y="65532"/>
                  </a:lnTo>
                  <a:lnTo>
                    <a:pt x="4500372" y="286512"/>
                  </a:lnTo>
                  <a:close/>
                </a:path>
              </a:pathLst>
            </a:custGeom>
            <a:ln w="12700">
              <a:solidFill>
                <a:srgbClr val="E7E6E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 descr=""/>
          <p:cNvSpPr txBox="1"/>
          <p:nvPr/>
        </p:nvSpPr>
        <p:spPr>
          <a:xfrm>
            <a:off x="4784597" y="806322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 b="1">
                <a:latin typeface="Arial"/>
                <a:cs typeface="Arial"/>
              </a:rPr>
              <a:t>3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47" name="object 47" descr=""/>
          <p:cNvGrpSpPr/>
          <p:nvPr/>
        </p:nvGrpSpPr>
        <p:grpSpPr>
          <a:xfrm>
            <a:off x="4846065" y="1566417"/>
            <a:ext cx="235585" cy="233679"/>
            <a:chOff x="4846065" y="1566417"/>
            <a:chExt cx="235585" cy="233679"/>
          </a:xfrm>
        </p:grpSpPr>
        <p:sp>
          <p:nvSpPr>
            <p:cNvPr id="48" name="object 48" descr=""/>
            <p:cNvSpPr/>
            <p:nvPr/>
          </p:nvSpPr>
          <p:spPr>
            <a:xfrm>
              <a:off x="4852415" y="1572767"/>
              <a:ext cx="222885" cy="220979"/>
            </a:xfrm>
            <a:custGeom>
              <a:avLst/>
              <a:gdLst/>
              <a:ahLst/>
              <a:cxnLst/>
              <a:rect l="l" t="t" r="r" b="b"/>
              <a:pathLst>
                <a:path w="222885" h="220980">
                  <a:moveTo>
                    <a:pt x="222503" y="0"/>
                  </a:moveTo>
                  <a:lnTo>
                    <a:pt x="0" y="0"/>
                  </a:lnTo>
                  <a:lnTo>
                    <a:pt x="0" y="220979"/>
                  </a:lnTo>
                  <a:lnTo>
                    <a:pt x="222503" y="220979"/>
                  </a:lnTo>
                  <a:lnTo>
                    <a:pt x="2225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4852415" y="1572767"/>
              <a:ext cx="222885" cy="220979"/>
            </a:xfrm>
            <a:custGeom>
              <a:avLst/>
              <a:gdLst/>
              <a:ahLst/>
              <a:cxnLst/>
              <a:rect l="l" t="t" r="r" b="b"/>
              <a:pathLst>
                <a:path w="222885" h="220980">
                  <a:moveTo>
                    <a:pt x="0" y="220979"/>
                  </a:moveTo>
                  <a:lnTo>
                    <a:pt x="222503" y="220979"/>
                  </a:lnTo>
                  <a:lnTo>
                    <a:pt x="222503" y="0"/>
                  </a:lnTo>
                  <a:lnTo>
                    <a:pt x="0" y="0"/>
                  </a:lnTo>
                  <a:lnTo>
                    <a:pt x="0" y="220979"/>
                  </a:lnTo>
                  <a:close/>
                </a:path>
              </a:pathLst>
            </a:custGeom>
            <a:ln w="12700">
              <a:solidFill>
                <a:srgbClr val="E7E6E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 descr=""/>
          <p:cNvSpPr txBox="1"/>
          <p:nvPr/>
        </p:nvSpPr>
        <p:spPr>
          <a:xfrm>
            <a:off x="4909565" y="1574749"/>
            <a:ext cx="110489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 b="1">
                <a:latin typeface="Arial"/>
                <a:cs typeface="Arial"/>
              </a:rPr>
              <a:t>5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51" name="object 51" descr=""/>
          <p:cNvGrpSpPr/>
          <p:nvPr/>
        </p:nvGrpSpPr>
        <p:grpSpPr>
          <a:xfrm>
            <a:off x="4846065" y="2499105"/>
            <a:ext cx="235585" cy="233679"/>
            <a:chOff x="4846065" y="2499105"/>
            <a:chExt cx="235585" cy="233679"/>
          </a:xfrm>
        </p:grpSpPr>
        <p:sp>
          <p:nvSpPr>
            <p:cNvPr id="52" name="object 52" descr=""/>
            <p:cNvSpPr/>
            <p:nvPr/>
          </p:nvSpPr>
          <p:spPr>
            <a:xfrm>
              <a:off x="4852415" y="2505455"/>
              <a:ext cx="222885" cy="220979"/>
            </a:xfrm>
            <a:custGeom>
              <a:avLst/>
              <a:gdLst/>
              <a:ahLst/>
              <a:cxnLst/>
              <a:rect l="l" t="t" r="r" b="b"/>
              <a:pathLst>
                <a:path w="222885" h="220980">
                  <a:moveTo>
                    <a:pt x="222503" y="0"/>
                  </a:moveTo>
                  <a:lnTo>
                    <a:pt x="0" y="0"/>
                  </a:lnTo>
                  <a:lnTo>
                    <a:pt x="0" y="220980"/>
                  </a:lnTo>
                  <a:lnTo>
                    <a:pt x="222503" y="220980"/>
                  </a:lnTo>
                  <a:lnTo>
                    <a:pt x="2225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4852415" y="2505455"/>
              <a:ext cx="222885" cy="220979"/>
            </a:xfrm>
            <a:custGeom>
              <a:avLst/>
              <a:gdLst/>
              <a:ahLst/>
              <a:cxnLst/>
              <a:rect l="l" t="t" r="r" b="b"/>
              <a:pathLst>
                <a:path w="222885" h="220980">
                  <a:moveTo>
                    <a:pt x="0" y="220980"/>
                  </a:moveTo>
                  <a:lnTo>
                    <a:pt x="222503" y="220980"/>
                  </a:lnTo>
                  <a:lnTo>
                    <a:pt x="222503" y="0"/>
                  </a:lnTo>
                  <a:lnTo>
                    <a:pt x="0" y="0"/>
                  </a:lnTo>
                  <a:lnTo>
                    <a:pt x="0" y="220980"/>
                  </a:lnTo>
                  <a:close/>
                </a:path>
              </a:pathLst>
            </a:custGeom>
            <a:ln w="12700">
              <a:solidFill>
                <a:srgbClr val="E7E6E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4" name="object 54" descr=""/>
          <p:cNvSpPr txBox="1"/>
          <p:nvPr/>
        </p:nvSpPr>
        <p:spPr>
          <a:xfrm>
            <a:off x="4909565" y="2508630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 b="1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55" name="object 55" descr=""/>
          <p:cNvGrpSpPr/>
          <p:nvPr/>
        </p:nvGrpSpPr>
        <p:grpSpPr>
          <a:xfrm>
            <a:off x="4405629" y="3309873"/>
            <a:ext cx="233679" cy="235585"/>
            <a:chOff x="4405629" y="3309873"/>
            <a:chExt cx="233679" cy="235585"/>
          </a:xfrm>
        </p:grpSpPr>
        <p:sp>
          <p:nvSpPr>
            <p:cNvPr id="56" name="object 56" descr=""/>
            <p:cNvSpPr/>
            <p:nvPr/>
          </p:nvSpPr>
          <p:spPr>
            <a:xfrm>
              <a:off x="4411979" y="3316223"/>
              <a:ext cx="220979" cy="222885"/>
            </a:xfrm>
            <a:custGeom>
              <a:avLst/>
              <a:gdLst/>
              <a:ahLst/>
              <a:cxnLst/>
              <a:rect l="l" t="t" r="r" b="b"/>
              <a:pathLst>
                <a:path w="220979" h="222885">
                  <a:moveTo>
                    <a:pt x="220979" y="0"/>
                  </a:moveTo>
                  <a:lnTo>
                    <a:pt x="0" y="0"/>
                  </a:lnTo>
                  <a:lnTo>
                    <a:pt x="0" y="222503"/>
                  </a:lnTo>
                  <a:lnTo>
                    <a:pt x="220979" y="222503"/>
                  </a:lnTo>
                  <a:lnTo>
                    <a:pt x="2209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4411979" y="3316223"/>
              <a:ext cx="220979" cy="222885"/>
            </a:xfrm>
            <a:custGeom>
              <a:avLst/>
              <a:gdLst/>
              <a:ahLst/>
              <a:cxnLst/>
              <a:rect l="l" t="t" r="r" b="b"/>
              <a:pathLst>
                <a:path w="220979" h="222885">
                  <a:moveTo>
                    <a:pt x="0" y="222503"/>
                  </a:moveTo>
                  <a:lnTo>
                    <a:pt x="220979" y="222503"/>
                  </a:lnTo>
                  <a:lnTo>
                    <a:pt x="220979" y="0"/>
                  </a:lnTo>
                  <a:lnTo>
                    <a:pt x="0" y="0"/>
                  </a:lnTo>
                  <a:lnTo>
                    <a:pt x="0" y="222503"/>
                  </a:lnTo>
                  <a:close/>
                </a:path>
              </a:pathLst>
            </a:custGeom>
            <a:ln w="12700">
              <a:solidFill>
                <a:srgbClr val="E7E6E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 descr=""/>
          <p:cNvSpPr txBox="1"/>
          <p:nvPr/>
        </p:nvSpPr>
        <p:spPr>
          <a:xfrm>
            <a:off x="4468114" y="3319653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 b="1"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59" name="object 59" descr=""/>
          <p:cNvGrpSpPr/>
          <p:nvPr/>
        </p:nvGrpSpPr>
        <p:grpSpPr>
          <a:xfrm>
            <a:off x="9561321" y="1566417"/>
            <a:ext cx="233679" cy="233679"/>
            <a:chOff x="9561321" y="1566417"/>
            <a:chExt cx="233679" cy="233679"/>
          </a:xfrm>
        </p:grpSpPr>
        <p:sp>
          <p:nvSpPr>
            <p:cNvPr id="60" name="object 60" descr=""/>
            <p:cNvSpPr/>
            <p:nvPr/>
          </p:nvSpPr>
          <p:spPr>
            <a:xfrm>
              <a:off x="9567671" y="1572767"/>
              <a:ext cx="220979" cy="220979"/>
            </a:xfrm>
            <a:custGeom>
              <a:avLst/>
              <a:gdLst/>
              <a:ahLst/>
              <a:cxnLst/>
              <a:rect l="l" t="t" r="r" b="b"/>
              <a:pathLst>
                <a:path w="220979" h="220980">
                  <a:moveTo>
                    <a:pt x="220979" y="0"/>
                  </a:moveTo>
                  <a:lnTo>
                    <a:pt x="0" y="0"/>
                  </a:lnTo>
                  <a:lnTo>
                    <a:pt x="0" y="220979"/>
                  </a:lnTo>
                  <a:lnTo>
                    <a:pt x="220979" y="220979"/>
                  </a:lnTo>
                  <a:lnTo>
                    <a:pt x="2209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9567671" y="1572767"/>
              <a:ext cx="220979" cy="220979"/>
            </a:xfrm>
            <a:custGeom>
              <a:avLst/>
              <a:gdLst/>
              <a:ahLst/>
              <a:cxnLst/>
              <a:rect l="l" t="t" r="r" b="b"/>
              <a:pathLst>
                <a:path w="220979" h="220980">
                  <a:moveTo>
                    <a:pt x="0" y="220979"/>
                  </a:moveTo>
                  <a:lnTo>
                    <a:pt x="220979" y="220979"/>
                  </a:lnTo>
                  <a:lnTo>
                    <a:pt x="220979" y="0"/>
                  </a:lnTo>
                  <a:lnTo>
                    <a:pt x="0" y="0"/>
                  </a:lnTo>
                  <a:lnTo>
                    <a:pt x="0" y="220979"/>
                  </a:lnTo>
                  <a:close/>
                </a:path>
              </a:pathLst>
            </a:custGeom>
            <a:ln w="12700">
              <a:solidFill>
                <a:srgbClr val="E7E6E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2" name="object 62" descr=""/>
          <p:cNvSpPr txBox="1"/>
          <p:nvPr/>
        </p:nvSpPr>
        <p:spPr>
          <a:xfrm>
            <a:off x="9625710" y="1574749"/>
            <a:ext cx="110489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 b="1">
                <a:latin typeface="Arial"/>
                <a:cs typeface="Arial"/>
              </a:rPr>
              <a:t>4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63" name="object 63" descr=""/>
          <p:cNvGrpSpPr/>
          <p:nvPr/>
        </p:nvGrpSpPr>
        <p:grpSpPr>
          <a:xfrm>
            <a:off x="9561321" y="2393950"/>
            <a:ext cx="233679" cy="233679"/>
            <a:chOff x="9561321" y="2393950"/>
            <a:chExt cx="233679" cy="233679"/>
          </a:xfrm>
        </p:grpSpPr>
        <p:sp>
          <p:nvSpPr>
            <p:cNvPr id="64" name="object 64" descr=""/>
            <p:cNvSpPr/>
            <p:nvPr/>
          </p:nvSpPr>
          <p:spPr>
            <a:xfrm>
              <a:off x="9567671" y="2400300"/>
              <a:ext cx="220979" cy="220979"/>
            </a:xfrm>
            <a:custGeom>
              <a:avLst/>
              <a:gdLst/>
              <a:ahLst/>
              <a:cxnLst/>
              <a:rect l="l" t="t" r="r" b="b"/>
              <a:pathLst>
                <a:path w="220979" h="220980">
                  <a:moveTo>
                    <a:pt x="220979" y="0"/>
                  </a:moveTo>
                  <a:lnTo>
                    <a:pt x="0" y="0"/>
                  </a:lnTo>
                  <a:lnTo>
                    <a:pt x="0" y="220980"/>
                  </a:lnTo>
                  <a:lnTo>
                    <a:pt x="220979" y="220980"/>
                  </a:lnTo>
                  <a:lnTo>
                    <a:pt x="2209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9567671" y="2400300"/>
              <a:ext cx="220979" cy="220979"/>
            </a:xfrm>
            <a:custGeom>
              <a:avLst/>
              <a:gdLst/>
              <a:ahLst/>
              <a:cxnLst/>
              <a:rect l="l" t="t" r="r" b="b"/>
              <a:pathLst>
                <a:path w="220979" h="220980">
                  <a:moveTo>
                    <a:pt x="0" y="220980"/>
                  </a:moveTo>
                  <a:lnTo>
                    <a:pt x="220979" y="220980"/>
                  </a:lnTo>
                  <a:lnTo>
                    <a:pt x="220979" y="0"/>
                  </a:lnTo>
                  <a:lnTo>
                    <a:pt x="0" y="0"/>
                  </a:lnTo>
                  <a:lnTo>
                    <a:pt x="0" y="220980"/>
                  </a:lnTo>
                  <a:close/>
                </a:path>
              </a:pathLst>
            </a:custGeom>
            <a:ln w="12700">
              <a:solidFill>
                <a:srgbClr val="E7E6E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6" name="object 66" descr=""/>
          <p:cNvSpPr txBox="1"/>
          <p:nvPr/>
        </p:nvSpPr>
        <p:spPr>
          <a:xfrm>
            <a:off x="9625710" y="2402204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 b="1">
                <a:latin typeface="Arial"/>
                <a:cs typeface="Arial"/>
              </a:rPr>
              <a:t>4</a:t>
            </a:r>
            <a:endParaRPr sz="1200">
              <a:latin typeface="Arial"/>
              <a:cs typeface="Arial"/>
            </a:endParaRPr>
          </a:p>
        </p:txBody>
      </p:sp>
      <p:sp>
        <p:nvSpPr>
          <p:cNvPr id="67" name="object 67" descr=""/>
          <p:cNvSpPr/>
          <p:nvPr/>
        </p:nvSpPr>
        <p:spPr>
          <a:xfrm>
            <a:off x="8161019" y="4925567"/>
            <a:ext cx="222885" cy="220979"/>
          </a:xfrm>
          <a:custGeom>
            <a:avLst/>
            <a:gdLst/>
            <a:ahLst/>
            <a:cxnLst/>
            <a:rect l="l" t="t" r="r" b="b"/>
            <a:pathLst>
              <a:path w="222884" h="220979">
                <a:moveTo>
                  <a:pt x="0" y="220979"/>
                </a:moveTo>
                <a:lnTo>
                  <a:pt x="222503" y="220979"/>
                </a:lnTo>
                <a:lnTo>
                  <a:pt x="222503" y="0"/>
                </a:lnTo>
                <a:lnTo>
                  <a:pt x="0" y="0"/>
                </a:lnTo>
                <a:lnTo>
                  <a:pt x="0" y="220979"/>
                </a:lnTo>
                <a:close/>
              </a:path>
            </a:pathLst>
          </a:custGeom>
          <a:ln w="12700">
            <a:solidFill>
              <a:srgbClr val="E7E6E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 descr=""/>
          <p:cNvSpPr txBox="1"/>
          <p:nvPr/>
        </p:nvSpPr>
        <p:spPr>
          <a:xfrm>
            <a:off x="8209915" y="4928717"/>
            <a:ext cx="1276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 b="1">
                <a:latin typeface="Arial"/>
                <a:cs typeface="Arial"/>
              </a:rPr>
              <a:t>X</a:t>
            </a:r>
            <a:endParaRPr sz="1200">
              <a:latin typeface="Arial"/>
              <a:cs typeface="Arial"/>
            </a:endParaRPr>
          </a:p>
        </p:txBody>
      </p:sp>
      <p:sp>
        <p:nvSpPr>
          <p:cNvPr id="69" name="object 6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Impact</a:t>
            </a:r>
            <a:r>
              <a:rPr dirty="0" spc="35"/>
              <a:t> </a:t>
            </a:r>
            <a:r>
              <a:rPr dirty="0"/>
              <a:t>of</a:t>
            </a:r>
            <a:r>
              <a:rPr dirty="0" spc="50"/>
              <a:t> </a:t>
            </a:r>
            <a:r>
              <a:rPr dirty="0"/>
              <a:t>Global</a:t>
            </a:r>
            <a:r>
              <a:rPr dirty="0" spc="65"/>
              <a:t> </a:t>
            </a:r>
            <a:r>
              <a:rPr dirty="0"/>
              <a:t>Economic</a:t>
            </a:r>
            <a:r>
              <a:rPr dirty="0" spc="30"/>
              <a:t> </a:t>
            </a:r>
            <a:r>
              <a:rPr dirty="0"/>
              <a:t>Trends</a:t>
            </a:r>
            <a:r>
              <a:rPr dirty="0" spc="45"/>
              <a:t> </a:t>
            </a:r>
            <a:r>
              <a:rPr dirty="0"/>
              <a:t>on</a:t>
            </a:r>
            <a:r>
              <a:rPr dirty="0" spc="40"/>
              <a:t> </a:t>
            </a:r>
            <a:r>
              <a:rPr dirty="0"/>
              <a:t>Nigeria’s</a:t>
            </a:r>
            <a:r>
              <a:rPr dirty="0" spc="60"/>
              <a:t> </a:t>
            </a:r>
            <a:r>
              <a:rPr dirty="0"/>
              <a:t>Foreign</a:t>
            </a:r>
            <a:r>
              <a:rPr dirty="0" spc="45"/>
              <a:t> </a:t>
            </a:r>
            <a:r>
              <a:rPr dirty="0"/>
              <a:t>Exchange</a:t>
            </a:r>
            <a:r>
              <a:rPr dirty="0" spc="60"/>
              <a:t> </a:t>
            </a:r>
            <a:r>
              <a:rPr dirty="0" spc="-10"/>
              <a:t>Market</a:t>
            </a:r>
          </a:p>
        </p:txBody>
      </p:sp>
      <p:sp>
        <p:nvSpPr>
          <p:cNvPr id="70" name="object 70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October</a:t>
            </a:r>
            <a:r>
              <a:rPr dirty="0" spc="80"/>
              <a:t> </a:t>
            </a:r>
            <a:r>
              <a:rPr dirty="0" spc="-20"/>
              <a:t>2023</a:t>
            </a:r>
          </a:p>
        </p:txBody>
      </p:sp>
      <p:sp>
        <p:nvSpPr>
          <p:cNvPr id="71" name="object 7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815"/>
              </a:lnSpc>
            </a:pPr>
            <a:fld id="{81D60167-4931-47E6-BA6A-407CBD079E47}" type="slidenum">
              <a:rPr dirty="0" spc="-25"/>
              <a:t>26</a:t>
            </a:fld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946518" y="3378200"/>
            <a:ext cx="2033905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Arial MT"/>
                <a:cs typeface="Arial MT"/>
              </a:rPr>
              <a:t>Deepening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of</a:t>
            </a:r>
            <a:r>
              <a:rPr dirty="0" sz="1600" spc="-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financial markets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2839211" y="1044702"/>
            <a:ext cx="3895725" cy="3554729"/>
            <a:chOff x="2839211" y="1044702"/>
            <a:chExt cx="3895725" cy="3554729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56832" y="3546347"/>
              <a:ext cx="77724" cy="196595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56832" y="1731264"/>
              <a:ext cx="77724" cy="196596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9211" y="1731264"/>
              <a:ext cx="77724" cy="196596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39211" y="1044702"/>
              <a:ext cx="3805682" cy="3554729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958076" y="1173861"/>
            <a:ext cx="2477135" cy="12446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346075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Arial MT"/>
                <a:cs typeface="Arial MT"/>
              </a:rPr>
              <a:t>Manage</a:t>
            </a:r>
            <a:r>
              <a:rPr dirty="0" spc="-3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for</a:t>
            </a:r>
            <a:r>
              <a:rPr dirty="0" spc="-35">
                <a:latin typeface="Arial MT"/>
                <a:cs typeface="Arial MT"/>
              </a:rPr>
              <a:t> </a:t>
            </a:r>
            <a:r>
              <a:rPr dirty="0" spc="-10">
                <a:latin typeface="Arial MT"/>
                <a:cs typeface="Arial MT"/>
              </a:rPr>
              <a:t>flexibility </a:t>
            </a:r>
            <a:r>
              <a:rPr dirty="0">
                <a:latin typeface="Arial MT"/>
                <a:cs typeface="Arial MT"/>
              </a:rPr>
              <a:t>and</a:t>
            </a:r>
            <a:r>
              <a:rPr dirty="0" spc="-1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shocks</a:t>
            </a:r>
            <a:r>
              <a:rPr dirty="0" spc="-1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– </a:t>
            </a:r>
            <a:r>
              <a:rPr dirty="0" spc="-10">
                <a:latin typeface="Arial MT"/>
                <a:cs typeface="Arial MT"/>
              </a:rPr>
              <a:t>withstand </a:t>
            </a:r>
            <a:r>
              <a:rPr dirty="0">
                <a:latin typeface="Arial MT"/>
                <a:cs typeface="Arial MT"/>
              </a:rPr>
              <a:t>external</a:t>
            </a:r>
            <a:r>
              <a:rPr dirty="0" spc="-35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shocks</a:t>
            </a:r>
            <a:r>
              <a:rPr dirty="0" spc="-45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with</a:t>
            </a:r>
            <a:r>
              <a:rPr dirty="0" spc="-35">
                <a:latin typeface="Arial MT"/>
                <a:cs typeface="Arial MT"/>
              </a:rPr>
              <a:t> </a:t>
            </a:r>
            <a:r>
              <a:rPr dirty="0" spc="-50">
                <a:latin typeface="Arial MT"/>
                <a:cs typeface="Arial MT"/>
              </a:rPr>
              <a:t>a</a:t>
            </a:r>
          </a:p>
          <a:p>
            <a:pPr marL="12700" marR="5080">
              <a:lnSpc>
                <a:spcPct val="100000"/>
              </a:lnSpc>
            </a:pPr>
            <a:r>
              <a:rPr dirty="0">
                <a:latin typeface="Arial MT"/>
                <a:cs typeface="Arial MT"/>
              </a:rPr>
              <a:t>pocket</a:t>
            </a:r>
            <a:r>
              <a:rPr dirty="0" spc="-5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of</a:t>
            </a:r>
            <a:r>
              <a:rPr dirty="0" spc="-35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sequenced</a:t>
            </a:r>
            <a:r>
              <a:rPr dirty="0" spc="-45">
                <a:latin typeface="Arial MT"/>
                <a:cs typeface="Arial MT"/>
              </a:rPr>
              <a:t> </a:t>
            </a:r>
            <a:r>
              <a:rPr dirty="0" spc="-10">
                <a:latin typeface="Arial MT"/>
                <a:cs typeface="Arial MT"/>
              </a:rPr>
              <a:t>policy execution</a:t>
            </a:r>
          </a:p>
        </p:txBody>
      </p:sp>
      <p:sp>
        <p:nvSpPr>
          <p:cNvPr id="18" name="object 1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Impact</a:t>
            </a:r>
            <a:r>
              <a:rPr dirty="0" spc="35"/>
              <a:t> </a:t>
            </a:r>
            <a:r>
              <a:rPr dirty="0"/>
              <a:t>of</a:t>
            </a:r>
            <a:r>
              <a:rPr dirty="0" spc="50"/>
              <a:t> </a:t>
            </a:r>
            <a:r>
              <a:rPr dirty="0"/>
              <a:t>Global</a:t>
            </a:r>
            <a:r>
              <a:rPr dirty="0" spc="65"/>
              <a:t> </a:t>
            </a:r>
            <a:r>
              <a:rPr dirty="0"/>
              <a:t>Economic</a:t>
            </a:r>
            <a:r>
              <a:rPr dirty="0" spc="30"/>
              <a:t> </a:t>
            </a:r>
            <a:r>
              <a:rPr dirty="0"/>
              <a:t>Trends</a:t>
            </a:r>
            <a:r>
              <a:rPr dirty="0" spc="45"/>
              <a:t> </a:t>
            </a:r>
            <a:r>
              <a:rPr dirty="0"/>
              <a:t>on</a:t>
            </a:r>
            <a:r>
              <a:rPr dirty="0" spc="40"/>
              <a:t> </a:t>
            </a:r>
            <a:r>
              <a:rPr dirty="0"/>
              <a:t>Nigeria’s</a:t>
            </a:r>
            <a:r>
              <a:rPr dirty="0" spc="60"/>
              <a:t> </a:t>
            </a:r>
            <a:r>
              <a:rPr dirty="0"/>
              <a:t>Foreign</a:t>
            </a:r>
            <a:r>
              <a:rPr dirty="0" spc="45"/>
              <a:t> </a:t>
            </a:r>
            <a:r>
              <a:rPr dirty="0"/>
              <a:t>Exchange</a:t>
            </a:r>
            <a:r>
              <a:rPr dirty="0" spc="60"/>
              <a:t> </a:t>
            </a:r>
            <a:r>
              <a:rPr dirty="0" spc="-10"/>
              <a:t>Market</a:t>
            </a:r>
          </a:p>
        </p:txBody>
      </p:sp>
      <p:sp>
        <p:nvSpPr>
          <p:cNvPr id="19" name="object 19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October</a:t>
            </a:r>
            <a:r>
              <a:rPr dirty="0" spc="80"/>
              <a:t> </a:t>
            </a:r>
            <a:r>
              <a:rPr dirty="0" spc="-20"/>
              <a:t>2023</a:t>
            </a:r>
          </a:p>
        </p:txBody>
      </p:sp>
      <p:sp>
        <p:nvSpPr>
          <p:cNvPr id="20" name="object 2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815"/>
              </a:lnSpc>
            </a:pPr>
            <a:fld id="{81D60167-4931-47E6-BA6A-407CBD079E47}" type="slidenum">
              <a:rPr dirty="0" spc="-25"/>
              <a:t>27</a:t>
            </a:fld>
          </a:p>
        </p:txBody>
      </p:sp>
      <p:sp>
        <p:nvSpPr>
          <p:cNvPr id="9" name="object 9" descr=""/>
          <p:cNvSpPr txBox="1"/>
          <p:nvPr/>
        </p:nvSpPr>
        <p:spPr>
          <a:xfrm>
            <a:off x="1014780" y="3285235"/>
            <a:ext cx="1639570" cy="1000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L="12700" marR="5080" indent="16256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Arial MT"/>
                <a:cs typeface="Arial MT"/>
              </a:rPr>
              <a:t>Short-</a:t>
            </a:r>
            <a:r>
              <a:rPr dirty="0" sz="1600">
                <a:latin typeface="Arial MT"/>
                <a:cs typeface="Arial MT"/>
              </a:rPr>
              <a:t>term</a:t>
            </a:r>
            <a:r>
              <a:rPr dirty="0" sz="1600" spc="2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fix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 spc="-35">
                <a:latin typeface="Arial MT"/>
                <a:cs typeface="Arial MT"/>
              </a:rPr>
              <a:t>to </a:t>
            </a:r>
            <a:r>
              <a:rPr dirty="0" sz="1600">
                <a:latin typeface="Arial MT"/>
                <a:cs typeface="Arial MT"/>
              </a:rPr>
              <a:t>enhance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foreign </a:t>
            </a:r>
            <a:r>
              <a:rPr dirty="0" sz="1600">
                <a:latin typeface="Arial MT"/>
                <a:cs typeface="Arial MT"/>
              </a:rPr>
              <a:t>exchange</a:t>
            </a:r>
            <a:r>
              <a:rPr dirty="0" sz="1600" spc="-6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liquidity</a:t>
            </a:r>
            <a:endParaRPr sz="1600">
              <a:latin typeface="Arial MT"/>
              <a:cs typeface="Arial MT"/>
            </a:endParaRPr>
          </a:p>
          <a:p>
            <a:pPr algn="r" marR="5715">
              <a:lnSpc>
                <a:spcPct val="100000"/>
              </a:lnSpc>
            </a:pPr>
            <a:r>
              <a:rPr dirty="0" sz="1600" spc="-50">
                <a:latin typeface="Arial MT"/>
                <a:cs typeface="Arial MT"/>
              </a:rPr>
              <a:t>.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92353" y="1325117"/>
            <a:ext cx="2225675" cy="1000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L="12700" marR="5080" indent="255904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Arial MT"/>
                <a:cs typeface="Arial MT"/>
              </a:rPr>
              <a:t>Boosting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of</a:t>
            </a:r>
            <a:r>
              <a:rPr dirty="0" sz="1600" spc="-5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Investors’ </a:t>
            </a:r>
            <a:r>
              <a:rPr dirty="0" sz="1600">
                <a:latin typeface="Arial MT"/>
                <a:cs typeface="Arial MT"/>
              </a:rPr>
              <a:t>Confidence</a:t>
            </a:r>
            <a:r>
              <a:rPr dirty="0" sz="1600" spc="4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-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 spc="-20">
                <a:latin typeface="Arial MT"/>
                <a:cs typeface="Arial MT"/>
              </a:rPr>
              <a:t>Clear </a:t>
            </a:r>
            <a:r>
              <a:rPr dirty="0" sz="1600">
                <a:latin typeface="Arial MT"/>
                <a:cs typeface="Arial MT"/>
              </a:rPr>
              <a:t>Nigeria</a:t>
            </a:r>
            <a:r>
              <a:rPr dirty="0" sz="1600" spc="-3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FX</a:t>
            </a:r>
            <a:r>
              <a:rPr dirty="0" sz="1600" spc="-10">
                <a:latin typeface="Arial MT"/>
                <a:cs typeface="Arial MT"/>
              </a:rPr>
              <a:t> Management</a:t>
            </a:r>
            <a:endParaRPr sz="16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</a:pPr>
            <a:r>
              <a:rPr dirty="0" sz="1600" spc="-10">
                <a:latin typeface="Arial MT"/>
                <a:cs typeface="Arial MT"/>
              </a:rPr>
              <a:t>Story.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450716" y="4644948"/>
            <a:ext cx="2735580" cy="756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065" marR="508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Arial MT"/>
                <a:cs typeface="Arial MT"/>
              </a:rPr>
              <a:t>Longer</a:t>
            </a:r>
            <a:r>
              <a:rPr dirty="0" sz="1600" spc="-1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term</a:t>
            </a:r>
            <a:r>
              <a:rPr dirty="0" sz="1600" spc="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sectorial</a:t>
            </a:r>
            <a:r>
              <a:rPr dirty="0" sz="1600" spc="-1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policy</a:t>
            </a:r>
            <a:r>
              <a:rPr dirty="0" sz="1600" spc="-35">
                <a:latin typeface="Arial MT"/>
                <a:cs typeface="Arial MT"/>
              </a:rPr>
              <a:t> </a:t>
            </a:r>
            <a:r>
              <a:rPr dirty="0" sz="1600" spc="-25">
                <a:latin typeface="Arial MT"/>
                <a:cs typeface="Arial MT"/>
              </a:rPr>
              <a:t>to </a:t>
            </a:r>
            <a:r>
              <a:rPr dirty="0" sz="1600">
                <a:latin typeface="Arial MT"/>
                <a:cs typeface="Arial MT"/>
              </a:rPr>
              <a:t>maximise</a:t>
            </a:r>
            <a:r>
              <a:rPr dirty="0" sz="1600" spc="-50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exports</a:t>
            </a:r>
            <a:r>
              <a:rPr dirty="0" sz="1600" spc="-25">
                <a:latin typeface="Arial MT"/>
                <a:cs typeface="Arial MT"/>
              </a:rPr>
              <a:t> </a:t>
            </a:r>
            <a:r>
              <a:rPr dirty="0" sz="1600">
                <a:latin typeface="Arial MT"/>
                <a:cs typeface="Arial MT"/>
              </a:rPr>
              <a:t>or</a:t>
            </a:r>
            <a:r>
              <a:rPr dirty="0" sz="1600" spc="-4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deepen </a:t>
            </a:r>
            <a:r>
              <a:rPr dirty="0" sz="1600">
                <a:latin typeface="Arial MT"/>
                <a:cs typeface="Arial MT"/>
              </a:rPr>
              <a:t>domestic</a:t>
            </a:r>
            <a:r>
              <a:rPr dirty="0" sz="1600" spc="-60">
                <a:latin typeface="Arial MT"/>
                <a:cs typeface="Arial MT"/>
              </a:rPr>
              <a:t> </a:t>
            </a:r>
            <a:r>
              <a:rPr dirty="0" sz="1600" spc="-10">
                <a:latin typeface="Arial MT"/>
                <a:cs typeface="Arial MT"/>
              </a:rPr>
              <a:t>consumption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3412616" y="1345819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 b="1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757798" y="1250696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 b="1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6340602" y="2842386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 b="1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4889372" y="4158233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 b="1"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3035045" y="3145663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 b="1"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239369" y="171068"/>
            <a:ext cx="11849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Georgia"/>
                <a:cs typeface="Georgia"/>
              </a:rPr>
              <a:t>Way</a:t>
            </a:r>
            <a:r>
              <a:rPr dirty="0" sz="1600" spc="-30">
                <a:latin typeface="Georgia"/>
                <a:cs typeface="Georgia"/>
              </a:rPr>
              <a:t> </a:t>
            </a:r>
            <a:r>
              <a:rPr dirty="0" sz="1600" spc="-10">
                <a:latin typeface="Georgia"/>
                <a:cs typeface="Georgia"/>
              </a:rPr>
              <a:t>forward</a:t>
            </a:r>
            <a:endParaRPr sz="16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010911" y="777240"/>
            <a:ext cx="4848225" cy="1117600"/>
          </a:xfrm>
          <a:prstGeom prst="rect">
            <a:avLst/>
          </a:prstGeom>
          <a:solidFill>
            <a:srgbClr val="464646"/>
          </a:solidFill>
        </p:spPr>
        <p:txBody>
          <a:bodyPr wrap="square" lIns="0" tIns="146050" rIns="0" bIns="0" rtlCol="0" vert="horz">
            <a:spAutoFit/>
          </a:bodyPr>
          <a:lstStyle/>
          <a:p>
            <a:pPr marL="220979" indent="-144780">
              <a:lnSpc>
                <a:spcPct val="100000"/>
              </a:lnSpc>
              <a:spcBef>
                <a:spcPts val="1150"/>
              </a:spcBef>
              <a:buClr>
                <a:srgbClr val="FFFFFF"/>
              </a:buClr>
              <a:buSzPct val="76190"/>
              <a:buFont typeface="Arial MT"/>
              <a:buChar char="•"/>
              <a:tabLst>
                <a:tab pos="220979" algn="l"/>
              </a:tabLst>
            </a:pPr>
            <a:r>
              <a:rPr dirty="0" sz="1050">
                <a:solidFill>
                  <a:srgbClr val="FFFFFF"/>
                </a:solidFill>
                <a:latin typeface="Arial MT"/>
                <a:cs typeface="Arial MT"/>
              </a:rPr>
              <a:t>Economic</a:t>
            </a:r>
            <a:r>
              <a:rPr dirty="0" sz="1050" spc="11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FFFFFF"/>
                </a:solidFill>
                <a:latin typeface="Arial MT"/>
                <a:cs typeface="Arial MT"/>
              </a:rPr>
              <a:t>Impact</a:t>
            </a:r>
            <a:r>
              <a:rPr dirty="0" sz="1050" spc="11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FFFFFF"/>
                </a:solidFill>
                <a:latin typeface="Arial MT"/>
                <a:cs typeface="Arial MT"/>
              </a:rPr>
              <a:t>Assessment</a:t>
            </a:r>
            <a:r>
              <a:rPr dirty="0" sz="1050" spc="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FFFFFF"/>
                </a:solidFill>
                <a:latin typeface="Arial MT"/>
                <a:cs typeface="Arial MT"/>
              </a:rPr>
              <a:t>(EIA)/Socio-Economic</a:t>
            </a:r>
            <a:r>
              <a:rPr dirty="0" sz="1050" spc="1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FFFFFF"/>
                </a:solidFill>
                <a:latin typeface="Arial MT"/>
                <a:cs typeface="Arial MT"/>
              </a:rPr>
              <a:t>Impact</a:t>
            </a:r>
            <a:r>
              <a:rPr dirty="0" sz="1050" spc="11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FFFFFF"/>
                </a:solidFill>
                <a:latin typeface="Arial MT"/>
                <a:cs typeface="Arial MT"/>
              </a:rPr>
              <a:t>Assessment</a:t>
            </a:r>
            <a:endParaRPr sz="1050">
              <a:latin typeface="Arial MT"/>
              <a:cs typeface="Arial MT"/>
            </a:endParaRPr>
          </a:p>
          <a:p>
            <a:pPr marL="219710">
              <a:lnSpc>
                <a:spcPct val="100000"/>
              </a:lnSpc>
              <a:spcBef>
                <a:spcPts val="40"/>
              </a:spcBef>
            </a:pPr>
            <a:r>
              <a:rPr dirty="0" sz="1050" spc="-10">
                <a:solidFill>
                  <a:srgbClr val="FFFFFF"/>
                </a:solidFill>
                <a:latin typeface="Arial MT"/>
                <a:cs typeface="Arial MT"/>
              </a:rPr>
              <a:t>(SEIA)</a:t>
            </a:r>
            <a:endParaRPr sz="1050">
              <a:latin typeface="Arial MT"/>
              <a:cs typeface="Arial MT"/>
            </a:endParaRPr>
          </a:p>
          <a:p>
            <a:pPr marL="220979" indent="-144780">
              <a:lnSpc>
                <a:spcPct val="100000"/>
              </a:lnSpc>
              <a:spcBef>
                <a:spcPts val="35"/>
              </a:spcBef>
              <a:buSzPct val="76190"/>
              <a:buChar char="•"/>
              <a:tabLst>
                <a:tab pos="220979" algn="l"/>
              </a:tabLst>
            </a:pPr>
            <a:r>
              <a:rPr dirty="0" sz="1050">
                <a:solidFill>
                  <a:srgbClr val="FFFFFF"/>
                </a:solidFill>
                <a:latin typeface="Arial MT"/>
                <a:cs typeface="Arial MT"/>
              </a:rPr>
              <a:t>Regulatory</a:t>
            </a:r>
            <a:r>
              <a:rPr dirty="0" sz="1050" spc="8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FFFFFF"/>
                </a:solidFill>
                <a:latin typeface="Arial MT"/>
                <a:cs typeface="Arial MT"/>
              </a:rPr>
              <a:t>Impact</a:t>
            </a:r>
            <a:r>
              <a:rPr dirty="0" sz="1050" spc="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FFFFFF"/>
                </a:solidFill>
                <a:latin typeface="Arial MT"/>
                <a:cs typeface="Arial MT"/>
              </a:rPr>
              <a:t>Analysis</a:t>
            </a:r>
            <a:r>
              <a:rPr dirty="0" sz="1050" spc="11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FFFFFF"/>
                </a:solidFill>
                <a:latin typeface="Arial MT"/>
                <a:cs typeface="Arial MT"/>
              </a:rPr>
              <a:t>(RIA)</a:t>
            </a:r>
            <a:endParaRPr sz="1050">
              <a:latin typeface="Arial MT"/>
              <a:cs typeface="Arial MT"/>
            </a:endParaRPr>
          </a:p>
          <a:p>
            <a:pPr marL="220979" indent="-144780">
              <a:lnSpc>
                <a:spcPct val="100000"/>
              </a:lnSpc>
              <a:spcBef>
                <a:spcPts val="50"/>
              </a:spcBef>
              <a:buSzPct val="76190"/>
              <a:buChar char="•"/>
              <a:tabLst>
                <a:tab pos="220979" algn="l"/>
              </a:tabLst>
            </a:pPr>
            <a:r>
              <a:rPr dirty="0" sz="1050">
                <a:solidFill>
                  <a:srgbClr val="FFFFFF"/>
                </a:solidFill>
                <a:latin typeface="Arial MT"/>
                <a:cs typeface="Arial MT"/>
              </a:rPr>
              <a:t>Competition</a:t>
            </a:r>
            <a:r>
              <a:rPr dirty="0" sz="1050" spc="1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FFFFFF"/>
                </a:solidFill>
                <a:latin typeface="Arial MT"/>
                <a:cs typeface="Arial MT"/>
              </a:rPr>
              <a:t>economics</a:t>
            </a:r>
            <a:endParaRPr sz="1050">
              <a:latin typeface="Arial MT"/>
              <a:cs typeface="Arial MT"/>
            </a:endParaRPr>
          </a:p>
          <a:p>
            <a:pPr marL="220979" indent="-144780">
              <a:lnSpc>
                <a:spcPct val="100000"/>
              </a:lnSpc>
              <a:spcBef>
                <a:spcPts val="35"/>
              </a:spcBef>
              <a:buSzPct val="76190"/>
              <a:buChar char="•"/>
              <a:tabLst>
                <a:tab pos="220979" algn="l"/>
              </a:tabLst>
            </a:pPr>
            <a:r>
              <a:rPr dirty="0" sz="1050">
                <a:solidFill>
                  <a:srgbClr val="FFFFFF"/>
                </a:solidFill>
                <a:latin typeface="Arial MT"/>
                <a:cs typeface="Arial MT"/>
              </a:rPr>
              <a:t>Policy</a:t>
            </a:r>
            <a:r>
              <a:rPr dirty="0" sz="1050" spc="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FFFFFF"/>
                </a:solidFill>
                <a:latin typeface="Arial MT"/>
                <a:cs typeface="Arial MT"/>
              </a:rPr>
              <a:t>analysis</a:t>
            </a:r>
            <a:r>
              <a:rPr dirty="0" sz="1050" spc="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1050" spc="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FFFFFF"/>
                </a:solidFill>
                <a:latin typeface="Arial MT"/>
                <a:cs typeface="Arial MT"/>
              </a:rPr>
              <a:t>development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717796" y="980313"/>
            <a:ext cx="23876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25">
                <a:solidFill>
                  <a:srgbClr val="464646"/>
                </a:solidFill>
                <a:latin typeface="Arial MT"/>
                <a:cs typeface="Arial MT"/>
              </a:rPr>
              <a:t>01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007864" y="2493264"/>
            <a:ext cx="4849495" cy="1092835"/>
          </a:xfrm>
          <a:prstGeom prst="rect">
            <a:avLst/>
          </a:prstGeom>
          <a:solidFill>
            <a:srgbClr val="D93953"/>
          </a:solidFill>
        </p:spPr>
        <p:txBody>
          <a:bodyPr wrap="square" lIns="0" tIns="14605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50"/>
              </a:spcBef>
            </a:pPr>
            <a:endParaRPr sz="1050">
              <a:latin typeface="Times New Roman"/>
              <a:cs typeface="Times New Roman"/>
            </a:endParaRPr>
          </a:p>
          <a:p>
            <a:pPr marL="221615" indent="-144145">
              <a:lnSpc>
                <a:spcPct val="100000"/>
              </a:lnSpc>
              <a:buSzPct val="76190"/>
              <a:buChar char="•"/>
              <a:tabLst>
                <a:tab pos="221615" algn="l"/>
              </a:tabLst>
            </a:pPr>
            <a:r>
              <a:rPr dirty="0" sz="1050">
                <a:solidFill>
                  <a:srgbClr val="FFFFFF"/>
                </a:solidFill>
                <a:latin typeface="Arial MT"/>
                <a:cs typeface="Arial MT"/>
              </a:rPr>
              <a:t>Macroeconomic</a:t>
            </a:r>
            <a:r>
              <a:rPr dirty="0" sz="1050" spc="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1050" spc="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FFFFFF"/>
                </a:solidFill>
                <a:latin typeface="Arial MT"/>
                <a:cs typeface="Arial MT"/>
              </a:rPr>
              <a:t>political</a:t>
            </a:r>
            <a:r>
              <a:rPr dirty="0" sz="1050" spc="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FFFFFF"/>
                </a:solidFill>
                <a:latin typeface="Arial MT"/>
                <a:cs typeface="Arial MT"/>
              </a:rPr>
              <a:t>research</a:t>
            </a:r>
            <a:endParaRPr sz="1050">
              <a:latin typeface="Arial MT"/>
              <a:cs typeface="Arial MT"/>
            </a:endParaRPr>
          </a:p>
          <a:p>
            <a:pPr marL="221615" indent="-144145">
              <a:lnSpc>
                <a:spcPct val="100000"/>
              </a:lnSpc>
              <a:spcBef>
                <a:spcPts val="40"/>
              </a:spcBef>
              <a:buSzPct val="76190"/>
              <a:buChar char="•"/>
              <a:tabLst>
                <a:tab pos="221615" algn="l"/>
              </a:tabLst>
            </a:pPr>
            <a:r>
              <a:rPr dirty="0" sz="1050">
                <a:solidFill>
                  <a:srgbClr val="FFFFFF"/>
                </a:solidFill>
                <a:latin typeface="Arial MT"/>
                <a:cs typeface="Arial MT"/>
              </a:rPr>
              <a:t>Market</a:t>
            </a:r>
            <a:r>
              <a:rPr dirty="0" sz="1050" spc="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FFFFFF"/>
                </a:solidFill>
                <a:latin typeface="Arial MT"/>
                <a:cs typeface="Arial MT"/>
              </a:rPr>
              <a:t>entry</a:t>
            </a:r>
            <a:r>
              <a:rPr dirty="0" sz="1050" spc="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1050" spc="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FFFFFF"/>
                </a:solidFill>
                <a:latin typeface="Arial MT"/>
                <a:cs typeface="Arial MT"/>
              </a:rPr>
              <a:t>sectoral</a:t>
            </a:r>
            <a:r>
              <a:rPr dirty="0" sz="1050" spc="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FFFFFF"/>
                </a:solidFill>
                <a:latin typeface="Arial MT"/>
                <a:cs typeface="Arial MT"/>
              </a:rPr>
              <a:t>analysis</a:t>
            </a:r>
            <a:endParaRPr sz="1050">
              <a:latin typeface="Arial MT"/>
              <a:cs typeface="Arial MT"/>
            </a:endParaRPr>
          </a:p>
          <a:p>
            <a:pPr marL="221615" indent="-144145">
              <a:lnSpc>
                <a:spcPct val="100000"/>
              </a:lnSpc>
              <a:spcBef>
                <a:spcPts val="35"/>
              </a:spcBef>
              <a:buSzPct val="76190"/>
              <a:buChar char="•"/>
              <a:tabLst>
                <a:tab pos="221615" algn="l"/>
              </a:tabLst>
            </a:pPr>
            <a:r>
              <a:rPr dirty="0" sz="1050">
                <a:solidFill>
                  <a:srgbClr val="FFFFFF"/>
                </a:solidFill>
                <a:latin typeface="Arial MT"/>
                <a:cs typeface="Arial MT"/>
              </a:rPr>
              <a:t>Country</a:t>
            </a:r>
            <a:r>
              <a:rPr dirty="0" sz="1050" spc="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1050" spc="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FFFFFF"/>
                </a:solidFill>
                <a:latin typeface="Arial MT"/>
                <a:cs typeface="Arial MT"/>
              </a:rPr>
              <a:t>industry</a:t>
            </a:r>
            <a:r>
              <a:rPr dirty="0" sz="1050" spc="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FFFFFF"/>
                </a:solidFill>
                <a:latin typeface="Arial MT"/>
                <a:cs typeface="Arial MT"/>
              </a:rPr>
              <a:t>risk</a:t>
            </a:r>
            <a:r>
              <a:rPr dirty="0" sz="1050" spc="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FFFFFF"/>
                </a:solidFill>
                <a:latin typeface="Arial MT"/>
                <a:cs typeface="Arial MT"/>
              </a:rPr>
              <a:t>assessments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698872" y="2696336"/>
            <a:ext cx="23876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25">
                <a:solidFill>
                  <a:srgbClr val="DB526A"/>
                </a:solidFill>
                <a:latin typeface="Arial MT"/>
                <a:cs typeface="Arial MT"/>
              </a:rPr>
              <a:t>02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003291" y="4177284"/>
            <a:ext cx="4853940" cy="1092835"/>
          </a:xfrm>
          <a:prstGeom prst="rect">
            <a:avLst/>
          </a:prstGeom>
          <a:solidFill>
            <a:srgbClr val="C00000"/>
          </a:solidFill>
        </p:spPr>
        <p:txBody>
          <a:bodyPr wrap="square" lIns="0" tIns="14668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55"/>
              </a:spcBef>
            </a:pPr>
            <a:endParaRPr sz="1050">
              <a:latin typeface="Times New Roman"/>
              <a:cs typeface="Times New Roman"/>
            </a:endParaRPr>
          </a:p>
          <a:p>
            <a:pPr marL="221615" indent="-144145">
              <a:lnSpc>
                <a:spcPct val="100000"/>
              </a:lnSpc>
              <a:buSzPct val="76190"/>
              <a:buChar char="•"/>
              <a:tabLst>
                <a:tab pos="221615" algn="l"/>
              </a:tabLst>
            </a:pPr>
            <a:r>
              <a:rPr dirty="0" sz="1050">
                <a:solidFill>
                  <a:srgbClr val="FFFFFF"/>
                </a:solidFill>
                <a:latin typeface="Arial MT"/>
                <a:cs typeface="Arial MT"/>
              </a:rPr>
              <a:t>ESG</a:t>
            </a:r>
            <a:r>
              <a:rPr dirty="0" sz="1050" spc="8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FFFFFF"/>
                </a:solidFill>
                <a:latin typeface="Arial MT"/>
                <a:cs typeface="Arial MT"/>
              </a:rPr>
              <a:t>scenario</a:t>
            </a:r>
            <a:r>
              <a:rPr dirty="0" sz="1050" spc="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FFFFFF"/>
                </a:solidFill>
                <a:latin typeface="Arial MT"/>
                <a:cs typeface="Arial MT"/>
              </a:rPr>
              <a:t>planning</a:t>
            </a:r>
            <a:endParaRPr sz="1050">
              <a:latin typeface="Arial MT"/>
              <a:cs typeface="Arial MT"/>
            </a:endParaRPr>
          </a:p>
          <a:p>
            <a:pPr marL="221615" indent="-144145">
              <a:lnSpc>
                <a:spcPct val="100000"/>
              </a:lnSpc>
              <a:spcBef>
                <a:spcPts val="40"/>
              </a:spcBef>
              <a:buSzPct val="76190"/>
              <a:buChar char="•"/>
              <a:tabLst>
                <a:tab pos="221615" algn="l"/>
              </a:tabLst>
            </a:pPr>
            <a:r>
              <a:rPr dirty="0" sz="1050">
                <a:solidFill>
                  <a:srgbClr val="FFFFFF"/>
                </a:solidFill>
                <a:latin typeface="Arial MT"/>
                <a:cs typeface="Arial MT"/>
              </a:rPr>
              <a:t>Economic</a:t>
            </a:r>
            <a:r>
              <a:rPr dirty="0" sz="1050" spc="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1050" spc="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FFFFFF"/>
                </a:solidFill>
                <a:latin typeface="Arial MT"/>
                <a:cs typeface="Arial MT"/>
              </a:rPr>
              <a:t>political</a:t>
            </a:r>
            <a:r>
              <a:rPr dirty="0" sz="1050" spc="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FFFFFF"/>
                </a:solidFill>
                <a:latin typeface="Arial MT"/>
                <a:cs typeface="Arial MT"/>
              </a:rPr>
              <a:t>scenario</a:t>
            </a:r>
            <a:r>
              <a:rPr dirty="0" sz="1050" spc="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FFFFFF"/>
                </a:solidFill>
                <a:latin typeface="Arial MT"/>
                <a:cs typeface="Arial MT"/>
              </a:rPr>
              <a:t>planning</a:t>
            </a:r>
            <a:endParaRPr sz="1050">
              <a:latin typeface="Arial MT"/>
              <a:cs typeface="Arial MT"/>
            </a:endParaRPr>
          </a:p>
          <a:p>
            <a:pPr marL="221615" indent="-144145">
              <a:lnSpc>
                <a:spcPct val="100000"/>
              </a:lnSpc>
              <a:spcBef>
                <a:spcPts val="35"/>
              </a:spcBef>
              <a:buSzPct val="76190"/>
              <a:buChar char="•"/>
              <a:tabLst>
                <a:tab pos="221615" algn="l"/>
              </a:tabLst>
            </a:pPr>
            <a:r>
              <a:rPr dirty="0" sz="1050">
                <a:solidFill>
                  <a:srgbClr val="FFFFFF"/>
                </a:solidFill>
                <a:latin typeface="Arial MT"/>
                <a:cs typeface="Arial MT"/>
              </a:rPr>
              <a:t>Industry</a:t>
            </a:r>
            <a:r>
              <a:rPr dirty="0" sz="1050" spc="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1050" spc="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FFFFFF"/>
                </a:solidFill>
                <a:latin typeface="Arial MT"/>
                <a:cs typeface="Arial MT"/>
              </a:rPr>
              <a:t>macroeconomic</a:t>
            </a:r>
            <a:r>
              <a:rPr dirty="0" sz="105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FFFFFF"/>
                </a:solidFill>
                <a:latin typeface="Arial MT"/>
                <a:cs typeface="Arial MT"/>
              </a:rPr>
              <a:t>modelling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694301" y="4537659"/>
            <a:ext cx="23876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25">
                <a:solidFill>
                  <a:srgbClr val="C00000"/>
                </a:solidFill>
                <a:latin typeface="Arial MT"/>
                <a:cs typeface="Arial MT"/>
              </a:rPr>
              <a:t>03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1394460" y="775716"/>
            <a:ext cx="2117090" cy="2207260"/>
          </a:xfrm>
          <a:custGeom>
            <a:avLst/>
            <a:gdLst/>
            <a:ahLst/>
            <a:cxnLst/>
            <a:rect l="l" t="t" r="r" b="b"/>
            <a:pathLst>
              <a:path w="2117090" h="2207260">
                <a:moveTo>
                  <a:pt x="2116836" y="0"/>
                </a:moveTo>
                <a:lnTo>
                  <a:pt x="0" y="0"/>
                </a:lnTo>
                <a:lnTo>
                  <a:pt x="0" y="2206751"/>
                </a:lnTo>
                <a:lnTo>
                  <a:pt x="2116836" y="2206751"/>
                </a:lnTo>
                <a:lnTo>
                  <a:pt x="2116836" y="0"/>
                </a:lnTo>
                <a:close/>
              </a:path>
            </a:pathLst>
          </a:custGeom>
          <a:solidFill>
            <a:srgbClr val="4646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1394460" y="775716"/>
            <a:ext cx="2117090" cy="2207260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75565" marR="75565">
              <a:lnSpc>
                <a:spcPct val="102899"/>
              </a:lnSpc>
              <a:spcBef>
                <a:spcPts val="380"/>
              </a:spcBef>
            </a:pPr>
            <a:r>
              <a:rPr dirty="0" sz="1050">
                <a:solidFill>
                  <a:srgbClr val="FFFFFF"/>
                </a:solidFill>
                <a:latin typeface="Arial MT"/>
                <a:cs typeface="Arial MT"/>
              </a:rPr>
              <a:t>Measure</a:t>
            </a:r>
            <a:r>
              <a:rPr dirty="0" sz="1050" spc="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1050" spc="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FFFFFF"/>
                </a:solidFill>
                <a:latin typeface="Arial MT"/>
                <a:cs typeface="Arial MT"/>
              </a:rPr>
              <a:t>assess</a:t>
            </a:r>
            <a:r>
              <a:rPr dirty="0" sz="1050" spc="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FFFFFF"/>
                </a:solidFill>
                <a:latin typeface="Arial MT"/>
                <a:cs typeface="Arial MT"/>
              </a:rPr>
              <a:t>our</a:t>
            </a:r>
            <a:r>
              <a:rPr dirty="0" sz="1050" spc="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FFFFFF"/>
                </a:solidFill>
                <a:latin typeface="Arial MT"/>
                <a:cs typeface="Arial MT"/>
              </a:rPr>
              <a:t>client’s </a:t>
            </a:r>
            <a:r>
              <a:rPr dirty="0" sz="1050">
                <a:solidFill>
                  <a:srgbClr val="FFFFFF"/>
                </a:solidFill>
                <a:latin typeface="Arial MT"/>
                <a:cs typeface="Arial MT"/>
              </a:rPr>
              <a:t>impact</a:t>
            </a:r>
            <a:r>
              <a:rPr dirty="0" sz="105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dirty="0" sz="1050" spc="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sz="1050" spc="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FFFFFF"/>
                </a:solidFill>
                <a:latin typeface="Arial MT"/>
                <a:cs typeface="Arial MT"/>
              </a:rPr>
              <a:t>economy, </a:t>
            </a:r>
            <a:r>
              <a:rPr dirty="0" sz="1050">
                <a:solidFill>
                  <a:srgbClr val="FFFFFF"/>
                </a:solidFill>
                <a:latin typeface="Arial MT"/>
                <a:cs typeface="Arial MT"/>
              </a:rPr>
              <a:t>competition</a:t>
            </a:r>
            <a:r>
              <a:rPr dirty="0" sz="1050" spc="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1050" spc="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FFFFFF"/>
                </a:solidFill>
                <a:latin typeface="Arial MT"/>
                <a:cs typeface="Arial MT"/>
              </a:rPr>
              <a:t>markets</a:t>
            </a: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35"/>
              </a:spcBef>
            </a:pPr>
            <a:endParaRPr sz="1050">
              <a:latin typeface="Arial MT"/>
              <a:cs typeface="Arial MT"/>
            </a:endParaRPr>
          </a:p>
          <a:p>
            <a:pPr marL="145415">
              <a:lnSpc>
                <a:spcPct val="100000"/>
              </a:lnSpc>
            </a:pPr>
            <a:r>
              <a:rPr dirty="0" sz="1650" spc="-25">
                <a:solidFill>
                  <a:srgbClr val="FFFFFF"/>
                </a:solidFill>
                <a:latin typeface="Arial MT"/>
                <a:cs typeface="Arial MT"/>
              </a:rPr>
              <a:t>01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300227" y="3063239"/>
            <a:ext cx="2117090" cy="2207260"/>
          </a:xfrm>
          <a:custGeom>
            <a:avLst/>
            <a:gdLst/>
            <a:ahLst/>
            <a:cxnLst/>
            <a:rect l="l" t="t" r="r" b="b"/>
            <a:pathLst>
              <a:path w="2117090" h="2207260">
                <a:moveTo>
                  <a:pt x="2116836" y="0"/>
                </a:moveTo>
                <a:lnTo>
                  <a:pt x="0" y="0"/>
                </a:lnTo>
                <a:lnTo>
                  <a:pt x="0" y="2206752"/>
                </a:lnTo>
                <a:lnTo>
                  <a:pt x="2116836" y="2206752"/>
                </a:lnTo>
                <a:lnTo>
                  <a:pt x="2116836" y="0"/>
                </a:lnTo>
                <a:close/>
              </a:path>
            </a:pathLst>
          </a:custGeom>
          <a:solidFill>
            <a:srgbClr val="D9395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300227" y="3063239"/>
            <a:ext cx="2117090" cy="2207260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76200" marR="241935">
              <a:lnSpc>
                <a:spcPct val="102899"/>
              </a:lnSpc>
              <a:spcBef>
                <a:spcPts val="380"/>
              </a:spcBef>
            </a:pPr>
            <a:r>
              <a:rPr dirty="0" sz="1050">
                <a:solidFill>
                  <a:srgbClr val="FFFFFF"/>
                </a:solidFill>
                <a:latin typeface="Arial MT"/>
                <a:cs typeface="Arial MT"/>
              </a:rPr>
              <a:t>Help</a:t>
            </a:r>
            <a:r>
              <a:rPr dirty="0" sz="1050" spc="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FFFFFF"/>
                </a:solidFill>
                <a:latin typeface="Arial MT"/>
                <a:cs typeface="Arial MT"/>
              </a:rPr>
              <a:t>our</a:t>
            </a:r>
            <a:r>
              <a:rPr dirty="0" sz="1050" spc="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FFFFFF"/>
                </a:solidFill>
                <a:latin typeface="Arial MT"/>
                <a:cs typeface="Arial MT"/>
              </a:rPr>
              <a:t>client</a:t>
            </a:r>
            <a:r>
              <a:rPr dirty="0" sz="1050" spc="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FFFFFF"/>
                </a:solidFill>
                <a:latin typeface="Arial MT"/>
                <a:cs typeface="Arial MT"/>
              </a:rPr>
              <a:t>make</a:t>
            </a:r>
            <a:r>
              <a:rPr dirty="0" sz="1050" spc="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FFFFFF"/>
                </a:solidFill>
                <a:latin typeface="Arial MT"/>
                <a:cs typeface="Arial MT"/>
              </a:rPr>
              <a:t>decision </a:t>
            </a:r>
            <a:r>
              <a:rPr dirty="0" sz="105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dirty="0" sz="1050" spc="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FFFFFF"/>
                </a:solidFill>
                <a:latin typeface="Arial MT"/>
                <a:cs typeface="Arial MT"/>
              </a:rPr>
              <a:t>investment</a:t>
            </a:r>
            <a:r>
              <a:rPr dirty="0" sz="1050" spc="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1050" spc="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50" spc="-20">
                <a:solidFill>
                  <a:srgbClr val="FFFFFF"/>
                </a:solidFill>
                <a:latin typeface="Arial MT"/>
                <a:cs typeface="Arial MT"/>
              </a:rPr>
              <a:t>risk</a:t>
            </a: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50">
              <a:latin typeface="Arial MT"/>
              <a:cs typeface="Arial MT"/>
            </a:endParaRPr>
          </a:p>
          <a:p>
            <a:pPr marL="126364">
              <a:lnSpc>
                <a:spcPct val="100000"/>
              </a:lnSpc>
            </a:pPr>
            <a:r>
              <a:rPr dirty="0" sz="1650" spc="-25">
                <a:solidFill>
                  <a:srgbClr val="FFFFFF"/>
                </a:solidFill>
                <a:latin typeface="Arial MT"/>
                <a:cs typeface="Arial MT"/>
              </a:rPr>
              <a:t>02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2496311" y="3063239"/>
            <a:ext cx="2117090" cy="2207260"/>
          </a:xfrm>
          <a:custGeom>
            <a:avLst/>
            <a:gdLst/>
            <a:ahLst/>
            <a:cxnLst/>
            <a:rect l="l" t="t" r="r" b="b"/>
            <a:pathLst>
              <a:path w="2117090" h="2207260">
                <a:moveTo>
                  <a:pt x="2116836" y="0"/>
                </a:moveTo>
                <a:lnTo>
                  <a:pt x="0" y="0"/>
                </a:lnTo>
                <a:lnTo>
                  <a:pt x="0" y="2206752"/>
                </a:lnTo>
                <a:lnTo>
                  <a:pt x="2116836" y="2206752"/>
                </a:lnTo>
                <a:lnTo>
                  <a:pt x="2116836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2496311" y="3063239"/>
            <a:ext cx="2117090" cy="2207260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algn="just" marL="76200" marR="267335">
              <a:lnSpc>
                <a:spcPct val="102899"/>
              </a:lnSpc>
              <a:spcBef>
                <a:spcPts val="380"/>
              </a:spcBef>
            </a:pPr>
            <a:r>
              <a:rPr dirty="0" sz="1050">
                <a:solidFill>
                  <a:srgbClr val="FFFFFF"/>
                </a:solidFill>
                <a:latin typeface="Arial MT"/>
                <a:cs typeface="Arial MT"/>
              </a:rPr>
              <a:t>Help</a:t>
            </a:r>
            <a:r>
              <a:rPr dirty="0" sz="1050" spc="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FFFFFF"/>
                </a:solidFill>
                <a:latin typeface="Arial MT"/>
                <a:cs typeface="Arial MT"/>
              </a:rPr>
              <a:t>our</a:t>
            </a:r>
            <a:r>
              <a:rPr dirty="0" sz="1050" spc="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FFFFFF"/>
                </a:solidFill>
                <a:latin typeface="Arial MT"/>
                <a:cs typeface="Arial MT"/>
              </a:rPr>
              <a:t>client</a:t>
            </a:r>
            <a:r>
              <a:rPr dirty="0" sz="1050" spc="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FFFFFF"/>
                </a:solidFill>
                <a:latin typeface="Arial MT"/>
                <a:cs typeface="Arial MT"/>
              </a:rPr>
              <a:t>plan</a:t>
            </a:r>
            <a:r>
              <a:rPr dirty="0" sz="1050" spc="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dirty="0" sz="1050" spc="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FFFFFF"/>
                </a:solidFill>
                <a:latin typeface="Arial MT"/>
                <a:cs typeface="Arial MT"/>
              </a:rPr>
              <a:t>future </a:t>
            </a:r>
            <a:r>
              <a:rPr dirty="0" sz="1050">
                <a:solidFill>
                  <a:srgbClr val="FFFFFF"/>
                </a:solidFill>
                <a:latin typeface="Arial MT"/>
                <a:cs typeface="Arial MT"/>
              </a:rPr>
              <a:t>macroeconomic,</a:t>
            </a:r>
            <a:r>
              <a:rPr dirty="0" sz="1050" spc="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FFFFFF"/>
                </a:solidFill>
                <a:latin typeface="Arial MT"/>
                <a:cs typeface="Arial MT"/>
              </a:rPr>
              <a:t>mega</a:t>
            </a:r>
            <a:r>
              <a:rPr dirty="0" sz="1050" spc="1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FFFFFF"/>
                </a:solidFill>
                <a:latin typeface="Arial MT"/>
                <a:cs typeface="Arial MT"/>
              </a:rPr>
              <a:t>trend </a:t>
            </a:r>
            <a:r>
              <a:rPr dirty="0" sz="105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1050" spc="8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FFFFFF"/>
                </a:solidFill>
                <a:latin typeface="Arial MT"/>
                <a:cs typeface="Arial MT"/>
              </a:rPr>
              <a:t>sustainability</a:t>
            </a:r>
            <a:r>
              <a:rPr dirty="0" sz="1050" spc="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FFFFFF"/>
                </a:solidFill>
                <a:latin typeface="Arial MT"/>
                <a:cs typeface="Arial MT"/>
              </a:rPr>
              <a:t>scenarios</a:t>
            </a: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25"/>
              </a:spcBef>
            </a:pPr>
            <a:endParaRPr sz="1050">
              <a:latin typeface="Arial MT"/>
              <a:cs typeface="Arial MT"/>
            </a:endParaRPr>
          </a:p>
          <a:p>
            <a:pPr marL="146050">
              <a:lnSpc>
                <a:spcPct val="100000"/>
              </a:lnSpc>
            </a:pPr>
            <a:r>
              <a:rPr dirty="0" sz="1650" spc="-25">
                <a:solidFill>
                  <a:srgbClr val="FFFFFF"/>
                </a:solidFill>
                <a:latin typeface="Arial MT"/>
                <a:cs typeface="Arial MT"/>
              </a:rPr>
              <a:t>03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1853183" y="4735321"/>
            <a:ext cx="466725" cy="466090"/>
          </a:xfrm>
          <a:custGeom>
            <a:avLst/>
            <a:gdLst/>
            <a:ahLst/>
            <a:cxnLst/>
            <a:rect l="l" t="t" r="r" b="b"/>
            <a:pathLst>
              <a:path w="466725" h="466089">
                <a:moveTo>
                  <a:pt x="466344" y="0"/>
                </a:moveTo>
                <a:lnTo>
                  <a:pt x="0" y="0"/>
                </a:lnTo>
                <a:lnTo>
                  <a:pt x="0" y="466089"/>
                </a:lnTo>
                <a:lnTo>
                  <a:pt x="466344" y="466089"/>
                </a:lnTo>
                <a:lnTo>
                  <a:pt x="466344" y="447039"/>
                </a:lnTo>
                <a:lnTo>
                  <a:pt x="19812" y="447039"/>
                </a:lnTo>
                <a:lnTo>
                  <a:pt x="19812" y="355599"/>
                </a:lnTo>
                <a:lnTo>
                  <a:pt x="211899" y="355599"/>
                </a:lnTo>
                <a:lnTo>
                  <a:pt x="211455" y="354329"/>
                </a:lnTo>
                <a:lnTo>
                  <a:pt x="210439" y="351789"/>
                </a:lnTo>
                <a:lnTo>
                  <a:pt x="209804" y="349249"/>
                </a:lnTo>
                <a:lnTo>
                  <a:pt x="209423" y="346709"/>
                </a:lnTo>
                <a:lnTo>
                  <a:pt x="209423" y="341629"/>
                </a:lnTo>
                <a:lnTo>
                  <a:pt x="209804" y="339089"/>
                </a:lnTo>
                <a:lnTo>
                  <a:pt x="210439" y="336549"/>
                </a:lnTo>
                <a:lnTo>
                  <a:pt x="210947" y="335279"/>
                </a:lnTo>
                <a:lnTo>
                  <a:pt x="19812" y="335279"/>
                </a:lnTo>
                <a:lnTo>
                  <a:pt x="19812" y="243839"/>
                </a:lnTo>
                <a:lnTo>
                  <a:pt x="313817" y="243839"/>
                </a:lnTo>
                <a:lnTo>
                  <a:pt x="312928" y="241299"/>
                </a:lnTo>
                <a:lnTo>
                  <a:pt x="312293" y="238759"/>
                </a:lnTo>
                <a:lnTo>
                  <a:pt x="311912" y="236219"/>
                </a:lnTo>
                <a:lnTo>
                  <a:pt x="311912" y="231139"/>
                </a:lnTo>
                <a:lnTo>
                  <a:pt x="312293" y="228599"/>
                </a:lnTo>
                <a:lnTo>
                  <a:pt x="312928" y="226059"/>
                </a:lnTo>
                <a:lnTo>
                  <a:pt x="313817" y="223519"/>
                </a:lnTo>
                <a:lnTo>
                  <a:pt x="19812" y="223519"/>
                </a:lnTo>
                <a:lnTo>
                  <a:pt x="19812" y="132079"/>
                </a:lnTo>
                <a:lnTo>
                  <a:pt x="91567" y="132079"/>
                </a:lnTo>
                <a:lnTo>
                  <a:pt x="90678" y="129539"/>
                </a:lnTo>
                <a:lnTo>
                  <a:pt x="90043" y="126999"/>
                </a:lnTo>
                <a:lnTo>
                  <a:pt x="89662" y="124459"/>
                </a:lnTo>
                <a:lnTo>
                  <a:pt x="89662" y="119379"/>
                </a:lnTo>
                <a:lnTo>
                  <a:pt x="90043" y="116839"/>
                </a:lnTo>
                <a:lnTo>
                  <a:pt x="90678" y="114299"/>
                </a:lnTo>
                <a:lnTo>
                  <a:pt x="91567" y="111759"/>
                </a:lnTo>
                <a:lnTo>
                  <a:pt x="19812" y="111759"/>
                </a:lnTo>
                <a:lnTo>
                  <a:pt x="19812" y="20319"/>
                </a:lnTo>
                <a:lnTo>
                  <a:pt x="466344" y="20319"/>
                </a:lnTo>
                <a:lnTo>
                  <a:pt x="466344" y="0"/>
                </a:lnTo>
                <a:close/>
              </a:path>
              <a:path w="466725" h="466089">
                <a:moveTo>
                  <a:pt x="466344" y="355599"/>
                </a:moveTo>
                <a:lnTo>
                  <a:pt x="446405" y="355599"/>
                </a:lnTo>
                <a:lnTo>
                  <a:pt x="446405" y="447039"/>
                </a:lnTo>
                <a:lnTo>
                  <a:pt x="466344" y="447039"/>
                </a:lnTo>
                <a:lnTo>
                  <a:pt x="466344" y="355599"/>
                </a:lnTo>
                <a:close/>
              </a:path>
              <a:path w="466725" h="466089">
                <a:moveTo>
                  <a:pt x="288626" y="383539"/>
                </a:moveTo>
                <a:lnTo>
                  <a:pt x="260477" y="383539"/>
                </a:lnTo>
                <a:lnTo>
                  <a:pt x="286131" y="408939"/>
                </a:lnTo>
                <a:lnTo>
                  <a:pt x="300228" y="394969"/>
                </a:lnTo>
                <a:lnTo>
                  <a:pt x="288626" y="383539"/>
                </a:lnTo>
                <a:close/>
              </a:path>
              <a:path w="466725" h="466089">
                <a:moveTo>
                  <a:pt x="242189" y="389889"/>
                </a:moveTo>
                <a:lnTo>
                  <a:pt x="231140" y="389889"/>
                </a:lnTo>
                <a:lnTo>
                  <a:pt x="235712" y="391159"/>
                </a:lnTo>
                <a:lnTo>
                  <a:pt x="239014" y="391159"/>
                </a:lnTo>
                <a:lnTo>
                  <a:pt x="242189" y="389889"/>
                </a:lnTo>
                <a:close/>
              </a:path>
              <a:path w="466725" h="466089">
                <a:moveTo>
                  <a:pt x="211899" y="355599"/>
                </a:moveTo>
                <a:lnTo>
                  <a:pt x="190754" y="355599"/>
                </a:lnTo>
                <a:lnTo>
                  <a:pt x="191516" y="358139"/>
                </a:lnTo>
                <a:lnTo>
                  <a:pt x="192532" y="360679"/>
                </a:lnTo>
                <a:lnTo>
                  <a:pt x="193802" y="364489"/>
                </a:lnTo>
                <a:lnTo>
                  <a:pt x="206375" y="379729"/>
                </a:lnTo>
                <a:lnTo>
                  <a:pt x="208153" y="382269"/>
                </a:lnTo>
                <a:lnTo>
                  <a:pt x="211963" y="384809"/>
                </a:lnTo>
                <a:lnTo>
                  <a:pt x="213868" y="384809"/>
                </a:lnTo>
                <a:lnTo>
                  <a:pt x="217932" y="387349"/>
                </a:lnTo>
                <a:lnTo>
                  <a:pt x="220091" y="388619"/>
                </a:lnTo>
                <a:lnTo>
                  <a:pt x="222123" y="388619"/>
                </a:lnTo>
                <a:lnTo>
                  <a:pt x="224409" y="389889"/>
                </a:lnTo>
                <a:lnTo>
                  <a:pt x="245491" y="389889"/>
                </a:lnTo>
                <a:lnTo>
                  <a:pt x="248666" y="388619"/>
                </a:lnTo>
                <a:lnTo>
                  <a:pt x="254762" y="386079"/>
                </a:lnTo>
                <a:lnTo>
                  <a:pt x="257556" y="384809"/>
                </a:lnTo>
                <a:lnTo>
                  <a:pt x="260477" y="383539"/>
                </a:lnTo>
                <a:lnTo>
                  <a:pt x="288626" y="383539"/>
                </a:lnTo>
                <a:lnTo>
                  <a:pt x="275736" y="370839"/>
                </a:lnTo>
                <a:lnTo>
                  <a:pt x="230505" y="370839"/>
                </a:lnTo>
                <a:lnTo>
                  <a:pt x="227965" y="369569"/>
                </a:lnTo>
                <a:lnTo>
                  <a:pt x="225679" y="368299"/>
                </a:lnTo>
                <a:lnTo>
                  <a:pt x="223266" y="368299"/>
                </a:lnTo>
                <a:lnTo>
                  <a:pt x="220980" y="367029"/>
                </a:lnTo>
                <a:lnTo>
                  <a:pt x="218948" y="364489"/>
                </a:lnTo>
                <a:lnTo>
                  <a:pt x="215265" y="360679"/>
                </a:lnTo>
                <a:lnTo>
                  <a:pt x="213741" y="359409"/>
                </a:lnTo>
                <a:lnTo>
                  <a:pt x="212344" y="356869"/>
                </a:lnTo>
                <a:lnTo>
                  <a:pt x="211899" y="355599"/>
                </a:lnTo>
                <a:close/>
              </a:path>
              <a:path w="466725" h="466089">
                <a:moveTo>
                  <a:pt x="273621" y="318769"/>
                </a:moveTo>
                <a:lnTo>
                  <a:pt x="240665" y="318769"/>
                </a:lnTo>
                <a:lnTo>
                  <a:pt x="243078" y="320039"/>
                </a:lnTo>
                <a:lnTo>
                  <a:pt x="245618" y="320039"/>
                </a:lnTo>
                <a:lnTo>
                  <a:pt x="247777" y="321309"/>
                </a:lnTo>
                <a:lnTo>
                  <a:pt x="250063" y="322579"/>
                </a:lnTo>
                <a:lnTo>
                  <a:pt x="252095" y="323849"/>
                </a:lnTo>
                <a:lnTo>
                  <a:pt x="254254" y="326389"/>
                </a:lnTo>
                <a:lnTo>
                  <a:pt x="255905" y="327659"/>
                </a:lnTo>
                <a:lnTo>
                  <a:pt x="257429" y="330199"/>
                </a:lnTo>
                <a:lnTo>
                  <a:pt x="258826" y="332739"/>
                </a:lnTo>
                <a:lnTo>
                  <a:pt x="259969" y="334009"/>
                </a:lnTo>
                <a:lnTo>
                  <a:pt x="260858" y="336549"/>
                </a:lnTo>
                <a:lnTo>
                  <a:pt x="261366" y="339089"/>
                </a:lnTo>
                <a:lnTo>
                  <a:pt x="261747" y="341629"/>
                </a:lnTo>
                <a:lnTo>
                  <a:pt x="261747" y="346709"/>
                </a:lnTo>
                <a:lnTo>
                  <a:pt x="255905" y="360679"/>
                </a:lnTo>
                <a:lnTo>
                  <a:pt x="254254" y="363219"/>
                </a:lnTo>
                <a:lnTo>
                  <a:pt x="252349" y="364489"/>
                </a:lnTo>
                <a:lnTo>
                  <a:pt x="250190" y="367029"/>
                </a:lnTo>
                <a:lnTo>
                  <a:pt x="247904" y="368299"/>
                </a:lnTo>
                <a:lnTo>
                  <a:pt x="245745" y="368299"/>
                </a:lnTo>
                <a:lnTo>
                  <a:pt x="243205" y="369569"/>
                </a:lnTo>
                <a:lnTo>
                  <a:pt x="240792" y="370839"/>
                </a:lnTo>
                <a:lnTo>
                  <a:pt x="275736" y="370839"/>
                </a:lnTo>
                <a:lnTo>
                  <a:pt x="274447" y="369569"/>
                </a:lnTo>
                <a:lnTo>
                  <a:pt x="275590" y="368299"/>
                </a:lnTo>
                <a:lnTo>
                  <a:pt x="276479" y="365759"/>
                </a:lnTo>
                <a:lnTo>
                  <a:pt x="277368" y="364489"/>
                </a:lnTo>
                <a:lnTo>
                  <a:pt x="278130" y="361949"/>
                </a:lnTo>
                <a:lnTo>
                  <a:pt x="279527" y="359409"/>
                </a:lnTo>
                <a:lnTo>
                  <a:pt x="280543" y="355599"/>
                </a:lnTo>
                <a:lnTo>
                  <a:pt x="466344" y="355599"/>
                </a:lnTo>
                <a:lnTo>
                  <a:pt x="466344" y="335279"/>
                </a:lnTo>
                <a:lnTo>
                  <a:pt x="280797" y="335279"/>
                </a:lnTo>
                <a:lnTo>
                  <a:pt x="280035" y="331469"/>
                </a:lnTo>
                <a:lnTo>
                  <a:pt x="278892" y="328929"/>
                </a:lnTo>
                <a:lnTo>
                  <a:pt x="277749" y="325119"/>
                </a:lnTo>
                <a:lnTo>
                  <a:pt x="276352" y="322579"/>
                </a:lnTo>
                <a:lnTo>
                  <a:pt x="274574" y="320039"/>
                </a:lnTo>
                <a:lnTo>
                  <a:pt x="273621" y="318769"/>
                </a:lnTo>
                <a:close/>
              </a:path>
              <a:path w="466725" h="466089">
                <a:moveTo>
                  <a:pt x="255143" y="302259"/>
                </a:moveTo>
                <a:lnTo>
                  <a:pt x="216154" y="302259"/>
                </a:lnTo>
                <a:lnTo>
                  <a:pt x="214249" y="303529"/>
                </a:lnTo>
                <a:lnTo>
                  <a:pt x="212217" y="304799"/>
                </a:lnTo>
                <a:lnTo>
                  <a:pt x="210312" y="306069"/>
                </a:lnTo>
                <a:lnTo>
                  <a:pt x="208280" y="307339"/>
                </a:lnTo>
                <a:lnTo>
                  <a:pt x="204724" y="309879"/>
                </a:lnTo>
                <a:lnTo>
                  <a:pt x="203073" y="312419"/>
                </a:lnTo>
                <a:lnTo>
                  <a:pt x="200660" y="314959"/>
                </a:lnTo>
                <a:lnTo>
                  <a:pt x="198501" y="317499"/>
                </a:lnTo>
                <a:lnTo>
                  <a:pt x="196596" y="320039"/>
                </a:lnTo>
                <a:lnTo>
                  <a:pt x="194945" y="322579"/>
                </a:lnTo>
                <a:lnTo>
                  <a:pt x="193548" y="325119"/>
                </a:lnTo>
                <a:lnTo>
                  <a:pt x="192278" y="328929"/>
                </a:lnTo>
                <a:lnTo>
                  <a:pt x="191262" y="331469"/>
                </a:lnTo>
                <a:lnTo>
                  <a:pt x="190500" y="335279"/>
                </a:lnTo>
                <a:lnTo>
                  <a:pt x="210947" y="335279"/>
                </a:lnTo>
                <a:lnTo>
                  <a:pt x="211455" y="334009"/>
                </a:lnTo>
                <a:lnTo>
                  <a:pt x="212344" y="332739"/>
                </a:lnTo>
                <a:lnTo>
                  <a:pt x="213741" y="330199"/>
                </a:lnTo>
                <a:lnTo>
                  <a:pt x="215265" y="327659"/>
                </a:lnTo>
                <a:lnTo>
                  <a:pt x="217170" y="326389"/>
                </a:lnTo>
                <a:lnTo>
                  <a:pt x="219075" y="323849"/>
                </a:lnTo>
                <a:lnTo>
                  <a:pt x="221107" y="322579"/>
                </a:lnTo>
                <a:lnTo>
                  <a:pt x="223393" y="321309"/>
                </a:lnTo>
                <a:lnTo>
                  <a:pt x="225806" y="320039"/>
                </a:lnTo>
                <a:lnTo>
                  <a:pt x="228092" y="320039"/>
                </a:lnTo>
                <a:lnTo>
                  <a:pt x="230632" y="318769"/>
                </a:lnTo>
                <a:lnTo>
                  <a:pt x="273621" y="318769"/>
                </a:lnTo>
                <a:lnTo>
                  <a:pt x="272669" y="317499"/>
                </a:lnTo>
                <a:lnTo>
                  <a:pt x="270637" y="314959"/>
                </a:lnTo>
                <a:lnTo>
                  <a:pt x="268224" y="312419"/>
                </a:lnTo>
                <a:lnTo>
                  <a:pt x="266573" y="309879"/>
                </a:lnTo>
                <a:lnTo>
                  <a:pt x="264668" y="308609"/>
                </a:lnTo>
                <a:lnTo>
                  <a:pt x="261112" y="306069"/>
                </a:lnTo>
                <a:lnTo>
                  <a:pt x="257048" y="303529"/>
                </a:lnTo>
                <a:lnTo>
                  <a:pt x="255143" y="302259"/>
                </a:lnTo>
                <a:close/>
              </a:path>
              <a:path w="466725" h="466089">
                <a:moveTo>
                  <a:pt x="466344" y="243839"/>
                </a:moveTo>
                <a:lnTo>
                  <a:pt x="446405" y="243839"/>
                </a:lnTo>
                <a:lnTo>
                  <a:pt x="446405" y="335279"/>
                </a:lnTo>
                <a:lnTo>
                  <a:pt x="466344" y="335279"/>
                </a:lnTo>
                <a:lnTo>
                  <a:pt x="466344" y="243839"/>
                </a:lnTo>
                <a:close/>
              </a:path>
              <a:path w="466725" h="466089">
                <a:moveTo>
                  <a:pt x="248793" y="299719"/>
                </a:moveTo>
                <a:lnTo>
                  <a:pt x="222377" y="299719"/>
                </a:lnTo>
                <a:lnTo>
                  <a:pt x="220345" y="300989"/>
                </a:lnTo>
                <a:lnTo>
                  <a:pt x="218186" y="302259"/>
                </a:lnTo>
                <a:lnTo>
                  <a:pt x="252984" y="302259"/>
                </a:lnTo>
                <a:lnTo>
                  <a:pt x="250952" y="300989"/>
                </a:lnTo>
                <a:lnTo>
                  <a:pt x="248793" y="299719"/>
                </a:lnTo>
                <a:close/>
              </a:path>
              <a:path w="466725" h="466089">
                <a:moveTo>
                  <a:pt x="242189" y="298449"/>
                </a:moveTo>
                <a:lnTo>
                  <a:pt x="228981" y="298449"/>
                </a:lnTo>
                <a:lnTo>
                  <a:pt x="226695" y="299719"/>
                </a:lnTo>
                <a:lnTo>
                  <a:pt x="246634" y="299719"/>
                </a:lnTo>
                <a:lnTo>
                  <a:pt x="242189" y="298449"/>
                </a:lnTo>
                <a:close/>
              </a:path>
              <a:path w="466725" h="466089">
                <a:moveTo>
                  <a:pt x="391172" y="273049"/>
                </a:moveTo>
                <a:lnTo>
                  <a:pt x="362966" y="273049"/>
                </a:lnTo>
                <a:lnTo>
                  <a:pt x="388620" y="298449"/>
                </a:lnTo>
                <a:lnTo>
                  <a:pt x="402717" y="284479"/>
                </a:lnTo>
                <a:lnTo>
                  <a:pt x="391172" y="273049"/>
                </a:lnTo>
                <a:close/>
              </a:path>
              <a:path w="466725" h="466089">
                <a:moveTo>
                  <a:pt x="313817" y="243839"/>
                </a:moveTo>
                <a:lnTo>
                  <a:pt x="293116" y="243839"/>
                </a:lnTo>
                <a:lnTo>
                  <a:pt x="293751" y="246379"/>
                </a:lnTo>
                <a:lnTo>
                  <a:pt x="294894" y="250189"/>
                </a:lnTo>
                <a:lnTo>
                  <a:pt x="296164" y="252729"/>
                </a:lnTo>
                <a:lnTo>
                  <a:pt x="297561" y="255269"/>
                </a:lnTo>
                <a:lnTo>
                  <a:pt x="299212" y="259079"/>
                </a:lnTo>
                <a:lnTo>
                  <a:pt x="314452" y="273049"/>
                </a:lnTo>
                <a:lnTo>
                  <a:pt x="318262" y="275589"/>
                </a:lnTo>
                <a:lnTo>
                  <a:pt x="320421" y="276859"/>
                </a:lnTo>
                <a:lnTo>
                  <a:pt x="322453" y="276859"/>
                </a:lnTo>
                <a:lnTo>
                  <a:pt x="324612" y="278129"/>
                </a:lnTo>
                <a:lnTo>
                  <a:pt x="326771" y="278129"/>
                </a:lnTo>
                <a:lnTo>
                  <a:pt x="329057" y="279399"/>
                </a:lnTo>
                <a:lnTo>
                  <a:pt x="347853" y="279399"/>
                </a:lnTo>
                <a:lnTo>
                  <a:pt x="351155" y="278129"/>
                </a:lnTo>
                <a:lnTo>
                  <a:pt x="357251" y="275589"/>
                </a:lnTo>
                <a:lnTo>
                  <a:pt x="360172" y="274319"/>
                </a:lnTo>
                <a:lnTo>
                  <a:pt x="362966" y="273049"/>
                </a:lnTo>
                <a:lnTo>
                  <a:pt x="391172" y="273049"/>
                </a:lnTo>
                <a:lnTo>
                  <a:pt x="378345" y="260349"/>
                </a:lnTo>
                <a:lnTo>
                  <a:pt x="335534" y="260349"/>
                </a:lnTo>
                <a:lnTo>
                  <a:pt x="332994" y="259079"/>
                </a:lnTo>
                <a:lnTo>
                  <a:pt x="330454" y="259079"/>
                </a:lnTo>
                <a:lnTo>
                  <a:pt x="328041" y="257809"/>
                </a:lnTo>
                <a:lnTo>
                  <a:pt x="316230" y="247649"/>
                </a:lnTo>
                <a:lnTo>
                  <a:pt x="314833" y="246379"/>
                </a:lnTo>
                <a:lnTo>
                  <a:pt x="313817" y="243839"/>
                </a:lnTo>
                <a:close/>
              </a:path>
              <a:path w="466725" h="466089">
                <a:moveTo>
                  <a:pt x="375793" y="207009"/>
                </a:moveTo>
                <a:lnTo>
                  <a:pt x="340614" y="207009"/>
                </a:lnTo>
                <a:lnTo>
                  <a:pt x="343154" y="208279"/>
                </a:lnTo>
                <a:lnTo>
                  <a:pt x="345567" y="208279"/>
                </a:lnTo>
                <a:lnTo>
                  <a:pt x="347853" y="209549"/>
                </a:lnTo>
                <a:lnTo>
                  <a:pt x="360172" y="219709"/>
                </a:lnTo>
                <a:lnTo>
                  <a:pt x="361315" y="220979"/>
                </a:lnTo>
                <a:lnTo>
                  <a:pt x="362458" y="223519"/>
                </a:lnTo>
                <a:lnTo>
                  <a:pt x="363347" y="226059"/>
                </a:lnTo>
                <a:lnTo>
                  <a:pt x="364363" y="231139"/>
                </a:lnTo>
                <a:lnTo>
                  <a:pt x="364363" y="236219"/>
                </a:lnTo>
                <a:lnTo>
                  <a:pt x="345694" y="259079"/>
                </a:lnTo>
                <a:lnTo>
                  <a:pt x="343281" y="259079"/>
                </a:lnTo>
                <a:lnTo>
                  <a:pt x="340614" y="260349"/>
                </a:lnTo>
                <a:lnTo>
                  <a:pt x="378345" y="260349"/>
                </a:lnTo>
                <a:lnTo>
                  <a:pt x="377063" y="259079"/>
                </a:lnTo>
                <a:lnTo>
                  <a:pt x="379095" y="255269"/>
                </a:lnTo>
                <a:lnTo>
                  <a:pt x="379984" y="252729"/>
                </a:lnTo>
                <a:lnTo>
                  <a:pt x="380746" y="251459"/>
                </a:lnTo>
                <a:lnTo>
                  <a:pt x="381508" y="248919"/>
                </a:lnTo>
                <a:lnTo>
                  <a:pt x="382778" y="245109"/>
                </a:lnTo>
                <a:lnTo>
                  <a:pt x="383159" y="243839"/>
                </a:lnTo>
                <a:lnTo>
                  <a:pt x="466344" y="243839"/>
                </a:lnTo>
                <a:lnTo>
                  <a:pt x="466344" y="223519"/>
                </a:lnTo>
                <a:lnTo>
                  <a:pt x="383159" y="223519"/>
                </a:lnTo>
                <a:lnTo>
                  <a:pt x="382270" y="220979"/>
                </a:lnTo>
                <a:lnTo>
                  <a:pt x="381381" y="217169"/>
                </a:lnTo>
                <a:lnTo>
                  <a:pt x="380111" y="214629"/>
                </a:lnTo>
                <a:lnTo>
                  <a:pt x="378714" y="212089"/>
                </a:lnTo>
                <a:lnTo>
                  <a:pt x="377063" y="209549"/>
                </a:lnTo>
                <a:lnTo>
                  <a:pt x="375793" y="207009"/>
                </a:lnTo>
                <a:close/>
              </a:path>
              <a:path w="466725" h="466089">
                <a:moveTo>
                  <a:pt x="355473" y="190499"/>
                </a:moveTo>
                <a:lnTo>
                  <a:pt x="320675" y="190499"/>
                </a:lnTo>
                <a:lnTo>
                  <a:pt x="316611" y="193039"/>
                </a:lnTo>
                <a:lnTo>
                  <a:pt x="314706" y="194309"/>
                </a:lnTo>
                <a:lnTo>
                  <a:pt x="312674" y="195579"/>
                </a:lnTo>
                <a:lnTo>
                  <a:pt x="297688" y="212089"/>
                </a:lnTo>
                <a:lnTo>
                  <a:pt x="296164" y="214629"/>
                </a:lnTo>
                <a:lnTo>
                  <a:pt x="294894" y="217169"/>
                </a:lnTo>
                <a:lnTo>
                  <a:pt x="293878" y="220979"/>
                </a:lnTo>
                <a:lnTo>
                  <a:pt x="293116" y="223519"/>
                </a:lnTo>
                <a:lnTo>
                  <a:pt x="313817" y="223519"/>
                </a:lnTo>
                <a:lnTo>
                  <a:pt x="314833" y="220979"/>
                </a:lnTo>
                <a:lnTo>
                  <a:pt x="316230" y="219709"/>
                </a:lnTo>
                <a:lnTo>
                  <a:pt x="330581" y="208279"/>
                </a:lnTo>
                <a:lnTo>
                  <a:pt x="333121" y="208279"/>
                </a:lnTo>
                <a:lnTo>
                  <a:pt x="335661" y="207009"/>
                </a:lnTo>
                <a:lnTo>
                  <a:pt x="375793" y="207009"/>
                </a:lnTo>
                <a:lnTo>
                  <a:pt x="375158" y="205739"/>
                </a:lnTo>
                <a:lnTo>
                  <a:pt x="365379" y="196849"/>
                </a:lnTo>
                <a:lnTo>
                  <a:pt x="363601" y="195579"/>
                </a:lnTo>
                <a:lnTo>
                  <a:pt x="361696" y="194309"/>
                </a:lnTo>
                <a:lnTo>
                  <a:pt x="357632" y="191769"/>
                </a:lnTo>
                <a:lnTo>
                  <a:pt x="355473" y="190499"/>
                </a:lnTo>
                <a:close/>
              </a:path>
              <a:path w="466725" h="466089">
                <a:moveTo>
                  <a:pt x="466344" y="132079"/>
                </a:moveTo>
                <a:lnTo>
                  <a:pt x="446405" y="132079"/>
                </a:lnTo>
                <a:lnTo>
                  <a:pt x="446405" y="223519"/>
                </a:lnTo>
                <a:lnTo>
                  <a:pt x="466344" y="223519"/>
                </a:lnTo>
                <a:lnTo>
                  <a:pt x="466344" y="132079"/>
                </a:lnTo>
                <a:close/>
              </a:path>
              <a:path w="466725" h="466089">
                <a:moveTo>
                  <a:pt x="351282" y="189229"/>
                </a:moveTo>
                <a:lnTo>
                  <a:pt x="324866" y="189229"/>
                </a:lnTo>
                <a:lnTo>
                  <a:pt x="322834" y="190499"/>
                </a:lnTo>
                <a:lnTo>
                  <a:pt x="353441" y="190499"/>
                </a:lnTo>
                <a:lnTo>
                  <a:pt x="351282" y="189229"/>
                </a:lnTo>
                <a:close/>
              </a:path>
              <a:path w="466725" h="466089">
                <a:moveTo>
                  <a:pt x="346964" y="187959"/>
                </a:moveTo>
                <a:lnTo>
                  <a:pt x="329184" y="187959"/>
                </a:lnTo>
                <a:lnTo>
                  <a:pt x="327152" y="189229"/>
                </a:lnTo>
                <a:lnTo>
                  <a:pt x="348996" y="189229"/>
                </a:lnTo>
                <a:lnTo>
                  <a:pt x="346964" y="187959"/>
                </a:lnTo>
                <a:close/>
              </a:path>
              <a:path w="466725" h="466089">
                <a:moveTo>
                  <a:pt x="91567" y="132079"/>
                </a:moveTo>
                <a:lnTo>
                  <a:pt x="70739" y="132079"/>
                </a:lnTo>
                <a:lnTo>
                  <a:pt x="72643" y="138429"/>
                </a:lnTo>
                <a:lnTo>
                  <a:pt x="73787" y="140969"/>
                </a:lnTo>
                <a:lnTo>
                  <a:pt x="75184" y="144779"/>
                </a:lnTo>
                <a:lnTo>
                  <a:pt x="86741" y="157479"/>
                </a:lnTo>
                <a:lnTo>
                  <a:pt x="88518" y="158749"/>
                </a:lnTo>
                <a:lnTo>
                  <a:pt x="90424" y="161289"/>
                </a:lnTo>
                <a:lnTo>
                  <a:pt x="140716" y="161289"/>
                </a:lnTo>
                <a:lnTo>
                  <a:pt x="166370" y="186689"/>
                </a:lnTo>
                <a:lnTo>
                  <a:pt x="180467" y="172719"/>
                </a:lnTo>
                <a:lnTo>
                  <a:pt x="155975" y="148589"/>
                </a:lnTo>
                <a:lnTo>
                  <a:pt x="113284" y="148589"/>
                </a:lnTo>
                <a:lnTo>
                  <a:pt x="110871" y="147319"/>
                </a:lnTo>
                <a:lnTo>
                  <a:pt x="108331" y="147319"/>
                </a:lnTo>
                <a:lnTo>
                  <a:pt x="105918" y="146049"/>
                </a:lnTo>
                <a:lnTo>
                  <a:pt x="103632" y="146049"/>
                </a:lnTo>
                <a:lnTo>
                  <a:pt x="101346" y="144779"/>
                </a:lnTo>
                <a:lnTo>
                  <a:pt x="99187" y="142239"/>
                </a:lnTo>
                <a:lnTo>
                  <a:pt x="97282" y="140969"/>
                </a:lnTo>
                <a:lnTo>
                  <a:pt x="95504" y="138429"/>
                </a:lnTo>
                <a:lnTo>
                  <a:pt x="93980" y="137159"/>
                </a:lnTo>
                <a:lnTo>
                  <a:pt x="92710" y="134619"/>
                </a:lnTo>
                <a:lnTo>
                  <a:pt x="91567" y="132079"/>
                </a:lnTo>
                <a:close/>
              </a:path>
              <a:path w="466725" h="466089">
                <a:moveTo>
                  <a:pt x="119126" y="167639"/>
                </a:moveTo>
                <a:lnTo>
                  <a:pt x="111379" y="167639"/>
                </a:lnTo>
                <a:lnTo>
                  <a:pt x="113665" y="168909"/>
                </a:lnTo>
                <a:lnTo>
                  <a:pt x="115824" y="168909"/>
                </a:lnTo>
                <a:lnTo>
                  <a:pt x="119126" y="167639"/>
                </a:lnTo>
                <a:close/>
              </a:path>
              <a:path w="466725" h="466089">
                <a:moveTo>
                  <a:pt x="140716" y="161289"/>
                </a:moveTo>
                <a:lnTo>
                  <a:pt x="92456" y="161289"/>
                </a:lnTo>
                <a:lnTo>
                  <a:pt x="96266" y="163829"/>
                </a:lnTo>
                <a:lnTo>
                  <a:pt x="98425" y="165099"/>
                </a:lnTo>
                <a:lnTo>
                  <a:pt x="100457" y="166369"/>
                </a:lnTo>
                <a:lnTo>
                  <a:pt x="102743" y="166369"/>
                </a:lnTo>
                <a:lnTo>
                  <a:pt x="104775" y="167639"/>
                </a:lnTo>
                <a:lnTo>
                  <a:pt x="125603" y="167639"/>
                </a:lnTo>
                <a:lnTo>
                  <a:pt x="128778" y="166369"/>
                </a:lnTo>
                <a:lnTo>
                  <a:pt x="134874" y="163829"/>
                </a:lnTo>
                <a:lnTo>
                  <a:pt x="140716" y="161289"/>
                </a:lnTo>
                <a:close/>
              </a:path>
              <a:path w="466725" h="466089">
                <a:moveTo>
                  <a:pt x="153797" y="95249"/>
                </a:moveTo>
                <a:lnTo>
                  <a:pt x="115824" y="95249"/>
                </a:lnTo>
                <a:lnTo>
                  <a:pt x="118491" y="96519"/>
                </a:lnTo>
                <a:lnTo>
                  <a:pt x="123317" y="96519"/>
                </a:lnTo>
                <a:lnTo>
                  <a:pt x="125857" y="97789"/>
                </a:lnTo>
                <a:lnTo>
                  <a:pt x="128016" y="99059"/>
                </a:lnTo>
                <a:lnTo>
                  <a:pt x="132588" y="101599"/>
                </a:lnTo>
                <a:lnTo>
                  <a:pt x="134493" y="104139"/>
                </a:lnTo>
                <a:lnTo>
                  <a:pt x="136144" y="105409"/>
                </a:lnTo>
                <a:lnTo>
                  <a:pt x="137795" y="107949"/>
                </a:lnTo>
                <a:lnTo>
                  <a:pt x="139065" y="109219"/>
                </a:lnTo>
                <a:lnTo>
                  <a:pt x="142113" y="121919"/>
                </a:lnTo>
                <a:lnTo>
                  <a:pt x="141986" y="124459"/>
                </a:lnTo>
                <a:lnTo>
                  <a:pt x="136144" y="138429"/>
                </a:lnTo>
                <a:lnTo>
                  <a:pt x="134493" y="140969"/>
                </a:lnTo>
                <a:lnTo>
                  <a:pt x="132588" y="142239"/>
                </a:lnTo>
                <a:lnTo>
                  <a:pt x="130302" y="144779"/>
                </a:lnTo>
                <a:lnTo>
                  <a:pt x="128016" y="146049"/>
                </a:lnTo>
                <a:lnTo>
                  <a:pt x="125857" y="146049"/>
                </a:lnTo>
                <a:lnTo>
                  <a:pt x="123317" y="147319"/>
                </a:lnTo>
                <a:lnTo>
                  <a:pt x="120904" y="147319"/>
                </a:lnTo>
                <a:lnTo>
                  <a:pt x="118491" y="148589"/>
                </a:lnTo>
                <a:lnTo>
                  <a:pt x="155975" y="148589"/>
                </a:lnTo>
                <a:lnTo>
                  <a:pt x="154686" y="147319"/>
                </a:lnTo>
                <a:lnTo>
                  <a:pt x="155829" y="144779"/>
                </a:lnTo>
                <a:lnTo>
                  <a:pt x="156845" y="143509"/>
                </a:lnTo>
                <a:lnTo>
                  <a:pt x="157734" y="142239"/>
                </a:lnTo>
                <a:lnTo>
                  <a:pt x="158623" y="139699"/>
                </a:lnTo>
                <a:lnTo>
                  <a:pt x="159385" y="138429"/>
                </a:lnTo>
                <a:lnTo>
                  <a:pt x="160401" y="133349"/>
                </a:lnTo>
                <a:lnTo>
                  <a:pt x="161036" y="132079"/>
                </a:lnTo>
                <a:lnTo>
                  <a:pt x="466344" y="132079"/>
                </a:lnTo>
                <a:lnTo>
                  <a:pt x="466344" y="111759"/>
                </a:lnTo>
                <a:lnTo>
                  <a:pt x="160909" y="111759"/>
                </a:lnTo>
                <a:lnTo>
                  <a:pt x="160020" y="109219"/>
                </a:lnTo>
                <a:lnTo>
                  <a:pt x="159004" y="105409"/>
                </a:lnTo>
                <a:lnTo>
                  <a:pt x="156464" y="100329"/>
                </a:lnTo>
                <a:lnTo>
                  <a:pt x="154686" y="96519"/>
                </a:lnTo>
                <a:lnTo>
                  <a:pt x="153797" y="95249"/>
                </a:lnTo>
                <a:close/>
              </a:path>
              <a:path w="466725" h="466089">
                <a:moveTo>
                  <a:pt x="135382" y="80009"/>
                </a:moveTo>
                <a:lnTo>
                  <a:pt x="96266" y="80009"/>
                </a:lnTo>
                <a:lnTo>
                  <a:pt x="92456" y="82549"/>
                </a:lnTo>
                <a:lnTo>
                  <a:pt x="90424" y="83819"/>
                </a:lnTo>
                <a:lnTo>
                  <a:pt x="88518" y="85089"/>
                </a:lnTo>
                <a:lnTo>
                  <a:pt x="86741" y="86359"/>
                </a:lnTo>
                <a:lnTo>
                  <a:pt x="84836" y="87629"/>
                </a:lnTo>
                <a:lnTo>
                  <a:pt x="83185" y="90169"/>
                </a:lnTo>
                <a:lnTo>
                  <a:pt x="80899" y="91439"/>
                </a:lnTo>
                <a:lnTo>
                  <a:pt x="78867" y="93979"/>
                </a:lnTo>
                <a:lnTo>
                  <a:pt x="77089" y="96519"/>
                </a:lnTo>
                <a:lnTo>
                  <a:pt x="75311" y="100329"/>
                </a:lnTo>
                <a:lnTo>
                  <a:pt x="73787" y="102869"/>
                </a:lnTo>
                <a:lnTo>
                  <a:pt x="72771" y="105409"/>
                </a:lnTo>
                <a:lnTo>
                  <a:pt x="71628" y="109219"/>
                </a:lnTo>
                <a:lnTo>
                  <a:pt x="70739" y="111759"/>
                </a:lnTo>
                <a:lnTo>
                  <a:pt x="91567" y="111759"/>
                </a:lnTo>
                <a:lnTo>
                  <a:pt x="92710" y="109219"/>
                </a:lnTo>
                <a:lnTo>
                  <a:pt x="93980" y="107949"/>
                </a:lnTo>
                <a:lnTo>
                  <a:pt x="95504" y="105409"/>
                </a:lnTo>
                <a:lnTo>
                  <a:pt x="97282" y="104139"/>
                </a:lnTo>
                <a:lnTo>
                  <a:pt x="99187" y="101599"/>
                </a:lnTo>
                <a:lnTo>
                  <a:pt x="101346" y="100329"/>
                </a:lnTo>
                <a:lnTo>
                  <a:pt x="105918" y="97789"/>
                </a:lnTo>
                <a:lnTo>
                  <a:pt x="108331" y="96519"/>
                </a:lnTo>
                <a:lnTo>
                  <a:pt x="113284" y="96519"/>
                </a:lnTo>
                <a:lnTo>
                  <a:pt x="115824" y="95249"/>
                </a:lnTo>
                <a:lnTo>
                  <a:pt x="153797" y="95249"/>
                </a:lnTo>
                <a:lnTo>
                  <a:pt x="152908" y="93979"/>
                </a:lnTo>
                <a:lnTo>
                  <a:pt x="150876" y="91439"/>
                </a:lnTo>
                <a:lnTo>
                  <a:pt x="148590" y="90169"/>
                </a:lnTo>
                <a:lnTo>
                  <a:pt x="146812" y="87629"/>
                </a:lnTo>
                <a:lnTo>
                  <a:pt x="145034" y="86359"/>
                </a:lnTo>
                <a:lnTo>
                  <a:pt x="143129" y="85089"/>
                </a:lnTo>
                <a:lnTo>
                  <a:pt x="141351" y="83819"/>
                </a:lnTo>
                <a:lnTo>
                  <a:pt x="139319" y="82549"/>
                </a:lnTo>
                <a:lnTo>
                  <a:pt x="137414" y="81279"/>
                </a:lnTo>
                <a:lnTo>
                  <a:pt x="135382" y="80009"/>
                </a:lnTo>
                <a:close/>
              </a:path>
              <a:path w="466725" h="466089">
                <a:moveTo>
                  <a:pt x="466344" y="20319"/>
                </a:moveTo>
                <a:lnTo>
                  <a:pt x="446405" y="20319"/>
                </a:lnTo>
                <a:lnTo>
                  <a:pt x="446405" y="111759"/>
                </a:lnTo>
                <a:lnTo>
                  <a:pt x="466344" y="111759"/>
                </a:lnTo>
                <a:lnTo>
                  <a:pt x="466344" y="20319"/>
                </a:lnTo>
                <a:close/>
              </a:path>
              <a:path w="466725" h="466089">
                <a:moveTo>
                  <a:pt x="129032" y="77469"/>
                </a:moveTo>
                <a:lnTo>
                  <a:pt x="102743" y="77469"/>
                </a:lnTo>
                <a:lnTo>
                  <a:pt x="100457" y="78739"/>
                </a:lnTo>
                <a:lnTo>
                  <a:pt x="98425" y="80009"/>
                </a:lnTo>
                <a:lnTo>
                  <a:pt x="133223" y="80009"/>
                </a:lnTo>
                <a:lnTo>
                  <a:pt x="131191" y="78739"/>
                </a:lnTo>
                <a:lnTo>
                  <a:pt x="129032" y="77469"/>
                </a:lnTo>
                <a:close/>
              </a:path>
              <a:path w="466725" h="466089">
                <a:moveTo>
                  <a:pt x="122428" y="76199"/>
                </a:moveTo>
                <a:lnTo>
                  <a:pt x="109093" y="76199"/>
                </a:lnTo>
                <a:lnTo>
                  <a:pt x="107061" y="77469"/>
                </a:lnTo>
                <a:lnTo>
                  <a:pt x="127000" y="77469"/>
                </a:lnTo>
                <a:lnTo>
                  <a:pt x="122428" y="761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2935224" y="2414269"/>
            <a:ext cx="469900" cy="468630"/>
          </a:xfrm>
          <a:custGeom>
            <a:avLst/>
            <a:gdLst/>
            <a:ahLst/>
            <a:cxnLst/>
            <a:rect l="l" t="t" r="r" b="b"/>
            <a:pathLst>
              <a:path w="469900" h="468630">
                <a:moveTo>
                  <a:pt x="74676" y="328930"/>
                </a:moveTo>
                <a:lnTo>
                  <a:pt x="54864" y="328930"/>
                </a:lnTo>
                <a:lnTo>
                  <a:pt x="54864" y="350266"/>
                </a:lnTo>
                <a:lnTo>
                  <a:pt x="74676" y="350266"/>
                </a:lnTo>
                <a:lnTo>
                  <a:pt x="74676" y="328930"/>
                </a:lnTo>
                <a:close/>
              </a:path>
              <a:path w="469900" h="468630">
                <a:moveTo>
                  <a:pt x="114300" y="328930"/>
                </a:moveTo>
                <a:lnTo>
                  <a:pt x="94488" y="328930"/>
                </a:lnTo>
                <a:lnTo>
                  <a:pt x="94488" y="350266"/>
                </a:lnTo>
                <a:lnTo>
                  <a:pt x="114300" y="350266"/>
                </a:lnTo>
                <a:lnTo>
                  <a:pt x="114300" y="328930"/>
                </a:lnTo>
                <a:close/>
              </a:path>
              <a:path w="469900" h="468630">
                <a:moveTo>
                  <a:pt x="153924" y="328930"/>
                </a:moveTo>
                <a:lnTo>
                  <a:pt x="134112" y="328930"/>
                </a:lnTo>
                <a:lnTo>
                  <a:pt x="134112" y="350266"/>
                </a:lnTo>
                <a:lnTo>
                  <a:pt x="153924" y="350266"/>
                </a:lnTo>
                <a:lnTo>
                  <a:pt x="153924" y="328930"/>
                </a:lnTo>
                <a:close/>
              </a:path>
              <a:path w="469900" h="468630">
                <a:moveTo>
                  <a:pt x="193548" y="328930"/>
                </a:moveTo>
                <a:lnTo>
                  <a:pt x="173736" y="328930"/>
                </a:lnTo>
                <a:lnTo>
                  <a:pt x="173736" y="350266"/>
                </a:lnTo>
                <a:lnTo>
                  <a:pt x="193548" y="350266"/>
                </a:lnTo>
                <a:lnTo>
                  <a:pt x="193548" y="328930"/>
                </a:lnTo>
                <a:close/>
              </a:path>
              <a:path w="469900" h="468630">
                <a:moveTo>
                  <a:pt x="234696" y="328930"/>
                </a:moveTo>
                <a:lnTo>
                  <a:pt x="213360" y="328930"/>
                </a:lnTo>
                <a:lnTo>
                  <a:pt x="213360" y="350266"/>
                </a:lnTo>
                <a:lnTo>
                  <a:pt x="234696" y="350266"/>
                </a:lnTo>
                <a:lnTo>
                  <a:pt x="234696" y="328930"/>
                </a:lnTo>
                <a:close/>
              </a:path>
              <a:path w="469900" h="468630">
                <a:moveTo>
                  <a:pt x="246888" y="303022"/>
                </a:moveTo>
                <a:lnTo>
                  <a:pt x="227076" y="303022"/>
                </a:lnTo>
                <a:lnTo>
                  <a:pt x="227076" y="322834"/>
                </a:lnTo>
                <a:lnTo>
                  <a:pt x="246888" y="322834"/>
                </a:lnTo>
                <a:lnTo>
                  <a:pt x="246888" y="303022"/>
                </a:lnTo>
                <a:close/>
              </a:path>
              <a:path w="469900" h="468630">
                <a:moveTo>
                  <a:pt x="246888" y="261874"/>
                </a:moveTo>
                <a:lnTo>
                  <a:pt x="227076" y="261874"/>
                </a:lnTo>
                <a:lnTo>
                  <a:pt x="227076" y="281686"/>
                </a:lnTo>
                <a:lnTo>
                  <a:pt x="246888" y="281686"/>
                </a:lnTo>
                <a:lnTo>
                  <a:pt x="246888" y="261874"/>
                </a:lnTo>
                <a:close/>
              </a:path>
              <a:path w="469900" h="468630">
                <a:moveTo>
                  <a:pt x="246888" y="222250"/>
                </a:moveTo>
                <a:lnTo>
                  <a:pt x="227076" y="222250"/>
                </a:lnTo>
                <a:lnTo>
                  <a:pt x="227076" y="242062"/>
                </a:lnTo>
                <a:lnTo>
                  <a:pt x="246888" y="242062"/>
                </a:lnTo>
                <a:lnTo>
                  <a:pt x="246888" y="222250"/>
                </a:lnTo>
                <a:close/>
              </a:path>
              <a:path w="469900" h="468630">
                <a:moveTo>
                  <a:pt x="246888" y="182626"/>
                </a:moveTo>
                <a:lnTo>
                  <a:pt x="227076" y="182626"/>
                </a:lnTo>
                <a:lnTo>
                  <a:pt x="227076" y="202438"/>
                </a:lnTo>
                <a:lnTo>
                  <a:pt x="246888" y="202438"/>
                </a:lnTo>
                <a:lnTo>
                  <a:pt x="246888" y="182626"/>
                </a:lnTo>
                <a:close/>
              </a:path>
              <a:path w="469900" h="468630">
                <a:moveTo>
                  <a:pt x="246888" y="143002"/>
                </a:moveTo>
                <a:lnTo>
                  <a:pt x="227076" y="143002"/>
                </a:lnTo>
                <a:lnTo>
                  <a:pt x="227076" y="162814"/>
                </a:lnTo>
                <a:lnTo>
                  <a:pt x="246888" y="162814"/>
                </a:lnTo>
                <a:lnTo>
                  <a:pt x="246888" y="143002"/>
                </a:lnTo>
                <a:close/>
              </a:path>
              <a:path w="469900" h="468630">
                <a:moveTo>
                  <a:pt x="262128" y="118618"/>
                </a:moveTo>
                <a:lnTo>
                  <a:pt x="242316" y="118618"/>
                </a:lnTo>
                <a:lnTo>
                  <a:pt x="242316" y="138430"/>
                </a:lnTo>
                <a:lnTo>
                  <a:pt x="262128" y="138430"/>
                </a:lnTo>
                <a:lnTo>
                  <a:pt x="262128" y="118618"/>
                </a:lnTo>
                <a:close/>
              </a:path>
              <a:path w="469900" h="468630">
                <a:moveTo>
                  <a:pt x="303276" y="118618"/>
                </a:moveTo>
                <a:lnTo>
                  <a:pt x="283464" y="118618"/>
                </a:lnTo>
                <a:lnTo>
                  <a:pt x="283464" y="138430"/>
                </a:lnTo>
                <a:lnTo>
                  <a:pt x="303276" y="138430"/>
                </a:lnTo>
                <a:lnTo>
                  <a:pt x="303276" y="118618"/>
                </a:lnTo>
                <a:close/>
              </a:path>
              <a:path w="469900" h="468630">
                <a:moveTo>
                  <a:pt x="342900" y="118618"/>
                </a:moveTo>
                <a:lnTo>
                  <a:pt x="323088" y="118618"/>
                </a:lnTo>
                <a:lnTo>
                  <a:pt x="323088" y="138430"/>
                </a:lnTo>
                <a:lnTo>
                  <a:pt x="342900" y="138430"/>
                </a:lnTo>
                <a:lnTo>
                  <a:pt x="342900" y="118618"/>
                </a:lnTo>
                <a:close/>
              </a:path>
              <a:path w="469900" h="468630">
                <a:moveTo>
                  <a:pt x="413004" y="130429"/>
                </a:moveTo>
                <a:lnTo>
                  <a:pt x="411073" y="128524"/>
                </a:lnTo>
                <a:lnTo>
                  <a:pt x="384683" y="102412"/>
                </a:lnTo>
                <a:lnTo>
                  <a:pt x="384683" y="130429"/>
                </a:lnTo>
                <a:lnTo>
                  <a:pt x="382892" y="132080"/>
                </a:lnTo>
                <a:lnTo>
                  <a:pt x="382892" y="128524"/>
                </a:lnTo>
                <a:lnTo>
                  <a:pt x="384683" y="130429"/>
                </a:lnTo>
                <a:lnTo>
                  <a:pt x="384683" y="102412"/>
                </a:lnTo>
                <a:lnTo>
                  <a:pt x="364109" y="82042"/>
                </a:lnTo>
                <a:lnTo>
                  <a:pt x="350012" y="96012"/>
                </a:lnTo>
                <a:lnTo>
                  <a:pt x="372872" y="118745"/>
                </a:lnTo>
                <a:lnTo>
                  <a:pt x="362966" y="118745"/>
                </a:lnTo>
                <a:lnTo>
                  <a:pt x="362966" y="138430"/>
                </a:lnTo>
                <a:lnTo>
                  <a:pt x="376428" y="138430"/>
                </a:lnTo>
                <a:lnTo>
                  <a:pt x="348996" y="165608"/>
                </a:lnTo>
                <a:lnTo>
                  <a:pt x="363220" y="179578"/>
                </a:lnTo>
                <a:lnTo>
                  <a:pt x="411327" y="132080"/>
                </a:lnTo>
                <a:lnTo>
                  <a:pt x="413004" y="130429"/>
                </a:lnTo>
                <a:close/>
              </a:path>
              <a:path w="469900" h="468630">
                <a:moveTo>
                  <a:pt x="469392" y="268478"/>
                </a:moveTo>
                <a:lnTo>
                  <a:pt x="449326" y="268478"/>
                </a:lnTo>
                <a:lnTo>
                  <a:pt x="449326" y="449199"/>
                </a:lnTo>
                <a:lnTo>
                  <a:pt x="469392" y="449199"/>
                </a:lnTo>
                <a:lnTo>
                  <a:pt x="469392" y="268478"/>
                </a:lnTo>
                <a:close/>
              </a:path>
              <a:path w="469900" h="468630">
                <a:moveTo>
                  <a:pt x="469392" y="0"/>
                </a:moveTo>
                <a:lnTo>
                  <a:pt x="449326" y="0"/>
                </a:lnTo>
                <a:lnTo>
                  <a:pt x="449326" y="20320"/>
                </a:lnTo>
                <a:lnTo>
                  <a:pt x="449326" y="248920"/>
                </a:lnTo>
                <a:lnTo>
                  <a:pt x="331851" y="248920"/>
                </a:lnTo>
                <a:lnTo>
                  <a:pt x="331851" y="267970"/>
                </a:lnTo>
                <a:lnTo>
                  <a:pt x="331851" y="449580"/>
                </a:lnTo>
                <a:lnTo>
                  <a:pt x="20066" y="449580"/>
                </a:lnTo>
                <a:lnTo>
                  <a:pt x="20066" y="350520"/>
                </a:lnTo>
                <a:lnTo>
                  <a:pt x="34163" y="350520"/>
                </a:lnTo>
                <a:lnTo>
                  <a:pt x="34163" y="330200"/>
                </a:lnTo>
                <a:lnTo>
                  <a:pt x="20066" y="330200"/>
                </a:lnTo>
                <a:lnTo>
                  <a:pt x="20066" y="219710"/>
                </a:lnTo>
                <a:lnTo>
                  <a:pt x="144653" y="219710"/>
                </a:lnTo>
                <a:lnTo>
                  <a:pt x="144653" y="199644"/>
                </a:lnTo>
                <a:lnTo>
                  <a:pt x="144653" y="199390"/>
                </a:lnTo>
                <a:lnTo>
                  <a:pt x="144653" y="20320"/>
                </a:lnTo>
                <a:lnTo>
                  <a:pt x="449326" y="20320"/>
                </a:lnTo>
                <a:lnTo>
                  <a:pt x="449326" y="0"/>
                </a:lnTo>
                <a:lnTo>
                  <a:pt x="124587" y="0"/>
                </a:lnTo>
                <a:lnTo>
                  <a:pt x="124587" y="20320"/>
                </a:lnTo>
                <a:lnTo>
                  <a:pt x="124587" y="199390"/>
                </a:lnTo>
                <a:lnTo>
                  <a:pt x="20066" y="199390"/>
                </a:lnTo>
                <a:lnTo>
                  <a:pt x="20066" y="20320"/>
                </a:lnTo>
                <a:lnTo>
                  <a:pt x="124587" y="20320"/>
                </a:lnTo>
                <a:lnTo>
                  <a:pt x="124587" y="0"/>
                </a:lnTo>
                <a:lnTo>
                  <a:pt x="0" y="0"/>
                </a:lnTo>
                <a:lnTo>
                  <a:pt x="0" y="20320"/>
                </a:lnTo>
                <a:lnTo>
                  <a:pt x="0" y="199390"/>
                </a:lnTo>
                <a:lnTo>
                  <a:pt x="0" y="468630"/>
                </a:lnTo>
                <a:lnTo>
                  <a:pt x="469392" y="468630"/>
                </a:lnTo>
                <a:lnTo>
                  <a:pt x="469392" y="449580"/>
                </a:lnTo>
                <a:lnTo>
                  <a:pt x="351790" y="449580"/>
                </a:lnTo>
                <a:lnTo>
                  <a:pt x="351790" y="267970"/>
                </a:lnTo>
                <a:lnTo>
                  <a:pt x="469392" y="267970"/>
                </a:lnTo>
                <a:lnTo>
                  <a:pt x="469392" y="248920"/>
                </a:lnTo>
                <a:lnTo>
                  <a:pt x="469392" y="20320"/>
                </a:lnTo>
                <a:lnTo>
                  <a:pt x="46939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4047744" y="4673091"/>
            <a:ext cx="466725" cy="467359"/>
          </a:xfrm>
          <a:custGeom>
            <a:avLst/>
            <a:gdLst/>
            <a:ahLst/>
            <a:cxnLst/>
            <a:rect l="l" t="t" r="r" b="b"/>
            <a:pathLst>
              <a:path w="466725" h="467360">
                <a:moveTo>
                  <a:pt x="466343" y="0"/>
                </a:moveTo>
                <a:lnTo>
                  <a:pt x="0" y="0"/>
                </a:lnTo>
                <a:lnTo>
                  <a:pt x="0" y="467359"/>
                </a:lnTo>
                <a:lnTo>
                  <a:pt x="466343" y="467359"/>
                </a:lnTo>
                <a:lnTo>
                  <a:pt x="466343" y="448309"/>
                </a:lnTo>
                <a:lnTo>
                  <a:pt x="121919" y="448309"/>
                </a:lnTo>
                <a:lnTo>
                  <a:pt x="129624" y="445769"/>
                </a:lnTo>
                <a:lnTo>
                  <a:pt x="35305" y="445769"/>
                </a:lnTo>
                <a:lnTo>
                  <a:pt x="50411" y="430529"/>
                </a:lnTo>
                <a:lnTo>
                  <a:pt x="22732" y="430529"/>
                </a:lnTo>
                <a:lnTo>
                  <a:pt x="24002" y="421639"/>
                </a:lnTo>
                <a:lnTo>
                  <a:pt x="25653" y="411479"/>
                </a:lnTo>
                <a:lnTo>
                  <a:pt x="27812" y="401319"/>
                </a:lnTo>
                <a:lnTo>
                  <a:pt x="30098" y="388619"/>
                </a:lnTo>
                <a:lnTo>
                  <a:pt x="33019" y="377189"/>
                </a:lnTo>
                <a:lnTo>
                  <a:pt x="34670" y="370839"/>
                </a:lnTo>
                <a:lnTo>
                  <a:pt x="36575" y="364489"/>
                </a:lnTo>
                <a:lnTo>
                  <a:pt x="38480" y="356869"/>
                </a:lnTo>
                <a:lnTo>
                  <a:pt x="40639" y="350519"/>
                </a:lnTo>
                <a:lnTo>
                  <a:pt x="41317" y="347979"/>
                </a:lnTo>
                <a:lnTo>
                  <a:pt x="19811" y="347979"/>
                </a:lnTo>
                <a:lnTo>
                  <a:pt x="19811" y="20319"/>
                </a:lnTo>
                <a:lnTo>
                  <a:pt x="466343" y="20319"/>
                </a:lnTo>
                <a:lnTo>
                  <a:pt x="466343" y="0"/>
                </a:lnTo>
                <a:close/>
              </a:path>
              <a:path w="466725" h="467360">
                <a:moveTo>
                  <a:pt x="466343" y="120649"/>
                </a:moveTo>
                <a:lnTo>
                  <a:pt x="446404" y="120649"/>
                </a:lnTo>
                <a:lnTo>
                  <a:pt x="446404" y="448309"/>
                </a:lnTo>
                <a:lnTo>
                  <a:pt x="466343" y="448309"/>
                </a:lnTo>
                <a:lnTo>
                  <a:pt x="466343" y="120649"/>
                </a:lnTo>
                <a:close/>
              </a:path>
              <a:path w="466725" h="467360">
                <a:moveTo>
                  <a:pt x="291422" y="359409"/>
                </a:moveTo>
                <a:lnTo>
                  <a:pt x="257555" y="359409"/>
                </a:lnTo>
                <a:lnTo>
                  <a:pt x="249427" y="365759"/>
                </a:lnTo>
                <a:lnTo>
                  <a:pt x="241172" y="370839"/>
                </a:lnTo>
                <a:lnTo>
                  <a:pt x="216915" y="386079"/>
                </a:lnTo>
                <a:lnTo>
                  <a:pt x="208787" y="389889"/>
                </a:lnTo>
                <a:lnTo>
                  <a:pt x="200532" y="394969"/>
                </a:lnTo>
                <a:lnTo>
                  <a:pt x="145287" y="419099"/>
                </a:lnTo>
                <a:lnTo>
                  <a:pt x="115950" y="427989"/>
                </a:lnTo>
                <a:lnTo>
                  <a:pt x="101980" y="433069"/>
                </a:lnTo>
                <a:lnTo>
                  <a:pt x="88645" y="435609"/>
                </a:lnTo>
                <a:lnTo>
                  <a:pt x="64515" y="440689"/>
                </a:lnTo>
                <a:lnTo>
                  <a:pt x="53847" y="443229"/>
                </a:lnTo>
                <a:lnTo>
                  <a:pt x="44068" y="444499"/>
                </a:lnTo>
                <a:lnTo>
                  <a:pt x="35305" y="445769"/>
                </a:lnTo>
                <a:lnTo>
                  <a:pt x="129624" y="445769"/>
                </a:lnTo>
                <a:lnTo>
                  <a:pt x="145287" y="440689"/>
                </a:lnTo>
                <a:lnTo>
                  <a:pt x="163702" y="433069"/>
                </a:lnTo>
                <a:lnTo>
                  <a:pt x="176275" y="427989"/>
                </a:lnTo>
                <a:lnTo>
                  <a:pt x="195579" y="420369"/>
                </a:lnTo>
                <a:lnTo>
                  <a:pt x="201929" y="416559"/>
                </a:lnTo>
                <a:lnTo>
                  <a:pt x="208533" y="414019"/>
                </a:lnTo>
                <a:lnTo>
                  <a:pt x="215137" y="410209"/>
                </a:lnTo>
                <a:lnTo>
                  <a:pt x="228091" y="402589"/>
                </a:lnTo>
                <a:lnTo>
                  <a:pt x="234695" y="398779"/>
                </a:lnTo>
                <a:lnTo>
                  <a:pt x="241172" y="394969"/>
                </a:lnTo>
                <a:lnTo>
                  <a:pt x="254380" y="386079"/>
                </a:lnTo>
                <a:lnTo>
                  <a:pt x="260857" y="382269"/>
                </a:lnTo>
                <a:lnTo>
                  <a:pt x="274065" y="372109"/>
                </a:lnTo>
                <a:lnTo>
                  <a:pt x="280542" y="368299"/>
                </a:lnTo>
                <a:lnTo>
                  <a:pt x="287146" y="363219"/>
                </a:lnTo>
                <a:lnTo>
                  <a:pt x="291422" y="359409"/>
                </a:lnTo>
                <a:close/>
              </a:path>
              <a:path w="466725" h="467360">
                <a:moveTo>
                  <a:pt x="126745" y="212089"/>
                </a:moveTo>
                <a:lnTo>
                  <a:pt x="106806" y="212089"/>
                </a:lnTo>
                <a:lnTo>
                  <a:pt x="106806" y="345439"/>
                </a:lnTo>
                <a:lnTo>
                  <a:pt x="22732" y="430529"/>
                </a:lnTo>
                <a:lnTo>
                  <a:pt x="50411" y="430529"/>
                </a:lnTo>
                <a:lnTo>
                  <a:pt x="120903" y="359409"/>
                </a:lnTo>
                <a:lnTo>
                  <a:pt x="291422" y="359409"/>
                </a:lnTo>
                <a:lnTo>
                  <a:pt x="299973" y="351789"/>
                </a:lnTo>
                <a:lnTo>
                  <a:pt x="306323" y="346709"/>
                </a:lnTo>
                <a:lnTo>
                  <a:pt x="312673" y="340359"/>
                </a:lnTo>
                <a:lnTo>
                  <a:pt x="140842" y="340359"/>
                </a:lnTo>
                <a:lnTo>
                  <a:pt x="154714" y="326389"/>
                </a:lnTo>
                <a:lnTo>
                  <a:pt x="126745" y="326389"/>
                </a:lnTo>
                <a:lnTo>
                  <a:pt x="126745" y="212089"/>
                </a:lnTo>
                <a:close/>
              </a:path>
              <a:path w="466725" h="467360">
                <a:moveTo>
                  <a:pt x="466343" y="20319"/>
                </a:moveTo>
                <a:lnTo>
                  <a:pt x="344423" y="20319"/>
                </a:lnTo>
                <a:lnTo>
                  <a:pt x="320928" y="27939"/>
                </a:lnTo>
                <a:lnTo>
                  <a:pt x="308736" y="31749"/>
                </a:lnTo>
                <a:lnTo>
                  <a:pt x="283590" y="41909"/>
                </a:lnTo>
                <a:lnTo>
                  <a:pt x="277240" y="45719"/>
                </a:lnTo>
                <a:lnTo>
                  <a:pt x="270763" y="48259"/>
                </a:lnTo>
                <a:lnTo>
                  <a:pt x="257809" y="54609"/>
                </a:lnTo>
                <a:lnTo>
                  <a:pt x="251205" y="58419"/>
                </a:lnTo>
                <a:lnTo>
                  <a:pt x="244728" y="62229"/>
                </a:lnTo>
                <a:lnTo>
                  <a:pt x="238125" y="64769"/>
                </a:lnTo>
                <a:lnTo>
                  <a:pt x="225170" y="73659"/>
                </a:lnTo>
                <a:lnTo>
                  <a:pt x="218439" y="77469"/>
                </a:lnTo>
                <a:lnTo>
                  <a:pt x="211835" y="81279"/>
                </a:lnTo>
                <a:lnTo>
                  <a:pt x="205358" y="86359"/>
                </a:lnTo>
                <a:lnTo>
                  <a:pt x="198754" y="90169"/>
                </a:lnTo>
                <a:lnTo>
                  <a:pt x="192150" y="95249"/>
                </a:lnTo>
                <a:lnTo>
                  <a:pt x="166242" y="115569"/>
                </a:lnTo>
                <a:lnTo>
                  <a:pt x="159892" y="121919"/>
                </a:lnTo>
                <a:lnTo>
                  <a:pt x="153542" y="126999"/>
                </a:lnTo>
                <a:lnTo>
                  <a:pt x="140969" y="139699"/>
                </a:lnTo>
                <a:lnTo>
                  <a:pt x="136525" y="144779"/>
                </a:lnTo>
                <a:lnTo>
                  <a:pt x="132079" y="148589"/>
                </a:lnTo>
                <a:lnTo>
                  <a:pt x="123697" y="158749"/>
                </a:lnTo>
                <a:lnTo>
                  <a:pt x="119506" y="162559"/>
                </a:lnTo>
                <a:lnTo>
                  <a:pt x="115442" y="167639"/>
                </a:lnTo>
                <a:lnTo>
                  <a:pt x="107822" y="176529"/>
                </a:lnTo>
                <a:lnTo>
                  <a:pt x="106806" y="176529"/>
                </a:lnTo>
                <a:lnTo>
                  <a:pt x="106806" y="177799"/>
                </a:lnTo>
                <a:lnTo>
                  <a:pt x="98425" y="189229"/>
                </a:lnTo>
                <a:lnTo>
                  <a:pt x="94614" y="194309"/>
                </a:lnTo>
                <a:lnTo>
                  <a:pt x="86740" y="205739"/>
                </a:lnTo>
                <a:lnTo>
                  <a:pt x="83184" y="210819"/>
                </a:lnTo>
                <a:lnTo>
                  <a:pt x="79501" y="215899"/>
                </a:lnTo>
                <a:lnTo>
                  <a:pt x="72643" y="227329"/>
                </a:lnTo>
                <a:lnTo>
                  <a:pt x="63245" y="243839"/>
                </a:lnTo>
                <a:lnTo>
                  <a:pt x="57276" y="255269"/>
                </a:lnTo>
                <a:lnTo>
                  <a:pt x="51688" y="265429"/>
                </a:lnTo>
                <a:lnTo>
                  <a:pt x="41782" y="287019"/>
                </a:lnTo>
                <a:lnTo>
                  <a:pt x="37337" y="297179"/>
                </a:lnTo>
                <a:lnTo>
                  <a:pt x="33273" y="308609"/>
                </a:lnTo>
                <a:lnTo>
                  <a:pt x="29590" y="318769"/>
                </a:lnTo>
                <a:lnTo>
                  <a:pt x="26034" y="328929"/>
                </a:lnTo>
                <a:lnTo>
                  <a:pt x="22732" y="339089"/>
                </a:lnTo>
                <a:lnTo>
                  <a:pt x="19811" y="347979"/>
                </a:lnTo>
                <a:lnTo>
                  <a:pt x="41317" y="347979"/>
                </a:lnTo>
                <a:lnTo>
                  <a:pt x="42671" y="342899"/>
                </a:lnTo>
                <a:lnTo>
                  <a:pt x="45084" y="335279"/>
                </a:lnTo>
                <a:lnTo>
                  <a:pt x="62610" y="290829"/>
                </a:lnTo>
                <a:lnTo>
                  <a:pt x="69722" y="275589"/>
                </a:lnTo>
                <a:lnTo>
                  <a:pt x="73786" y="266699"/>
                </a:lnTo>
                <a:lnTo>
                  <a:pt x="77850" y="259079"/>
                </a:lnTo>
                <a:lnTo>
                  <a:pt x="82168" y="251459"/>
                </a:lnTo>
                <a:lnTo>
                  <a:pt x="86613" y="243839"/>
                </a:lnTo>
                <a:lnTo>
                  <a:pt x="91312" y="234949"/>
                </a:lnTo>
                <a:lnTo>
                  <a:pt x="106806" y="212089"/>
                </a:lnTo>
                <a:lnTo>
                  <a:pt x="126745" y="212089"/>
                </a:lnTo>
                <a:lnTo>
                  <a:pt x="126745" y="185419"/>
                </a:lnTo>
                <a:lnTo>
                  <a:pt x="155066" y="153669"/>
                </a:lnTo>
                <a:lnTo>
                  <a:pt x="171195" y="138429"/>
                </a:lnTo>
                <a:lnTo>
                  <a:pt x="176529" y="133349"/>
                </a:lnTo>
                <a:lnTo>
                  <a:pt x="181990" y="129539"/>
                </a:lnTo>
                <a:lnTo>
                  <a:pt x="187451" y="124459"/>
                </a:lnTo>
                <a:lnTo>
                  <a:pt x="193039" y="120649"/>
                </a:lnTo>
                <a:lnTo>
                  <a:pt x="198627" y="115569"/>
                </a:lnTo>
                <a:lnTo>
                  <a:pt x="218566" y="115569"/>
                </a:lnTo>
                <a:lnTo>
                  <a:pt x="218566" y="101599"/>
                </a:lnTo>
                <a:lnTo>
                  <a:pt x="227456" y="95249"/>
                </a:lnTo>
                <a:lnTo>
                  <a:pt x="272414" y="69849"/>
                </a:lnTo>
                <a:lnTo>
                  <a:pt x="281431" y="66039"/>
                </a:lnTo>
                <a:lnTo>
                  <a:pt x="290194" y="62229"/>
                </a:lnTo>
                <a:lnTo>
                  <a:pt x="310133" y="62229"/>
                </a:lnTo>
                <a:lnTo>
                  <a:pt x="310133" y="53339"/>
                </a:lnTo>
                <a:lnTo>
                  <a:pt x="319150" y="49529"/>
                </a:lnTo>
                <a:lnTo>
                  <a:pt x="328167" y="46989"/>
                </a:lnTo>
                <a:lnTo>
                  <a:pt x="336930" y="43179"/>
                </a:lnTo>
                <a:lnTo>
                  <a:pt x="353948" y="38099"/>
                </a:lnTo>
                <a:lnTo>
                  <a:pt x="362203" y="36829"/>
                </a:lnTo>
                <a:lnTo>
                  <a:pt x="377825" y="31749"/>
                </a:lnTo>
                <a:lnTo>
                  <a:pt x="385317" y="30479"/>
                </a:lnTo>
                <a:lnTo>
                  <a:pt x="399414" y="27939"/>
                </a:lnTo>
                <a:lnTo>
                  <a:pt x="405891" y="26669"/>
                </a:lnTo>
                <a:lnTo>
                  <a:pt x="418083" y="24129"/>
                </a:lnTo>
                <a:lnTo>
                  <a:pt x="428878" y="22859"/>
                </a:lnTo>
                <a:lnTo>
                  <a:pt x="466343" y="22859"/>
                </a:lnTo>
                <a:lnTo>
                  <a:pt x="466343" y="20319"/>
                </a:lnTo>
                <a:close/>
              </a:path>
              <a:path w="466725" h="467360">
                <a:moveTo>
                  <a:pt x="375945" y="267969"/>
                </a:moveTo>
                <a:lnTo>
                  <a:pt x="351281" y="267969"/>
                </a:lnTo>
                <a:lnTo>
                  <a:pt x="342010" y="279399"/>
                </a:lnTo>
                <a:lnTo>
                  <a:pt x="337311" y="285749"/>
                </a:lnTo>
                <a:lnTo>
                  <a:pt x="332485" y="290829"/>
                </a:lnTo>
                <a:lnTo>
                  <a:pt x="322071" y="303529"/>
                </a:lnTo>
                <a:lnTo>
                  <a:pt x="316738" y="308609"/>
                </a:lnTo>
                <a:lnTo>
                  <a:pt x="311276" y="313689"/>
                </a:lnTo>
                <a:lnTo>
                  <a:pt x="297433" y="327659"/>
                </a:lnTo>
                <a:lnTo>
                  <a:pt x="290321" y="334009"/>
                </a:lnTo>
                <a:lnTo>
                  <a:pt x="283336" y="340359"/>
                </a:lnTo>
                <a:lnTo>
                  <a:pt x="312673" y="340359"/>
                </a:lnTo>
                <a:lnTo>
                  <a:pt x="319023" y="334009"/>
                </a:lnTo>
                <a:lnTo>
                  <a:pt x="325246" y="328929"/>
                </a:lnTo>
                <a:lnTo>
                  <a:pt x="331469" y="322579"/>
                </a:lnTo>
                <a:lnTo>
                  <a:pt x="337565" y="316229"/>
                </a:lnTo>
                <a:lnTo>
                  <a:pt x="343407" y="308609"/>
                </a:lnTo>
                <a:lnTo>
                  <a:pt x="354583" y="295909"/>
                </a:lnTo>
                <a:lnTo>
                  <a:pt x="359917" y="289559"/>
                </a:lnTo>
                <a:lnTo>
                  <a:pt x="365125" y="283209"/>
                </a:lnTo>
                <a:lnTo>
                  <a:pt x="370077" y="275589"/>
                </a:lnTo>
                <a:lnTo>
                  <a:pt x="375030" y="269239"/>
                </a:lnTo>
                <a:lnTo>
                  <a:pt x="375945" y="267969"/>
                </a:lnTo>
                <a:close/>
              </a:path>
              <a:path w="466725" h="467360">
                <a:moveTo>
                  <a:pt x="218566" y="115569"/>
                </a:moveTo>
                <a:lnTo>
                  <a:pt x="198627" y="115569"/>
                </a:lnTo>
                <a:lnTo>
                  <a:pt x="198627" y="253999"/>
                </a:lnTo>
                <a:lnTo>
                  <a:pt x="126745" y="326389"/>
                </a:lnTo>
                <a:lnTo>
                  <a:pt x="154714" y="326389"/>
                </a:lnTo>
                <a:lnTo>
                  <a:pt x="212725" y="267969"/>
                </a:lnTo>
                <a:lnTo>
                  <a:pt x="375945" y="267969"/>
                </a:lnTo>
                <a:lnTo>
                  <a:pt x="379602" y="262889"/>
                </a:lnTo>
                <a:lnTo>
                  <a:pt x="388492" y="248919"/>
                </a:lnTo>
                <a:lnTo>
                  <a:pt x="389331" y="247649"/>
                </a:lnTo>
                <a:lnTo>
                  <a:pt x="232536" y="247649"/>
                </a:lnTo>
                <a:lnTo>
                  <a:pt x="246384" y="233679"/>
                </a:lnTo>
                <a:lnTo>
                  <a:pt x="218566" y="233679"/>
                </a:lnTo>
                <a:lnTo>
                  <a:pt x="218566" y="115569"/>
                </a:lnTo>
                <a:close/>
              </a:path>
              <a:path w="466725" h="467360">
                <a:moveTo>
                  <a:pt x="426592" y="175259"/>
                </a:moveTo>
                <a:lnTo>
                  <a:pt x="404367" y="175259"/>
                </a:lnTo>
                <a:lnTo>
                  <a:pt x="400430" y="184149"/>
                </a:lnTo>
                <a:lnTo>
                  <a:pt x="396239" y="193039"/>
                </a:lnTo>
                <a:lnTo>
                  <a:pt x="376681" y="229869"/>
                </a:lnTo>
                <a:lnTo>
                  <a:pt x="365251" y="247649"/>
                </a:lnTo>
                <a:lnTo>
                  <a:pt x="389331" y="247649"/>
                </a:lnTo>
                <a:lnTo>
                  <a:pt x="392683" y="242569"/>
                </a:lnTo>
                <a:lnTo>
                  <a:pt x="396620" y="234949"/>
                </a:lnTo>
                <a:lnTo>
                  <a:pt x="400557" y="228599"/>
                </a:lnTo>
                <a:lnTo>
                  <a:pt x="407923" y="215899"/>
                </a:lnTo>
                <a:lnTo>
                  <a:pt x="411352" y="208279"/>
                </a:lnTo>
                <a:lnTo>
                  <a:pt x="414654" y="201929"/>
                </a:lnTo>
                <a:lnTo>
                  <a:pt x="417829" y="195579"/>
                </a:lnTo>
                <a:lnTo>
                  <a:pt x="420877" y="189229"/>
                </a:lnTo>
                <a:lnTo>
                  <a:pt x="423798" y="181609"/>
                </a:lnTo>
                <a:lnTo>
                  <a:pt x="426592" y="175259"/>
                </a:lnTo>
                <a:close/>
              </a:path>
              <a:path w="466725" h="467360">
                <a:moveTo>
                  <a:pt x="310133" y="62229"/>
                </a:moveTo>
                <a:lnTo>
                  <a:pt x="290194" y="62229"/>
                </a:lnTo>
                <a:lnTo>
                  <a:pt x="290194" y="161289"/>
                </a:lnTo>
                <a:lnTo>
                  <a:pt x="218566" y="233679"/>
                </a:lnTo>
                <a:lnTo>
                  <a:pt x="246384" y="233679"/>
                </a:lnTo>
                <a:lnTo>
                  <a:pt x="304291" y="175259"/>
                </a:lnTo>
                <a:lnTo>
                  <a:pt x="426592" y="175259"/>
                </a:lnTo>
                <a:lnTo>
                  <a:pt x="431800" y="162559"/>
                </a:lnTo>
                <a:lnTo>
                  <a:pt x="434085" y="156209"/>
                </a:lnTo>
                <a:lnTo>
                  <a:pt x="324230" y="156209"/>
                </a:lnTo>
                <a:lnTo>
                  <a:pt x="338083" y="142239"/>
                </a:lnTo>
                <a:lnTo>
                  <a:pt x="310133" y="142239"/>
                </a:lnTo>
                <a:lnTo>
                  <a:pt x="310133" y="62229"/>
                </a:lnTo>
                <a:close/>
              </a:path>
              <a:path w="466725" h="467360">
                <a:moveTo>
                  <a:pt x="466343" y="35559"/>
                </a:moveTo>
                <a:lnTo>
                  <a:pt x="443864" y="35559"/>
                </a:lnTo>
                <a:lnTo>
                  <a:pt x="442213" y="46989"/>
                </a:lnTo>
                <a:lnTo>
                  <a:pt x="440181" y="58419"/>
                </a:lnTo>
                <a:lnTo>
                  <a:pt x="438911" y="64769"/>
                </a:lnTo>
                <a:lnTo>
                  <a:pt x="437514" y="72389"/>
                </a:lnTo>
                <a:lnTo>
                  <a:pt x="435990" y="80009"/>
                </a:lnTo>
                <a:lnTo>
                  <a:pt x="432180" y="95249"/>
                </a:lnTo>
                <a:lnTo>
                  <a:pt x="430021" y="102869"/>
                </a:lnTo>
                <a:lnTo>
                  <a:pt x="427735" y="111759"/>
                </a:lnTo>
                <a:lnTo>
                  <a:pt x="425195" y="119379"/>
                </a:lnTo>
                <a:lnTo>
                  <a:pt x="422401" y="128269"/>
                </a:lnTo>
                <a:lnTo>
                  <a:pt x="419353" y="137159"/>
                </a:lnTo>
                <a:lnTo>
                  <a:pt x="416178" y="146049"/>
                </a:lnTo>
                <a:lnTo>
                  <a:pt x="412622" y="156209"/>
                </a:lnTo>
                <a:lnTo>
                  <a:pt x="434085" y="156209"/>
                </a:lnTo>
                <a:lnTo>
                  <a:pt x="438784" y="143509"/>
                </a:lnTo>
                <a:lnTo>
                  <a:pt x="442721" y="132079"/>
                </a:lnTo>
                <a:lnTo>
                  <a:pt x="446404" y="120649"/>
                </a:lnTo>
                <a:lnTo>
                  <a:pt x="466343" y="120649"/>
                </a:lnTo>
                <a:lnTo>
                  <a:pt x="466343" y="35559"/>
                </a:lnTo>
                <a:close/>
              </a:path>
              <a:path w="466725" h="467360">
                <a:moveTo>
                  <a:pt x="466343" y="22859"/>
                </a:moveTo>
                <a:lnTo>
                  <a:pt x="428878" y="22859"/>
                </a:lnTo>
                <a:lnTo>
                  <a:pt x="310133" y="142239"/>
                </a:lnTo>
                <a:lnTo>
                  <a:pt x="338083" y="142239"/>
                </a:lnTo>
                <a:lnTo>
                  <a:pt x="443864" y="35559"/>
                </a:lnTo>
                <a:lnTo>
                  <a:pt x="466343" y="35559"/>
                </a:lnTo>
                <a:lnTo>
                  <a:pt x="466343" y="2285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49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PwC</a:t>
            </a:r>
            <a:r>
              <a:rPr dirty="0" spc="-60"/>
              <a:t> </a:t>
            </a:r>
            <a:r>
              <a:rPr dirty="0"/>
              <a:t>Economics</a:t>
            </a:r>
            <a:r>
              <a:rPr dirty="0" spc="-40"/>
              <a:t> </a:t>
            </a:r>
            <a:r>
              <a:rPr dirty="0"/>
              <a:t>team</a:t>
            </a:r>
            <a:r>
              <a:rPr dirty="0" spc="-40"/>
              <a:t> </a:t>
            </a:r>
            <a:r>
              <a:rPr dirty="0" spc="-10"/>
              <a:t>proposition</a:t>
            </a:r>
          </a:p>
        </p:txBody>
      </p:sp>
      <p:sp>
        <p:nvSpPr>
          <p:cNvPr id="18" name="object 1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Impact</a:t>
            </a:r>
            <a:r>
              <a:rPr dirty="0" spc="35"/>
              <a:t> </a:t>
            </a:r>
            <a:r>
              <a:rPr dirty="0"/>
              <a:t>of</a:t>
            </a:r>
            <a:r>
              <a:rPr dirty="0" spc="50"/>
              <a:t> </a:t>
            </a:r>
            <a:r>
              <a:rPr dirty="0"/>
              <a:t>Global</a:t>
            </a:r>
            <a:r>
              <a:rPr dirty="0" spc="65"/>
              <a:t> </a:t>
            </a:r>
            <a:r>
              <a:rPr dirty="0"/>
              <a:t>Economic</a:t>
            </a:r>
            <a:r>
              <a:rPr dirty="0" spc="30"/>
              <a:t> </a:t>
            </a:r>
            <a:r>
              <a:rPr dirty="0"/>
              <a:t>Trends</a:t>
            </a:r>
            <a:r>
              <a:rPr dirty="0" spc="45"/>
              <a:t> </a:t>
            </a:r>
            <a:r>
              <a:rPr dirty="0"/>
              <a:t>on</a:t>
            </a:r>
            <a:r>
              <a:rPr dirty="0" spc="40"/>
              <a:t> </a:t>
            </a:r>
            <a:r>
              <a:rPr dirty="0"/>
              <a:t>Nigeria’s</a:t>
            </a:r>
            <a:r>
              <a:rPr dirty="0" spc="60"/>
              <a:t> </a:t>
            </a:r>
            <a:r>
              <a:rPr dirty="0"/>
              <a:t>Foreign</a:t>
            </a:r>
            <a:r>
              <a:rPr dirty="0" spc="45"/>
              <a:t> </a:t>
            </a:r>
            <a:r>
              <a:rPr dirty="0"/>
              <a:t>Exchange</a:t>
            </a:r>
            <a:r>
              <a:rPr dirty="0" spc="60"/>
              <a:t> </a:t>
            </a:r>
            <a:r>
              <a:rPr dirty="0" spc="-10"/>
              <a:t>Market</a:t>
            </a:r>
          </a:p>
        </p:txBody>
      </p:sp>
      <p:sp>
        <p:nvSpPr>
          <p:cNvPr id="19" name="object 19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/>
              <a:t>October</a:t>
            </a:r>
            <a:r>
              <a:rPr dirty="0" spc="80"/>
              <a:t> </a:t>
            </a:r>
            <a:r>
              <a:rPr dirty="0" spc="-20"/>
              <a:t>2023</a:t>
            </a:r>
          </a:p>
        </p:txBody>
      </p:sp>
      <p:sp>
        <p:nvSpPr>
          <p:cNvPr id="20" name="object 2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815"/>
              </a:lnSpc>
            </a:pPr>
            <a:fld id="{81D60167-4931-47E6-BA6A-407CBD079E47}" type="slidenum">
              <a:rPr dirty="0" spc="-25"/>
              <a:t>27</a:t>
            </a:fld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98399" y="5298834"/>
            <a:ext cx="2790190" cy="2832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69850">
              <a:lnSpc>
                <a:spcPts val="685"/>
              </a:lnSpc>
            </a:pPr>
            <a:r>
              <a:rPr dirty="0" sz="600">
                <a:latin typeface="Arial MT"/>
                <a:cs typeface="Arial MT"/>
              </a:rPr>
              <a:t>Nigeria's</a:t>
            </a:r>
            <a:r>
              <a:rPr dirty="0" sz="600" spc="65">
                <a:latin typeface="Arial MT"/>
                <a:cs typeface="Arial MT"/>
              </a:rPr>
              <a:t> </a:t>
            </a:r>
            <a:r>
              <a:rPr dirty="0" sz="600">
                <a:latin typeface="Arial MT"/>
                <a:cs typeface="Arial MT"/>
              </a:rPr>
              <a:t>economic</a:t>
            </a:r>
            <a:r>
              <a:rPr dirty="0" sz="600" spc="70">
                <a:latin typeface="Arial MT"/>
                <a:cs typeface="Arial MT"/>
              </a:rPr>
              <a:t> </a:t>
            </a:r>
            <a:r>
              <a:rPr dirty="0" sz="600" spc="-10">
                <a:latin typeface="Arial MT"/>
                <a:cs typeface="Arial MT"/>
              </a:rPr>
              <a:t>outlook</a:t>
            </a:r>
            <a:endParaRPr sz="600">
              <a:latin typeface="Arial MT"/>
              <a:cs typeface="Arial MT"/>
            </a:endParaRPr>
          </a:p>
          <a:p>
            <a:pPr marL="69850">
              <a:lnSpc>
                <a:spcPts val="635"/>
              </a:lnSpc>
              <a:spcBef>
                <a:spcPts val="204"/>
              </a:spcBef>
            </a:pPr>
            <a:r>
              <a:rPr dirty="0" sz="600" spc="-25">
                <a:latin typeface="Arial MT"/>
                <a:cs typeface="Arial MT"/>
              </a:rPr>
              <a:t>PwC</a:t>
            </a:r>
            <a:endParaRPr sz="600">
              <a:latin typeface="Arial MT"/>
              <a:cs typeface="Arial MT"/>
            </a:endParaRPr>
          </a:p>
          <a:p>
            <a:pPr>
              <a:lnSpc>
                <a:spcPts val="695"/>
              </a:lnSpc>
            </a:pPr>
            <a:r>
              <a:rPr dirty="0" sz="650">
                <a:latin typeface="Arial MT"/>
                <a:cs typeface="Arial MT"/>
              </a:rPr>
              <a:t>Impact</a:t>
            </a:r>
            <a:r>
              <a:rPr dirty="0" sz="650" spc="35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of</a:t>
            </a:r>
            <a:r>
              <a:rPr dirty="0" sz="650" spc="5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Global</a:t>
            </a:r>
            <a:r>
              <a:rPr dirty="0" sz="650" spc="65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Economic</a:t>
            </a:r>
            <a:r>
              <a:rPr dirty="0" sz="650" spc="3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Trends</a:t>
            </a:r>
            <a:r>
              <a:rPr dirty="0" sz="650" spc="45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on</a:t>
            </a:r>
            <a:r>
              <a:rPr dirty="0" sz="650" spc="4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Nigeria’s</a:t>
            </a:r>
            <a:r>
              <a:rPr dirty="0" sz="650" spc="6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Foreign</a:t>
            </a:r>
            <a:r>
              <a:rPr dirty="0" sz="650" spc="45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Exchange</a:t>
            </a:r>
            <a:r>
              <a:rPr dirty="0" sz="650" spc="60">
                <a:latin typeface="Arial MT"/>
                <a:cs typeface="Arial MT"/>
              </a:rPr>
              <a:t> </a:t>
            </a:r>
            <a:r>
              <a:rPr dirty="0" sz="650" spc="-10">
                <a:latin typeface="Arial MT"/>
                <a:cs typeface="Arial MT"/>
              </a:rPr>
              <a:t>Market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088501" y="5298834"/>
            <a:ext cx="707390" cy="3238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r">
              <a:lnSpc>
                <a:spcPts val="685"/>
              </a:lnSpc>
            </a:pPr>
            <a:r>
              <a:rPr dirty="0" sz="600">
                <a:latin typeface="Arial MT"/>
                <a:cs typeface="Arial MT"/>
              </a:rPr>
              <a:t>July</a:t>
            </a:r>
            <a:r>
              <a:rPr dirty="0" sz="600" spc="25">
                <a:latin typeface="Arial MT"/>
                <a:cs typeface="Arial MT"/>
              </a:rPr>
              <a:t> </a:t>
            </a:r>
            <a:r>
              <a:rPr dirty="0" sz="600" spc="-20">
                <a:latin typeface="Arial MT"/>
                <a:cs typeface="Arial MT"/>
              </a:rPr>
              <a:t>2023</a:t>
            </a:r>
            <a:endParaRPr sz="600">
              <a:latin typeface="Arial MT"/>
              <a:cs typeface="Arial MT"/>
            </a:endParaRPr>
          </a:p>
          <a:p>
            <a:pPr algn="r">
              <a:lnSpc>
                <a:spcPct val="100000"/>
              </a:lnSpc>
              <a:spcBef>
                <a:spcPts val="204"/>
              </a:spcBef>
            </a:pPr>
            <a:r>
              <a:rPr dirty="0" sz="600" spc="-25">
                <a:latin typeface="Arial MT"/>
                <a:cs typeface="Arial MT"/>
              </a:rPr>
              <a:t>16</a:t>
            </a:r>
            <a:endParaRPr sz="600">
              <a:latin typeface="Arial MT"/>
              <a:cs typeface="Arial MT"/>
            </a:endParaRPr>
          </a:p>
          <a:p>
            <a:pPr algn="r">
              <a:lnSpc>
                <a:spcPts val="890"/>
              </a:lnSpc>
              <a:spcBef>
                <a:spcPts val="45"/>
              </a:spcBef>
            </a:pPr>
            <a:r>
              <a:rPr dirty="0" sz="650">
                <a:latin typeface="Arial MT"/>
                <a:cs typeface="Arial MT"/>
              </a:rPr>
              <a:t>October</a:t>
            </a:r>
            <a:r>
              <a:rPr dirty="0" sz="650" spc="3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2023</a:t>
            </a:r>
            <a:r>
              <a:rPr dirty="0" sz="650" spc="215">
                <a:latin typeface="Arial MT"/>
                <a:cs typeface="Arial MT"/>
              </a:rPr>
              <a:t>  </a:t>
            </a:r>
            <a:r>
              <a:rPr dirty="0" baseline="3703" sz="1125" spc="-37">
                <a:latin typeface="Calibri Light"/>
                <a:cs typeface="Calibri Light"/>
              </a:rPr>
              <a:t>29</a:t>
            </a:r>
            <a:endParaRPr baseline="3703" sz="1125">
              <a:latin typeface="Calibri Light"/>
              <a:cs typeface="Calibri Light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079491" y="562355"/>
            <a:ext cx="3291840" cy="52069"/>
          </a:xfrm>
          <a:custGeom>
            <a:avLst/>
            <a:gdLst/>
            <a:ahLst/>
            <a:cxnLst/>
            <a:rect l="l" t="t" r="r" b="b"/>
            <a:pathLst>
              <a:path w="3291840" h="52070">
                <a:moveTo>
                  <a:pt x="0" y="51815"/>
                </a:moveTo>
                <a:lnTo>
                  <a:pt x="3291840" y="51815"/>
                </a:lnTo>
                <a:lnTo>
                  <a:pt x="3291840" y="0"/>
                </a:lnTo>
                <a:lnTo>
                  <a:pt x="0" y="0"/>
                </a:lnTo>
                <a:lnTo>
                  <a:pt x="0" y="51815"/>
                </a:lnTo>
                <a:close/>
              </a:path>
            </a:pathLst>
          </a:custGeom>
          <a:solidFill>
            <a:srgbClr val="D22D4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 descr=""/>
          <p:cNvGrpSpPr/>
          <p:nvPr/>
        </p:nvGrpSpPr>
        <p:grpSpPr>
          <a:xfrm>
            <a:off x="-11937" y="-11937"/>
            <a:ext cx="10185400" cy="5727065"/>
            <a:chOff x="-11937" y="-11937"/>
            <a:chExt cx="10185400" cy="5727065"/>
          </a:xfrm>
        </p:grpSpPr>
        <p:sp>
          <p:nvSpPr>
            <p:cNvPr id="6" name="object 6" descr=""/>
            <p:cNvSpPr/>
            <p:nvPr/>
          </p:nvSpPr>
          <p:spPr>
            <a:xfrm>
              <a:off x="5079491" y="0"/>
              <a:ext cx="5081270" cy="608330"/>
            </a:xfrm>
            <a:custGeom>
              <a:avLst/>
              <a:gdLst/>
              <a:ahLst/>
              <a:cxnLst/>
              <a:rect l="l" t="t" r="r" b="b"/>
              <a:pathLst>
                <a:path w="5081270" h="608330">
                  <a:moveTo>
                    <a:pt x="5081016" y="0"/>
                  </a:moveTo>
                  <a:lnTo>
                    <a:pt x="0" y="0"/>
                  </a:lnTo>
                  <a:lnTo>
                    <a:pt x="0" y="608076"/>
                  </a:lnTo>
                  <a:lnTo>
                    <a:pt x="5081016" y="608076"/>
                  </a:lnTo>
                  <a:lnTo>
                    <a:pt x="5081016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762" y="762"/>
              <a:ext cx="10160000" cy="608330"/>
            </a:xfrm>
            <a:custGeom>
              <a:avLst/>
              <a:gdLst/>
              <a:ahLst/>
              <a:cxnLst/>
              <a:rect l="l" t="t" r="r" b="b"/>
              <a:pathLst>
                <a:path w="10160000" h="608330">
                  <a:moveTo>
                    <a:pt x="10159873" y="0"/>
                  </a:moveTo>
                  <a:lnTo>
                    <a:pt x="0" y="0"/>
                  </a:lnTo>
                  <a:lnTo>
                    <a:pt x="0" y="608076"/>
                  </a:lnTo>
                  <a:lnTo>
                    <a:pt x="10159873" y="608076"/>
                  </a:lnTo>
                </a:path>
              </a:pathLst>
            </a:custGeom>
            <a:ln w="25398">
              <a:solidFill>
                <a:srgbClr val="DEDED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0" y="0"/>
              <a:ext cx="5080000" cy="5715000"/>
            </a:xfrm>
            <a:custGeom>
              <a:avLst/>
              <a:gdLst/>
              <a:ahLst/>
              <a:cxnLst/>
              <a:rect l="l" t="t" r="r" b="b"/>
              <a:pathLst>
                <a:path w="5080000" h="5715000">
                  <a:moveTo>
                    <a:pt x="5079492" y="0"/>
                  </a:moveTo>
                  <a:lnTo>
                    <a:pt x="0" y="0"/>
                  </a:lnTo>
                  <a:lnTo>
                    <a:pt x="0" y="5715000"/>
                  </a:lnTo>
                  <a:lnTo>
                    <a:pt x="5079492" y="5715000"/>
                  </a:lnTo>
                  <a:lnTo>
                    <a:pt x="50794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79491" y="0"/>
              <a:ext cx="5081016" cy="5714999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371093" y="866394"/>
              <a:ext cx="9421495" cy="4389120"/>
            </a:xfrm>
            <a:custGeom>
              <a:avLst/>
              <a:gdLst/>
              <a:ahLst/>
              <a:cxnLst/>
              <a:rect l="l" t="t" r="r" b="b"/>
              <a:pathLst>
                <a:path w="9421495" h="4389120">
                  <a:moveTo>
                    <a:pt x="0" y="4389120"/>
                  </a:moveTo>
                  <a:lnTo>
                    <a:pt x="9421368" y="4389120"/>
                  </a:lnTo>
                  <a:lnTo>
                    <a:pt x="9421368" y="0"/>
                  </a:lnTo>
                  <a:lnTo>
                    <a:pt x="0" y="0"/>
                  </a:lnTo>
                  <a:lnTo>
                    <a:pt x="0" y="4389120"/>
                  </a:lnTo>
                  <a:close/>
                </a:path>
              </a:pathLst>
            </a:custGeom>
            <a:ln w="38100">
              <a:solidFill>
                <a:srgbClr val="DEDED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739139" y="1664207"/>
              <a:ext cx="3436620" cy="0"/>
            </a:xfrm>
            <a:custGeom>
              <a:avLst/>
              <a:gdLst/>
              <a:ahLst/>
              <a:cxnLst/>
              <a:rect l="l" t="t" r="r" b="b"/>
              <a:pathLst>
                <a:path w="3436620" h="0">
                  <a:moveTo>
                    <a:pt x="0" y="0"/>
                  </a:moveTo>
                  <a:lnTo>
                    <a:pt x="3436620" y="0"/>
                  </a:lnTo>
                </a:path>
              </a:pathLst>
            </a:custGeom>
            <a:ln w="76200">
              <a:solidFill>
                <a:srgbClr val="DB526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9139" y="1944623"/>
              <a:ext cx="888491" cy="882395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8807" y="173735"/>
              <a:ext cx="1469136" cy="454151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736193" y="919987"/>
            <a:ext cx="2581275" cy="6584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150">
                <a:solidFill>
                  <a:srgbClr val="DB526A"/>
                </a:solidFill>
              </a:rPr>
              <a:t>Contact</a:t>
            </a:r>
            <a:r>
              <a:rPr dirty="0" sz="4150" spc="-50">
                <a:solidFill>
                  <a:srgbClr val="DB526A"/>
                </a:solidFill>
              </a:rPr>
              <a:t> </a:t>
            </a:r>
            <a:r>
              <a:rPr dirty="0" sz="4150" spc="-25">
                <a:solidFill>
                  <a:srgbClr val="DB526A"/>
                </a:solidFill>
              </a:rPr>
              <a:t>Us</a:t>
            </a:r>
            <a:endParaRPr sz="4150"/>
          </a:p>
        </p:txBody>
      </p:sp>
      <p:sp>
        <p:nvSpPr>
          <p:cNvPr id="15" name="object 15" descr=""/>
          <p:cNvSpPr txBox="1"/>
          <p:nvPr/>
        </p:nvSpPr>
        <p:spPr>
          <a:xfrm>
            <a:off x="1702435" y="2332989"/>
            <a:ext cx="1968500" cy="5245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305">
              <a:lnSpc>
                <a:spcPct val="100000"/>
              </a:lnSpc>
              <a:spcBef>
                <a:spcPts val="100"/>
              </a:spcBef>
            </a:pPr>
            <a:r>
              <a:rPr dirty="0" sz="1150" b="1">
                <a:solidFill>
                  <a:srgbClr val="DB526A"/>
                </a:solidFill>
                <a:latin typeface="Arial"/>
                <a:cs typeface="Arial"/>
              </a:rPr>
              <a:t>Olusegun</a:t>
            </a:r>
            <a:r>
              <a:rPr dirty="0" sz="1150" spc="-70" b="1">
                <a:solidFill>
                  <a:srgbClr val="DB526A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DB526A"/>
                </a:solidFill>
                <a:latin typeface="Arial"/>
                <a:cs typeface="Arial"/>
              </a:rPr>
              <a:t>Zacchaeus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ts val="935"/>
              </a:lnSpc>
              <a:spcBef>
                <a:spcPts val="675"/>
              </a:spcBef>
            </a:pPr>
            <a:r>
              <a:rPr dirty="0" sz="800" b="1">
                <a:solidFill>
                  <a:srgbClr val="FFFFFF"/>
                </a:solidFill>
                <a:latin typeface="Arial"/>
                <a:cs typeface="Arial"/>
              </a:rPr>
              <a:t>Partner</a:t>
            </a:r>
            <a:r>
              <a:rPr dirty="0" sz="80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8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FFFFFF"/>
                </a:solidFill>
                <a:latin typeface="Arial"/>
                <a:cs typeface="Arial"/>
              </a:rPr>
              <a:t>West</a:t>
            </a:r>
            <a:r>
              <a:rPr dirty="0" sz="8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FFFFFF"/>
                </a:solidFill>
                <a:latin typeface="Arial"/>
                <a:cs typeface="Arial"/>
              </a:rPr>
              <a:t>Africa Lead,</a:t>
            </a:r>
            <a:r>
              <a:rPr dirty="0" sz="8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00" spc="-10" b="1">
                <a:solidFill>
                  <a:srgbClr val="FFFFFF"/>
                </a:solidFill>
                <a:latin typeface="Arial"/>
                <a:cs typeface="Arial"/>
              </a:rPr>
              <a:t>Strategy&amp;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ts val="935"/>
              </a:lnSpc>
            </a:pPr>
            <a:r>
              <a:rPr dirty="0" sz="800" spc="-10">
                <a:solidFill>
                  <a:srgbClr val="FFFFFF"/>
                </a:solidFill>
                <a:latin typeface="Arial MT"/>
                <a:cs typeface="Arial MT"/>
                <a:hlinkClick r:id="rId5"/>
              </a:rPr>
              <a:t>olusegun.zaccheaus@pwc.com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702435" y="3459607"/>
            <a:ext cx="1491615" cy="5505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305">
              <a:lnSpc>
                <a:spcPct val="100000"/>
              </a:lnSpc>
              <a:spcBef>
                <a:spcPts val="100"/>
              </a:spcBef>
            </a:pPr>
            <a:r>
              <a:rPr dirty="0" sz="1150" b="1">
                <a:solidFill>
                  <a:srgbClr val="DB526A"/>
                </a:solidFill>
                <a:latin typeface="Arial"/>
                <a:cs typeface="Arial"/>
              </a:rPr>
              <a:t>Omomia</a:t>
            </a:r>
            <a:r>
              <a:rPr dirty="0" sz="1150" spc="-45" b="1">
                <a:solidFill>
                  <a:srgbClr val="DB526A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DB526A"/>
                </a:solidFill>
                <a:latin typeface="Arial"/>
                <a:cs typeface="Arial"/>
              </a:rPr>
              <a:t>Omosomi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ts val="940"/>
              </a:lnSpc>
              <a:spcBef>
                <a:spcPts val="865"/>
              </a:spcBef>
            </a:pPr>
            <a:r>
              <a:rPr dirty="0" sz="800" b="1">
                <a:solidFill>
                  <a:srgbClr val="FFFFFF"/>
                </a:solidFill>
                <a:latin typeface="Arial"/>
                <a:cs typeface="Arial"/>
              </a:rPr>
              <a:t>Lead</a:t>
            </a:r>
            <a:r>
              <a:rPr dirty="0" sz="8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FFFFFF"/>
                </a:solidFill>
                <a:latin typeface="Arial"/>
                <a:cs typeface="Arial"/>
              </a:rPr>
              <a:t>Economist</a:t>
            </a:r>
            <a:r>
              <a:rPr dirty="0" sz="80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dirty="0" sz="8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00" spc="-10" b="1">
                <a:solidFill>
                  <a:srgbClr val="FFFFFF"/>
                </a:solidFill>
                <a:latin typeface="Arial"/>
                <a:cs typeface="Arial"/>
              </a:rPr>
              <a:t>Researcher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ts val="940"/>
              </a:lnSpc>
            </a:pPr>
            <a:r>
              <a:rPr dirty="0" sz="800" spc="-10">
                <a:solidFill>
                  <a:srgbClr val="FFFFFF"/>
                </a:solidFill>
                <a:latin typeface="Arial MT"/>
                <a:cs typeface="Arial MT"/>
                <a:hlinkClick r:id="rId6"/>
              </a:rPr>
              <a:t>omomia.omosomi@pwc.com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702435" y="4586122"/>
            <a:ext cx="1560195" cy="5245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305">
              <a:lnSpc>
                <a:spcPct val="100000"/>
              </a:lnSpc>
              <a:spcBef>
                <a:spcPts val="100"/>
              </a:spcBef>
            </a:pPr>
            <a:r>
              <a:rPr dirty="0" sz="1150" b="1">
                <a:solidFill>
                  <a:srgbClr val="DB526A"/>
                </a:solidFill>
                <a:latin typeface="Arial"/>
                <a:cs typeface="Arial"/>
              </a:rPr>
              <a:t>Adesola</a:t>
            </a:r>
            <a:r>
              <a:rPr dirty="0" sz="1150" spc="-50" b="1">
                <a:solidFill>
                  <a:srgbClr val="DB526A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DB526A"/>
                </a:solidFill>
                <a:latin typeface="Arial"/>
                <a:cs typeface="Arial"/>
              </a:rPr>
              <a:t>Borokini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ts val="935"/>
              </a:lnSpc>
              <a:spcBef>
                <a:spcPts val="675"/>
              </a:spcBef>
            </a:pPr>
            <a:r>
              <a:rPr dirty="0" sz="800" b="1">
                <a:solidFill>
                  <a:srgbClr val="FFFFFF"/>
                </a:solidFill>
                <a:latin typeface="Arial"/>
                <a:cs typeface="Arial"/>
              </a:rPr>
              <a:t>Senior</a:t>
            </a:r>
            <a:r>
              <a:rPr dirty="0" sz="80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00" spc="-10" b="1">
                <a:solidFill>
                  <a:srgbClr val="FFFFFF"/>
                </a:solidFill>
                <a:latin typeface="Arial"/>
                <a:cs typeface="Arial"/>
              </a:rPr>
              <a:t>economist</a:t>
            </a:r>
            <a:r>
              <a:rPr dirty="0" sz="8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dirty="0" sz="800" spc="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00" spc="-10" b="1">
                <a:solidFill>
                  <a:srgbClr val="FFFFFF"/>
                </a:solidFill>
                <a:latin typeface="Arial"/>
                <a:cs typeface="Arial"/>
              </a:rPr>
              <a:t>Researcher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ts val="935"/>
              </a:lnSpc>
            </a:pPr>
            <a:r>
              <a:rPr dirty="0" sz="800" spc="-10">
                <a:solidFill>
                  <a:srgbClr val="FFFFFF"/>
                </a:solidFill>
                <a:latin typeface="Arial MT"/>
                <a:cs typeface="Arial MT"/>
                <a:hlinkClick r:id="rId7"/>
              </a:rPr>
              <a:t>Adesola.borokini@pwc.com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739140" y="3087623"/>
            <a:ext cx="923925" cy="2025650"/>
            <a:chOff x="739140" y="3087623"/>
            <a:chExt cx="923925" cy="2025650"/>
          </a:xfrm>
        </p:grpSpPr>
        <p:pic>
          <p:nvPicPr>
            <p:cNvPr id="19" name="object 1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39140" y="4230623"/>
              <a:ext cx="923544" cy="882395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39140" y="3087623"/>
              <a:ext cx="888491" cy="88239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2026-05-24T14:44:41Z</dcterms:created>
  <dcterms:modified xsi:type="dcterms:W3CDTF">2026-05-24T14:44:41Z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2023-10-04T00:00:00Z</vt:filetime>
  </property>
  <property fmtid="{D5CDD505-2E9C-101B-9397-08002B2CF9AE}" pid="3" name="LastSaved">
    <vt:filetime>2026-05-24T00:00:00Z</vt:filetime>
  </property>
</Properties>
</file>